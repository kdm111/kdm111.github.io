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1"/>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18288000" cy="10287000"/>
  <p:notesSz cx="6858000" cy="9144000"/>
  <p:embeddedFontLst>
    <p:embeddedFont>
      <p:font typeface="Georgia" charset="1" panose="02040502050405020303"/>
      <p:regular r:id="rId34"/>
    </p:embeddedFont>
    <p:embeddedFont>
      <p:font typeface="Arimo Bold" charset="1" panose="020B0704020202020204"/>
      <p:regular r:id="rId35"/>
    </p:embeddedFont>
    <p:embeddedFont>
      <p:font typeface="Arimo" charset="1" panose="020B0604020202020204"/>
      <p:regular r:id="rId36"/>
    </p:embeddedFont>
    <p:embeddedFont>
      <p:font typeface="Noto Sans" charset="1" panose="020B0502040504020204"/>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notesMasters/notesMaster1.xml" Type="http://schemas.openxmlformats.org/officeDocument/2006/relationships/notesMaster"/><Relationship Id="rId32" Target="theme/theme2.xml" Type="http://schemas.openxmlformats.org/officeDocument/2006/relationships/theme"/><Relationship Id="rId33" Target="notesSlides/notesSlide1.xml" Type="http://schemas.openxmlformats.org/officeDocument/2006/relationships/notesSlide"/><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notesSlides/notesSlide2.xml" Type="http://schemas.openxmlformats.org/officeDocument/2006/relationships/notesSlide"/><Relationship Id="rId39" Target="notesSlides/notesSlide3.xml" Type="http://schemas.openxmlformats.org/officeDocument/2006/relationships/notesSlide"/><Relationship Id="rId4" Target="theme/theme1.xml" Type="http://schemas.openxmlformats.org/officeDocument/2006/relationships/theme"/><Relationship Id="rId40" Target="notesSlides/notesSlide4.xml" Type="http://schemas.openxmlformats.org/officeDocument/2006/relationships/notesSlide"/><Relationship Id="rId41" Target="notesSlides/notesSlide5.xml" Type="http://schemas.openxmlformats.org/officeDocument/2006/relationships/notesSlide"/><Relationship Id="rId42" Target="notesSlides/notesSlide6.xml" Type="http://schemas.openxmlformats.org/officeDocument/2006/relationships/notesSlide"/><Relationship Id="rId43" Target="notesSlides/notesSlide7.xml" Type="http://schemas.openxmlformats.org/officeDocument/2006/relationships/notesSlide"/><Relationship Id="rId44" Target="notesSlides/notesSlide8.xml" Type="http://schemas.openxmlformats.org/officeDocument/2006/relationships/notesSlide"/><Relationship Id="rId45" Target="notesSlides/notesSlide9.xml" Type="http://schemas.openxmlformats.org/officeDocument/2006/relationships/notesSlide"/><Relationship Id="rId46" Target="notesSlides/notesSlide10.xml" Type="http://schemas.openxmlformats.org/officeDocument/2006/relationships/notesSlide"/><Relationship Id="rId47" Target="notesSlides/notesSlide11.xml" Type="http://schemas.openxmlformats.org/officeDocument/2006/relationships/notesSlide"/><Relationship Id="rId48" Target="notesSlides/notesSlide12.xml" Type="http://schemas.openxmlformats.org/officeDocument/2006/relationships/notesSlide"/><Relationship Id="rId49" Target="notesSlides/notesSlide13.xml" Type="http://schemas.openxmlformats.org/officeDocument/2006/relationships/notesSlide"/><Relationship Id="rId5" Target="tableStyles.xml" Type="http://schemas.openxmlformats.org/officeDocument/2006/relationships/tableStyles"/><Relationship Id="rId50" Target="notesSlides/notesSlide14.xml" Type="http://schemas.openxmlformats.org/officeDocument/2006/relationships/notesSlide"/><Relationship Id="rId51" Target="notesSlides/notesSlide15.xml" Type="http://schemas.openxmlformats.org/officeDocument/2006/relationships/notesSlide"/><Relationship Id="rId52" Target="notesSlides/notesSlide16.xml" Type="http://schemas.openxmlformats.org/officeDocument/2006/relationships/notesSlide"/><Relationship Id="rId53" Target="notesSlides/notesSlide17.xml" Type="http://schemas.openxmlformats.org/officeDocument/2006/relationships/notesSlide"/><Relationship Id="rId54" Target="notesSlides/notesSlide18.xml" Type="http://schemas.openxmlformats.org/officeDocument/2006/relationships/notesSlide"/><Relationship Id="rId55" Target="notesSlides/notesSlide19.xml" Type="http://schemas.openxmlformats.org/officeDocument/2006/relationships/notesSlide"/><Relationship Id="rId56" Target="notesSlides/notesSlide20.xml" Type="http://schemas.openxmlformats.org/officeDocument/2006/relationships/notesSlide"/><Relationship Id="rId57" Target="notesSlides/notesSlide21.xml" Type="http://schemas.openxmlformats.org/officeDocument/2006/relationships/notesSlide"/><Relationship Id="rId58" Target="notesSlides/notesSlide22.xml" Type="http://schemas.openxmlformats.org/officeDocument/2006/relationships/notesSlide"/><Relationship Id="rId59" Target="notesSlides/notesSlide23.xml" Type="http://schemas.openxmlformats.org/officeDocument/2006/relationships/notesSlide"/><Relationship Id="rId6" Target="slides/slide1.xml" Type="http://schemas.openxmlformats.org/officeDocument/2006/relationships/slide"/><Relationship Id="rId60" Target="notesSlides/notesSlide24.xml" Type="http://schemas.openxmlformats.org/officeDocument/2006/relationships/notesSlide"/><Relationship Id="rId61" Target="notesSlides/notesSlide25.xml" Type="http://schemas.openxmlformats.org/officeDocument/2006/relationships/note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[2026-09-21 포트폴리오 근거 검토]</a:t>
            </a:r>
          </a:p>
          <a:p>
            <a:r>
              <a:rPr lang="en-US"/>
              <a:t>본인 개인 프로젝트의 평가 러너와 결과 CSV 근거. eval_llm_planner.py:matches/run_case, eval_cases.py, eval_multilingual_cases.py 및 eval_results/*runpod-20260821-allmodels-k3.csv 5개. CSV 원본 run_1~3 재채점값과 passed/ok_count가 일치합니다. Gemma26b220, Qwen9b211, Gemma12b186, Gemmae2b180, Llama8b101 /242. 다국어는 전체의 부분집합. 각모델726회 plan평가이며 재요청 때문에 HTTP추론횟수와 다릅니다. 거부케이스는 None도 통과로 계산되므로 순수 모델 정확도가 아닙니다. 하드웨어 동일 여부는 CSV만으로 확정할 수 없습니다. 단독 놓기N2=3/12, 실패22개 분류는 review/deep/llm_recount.json. 별도tag Exaone191/242는 비교표에서 분리했습니다. 실물 성공률, 자율운영 안정성 또는 완전한 의미 검증을 주장하지 않습니다.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[2026-09-21 포트폴리오 근거 검토]</a:t>
            </a:r>
          </a:p>
          <a:p>
            <a:r>
              <a:rPr lang="en-US"/>
              <a:t>본인 기여 확인: GitHub web f8e3fff task-execution.service.ts, fms-state/robot-task-queue.service.ts, task-status.service.ts 및test/signal-step.e2e-spec.ts 작성이력kdm111. 주요함수sendStep,onServiceResult,onActionStepResult,registerSignalAwait,stepCompleted,advanceOrComplete,dispatchNext,advanceScenario. 원격파일과현재로컬일치. 테스트코드는비매칭신호대기·서비스success=false·Action실패와결과조건검사시나리오를포함하지만이번에MongoDB기반e2e는실행하지않았습니다. rosPlanDB저장은재시작후자동복구보장을의미하지않습니다. 활성Map과timer는메모리이며모든비동기경로에대해중복처리불가능을증명한구조가아닙니다.</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 Id="rId4" Target="https://github.com/kdm111" TargetMode="External" Type="http://schemas.openxmlformats.org/officeDocument/2006/relationships/hyperlink"/><Relationship Id="rId5" Target="https://kdm111.github.io/" TargetMode="External" Type="http://schemas.openxmlformats.org/officeDocument/2006/relationships/hyperlink"/><Relationship Id="rId6" Target="https://kdm111.github.io/"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https://github.com/ManticoreXL/vicpinky_carrier/tree/web" TargetMode="External" Type="http://schemas.openxmlformats.org/officeDocument/2006/relationships/hyperlink"/><Relationship Id="rId2" Target="../notesSlides/notesSlide2.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 Id="rId5" Target="https://kdm111.github.io/larobot.html" TargetMode="External" Type="http://schemas.openxmlformats.org/officeDocument/2006/relationships/hyperlink"/><Relationship Id="rId6" Target="https://kdm111.github.io/larobot.html" TargetMode="External" Type="http://schemas.openxmlformats.org/officeDocument/2006/relationships/hyperlink"/><Relationship Id="rId7" Target="../media/image3.jpeg" Type="http://schemas.openxmlformats.org/officeDocument/2006/relationships/image"/><Relationship Id="rId8" Target="https://kdm111.github.io/vicpinky.html" TargetMode="External" Type="http://schemas.openxmlformats.org/officeDocument/2006/relationships/hyperlink"/><Relationship Id="rId9" Target="https://github.com/kdm111/LARO-BOT" TargetMode="External" Type="http://schemas.openxmlformats.org/officeDocument/2006/relationships/hyperlink"/></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jpeg" Type="http://schemas.openxmlformats.org/officeDocument/2006/relationships/image"/><Relationship Id="rId2" Target="../notesSlides/notesSlide3.xml" Type="http://schemas.openxmlformats.org/officeDocument/2006/relationships/notesSlide"/><Relationship Id="rId3" Target="../media/image4.jpe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7.png" Type="http://schemas.openxmlformats.org/officeDocument/2006/relationships/image"/><Relationship Id="rId7" Target="../media/image8.sv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11.jpeg" Type="http://schemas.openxmlformats.org/officeDocument/2006/relationships/image"/><Relationship Id="rId5" Target="../media/image12.jpeg" Type="http://schemas.openxmlformats.org/officeDocument/2006/relationships/image"/></Relationships>
</file>

<file path=ppt/slides/_rels/slide5.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3.jpeg" Type="http://schemas.openxmlformats.org/officeDocument/2006/relationships/image"/><Relationship Id="rId4" Target="../media/image14.jpeg" Type="http://schemas.openxmlformats.org/officeDocument/2006/relationships/image"/><Relationship Id="rId5" Target="../media/image1.jpeg" Type="http://schemas.openxmlformats.org/officeDocument/2006/relationships/image"/><Relationship Id="rId6" Target="https://kdm111.github.io/watch.html?clip=p5_gazebo_pick_place" TargetMode="External" Type="http://schemas.openxmlformats.org/officeDocument/2006/relationships/hyperlink"/><Relationship Id="rId7" Target="https://kdm111.github.io/watch.html?clip=p5_gazebo_pick_place" TargetMode="External" Type="http://schemas.openxmlformats.org/officeDocument/2006/relationships/hyperlink"/><Relationship Id="rId8" Target="https://kdm111.github.io/watch.html?clip=p5_real_pick_place" TargetMode="External" Type="http://schemas.openxmlformats.org/officeDocument/2006/relationships/hyperlink"/><Relationship Id="rId9" Target="https://kdm111.github.io/watch.html?clip=p5_real_pick_place" TargetMode="External" Type="http://schemas.openxmlformats.org/officeDocument/2006/relationships/hyperlink"/></Relationships>
</file>

<file path=ppt/slides/_rels/slide6.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15.jpeg" Type="http://schemas.openxmlformats.org/officeDocument/2006/relationships/image"/><Relationship Id="rId5" Target="https://kdm111.github.io/watch.html?clip=p6_language_command"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16.jpeg" Type="http://schemas.openxmlformats.org/officeDocument/2006/relationships/image"/><Relationship Id="rId5" Target="https://kdm111.github.io/watch.html?clip=p7_scene_state" TargetMode="External" Type="http://schemas.openxmlformats.org/officeDocument/2006/relationships/hyperlink"/></Relationships>
</file>

<file path=ppt/slides/_rels/slide9.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 Id="rId4" Target="../media/image17.jpeg" Type="http://schemas.openxmlformats.org/officeDocument/2006/relationships/image"/><Relationship Id="rId5" Target="https://kdm111.github.io/watch.html?clip=p8_ik_rviz" TargetMode="External" Type="http://schemas.openxmlformats.org/officeDocument/2006/relationships/hyperlink"/><Relationship Id="rId6" Target="https://kdm111.github.io/watch.html?clip=p8_ik_rviz" TargetMode="External" Type="http://schemas.openxmlformats.org/officeDocument/2006/relationships/hyperlink"/></Relationships>
</file>

<file path=ppt/slides/_rels/slide10.xml.rels><?xml version='1.0' encoding='UTF-8' standalone='yes'?>
<Relationships xmlns="http://schemas.openxmlformats.org/package/2006/relationships"><Relationship Id="rId1" Target="../slideLayouts/slideLayout7.xml" Type="http://schemas.openxmlformats.org/officeDocument/2006/relationships/slideLayout"/><Relationship Id="rId10" Target="../media/VAHUSz6Pw-E.mp4" Type="http://schemas.microsoft.com/office/2007/relationships/media"/><Relationship Id="rId11" Target="https://kdm111.github.io/watch.html?clip=p9_place" TargetMode="External" Type="http://schemas.openxmlformats.org/officeDocument/2006/relationships/hyperlink"/><Relationship Id="rId12" Target="../media/image20.jpeg" Type="http://schemas.openxmlformats.org/officeDocument/2006/relationships/image"/><Relationship Id="rId13" Target="../media/VAHUSx1bpwA.mp4" Type="http://schemas.openxmlformats.org/officeDocument/2006/relationships/video"/><Relationship Id="rId14" Target="../media/VAHUSx1bpwA.mp4" Type="http://schemas.microsoft.com/office/2007/relationships/media"/><Relationship Id="rId15" Target="https://kdm111.github.io/watch.html?clip=p9_moveto" TargetMode="External" Type="http://schemas.openxmlformats.org/officeDocument/2006/relationships/hyperlink"/><Relationship Id="rId2" Target="../notesSlides/notesSlide10.xml" Type="http://schemas.openxmlformats.org/officeDocument/2006/relationships/notesSlide"/><Relationship Id="rId3" Target="../media/image1.jpeg" Type="http://schemas.openxmlformats.org/officeDocument/2006/relationships/image"/><Relationship Id="rId4" Target="../media/image18.jpeg" Type="http://schemas.openxmlformats.org/officeDocument/2006/relationships/image"/><Relationship Id="rId5" Target="../media/VAHUS4CcXNQ.mp4" Type="http://schemas.openxmlformats.org/officeDocument/2006/relationships/video"/><Relationship Id="rId6" Target="../media/VAHUS4CcXNQ.mp4" Type="http://schemas.microsoft.com/office/2007/relationships/media"/><Relationship Id="rId7" Target="https://kdm111.github.io/watch.html?clip=p9_pick" TargetMode="External" Type="http://schemas.openxmlformats.org/officeDocument/2006/relationships/hyperlink"/><Relationship Id="rId8" Target="../media/image19.jpeg" Type="http://schemas.openxmlformats.org/officeDocument/2006/relationships/image"/><Relationship Id="rId9" Target="../media/VAHUSz6Pw-E.mp4" Type="http://schemas.openxmlformats.org/officeDocument/2006/relationships/video"/></Relationships>
</file>

<file path=ppt/slides/_rels/slide11.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21.jpeg" Type="http://schemas.openxmlformats.org/officeDocument/2006/relationships/image"/><Relationship Id="rId4" Target="../media/image1.jpeg" Type="http://schemas.openxmlformats.org/officeDocument/2006/relationships/image"/><Relationship Id="rId5" Target="https://kdm111.github.io/watch.html?clip=p10_auto_cleanup" TargetMode="External" Type="http://schemas.openxmlformats.org/officeDocument/2006/relationships/hyperlink"/></Relationships>
</file>

<file path=ppt/slides/_rels/slide12.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 Id="rId4" Target="../media/image22.jpeg" Type="http://schemas.openxmlformats.org/officeDocument/2006/relationships/image"/><Relationship Id="rId5" Target="../media/VAHUN5c0urE.mp4" Type="http://schemas.openxmlformats.org/officeDocument/2006/relationships/video"/><Relationship Id="rId6" Target="../media/VAHUN5c0urE.mp4" Type="http://schemas.microsoft.com/office/2007/relationships/media"/><Relationship Id="rId7" Target="https://kdm111.github.io/watch.html?clip=p11_regrasp" TargetMode="External" Type="http://schemas.openxmlformats.org/officeDocument/2006/relationships/hyperlink"/></Relationships>
</file>

<file path=ppt/slides/_rels/slide13.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media/image23.png" Type="http://schemas.openxmlformats.org/officeDocument/2006/relationships/image"/><Relationship Id="rId4" Target="../media/image24.png" Type="http://schemas.openxmlformats.org/officeDocument/2006/relationships/image"/><Relationship Id="rId5" Target="../media/image1.jpeg" Type="http://schemas.openxmlformats.org/officeDocument/2006/relationships/image"/><Relationship Id="rId6" Target="https://kdm111.github.io/watch.html?clip=p12_unreachable" TargetMode="External" Type="http://schemas.openxmlformats.org/officeDocument/2006/relationships/hyperlink"/><Relationship Id="rId7" Target="https://kdm111.github.io/watch.html?clip=p12_undefined_pose" TargetMode="External" Type="http://schemas.openxmlformats.org/officeDocument/2006/relationships/hyperlink"/></Relationships>
</file>

<file path=ppt/slides/_rels/slide14.xml.rels><?xml version='1.0' encoding='UTF-8' standalone='yes'?>
<Relationships xmlns="http://schemas.openxmlformats.org/package/2006/relationships"><Relationship Id="rId1" Target="../slideLayouts/slideLayout7.xml" Type="http://schemas.openxmlformats.org/officeDocument/2006/relationships/slideLayout"/><Relationship Id="rId10" Target="../media/image27.jpeg" Type="http://schemas.openxmlformats.org/officeDocument/2006/relationships/image"/><Relationship Id="rId11" Target="../media/VAHUN0gO5G8.mp4" Type="http://schemas.openxmlformats.org/officeDocument/2006/relationships/video"/><Relationship Id="rId12" Target="../media/VAHUN0gO5G8.mp4" Type="http://schemas.microsoft.com/office/2007/relationships/media"/><Relationship Id="rId2" Target="../notesSlides/notesSlide14.xml" Type="http://schemas.openxmlformats.org/officeDocument/2006/relationships/notesSlide"/><Relationship Id="rId3" Target="../media/image1.jpeg" Type="http://schemas.openxmlformats.org/officeDocument/2006/relationships/image"/><Relationship Id="rId4" Target="../media/image25.jpeg" Type="http://schemas.openxmlformats.org/officeDocument/2006/relationships/image"/><Relationship Id="rId5" Target="../media/VAHUNzsPCz8.mp4" Type="http://schemas.openxmlformats.org/officeDocument/2006/relationships/video"/><Relationship Id="rId6" Target="../media/VAHUNzsPCz8.mp4" Type="http://schemas.microsoft.com/office/2007/relationships/media"/><Relationship Id="rId7" Target="../media/image26.jpeg" Type="http://schemas.openxmlformats.org/officeDocument/2006/relationships/image"/><Relationship Id="rId8" Target="../media/VAHUN7EkzPs.mp4" Type="http://schemas.openxmlformats.org/officeDocument/2006/relationships/video"/><Relationship Id="rId9" Target="../media/VAHUN7EkzPs.mp4" Type="http://schemas.microsoft.com/office/2007/relationships/media"/><Relationship Id="rId13" Type="http://schemas.openxmlformats.org/officeDocument/2006/relationships/hyperlink" Target="https://kdm111.github.io/watch.html?clip=p13_coordinate_error" TargetMode="External"/><Relationship Id="rId14" Type="http://schemas.openxmlformats.org/officeDocument/2006/relationships/hyperlink" Target="https://kdm111.github.io/watch.html?clip=p13_gripper_check" TargetMode="External"/><Relationship Id="rId15" Type="http://schemas.openxmlformats.org/officeDocument/2006/relationships/hyperlink" Target="https://kdm111.github.io/watch.html?clip=p13_ik_continuity" TargetMode="External"/></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2" Target="../notesSlides/notesSlide15.xml" Type="http://schemas.openxmlformats.org/officeDocument/2006/relationships/notesSlide"/><Relationship Id="rId3" Target="../media/image1.jpe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_rels/slide16.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media/image35.jpeg" Type="http://schemas.openxmlformats.org/officeDocument/2006/relationships/image"/><Relationship Id="rId4" Target="../media/image1.jpeg" Type="http://schemas.openxmlformats.org/officeDocument/2006/relationships/image"/><Relationship Id="rId5" Target="https://kdm111.github.io/watch.html?clip=p15_rescue_flow" TargetMode="External" Type="http://schemas.openxmlformats.org/officeDocument/2006/relationships/hyperlink"/></Relationships>
</file>

<file path=ppt/slides/_rels/slide17.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media/image1.jpeg" Type="http://schemas.openxmlformats.org/officeDocument/2006/relationships/image"/><Relationship Id="rId4" Target="../media/image36.jpeg" Type="http://schemas.openxmlformats.org/officeDocument/2006/relationships/image"/><Relationship Id="rId5" Target="https://kdm111.github.io/watch.html?clip=p16_robot_tracking" TargetMode="External" Type="http://schemas.openxmlformats.org/officeDocument/2006/relationships/hyperlink"/></Relationships>
</file>

<file path=ppt/slides/_rels/slide18.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media/image1.jpeg" Type="http://schemas.openxmlformats.org/officeDocument/2006/relationships/image"/><Relationship Id="rId4" Target="../media/image37.jpeg" Type="http://schemas.openxmlformats.org/officeDocument/2006/relationships/image"/><Relationship Id="rId5" Target="../media/VAHUhiZyvjQ.mp4" Type="http://schemas.openxmlformats.org/officeDocument/2006/relationships/video"/><Relationship Id="rId6" Target="../media/VAHUhiZyvjQ.mp4" Type="http://schemas.microsoft.com/office/2007/relationships/media"/><Relationship Id="rId7" Target="https://kdm111.github.io/watch.html?clip=p17_task_queue" TargetMode="External" Type="http://schemas.openxmlformats.org/officeDocument/2006/relationships/hyperlink"/></Relationships>
</file>

<file path=ppt/slides/_rels/slide19.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media/image1.jpeg" Type="http://schemas.openxmlformats.org/officeDocument/2006/relationships/image"/><Relationship Id="rId4" Target="../media/image38.jpeg" Type="http://schemas.openxmlformats.org/officeDocument/2006/relationships/image"/><Relationship Id="rId5" Type="http://schemas.openxmlformats.org/officeDocument/2006/relationships/hyperlink" Target="https://kdm111.github.io/watch.html?clip=p19_command_completion" TargetMode="External"/></Relationships>
</file>

<file path=ppt/slides/_rels/slide20.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media/image1.jpeg" Type="http://schemas.openxmlformats.org/officeDocument/2006/relationships/image"/><Relationship Id="rId4" Target="../media/image39.jpeg" Type="http://schemas.openxmlformats.org/officeDocument/2006/relationships/image"/><Relationship Id="rId5" Target="https://kdm111.github.io/watch.html?clip=p18_reassignment" TargetMode="External" Type="http://schemas.openxmlformats.org/officeDocument/2006/relationships/hyperlink"/></Relationships>
</file>

<file path=ppt/slides/_rels/slide21.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media/image40.jpeg" Type="http://schemas.openxmlformats.org/officeDocument/2006/relationships/image"/><Relationship Id="rId4" Target="../media/image1.jpeg" Type="http://schemas.openxmlformats.org/officeDocument/2006/relationships/image"/><Relationship Id="rId5" Target="https://kdm111.github.io/watch.html?clip=p19_node_selection_map" TargetMode="External" Type="http://schemas.openxmlformats.org/officeDocument/2006/relationships/hyperlink"/></Relationships>
</file>

<file path=ppt/slides/_rels/slide22.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22.xml" Type="http://schemas.openxmlformats.org/officeDocument/2006/relationships/notesSlide"/><Relationship Id="rId3" Target="../media/image41.jpeg" Type="http://schemas.openxmlformats.org/officeDocument/2006/relationships/image"/><Relationship Id="rId4" Target="../media/image1.jpeg" Type="http://schemas.openxmlformats.org/officeDocument/2006/relationships/image"/><Relationship Id="rId5" Target="https://kdm111.github.io/watch.html?clip=p20_auto_charge" TargetMode="External" Type="http://schemas.openxmlformats.org/officeDocument/2006/relationships/hyperlink"/></Relationships>
</file>

<file path=ppt/slides/_rels/slide23.xml.rels><?xml version='1.0' encoding='UTF-8' standalone='yes'?>
<Relationships xmlns="http://schemas.openxmlformats.org/package/2006/relationships"><Relationship Id="rId1" Target="../slideLayouts/slideLayout7.xml" Type="http://schemas.openxmlformats.org/officeDocument/2006/relationships/slideLayout"/><Relationship Id="rId2" Target="../notesSlides/notesSlide23.xml" Type="http://schemas.openxmlformats.org/officeDocument/2006/relationships/notesSlide"/><Relationship Id="rId3" Target="../media/image1.jpeg" Type="http://schemas.openxmlformats.org/officeDocument/2006/relationships/image"/><Relationship Id="rId4" Target="../media/image42.jpeg" Type="http://schemas.openxmlformats.org/officeDocument/2006/relationships/image"/><Relationship Id="rId5" Type="http://schemas.openxmlformats.org/officeDocument/2006/relationships/hyperlink" Target="https://kdm111.github.io/watch.html?clip=p23_virtual_robot_validation" TargetMode="External"/></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4.xml" Type="http://schemas.openxmlformats.org/officeDocument/2006/relationships/notesSlide"/><Relationship Id="rId3" Target="../media/image1.jpe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5.xml" Type="http://schemas.openxmlformats.org/officeDocument/2006/relationships/notesSlide"/><Relationship Id="rId3" Target="../media/image1.jpeg" Type="http://schemas.openxmlformats.org/officeDocument/2006/relationships/image"/><Relationship Id="rId4" Target="slide3.xml" Type="http://schemas.openxmlformats.org/officeDocument/2006/relationships/slide"/><Relationship Id="rId5" Target="../media/image46.png" Type="http://schemas.openxmlformats.org/officeDocument/2006/relationships/image"/><Relationship Id="rId6" Target="../media/image47.png" Type="http://schemas.openxmlformats.org/officeDocument/2006/relationships/image"/><Relationship Id="rId7" Target="mailto:pjsu94@naver.com" TargetMode="External" Type="http://schemas.openxmlformats.org/officeDocument/2006/relationships/hyperlink"/><Relationship Id="rId8" Target="https://github.com/kdm111"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grpSp>
        <p:nvGrpSpPr>
          <p:cNvPr name="Group 2" id="2"/>
          <p:cNvGrpSpPr/>
          <p:nvPr/>
        </p:nvGrpSpPr>
        <p:grpSpPr>
          <a:xfrm rot="0">
            <a:off x="1079497" y="787403"/>
            <a:ext cx="6350003" cy="1082390"/>
            <a:chOff x="0" y="0"/>
            <a:chExt cx="8466671" cy="1443186"/>
          </a:xfrm>
        </p:grpSpPr>
        <p:sp>
          <p:nvSpPr>
            <p:cNvPr name="Freeform 3" id="3"/>
            <p:cNvSpPr/>
            <p:nvPr/>
          </p:nvSpPr>
          <p:spPr>
            <a:xfrm flipH="false" flipV="false" rot="0">
              <a:off x="0" y="0"/>
              <a:ext cx="8466666" cy="1443180"/>
            </a:xfrm>
            <a:custGeom>
              <a:avLst/>
              <a:gdLst/>
              <a:ahLst/>
              <a:cxnLst/>
              <a:rect r="r" b="b" t="t" l="l"/>
              <a:pathLst>
                <a:path h="1443180" w="8466666">
                  <a:moveTo>
                    <a:pt x="0" y="0"/>
                  </a:moveTo>
                  <a:lnTo>
                    <a:pt x="8466666" y="0"/>
                  </a:lnTo>
                  <a:lnTo>
                    <a:pt x="8466666" y="1443180"/>
                  </a:lnTo>
                  <a:lnTo>
                    <a:pt x="0" y="1443180"/>
                  </a:lnTo>
                  <a:close/>
                </a:path>
              </a:pathLst>
            </a:custGeom>
            <a:blipFill>
              <a:blip r:embed="rId3">
                <a:alphaModFix amt="0"/>
              </a:blip>
              <a:stretch>
                <a:fillRect l="0" t="-77938" r="0" b="-50685"/>
              </a:stretch>
            </a:blipFill>
          </p:spPr>
        </p:sp>
        <p:sp>
          <p:nvSpPr>
            <p:cNvPr name="TextBox 4" id="4"/>
            <p:cNvSpPr txBox="true"/>
            <p:nvPr/>
          </p:nvSpPr>
          <p:spPr>
            <a:xfrm>
              <a:off x="0" y="-9525"/>
              <a:ext cx="8466671" cy="1452711"/>
            </a:xfrm>
            <a:prstGeom prst="rect">
              <a:avLst/>
            </a:prstGeom>
          </p:spPr>
          <p:txBody>
            <a:bodyPr anchor="ctr" rtlCol="false" tIns="0" lIns="0" bIns="0" rIns="0"/>
            <a:lstStyle/>
            <a:p>
              <a:pPr algn="l">
                <a:lnSpc>
                  <a:spcPts val="6839"/>
                </a:lnSpc>
              </a:pPr>
              <a:r>
                <a:rPr lang="en-US" sz="5700">
                  <a:solidFill>
                    <a:srgbClr val="111111"/>
                  </a:solidFill>
                  <a:latin typeface="Georgia"/>
                  <a:ea typeface="Georgia"/>
                  <a:cs typeface="Georgia"/>
                  <a:sym typeface="Georgia"/>
                </a:rPr>
                <a:t>PORTFOLIO</a:t>
              </a:r>
            </a:p>
          </p:txBody>
        </p:sp>
      </p:grpSp>
      <p:grpSp>
        <p:nvGrpSpPr>
          <p:cNvPr name="Group 5" id="5"/>
          <p:cNvGrpSpPr/>
          <p:nvPr/>
        </p:nvGrpSpPr>
        <p:grpSpPr>
          <a:xfrm rot="0">
            <a:off x="10969304" y="7032307"/>
            <a:ext cx="5366385" cy="2191388"/>
            <a:chOff x="0" y="0"/>
            <a:chExt cx="7155180" cy="2921851"/>
          </a:xfrm>
        </p:grpSpPr>
        <p:sp>
          <p:nvSpPr>
            <p:cNvPr name="Freeform 6" id="6"/>
            <p:cNvSpPr/>
            <p:nvPr/>
          </p:nvSpPr>
          <p:spPr>
            <a:xfrm flipH="false" flipV="false" rot="0">
              <a:off x="0" y="0"/>
              <a:ext cx="7155180" cy="2921889"/>
            </a:xfrm>
            <a:custGeom>
              <a:avLst/>
              <a:gdLst/>
              <a:ahLst/>
              <a:cxnLst/>
              <a:rect r="r" b="b" t="t" l="l"/>
              <a:pathLst>
                <a:path h="2921889" w="7155180">
                  <a:moveTo>
                    <a:pt x="0" y="0"/>
                  </a:moveTo>
                  <a:lnTo>
                    <a:pt x="7155180" y="0"/>
                  </a:lnTo>
                  <a:lnTo>
                    <a:pt x="7155180" y="2921889"/>
                  </a:lnTo>
                  <a:lnTo>
                    <a:pt x="0" y="2921889"/>
                  </a:lnTo>
                  <a:close/>
                </a:path>
              </a:pathLst>
            </a:custGeom>
            <a:solidFill>
              <a:srgbClr val="FFFFFF"/>
            </a:solidFill>
            <a:ln w="32385" cap="sq">
              <a:solidFill>
                <a:srgbClr val="111111"/>
              </a:solidFill>
              <a:prstDash val="solid"/>
              <a:miter/>
            </a:ln>
          </p:spPr>
        </p:sp>
      </p:grpSp>
      <p:sp>
        <p:nvSpPr>
          <p:cNvPr name="AutoShape 7" id="7"/>
          <p:cNvSpPr/>
          <p:nvPr/>
        </p:nvSpPr>
        <p:spPr>
          <a:xfrm rot="13440">
            <a:off x="10975000" y="7767638"/>
            <a:ext cx="5354993" cy="0"/>
          </a:xfrm>
          <a:prstGeom prst="line">
            <a:avLst/>
          </a:prstGeom>
          <a:ln cap="rnd" w="9525">
            <a:solidFill>
              <a:srgbClr val="111111"/>
            </a:solidFill>
            <a:prstDash val="solid"/>
            <a:headEnd type="none" len="sm" w="sm"/>
            <a:tailEnd type="none" len="sm" w="sm"/>
          </a:ln>
        </p:spPr>
      </p:sp>
      <p:sp>
        <p:nvSpPr>
          <p:cNvPr name="AutoShape 8" id="8"/>
          <p:cNvSpPr/>
          <p:nvPr/>
        </p:nvSpPr>
        <p:spPr>
          <a:xfrm rot="13440">
            <a:off x="10975000" y="8478841"/>
            <a:ext cx="5354993" cy="0"/>
          </a:xfrm>
          <a:prstGeom prst="line">
            <a:avLst/>
          </a:prstGeom>
          <a:ln cap="rnd" w="9525">
            <a:solidFill>
              <a:srgbClr val="111111"/>
            </a:solidFill>
            <a:prstDash val="solid"/>
            <a:headEnd type="none" len="sm" w="sm"/>
            <a:tailEnd type="none" len="sm" w="sm"/>
          </a:ln>
        </p:spPr>
      </p:sp>
      <p:sp>
        <p:nvSpPr>
          <p:cNvPr name="AutoShape 9" id="9"/>
          <p:cNvSpPr/>
          <p:nvPr/>
        </p:nvSpPr>
        <p:spPr>
          <a:xfrm rot="5366940">
            <a:off x="11609975" y="8123234"/>
            <a:ext cx="2180053" cy="0"/>
          </a:xfrm>
          <a:prstGeom prst="line">
            <a:avLst/>
          </a:prstGeom>
          <a:ln cap="rnd" w="9525">
            <a:solidFill>
              <a:srgbClr val="111111"/>
            </a:solidFill>
            <a:prstDash val="solid"/>
            <a:headEnd type="none" len="sm" w="sm"/>
            <a:tailEnd type="none" len="sm" w="sm"/>
          </a:ln>
        </p:spPr>
      </p:sp>
      <p:grpSp>
        <p:nvGrpSpPr>
          <p:cNvPr name="Group 10" id="10"/>
          <p:cNvGrpSpPr/>
          <p:nvPr/>
        </p:nvGrpSpPr>
        <p:grpSpPr>
          <a:xfrm rot="0">
            <a:off x="11112503" y="7239000"/>
            <a:ext cx="1460497" cy="355597"/>
            <a:chOff x="0" y="0"/>
            <a:chExt cx="1947329" cy="474129"/>
          </a:xfrm>
        </p:grpSpPr>
        <p:sp>
          <p:nvSpPr>
            <p:cNvPr name="Freeform 11" id="11"/>
            <p:cNvSpPr/>
            <p:nvPr/>
          </p:nvSpPr>
          <p:spPr>
            <a:xfrm flipH="false" flipV="false" rot="0">
              <a:off x="0" y="0"/>
              <a:ext cx="1947334" cy="474134"/>
            </a:xfrm>
            <a:custGeom>
              <a:avLst/>
              <a:gdLst/>
              <a:ahLst/>
              <a:cxnLst/>
              <a:rect r="r" b="b" t="t" l="l"/>
              <a:pathLst>
                <a:path h="474134" w="1947334">
                  <a:moveTo>
                    <a:pt x="0" y="0"/>
                  </a:moveTo>
                  <a:lnTo>
                    <a:pt x="1947334" y="0"/>
                  </a:lnTo>
                  <a:lnTo>
                    <a:pt x="1947334" y="474134"/>
                  </a:lnTo>
                  <a:lnTo>
                    <a:pt x="0" y="474134"/>
                  </a:lnTo>
                  <a:close/>
                </a:path>
              </a:pathLst>
            </a:custGeom>
            <a:blipFill>
              <a:blip r:embed="rId3">
                <a:alphaModFix amt="0"/>
              </a:blip>
              <a:stretch>
                <a:fillRect l="0" t="-30028" r="0" b="-30027"/>
              </a:stretch>
            </a:blipFill>
          </p:spPr>
        </p:sp>
        <p:sp>
          <p:nvSpPr>
            <p:cNvPr name="TextBox 12" id="12"/>
            <p:cNvSpPr txBox="true"/>
            <p:nvPr/>
          </p:nvSpPr>
          <p:spPr>
            <a:xfrm>
              <a:off x="0" y="-19050"/>
              <a:ext cx="1947329" cy="493179"/>
            </a:xfrm>
            <a:prstGeom prst="rect">
              <a:avLst/>
            </a:prstGeom>
          </p:spPr>
          <p:txBody>
            <a:bodyPr anchor="ctr" rtlCol="false" tIns="0" lIns="0" bIns="0" rIns="0"/>
            <a:lstStyle/>
            <a:p>
              <a:pPr algn="ctr">
                <a:lnSpc>
                  <a:spcPts val="2160"/>
                </a:lnSpc>
              </a:pPr>
              <a:r>
                <a:rPr lang="en-US" sz="1800" b="true">
                  <a:solidFill>
                    <a:srgbClr val="111111"/>
                  </a:solidFill>
                  <a:latin typeface="Arimo Bold"/>
                  <a:ea typeface="Arimo Bold"/>
                  <a:cs typeface="Arimo Bold"/>
                  <a:sym typeface="Arimo Bold"/>
                </a:rPr>
                <a:t>이름</a:t>
              </a:r>
            </a:p>
          </p:txBody>
        </p:sp>
      </p:grpSp>
      <p:grpSp>
        <p:nvGrpSpPr>
          <p:cNvPr name="Group 13" id="13"/>
          <p:cNvGrpSpPr/>
          <p:nvPr/>
        </p:nvGrpSpPr>
        <p:grpSpPr>
          <a:xfrm rot="0">
            <a:off x="12890497" y="7239000"/>
            <a:ext cx="3174997" cy="355597"/>
            <a:chOff x="0" y="0"/>
            <a:chExt cx="4233329" cy="474129"/>
          </a:xfrm>
        </p:grpSpPr>
        <p:sp>
          <p:nvSpPr>
            <p:cNvPr name="Freeform 14" id="14"/>
            <p:cNvSpPr/>
            <p:nvPr/>
          </p:nvSpPr>
          <p:spPr>
            <a:xfrm flipH="false" flipV="false" rot="0">
              <a:off x="0" y="0"/>
              <a:ext cx="4233334" cy="474134"/>
            </a:xfrm>
            <a:custGeom>
              <a:avLst/>
              <a:gdLst/>
              <a:ahLst/>
              <a:cxnLst/>
              <a:rect r="r" b="b" t="t" l="l"/>
              <a:pathLst>
                <a:path h="474134" w="4233334">
                  <a:moveTo>
                    <a:pt x="0" y="0"/>
                  </a:moveTo>
                  <a:lnTo>
                    <a:pt x="4233334" y="0"/>
                  </a:lnTo>
                  <a:lnTo>
                    <a:pt x="4233334" y="474134"/>
                  </a:lnTo>
                  <a:lnTo>
                    <a:pt x="0" y="474134"/>
                  </a:lnTo>
                  <a:close/>
                </a:path>
              </a:pathLst>
            </a:custGeom>
            <a:blipFill>
              <a:blip r:embed="rId3">
                <a:alphaModFix amt="0"/>
              </a:blip>
              <a:stretch>
                <a:fillRect l="0" t="-123973" r="0" b="-123972"/>
              </a:stretch>
            </a:blipFill>
          </p:spPr>
        </p:sp>
        <p:sp>
          <p:nvSpPr>
            <p:cNvPr name="TextBox 15" id="15"/>
            <p:cNvSpPr txBox="true"/>
            <p:nvPr/>
          </p:nvSpPr>
          <p:spPr>
            <a:xfrm>
              <a:off x="0" y="-19050"/>
              <a:ext cx="4233329" cy="493179"/>
            </a:xfrm>
            <a:prstGeom prst="rect">
              <a:avLst/>
            </a:prstGeom>
          </p:spPr>
          <p:txBody>
            <a:bodyPr anchor="ctr" rtlCol="false" tIns="0" lIns="0" bIns="0" rIns="0"/>
            <a:lstStyle/>
            <a:p>
              <a:pPr algn="ctr">
                <a:lnSpc>
                  <a:spcPts val="2070"/>
                </a:lnSpc>
              </a:pPr>
              <a:r>
                <a:rPr lang="en-US" sz="1725">
                  <a:solidFill>
                    <a:srgbClr val="111111"/>
                  </a:solidFill>
                  <a:latin typeface="Arimo"/>
                  <a:ea typeface="Arimo"/>
                  <a:cs typeface="Arimo"/>
                  <a:sym typeface="Arimo"/>
                </a:rPr>
                <a:t>박준수</a:t>
              </a:r>
            </a:p>
          </p:txBody>
        </p:sp>
      </p:grpSp>
      <p:grpSp>
        <p:nvGrpSpPr>
          <p:cNvPr name="Group 16" id="16"/>
          <p:cNvGrpSpPr/>
          <p:nvPr/>
        </p:nvGrpSpPr>
        <p:grpSpPr>
          <a:xfrm rot="0">
            <a:off x="11112503" y="7950203"/>
            <a:ext cx="1460497" cy="355597"/>
            <a:chOff x="0" y="0"/>
            <a:chExt cx="1947329" cy="474129"/>
          </a:xfrm>
        </p:grpSpPr>
        <p:sp>
          <p:nvSpPr>
            <p:cNvPr name="Freeform 17" id="17"/>
            <p:cNvSpPr/>
            <p:nvPr/>
          </p:nvSpPr>
          <p:spPr>
            <a:xfrm flipH="false" flipV="false" rot="0">
              <a:off x="0" y="0"/>
              <a:ext cx="1947334" cy="474134"/>
            </a:xfrm>
            <a:custGeom>
              <a:avLst/>
              <a:gdLst/>
              <a:ahLst/>
              <a:cxnLst/>
              <a:rect r="r" b="b" t="t" l="l"/>
              <a:pathLst>
                <a:path h="474134" w="1947334">
                  <a:moveTo>
                    <a:pt x="0" y="0"/>
                  </a:moveTo>
                  <a:lnTo>
                    <a:pt x="1947334" y="0"/>
                  </a:lnTo>
                  <a:lnTo>
                    <a:pt x="1947334" y="474134"/>
                  </a:lnTo>
                  <a:lnTo>
                    <a:pt x="0" y="474134"/>
                  </a:lnTo>
                  <a:close/>
                </a:path>
              </a:pathLst>
            </a:custGeom>
            <a:blipFill>
              <a:blip r:embed="rId3">
                <a:alphaModFix amt="0"/>
              </a:blip>
              <a:stretch>
                <a:fillRect l="0" t="-30028" r="0" b="-30027"/>
              </a:stretch>
            </a:blipFill>
          </p:spPr>
        </p:sp>
        <p:sp>
          <p:nvSpPr>
            <p:cNvPr name="TextBox 18" id="18"/>
            <p:cNvSpPr txBox="true"/>
            <p:nvPr/>
          </p:nvSpPr>
          <p:spPr>
            <a:xfrm>
              <a:off x="0" y="-19050"/>
              <a:ext cx="1947329" cy="493179"/>
            </a:xfrm>
            <a:prstGeom prst="rect">
              <a:avLst/>
            </a:prstGeom>
          </p:spPr>
          <p:txBody>
            <a:bodyPr anchor="ctr" rtlCol="false" tIns="0" lIns="0" bIns="0" rIns="0"/>
            <a:lstStyle/>
            <a:p>
              <a:pPr algn="ctr">
                <a:lnSpc>
                  <a:spcPts val="2160"/>
                </a:lnSpc>
              </a:pPr>
              <a:r>
                <a:rPr lang="en-US" sz="1800" b="true">
                  <a:solidFill>
                    <a:srgbClr val="111111"/>
                  </a:solidFill>
                  <a:latin typeface="Arimo Bold"/>
                  <a:ea typeface="Arimo Bold"/>
                  <a:cs typeface="Arimo Bold"/>
                  <a:sym typeface="Arimo Bold"/>
                </a:rPr>
                <a:t>이메일</a:t>
              </a:r>
            </a:p>
          </p:txBody>
        </p:sp>
      </p:grpSp>
      <p:grpSp>
        <p:nvGrpSpPr>
          <p:cNvPr name="Group 19" id="19"/>
          <p:cNvGrpSpPr/>
          <p:nvPr/>
        </p:nvGrpSpPr>
        <p:grpSpPr>
          <a:xfrm rot="0">
            <a:off x="12890497" y="7950203"/>
            <a:ext cx="3174997" cy="355597"/>
            <a:chOff x="0" y="0"/>
            <a:chExt cx="4233329" cy="474129"/>
          </a:xfrm>
        </p:grpSpPr>
        <p:sp>
          <p:nvSpPr>
            <p:cNvPr name="Freeform 20" id="20"/>
            <p:cNvSpPr/>
            <p:nvPr/>
          </p:nvSpPr>
          <p:spPr>
            <a:xfrm flipH="false" flipV="false" rot="0">
              <a:off x="0" y="0"/>
              <a:ext cx="4233334" cy="474134"/>
            </a:xfrm>
            <a:custGeom>
              <a:avLst/>
              <a:gdLst/>
              <a:ahLst/>
              <a:cxnLst/>
              <a:rect r="r" b="b" t="t" l="l"/>
              <a:pathLst>
                <a:path h="474134" w="4233334">
                  <a:moveTo>
                    <a:pt x="0" y="0"/>
                  </a:moveTo>
                  <a:lnTo>
                    <a:pt x="4233334" y="0"/>
                  </a:lnTo>
                  <a:lnTo>
                    <a:pt x="4233334" y="474134"/>
                  </a:lnTo>
                  <a:lnTo>
                    <a:pt x="0" y="474134"/>
                  </a:lnTo>
                  <a:close/>
                </a:path>
              </a:pathLst>
            </a:custGeom>
            <a:blipFill>
              <a:blip r:embed="rId3">
                <a:alphaModFix amt="0"/>
              </a:blip>
              <a:stretch>
                <a:fillRect l="0" t="-123973" r="0" b="-123972"/>
              </a:stretch>
            </a:blipFill>
          </p:spPr>
        </p:sp>
        <p:sp>
          <p:nvSpPr>
            <p:cNvPr name="TextBox 21" id="21"/>
            <p:cNvSpPr txBox="true"/>
            <p:nvPr/>
          </p:nvSpPr>
          <p:spPr>
            <a:xfrm>
              <a:off x="0" y="-19050"/>
              <a:ext cx="4233329" cy="493179"/>
            </a:xfrm>
            <a:prstGeom prst="rect">
              <a:avLst/>
            </a:prstGeom>
          </p:spPr>
          <p:txBody>
            <a:bodyPr anchor="ctr" rtlCol="false" tIns="0" lIns="0" bIns="0" rIns="0"/>
            <a:lstStyle/>
            <a:p>
              <a:pPr algn="ctr">
                <a:lnSpc>
                  <a:spcPts val="2070"/>
                </a:lnSpc>
              </a:pPr>
              <a:r>
                <a:rPr lang="en-US" sz="1725">
                  <a:solidFill>
                    <a:srgbClr val="111111"/>
                  </a:solidFill>
                  <a:latin typeface="Arimo"/>
                  <a:ea typeface="Arimo"/>
                  <a:cs typeface="Arimo"/>
                  <a:sym typeface="Arimo"/>
                </a:rPr>
                <a:t>pjsu94@naver.com</a:t>
              </a:r>
            </a:p>
          </p:txBody>
        </p:sp>
      </p:grpSp>
      <p:grpSp>
        <p:nvGrpSpPr>
          <p:cNvPr name="Group 22" id="22"/>
          <p:cNvGrpSpPr/>
          <p:nvPr/>
        </p:nvGrpSpPr>
        <p:grpSpPr>
          <a:xfrm rot="0">
            <a:off x="11112503" y="8661397"/>
            <a:ext cx="1460497" cy="355597"/>
            <a:chOff x="0" y="0"/>
            <a:chExt cx="1947329" cy="474129"/>
          </a:xfrm>
        </p:grpSpPr>
        <p:sp>
          <p:nvSpPr>
            <p:cNvPr name="Freeform 23" id="23"/>
            <p:cNvSpPr/>
            <p:nvPr/>
          </p:nvSpPr>
          <p:spPr>
            <a:xfrm flipH="false" flipV="false" rot="0">
              <a:off x="0" y="0"/>
              <a:ext cx="1947334" cy="474134"/>
            </a:xfrm>
            <a:custGeom>
              <a:avLst/>
              <a:gdLst/>
              <a:ahLst/>
              <a:cxnLst/>
              <a:rect r="r" b="b" t="t" l="l"/>
              <a:pathLst>
                <a:path h="474134" w="1947334">
                  <a:moveTo>
                    <a:pt x="0" y="0"/>
                  </a:moveTo>
                  <a:lnTo>
                    <a:pt x="1947334" y="0"/>
                  </a:lnTo>
                  <a:lnTo>
                    <a:pt x="1947334" y="474134"/>
                  </a:lnTo>
                  <a:lnTo>
                    <a:pt x="0" y="474134"/>
                  </a:lnTo>
                  <a:close/>
                </a:path>
              </a:pathLst>
            </a:custGeom>
            <a:blipFill>
              <a:blip r:embed="rId3">
                <a:alphaModFix amt="0"/>
              </a:blip>
              <a:stretch>
                <a:fillRect l="0" t="-30028" r="0" b="-30027"/>
              </a:stretch>
            </a:blipFill>
          </p:spPr>
        </p:sp>
        <p:sp>
          <p:nvSpPr>
            <p:cNvPr name="TextBox 24" id="24"/>
            <p:cNvSpPr txBox="true"/>
            <p:nvPr/>
          </p:nvSpPr>
          <p:spPr>
            <a:xfrm>
              <a:off x="0" y="-19050"/>
              <a:ext cx="1947329" cy="493179"/>
            </a:xfrm>
            <a:prstGeom prst="rect">
              <a:avLst/>
            </a:prstGeom>
          </p:spPr>
          <p:txBody>
            <a:bodyPr anchor="ctr" rtlCol="false" tIns="0" lIns="0" bIns="0" rIns="0"/>
            <a:lstStyle/>
            <a:p>
              <a:pPr algn="ctr">
                <a:lnSpc>
                  <a:spcPts val="2160"/>
                </a:lnSpc>
              </a:pPr>
              <a:r>
                <a:rPr lang="en-US" sz="1800" b="true">
                  <a:solidFill>
                    <a:srgbClr val="111111"/>
                  </a:solidFill>
                  <a:latin typeface="Arimo Bold"/>
                  <a:ea typeface="Arimo Bold"/>
                  <a:cs typeface="Arimo Bold"/>
                  <a:sym typeface="Arimo Bold"/>
                </a:rPr>
                <a:t>GitHub</a:t>
              </a:r>
            </a:p>
          </p:txBody>
        </p:sp>
      </p:grpSp>
      <p:grpSp>
        <p:nvGrpSpPr>
          <p:cNvPr name="Group 25" id="25"/>
          <p:cNvGrpSpPr/>
          <p:nvPr/>
        </p:nvGrpSpPr>
        <p:grpSpPr>
          <a:xfrm rot="0">
            <a:off x="12890497" y="8661397"/>
            <a:ext cx="3174997" cy="355597"/>
            <a:chOff x="0" y="0"/>
            <a:chExt cx="4233329" cy="474129"/>
          </a:xfrm>
        </p:grpSpPr>
        <p:sp>
          <p:nvSpPr>
            <p:cNvPr name="Freeform 26" id="26"/>
            <p:cNvSpPr/>
            <p:nvPr/>
          </p:nvSpPr>
          <p:spPr>
            <a:xfrm flipH="false" flipV="false" rot="0">
              <a:off x="0" y="0"/>
              <a:ext cx="4233334" cy="474134"/>
            </a:xfrm>
            <a:custGeom>
              <a:avLst/>
              <a:gdLst/>
              <a:ahLst/>
              <a:cxnLst/>
              <a:rect r="r" b="b" t="t" l="l"/>
              <a:pathLst>
                <a:path h="474134" w="4233334">
                  <a:moveTo>
                    <a:pt x="0" y="0"/>
                  </a:moveTo>
                  <a:lnTo>
                    <a:pt x="4233334" y="0"/>
                  </a:lnTo>
                  <a:lnTo>
                    <a:pt x="4233334" y="474134"/>
                  </a:lnTo>
                  <a:lnTo>
                    <a:pt x="0" y="474134"/>
                  </a:lnTo>
                  <a:close/>
                </a:path>
              </a:pathLst>
            </a:custGeom>
            <a:blipFill>
              <a:blip r:embed="rId3">
                <a:alphaModFix amt="0"/>
              </a:blip>
              <a:stretch>
                <a:fillRect l="0" t="-123973" r="0" b="-123972"/>
              </a:stretch>
            </a:blipFill>
          </p:spPr>
        </p:sp>
        <p:sp>
          <p:nvSpPr>
            <p:cNvPr name="TextBox 27" id="27"/>
            <p:cNvSpPr txBox="true"/>
            <p:nvPr/>
          </p:nvSpPr>
          <p:spPr>
            <a:xfrm>
              <a:off x="0" y="-19050"/>
              <a:ext cx="4233329" cy="493179"/>
            </a:xfrm>
            <a:prstGeom prst="rect">
              <a:avLst/>
            </a:prstGeom>
          </p:spPr>
          <p:txBody>
            <a:bodyPr anchor="ctr" rtlCol="false" tIns="0" lIns="0" bIns="0" rIns="0"/>
            <a:lstStyle/>
            <a:p>
              <a:pPr algn="ctr">
                <a:lnSpc>
                  <a:spcPts val="2070"/>
                </a:lnSpc>
              </a:pPr>
              <a:r>
                <a:rPr lang="en-US" sz="1725" u="sng">
                  <a:solidFill>
                    <a:srgbClr val="111111"/>
                  </a:solidFill>
                  <a:latin typeface="Arimo"/>
                  <a:ea typeface="Arimo"/>
                  <a:cs typeface="Arimo"/>
                  <a:sym typeface="Arimo"/>
                  <a:hlinkClick r:id="rId4" tooltip="https://github.com/kdm111"/>
                </a:rPr>
                <a:t>github.com/kdm111</a:t>
              </a:r>
            </a:p>
          </p:txBody>
        </p:sp>
      </p:grpSp>
      <p:grpSp>
        <p:nvGrpSpPr>
          <p:cNvPr name="Group 28" id="28"/>
          <p:cNvGrpSpPr/>
          <p:nvPr/>
        </p:nvGrpSpPr>
        <p:grpSpPr>
          <a:xfrm rot="0">
            <a:off x="1079497" y="9525000"/>
            <a:ext cx="3810000" cy="253999"/>
            <a:chOff x="0" y="0"/>
            <a:chExt cx="5080000" cy="338666"/>
          </a:xfrm>
        </p:grpSpPr>
        <p:sp>
          <p:nvSpPr>
            <p:cNvPr name="Freeform 29" id="29"/>
            <p:cNvSpPr/>
            <p:nvPr/>
          </p:nvSpPr>
          <p:spPr>
            <a:xfrm flipH="false" flipV="false" rot="0">
              <a:off x="0" y="0"/>
              <a:ext cx="5080000" cy="338661"/>
            </a:xfrm>
            <a:custGeom>
              <a:avLst/>
              <a:gdLst/>
              <a:ahLst/>
              <a:cxnLst/>
              <a:rect r="r" b="b" t="t" l="l"/>
              <a:pathLst>
                <a:path h="338661" w="5080000">
                  <a:moveTo>
                    <a:pt x="0" y="0"/>
                  </a:moveTo>
                  <a:lnTo>
                    <a:pt x="5080000" y="0"/>
                  </a:lnTo>
                  <a:lnTo>
                    <a:pt x="5080000" y="338661"/>
                  </a:lnTo>
                  <a:lnTo>
                    <a:pt x="0" y="338661"/>
                  </a:lnTo>
                  <a:close/>
                </a:path>
              </a:pathLst>
            </a:custGeom>
            <a:blipFill>
              <a:blip r:embed="rId3">
                <a:alphaModFix amt="0"/>
              </a:blip>
              <a:stretch>
                <a:fillRect l="0" t="-242278" r="0" b="-242281"/>
              </a:stretch>
            </a:blipFill>
          </p:spPr>
        </p:sp>
        <p:sp>
          <p:nvSpPr>
            <p:cNvPr name="TextBox 30" id="30"/>
            <p:cNvSpPr txBox="true"/>
            <p:nvPr/>
          </p:nvSpPr>
          <p:spPr>
            <a:xfrm>
              <a:off x="0" y="-19050"/>
              <a:ext cx="5080000" cy="357716"/>
            </a:xfrm>
            <a:prstGeom prst="rect">
              <a:avLst/>
            </a:prstGeom>
          </p:spPr>
          <p:txBody>
            <a:bodyPr anchor="ctr" rtlCol="false" tIns="0" lIns="0" bIns="0" rIns="0"/>
            <a:lstStyle/>
            <a:p>
              <a:pPr algn="l">
                <a:lnSpc>
                  <a:spcPts val="1439"/>
                </a:lnSpc>
              </a:pPr>
              <a:r>
                <a:rPr lang="en-US" sz="1200">
                  <a:solidFill>
                    <a:srgbClr val="66645F"/>
                  </a:solidFill>
                  <a:latin typeface="Arimo"/>
                  <a:ea typeface="Arimo"/>
                  <a:cs typeface="Arimo"/>
                  <a:sym typeface="Arimo"/>
                </a:rPr>
                <a:t>PARK JUNSU</a:t>
              </a:r>
            </a:p>
          </p:txBody>
        </p:sp>
      </p:grpSp>
      <p:sp>
        <p:nvSpPr>
          <p:cNvPr name="TextBox 31" id="31"/>
          <p:cNvSpPr txBox="true"/>
          <p:nvPr/>
        </p:nvSpPr>
        <p:spPr>
          <a:xfrm rot="0">
            <a:off x="17076420" y="9746742"/>
            <a:ext cx="617220" cy="293370"/>
          </a:xfrm>
          <a:prstGeom prst="rect">
            <a:avLst/>
          </a:prstGeom>
        </p:spPr>
        <p:txBody>
          <a:bodyPr anchor="t" rtlCol="false" tIns="0" lIns="0" bIns="0" rIns="0">
            <a:spAutoFit/>
          </a:bodyPr>
          <a:lstStyle/>
          <a:p>
            <a:pPr algn="r">
              <a:lnSpc>
                <a:spcPts val="1439"/>
              </a:lnSpc>
            </a:pPr>
            <a:r>
              <a:rPr lang="en-US" sz="1200">
                <a:solidFill>
                  <a:srgbClr val="66645F"/>
                </a:solidFill>
                <a:latin typeface="Arimo"/>
                <a:ea typeface="Arimo"/>
                <a:cs typeface="Arimo"/>
                <a:sym typeface="Arimo"/>
              </a:rPr>
              <a:t>1</a:t>
            </a:r>
          </a:p>
        </p:txBody>
      </p:sp>
      <p:grpSp>
        <p:nvGrpSpPr>
          <p:cNvPr name="Group 32" id="32"/>
          <p:cNvGrpSpPr/>
          <p:nvPr/>
        </p:nvGrpSpPr>
        <p:grpSpPr>
          <a:xfrm rot="0">
            <a:off x="1073153" y="2216153"/>
            <a:ext cx="3164329" cy="647700"/>
            <a:chOff x="0" y="0"/>
            <a:chExt cx="4219105" cy="863600"/>
          </a:xfrm>
        </p:grpSpPr>
        <p:sp>
          <p:nvSpPr>
            <p:cNvPr name="Freeform 33" id="33">
              <a:hlinkClick r:id="rId5" tooltip="https://kdm111.github.io/"/>
            </p:cNvPr>
            <p:cNvSpPr/>
            <p:nvPr/>
          </p:nvSpPr>
          <p:spPr>
            <a:xfrm flipH="false" flipV="false" rot="0">
              <a:off x="0" y="0"/>
              <a:ext cx="4219067" cy="863600"/>
            </a:xfrm>
            <a:custGeom>
              <a:avLst/>
              <a:gdLst/>
              <a:ahLst/>
              <a:cxnLst/>
              <a:rect r="r" b="b" t="t" l="l"/>
              <a:pathLst>
                <a:path h="863600" w="4219067">
                  <a:moveTo>
                    <a:pt x="0" y="0"/>
                  </a:moveTo>
                  <a:lnTo>
                    <a:pt x="4219067" y="0"/>
                  </a:lnTo>
                  <a:lnTo>
                    <a:pt x="4219067" y="863600"/>
                  </a:lnTo>
                  <a:lnTo>
                    <a:pt x="0" y="863600"/>
                  </a:lnTo>
                  <a:close/>
                </a:path>
              </a:pathLst>
            </a:custGeom>
            <a:blipFill>
              <a:blip r:embed="rId3">
                <a:alphaModFix amt="0"/>
              </a:blip>
              <a:stretch>
                <a:fillRect l="0" t="-45193" r="0" b="-45193"/>
              </a:stretch>
            </a:blipFill>
            <a:ln w="12700" cap="sq">
              <a:solidFill>
                <a:srgbClr val="111111"/>
              </a:solidFill>
              <a:prstDash val="solid"/>
              <a:miter/>
            </a:ln>
          </p:spPr>
        </p:sp>
      </p:grpSp>
      <p:grpSp>
        <p:nvGrpSpPr>
          <p:cNvPr name="Group 34" id="34"/>
          <p:cNvGrpSpPr/>
          <p:nvPr/>
        </p:nvGrpSpPr>
        <p:grpSpPr>
          <a:xfrm rot="0">
            <a:off x="1308097" y="2349503"/>
            <a:ext cx="2438400" cy="381000"/>
            <a:chOff x="0" y="0"/>
            <a:chExt cx="3251200" cy="508000"/>
          </a:xfrm>
        </p:grpSpPr>
        <p:sp>
          <p:nvSpPr>
            <p:cNvPr name="Freeform 35" id="35"/>
            <p:cNvSpPr/>
            <p:nvPr/>
          </p:nvSpPr>
          <p:spPr>
            <a:xfrm flipH="false" flipV="false" rot="0">
              <a:off x="0" y="0"/>
              <a:ext cx="3251200" cy="508000"/>
            </a:xfrm>
            <a:custGeom>
              <a:avLst/>
              <a:gdLst/>
              <a:ahLst/>
              <a:cxnLst/>
              <a:rect r="r" b="b" t="t" l="l"/>
              <a:pathLst>
                <a:path h="508000" w="3251200">
                  <a:moveTo>
                    <a:pt x="0" y="0"/>
                  </a:moveTo>
                  <a:lnTo>
                    <a:pt x="3251200" y="0"/>
                  </a:lnTo>
                  <a:lnTo>
                    <a:pt x="3251200" y="508000"/>
                  </a:lnTo>
                  <a:lnTo>
                    <a:pt x="0" y="508000"/>
                  </a:lnTo>
                  <a:close/>
                </a:path>
              </a:pathLst>
            </a:custGeom>
            <a:blipFill>
              <a:blip r:embed="rId3">
                <a:alphaModFix amt="0"/>
              </a:blip>
              <a:stretch>
                <a:fillRect l="0" t="-74704" r="0" b="-74704"/>
              </a:stretch>
            </a:blipFill>
          </p:spPr>
        </p:sp>
        <p:sp>
          <p:nvSpPr>
            <p:cNvPr name="TextBox 36" id="36"/>
            <p:cNvSpPr txBox="true"/>
            <p:nvPr/>
          </p:nvSpPr>
          <p:spPr>
            <a:xfrm>
              <a:off x="0" y="0"/>
              <a:ext cx="3251200" cy="508000"/>
            </a:xfrm>
            <a:prstGeom prst="rect">
              <a:avLst/>
            </a:prstGeom>
          </p:spPr>
          <p:txBody>
            <a:bodyPr anchor="ctr" rtlCol="false" tIns="0" lIns="0" bIns="0" rIns="0"/>
            <a:lstStyle/>
            <a:p>
              <a:pPr algn="l">
                <a:lnSpc>
                  <a:spcPts val="2279"/>
                </a:lnSpc>
              </a:pPr>
              <a:r>
                <a:rPr lang="en-US" sz="1899" u="sng">
                  <a:solidFill>
                    <a:srgbClr val="0000FF"/>
                  </a:solidFill>
                  <a:latin typeface="Noto Sans"/>
                  <a:ea typeface="Noto Sans"/>
                  <a:cs typeface="Noto Sans"/>
                  <a:sym typeface="Noto Sans"/>
                  <a:hlinkClick r:id="rId6" tooltip="https://kdm111.github.io/"/>
                </a:rPr>
                <a:t>사이트로 가기</a:t>
              </a:r>
            </a:p>
          </p:txBody>
        </p:sp>
      </p:grpSp>
      <p:sp>
        <p:nvSpPr>
          <p:cNvPr name="AutoShape 37" id="37"/>
          <p:cNvSpPr/>
          <p:nvPr/>
        </p:nvSpPr>
        <p:spPr>
          <a:xfrm rot="-2700000">
            <a:off x="3795093" y="2535241"/>
            <a:ext cx="237077" cy="0"/>
          </a:xfrm>
          <a:prstGeom prst="line">
            <a:avLst/>
          </a:prstGeom>
          <a:ln cap="rnd" w="9525">
            <a:solidFill>
              <a:srgbClr val="111111"/>
            </a:solidFill>
            <a:prstDash val="solid"/>
            <a:headEnd type="none" len="sm" w="sm"/>
            <a:tailEnd type="none" len="sm" w="sm"/>
          </a:ln>
        </p:spPr>
      </p:sp>
      <p:sp>
        <p:nvSpPr>
          <p:cNvPr name="AutoShape 38" id="38"/>
          <p:cNvSpPr/>
          <p:nvPr/>
        </p:nvSpPr>
        <p:spPr>
          <a:xfrm rot="366960">
            <a:off x="3854806" y="2459041"/>
            <a:ext cx="143056" cy="0"/>
          </a:xfrm>
          <a:prstGeom prst="line">
            <a:avLst/>
          </a:prstGeom>
          <a:ln cap="rnd" w="9525">
            <a:solidFill>
              <a:srgbClr val="111111"/>
            </a:solidFill>
            <a:prstDash val="solid"/>
            <a:headEnd type="none" len="sm" w="sm"/>
            <a:tailEnd type="none" len="sm" w="sm"/>
          </a:ln>
        </p:spPr>
      </p:sp>
      <p:sp>
        <p:nvSpPr>
          <p:cNvPr name="AutoShape 39" id="39"/>
          <p:cNvSpPr/>
          <p:nvPr/>
        </p:nvSpPr>
        <p:spPr>
          <a:xfrm rot="5033039">
            <a:off x="3918309" y="2522534"/>
            <a:ext cx="143056" cy="0"/>
          </a:xfrm>
          <a:prstGeom prst="line">
            <a:avLst/>
          </a:prstGeom>
          <a:ln cap="rnd" w="9525">
            <a:solidFill>
              <a:srgbClr val="111111"/>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grpSp>
        <p:nvGrpSpPr>
          <p:cNvPr name="Group 2" id="2"/>
          <p:cNvGrpSpPr/>
          <p:nvPr/>
        </p:nvGrpSpPr>
        <p:grpSpPr>
          <a:xfrm rot="0">
            <a:off x="1079497" y="673103"/>
            <a:ext cx="4572000" cy="863603"/>
            <a:chOff x="0" y="0"/>
            <a:chExt cx="6096000" cy="1151471"/>
          </a:xfrm>
        </p:grpSpPr>
        <p:sp>
          <p:nvSpPr>
            <p:cNvPr name="Freeform 3" id="3"/>
            <p:cNvSpPr/>
            <p:nvPr/>
          </p:nvSpPr>
          <p:spPr>
            <a:xfrm flipH="false" flipV="false" rot="0">
              <a:off x="0" y="0"/>
              <a:ext cx="6096000" cy="1151466"/>
            </a:xfrm>
            <a:custGeom>
              <a:avLst/>
              <a:gdLst/>
              <a:ahLst/>
              <a:cxnLst/>
              <a:rect r="r" b="b" t="t" l="l"/>
              <a:pathLst>
                <a:path h="1151466" w="6096000">
                  <a:moveTo>
                    <a:pt x="0" y="0"/>
                  </a:moveTo>
                  <a:lnTo>
                    <a:pt x="6096000" y="0"/>
                  </a:lnTo>
                  <a:lnTo>
                    <a:pt x="6096000" y="1151466"/>
                  </a:lnTo>
                  <a:lnTo>
                    <a:pt x="0" y="1151466"/>
                  </a:lnTo>
                  <a:close/>
                </a:path>
              </a:pathLst>
            </a:custGeom>
            <a:blipFill>
              <a:blip r:embed="rId3">
                <a:alphaModFix amt="0"/>
              </a:blip>
              <a:stretch>
                <a:fillRect l="0" t="-53155" r="0" b="-53156"/>
              </a:stretch>
            </a:blipFill>
          </p:spPr>
        </p:sp>
        <p:sp>
          <p:nvSpPr>
            <p:cNvPr name="TextBox 4" id="4"/>
            <p:cNvSpPr txBox="true"/>
            <p:nvPr/>
          </p:nvSpPr>
          <p:spPr>
            <a:xfrm>
              <a:off x="0" y="-9525"/>
              <a:ext cx="6096000" cy="1160996"/>
            </a:xfrm>
            <a:prstGeom prst="rect">
              <a:avLst/>
            </a:prstGeom>
          </p:spPr>
          <p:txBody>
            <a:bodyPr anchor="ctr" rtlCol="false" tIns="0" lIns="0" bIns="0" rIns="0"/>
            <a:lstStyle/>
            <a:p>
              <a:pPr algn="l">
                <a:lnSpc>
                  <a:spcPts val="6300"/>
                </a:lnSpc>
              </a:pPr>
              <a:r>
                <a:rPr lang="en-US" sz="5250">
                  <a:solidFill>
                    <a:srgbClr val="111111"/>
                  </a:solidFill>
                  <a:latin typeface="Georgia"/>
                  <a:ea typeface="Georgia"/>
                  <a:cs typeface="Georgia"/>
                  <a:sym typeface="Georgia"/>
                </a:rPr>
                <a:t>PROJECTS</a:t>
              </a:r>
            </a:p>
          </p:txBody>
        </p:sp>
      </p:grpSp>
      <p:grpSp>
        <p:nvGrpSpPr>
          <p:cNvPr name="Group 5" id="5"/>
          <p:cNvGrpSpPr/>
          <p:nvPr/>
        </p:nvGrpSpPr>
        <p:grpSpPr>
          <a:xfrm rot="0">
            <a:off x="1037587" y="2053590"/>
            <a:ext cx="7904017" cy="7132320"/>
            <a:chOff x="0" y="0"/>
            <a:chExt cx="10538689" cy="9509760"/>
          </a:xfrm>
        </p:grpSpPr>
        <p:sp>
          <p:nvSpPr>
            <p:cNvPr name="Freeform 6" id="6"/>
            <p:cNvSpPr/>
            <p:nvPr/>
          </p:nvSpPr>
          <p:spPr>
            <a:xfrm flipH="false" flipV="false" rot="0">
              <a:off x="0" y="0"/>
              <a:ext cx="10538650" cy="9509760"/>
            </a:xfrm>
            <a:custGeom>
              <a:avLst/>
              <a:gdLst/>
              <a:ahLst/>
              <a:cxnLst/>
              <a:rect r="r" b="b" t="t" l="l"/>
              <a:pathLst>
                <a:path h="9509760" w="10538650">
                  <a:moveTo>
                    <a:pt x="0" y="148082"/>
                  </a:moveTo>
                  <a:cubicBezTo>
                    <a:pt x="0" y="66294"/>
                    <a:pt x="66914" y="0"/>
                    <a:pt x="149466" y="0"/>
                  </a:cubicBezTo>
                  <a:lnTo>
                    <a:pt x="10389184" y="0"/>
                  </a:lnTo>
                  <a:cubicBezTo>
                    <a:pt x="10471737" y="0"/>
                    <a:pt x="10538650" y="66294"/>
                    <a:pt x="10538650" y="148082"/>
                  </a:cubicBezTo>
                  <a:lnTo>
                    <a:pt x="10538650" y="9361678"/>
                  </a:lnTo>
                  <a:cubicBezTo>
                    <a:pt x="10538650" y="9443466"/>
                    <a:pt x="10471737" y="9509760"/>
                    <a:pt x="10389184" y="9509760"/>
                  </a:cubicBezTo>
                  <a:lnTo>
                    <a:pt x="149466" y="9509760"/>
                  </a:lnTo>
                  <a:cubicBezTo>
                    <a:pt x="66914" y="9509760"/>
                    <a:pt x="0" y="9443466"/>
                    <a:pt x="0" y="9361678"/>
                  </a:cubicBezTo>
                  <a:close/>
                </a:path>
              </a:pathLst>
            </a:custGeom>
            <a:solidFill>
              <a:srgbClr val="FFFFFF"/>
            </a:solidFill>
            <a:ln w="38100" cap="sq">
              <a:solidFill>
                <a:srgbClr val="111111"/>
              </a:solidFill>
              <a:prstDash val="solid"/>
              <a:miter/>
            </a:ln>
          </p:spPr>
        </p:sp>
      </p:grpSp>
      <p:grpSp>
        <p:nvGrpSpPr>
          <p:cNvPr name="Group 7" id="7"/>
          <p:cNvGrpSpPr/>
          <p:nvPr/>
        </p:nvGrpSpPr>
        <p:grpSpPr>
          <a:xfrm rot="0">
            <a:off x="1397003" y="2425703"/>
            <a:ext cx="7112003" cy="3098797"/>
            <a:chOff x="0" y="0"/>
            <a:chExt cx="9482671" cy="4131729"/>
          </a:xfrm>
        </p:grpSpPr>
        <p:sp>
          <p:nvSpPr>
            <p:cNvPr name="Freeform 8" id="8" descr="/Users/junsupark/Desktop/personal_project/portfolio_test/p2_media/larobot_official_poster.jpg"/>
            <p:cNvSpPr/>
            <p:nvPr/>
          </p:nvSpPr>
          <p:spPr>
            <a:xfrm flipH="false" flipV="false" rot="0">
              <a:off x="0" y="0"/>
              <a:ext cx="9482709" cy="4131691"/>
            </a:xfrm>
            <a:custGeom>
              <a:avLst/>
              <a:gdLst/>
              <a:ahLst/>
              <a:cxnLst/>
              <a:rect r="r" b="b" t="t" l="l"/>
              <a:pathLst>
                <a:path h="4131691" w="9482709">
                  <a:moveTo>
                    <a:pt x="0" y="0"/>
                  </a:moveTo>
                  <a:lnTo>
                    <a:pt x="9482709" y="0"/>
                  </a:lnTo>
                  <a:lnTo>
                    <a:pt x="9482709" y="4131691"/>
                  </a:lnTo>
                  <a:lnTo>
                    <a:pt x="0" y="4131691"/>
                  </a:lnTo>
                  <a:lnTo>
                    <a:pt x="0" y="0"/>
                  </a:lnTo>
                  <a:close/>
                </a:path>
              </a:pathLst>
            </a:custGeom>
            <a:blipFill>
              <a:blip r:embed="rId4"/>
              <a:stretch>
                <a:fillRect l="0" t="0" r="0" b="-29099"/>
              </a:stretch>
            </a:blipFill>
          </p:spPr>
        </p:sp>
      </p:grpSp>
      <p:grpSp>
        <p:nvGrpSpPr>
          <p:cNvPr name="Group 9" id="9"/>
          <p:cNvGrpSpPr/>
          <p:nvPr/>
        </p:nvGrpSpPr>
        <p:grpSpPr>
          <a:xfrm rot="0">
            <a:off x="1570034" y="2624138"/>
            <a:ext cx="2219325" cy="669922"/>
            <a:chOff x="0" y="0"/>
            <a:chExt cx="2959100" cy="893229"/>
          </a:xfrm>
        </p:grpSpPr>
        <p:grpSp>
          <p:nvGrpSpPr>
            <p:cNvPr name="Group 10" id="10"/>
            <p:cNvGrpSpPr/>
            <p:nvPr/>
          </p:nvGrpSpPr>
          <p:grpSpPr>
            <a:xfrm rot="0">
              <a:off x="0" y="0"/>
              <a:ext cx="2959100" cy="893229"/>
              <a:chOff x="0" y="0"/>
              <a:chExt cx="2959100" cy="893229"/>
            </a:xfrm>
          </p:grpSpPr>
          <p:sp>
            <p:nvSpPr>
              <p:cNvPr name="Freeform 11" id="11"/>
              <p:cNvSpPr/>
              <p:nvPr/>
            </p:nvSpPr>
            <p:spPr>
              <a:xfrm flipH="false" flipV="false" rot="0">
                <a:off x="0" y="0"/>
                <a:ext cx="2959100" cy="893318"/>
              </a:xfrm>
              <a:custGeom>
                <a:avLst/>
                <a:gdLst/>
                <a:ahLst/>
                <a:cxnLst/>
                <a:rect r="r" b="b" t="t" l="l"/>
                <a:pathLst>
                  <a:path h="893318" w="2959100">
                    <a:moveTo>
                      <a:pt x="0" y="148463"/>
                    </a:moveTo>
                    <a:cubicBezTo>
                      <a:pt x="0" y="66421"/>
                      <a:pt x="66421" y="0"/>
                      <a:pt x="148463" y="0"/>
                    </a:cubicBezTo>
                    <a:lnTo>
                      <a:pt x="2810637" y="0"/>
                    </a:lnTo>
                    <a:cubicBezTo>
                      <a:pt x="2892679" y="0"/>
                      <a:pt x="2959100" y="66421"/>
                      <a:pt x="2959100" y="148463"/>
                    </a:cubicBezTo>
                    <a:lnTo>
                      <a:pt x="2959100" y="744855"/>
                    </a:lnTo>
                    <a:cubicBezTo>
                      <a:pt x="2959100" y="826770"/>
                      <a:pt x="2892679" y="893318"/>
                      <a:pt x="2810637" y="893318"/>
                    </a:cubicBezTo>
                    <a:lnTo>
                      <a:pt x="148463" y="893318"/>
                    </a:lnTo>
                    <a:cubicBezTo>
                      <a:pt x="66421" y="893191"/>
                      <a:pt x="0" y="826770"/>
                      <a:pt x="0" y="744855"/>
                    </a:cubicBezTo>
                    <a:close/>
                  </a:path>
                </a:pathLst>
              </a:custGeom>
              <a:solidFill>
                <a:srgbClr val="EEE9DF"/>
              </a:solidFill>
              <a:ln w="9525" cap="sq">
                <a:solidFill>
                  <a:srgbClr val="E9EEFF"/>
                </a:solidFill>
                <a:prstDash val="solid"/>
                <a:miter/>
              </a:ln>
            </p:spPr>
          </p:sp>
        </p:grpSp>
        <p:grpSp>
          <p:nvGrpSpPr>
            <p:cNvPr name="Group 12" id="12"/>
            <p:cNvGrpSpPr/>
            <p:nvPr/>
          </p:nvGrpSpPr>
          <p:grpSpPr>
            <a:xfrm rot="0">
              <a:off x="155388" y="6348"/>
              <a:ext cx="2648325" cy="880534"/>
              <a:chOff x="0" y="0"/>
              <a:chExt cx="2648325" cy="880534"/>
            </a:xfrm>
          </p:grpSpPr>
          <p:sp>
            <p:nvSpPr>
              <p:cNvPr name="Freeform 13" id="13"/>
              <p:cNvSpPr/>
              <p:nvPr/>
            </p:nvSpPr>
            <p:spPr>
              <a:xfrm flipH="false" flipV="false" rot="0">
                <a:off x="0" y="0"/>
                <a:ext cx="2648325" cy="880539"/>
              </a:xfrm>
              <a:custGeom>
                <a:avLst/>
                <a:gdLst/>
                <a:ahLst/>
                <a:cxnLst/>
                <a:rect r="r" b="b" t="t" l="l"/>
                <a:pathLst>
                  <a:path h="880539" w="2648325">
                    <a:moveTo>
                      <a:pt x="0" y="0"/>
                    </a:moveTo>
                    <a:lnTo>
                      <a:pt x="2648325" y="0"/>
                    </a:lnTo>
                    <a:lnTo>
                      <a:pt x="2648325" y="880539"/>
                    </a:lnTo>
                    <a:lnTo>
                      <a:pt x="0" y="880539"/>
                    </a:lnTo>
                    <a:close/>
                  </a:path>
                </a:pathLst>
              </a:custGeom>
              <a:blipFill>
                <a:blip r:embed="rId3">
                  <a:alphaModFix amt="0"/>
                </a:blip>
                <a:stretch>
                  <a:fillRect l="0" t="-15200" r="-11255" b="-15198"/>
                </a:stretch>
              </a:blipFill>
            </p:spPr>
          </p:sp>
          <p:sp>
            <p:nvSpPr>
              <p:cNvPr name="TextBox 14" id="14"/>
              <p:cNvSpPr txBox="true"/>
              <p:nvPr/>
            </p:nvSpPr>
            <p:spPr>
              <a:xfrm>
                <a:off x="0" y="-19050"/>
                <a:ext cx="2648325" cy="899584"/>
              </a:xfrm>
              <a:prstGeom prst="rect">
                <a:avLst/>
              </a:prstGeom>
            </p:spPr>
            <p:txBody>
              <a:bodyPr anchor="ctr" rtlCol="false" tIns="0" lIns="0" bIns="0" rIns="0"/>
              <a:lstStyle/>
              <a:p>
                <a:pPr algn="ctr">
                  <a:lnSpc>
                    <a:spcPts val="1980"/>
                  </a:lnSpc>
                </a:pPr>
                <a:r>
                  <a:rPr lang="en-US" b="true" sz="1650" u="sng">
                    <a:solidFill>
                      <a:srgbClr val="111111"/>
                    </a:solidFill>
                    <a:latin typeface="Arimo Bold"/>
                    <a:ea typeface="Arimo Bold"/>
                    <a:cs typeface="Arimo Bold"/>
                    <a:sym typeface="Arimo Bold"/>
                    <a:hlinkClick r:id="rId5" tooltip="https://kdm111.github.io/larobot.html"/>
                  </a:rPr>
                  <a:t>▶</a:t>
                </a:r>
                <a:r>
                  <a:rPr lang="en-US" b="true" sz="1650" u="sng">
                    <a:solidFill>
                      <a:srgbClr val="111111"/>
                    </a:solidFill>
                    <a:latin typeface="Arimo Bold"/>
                    <a:ea typeface="Arimo Bold"/>
                    <a:cs typeface="Arimo Bold"/>
                    <a:sym typeface="Arimo Bold"/>
                    <a:hlinkClick r:id="rId6" tooltip="https://kdm111.github.io/larobot.html"/>
                  </a:rPr>
                  <a:t> 비디오 재생</a:t>
                </a:r>
              </a:p>
            </p:txBody>
          </p:sp>
        </p:grpSp>
      </p:grpSp>
      <p:grpSp>
        <p:nvGrpSpPr>
          <p:cNvPr name="Group 15" id="15"/>
          <p:cNvGrpSpPr/>
          <p:nvPr/>
        </p:nvGrpSpPr>
        <p:grpSpPr>
          <a:xfrm rot="0">
            <a:off x="1397003" y="6127747"/>
            <a:ext cx="2717797" cy="766604"/>
            <a:chOff x="0" y="0"/>
            <a:chExt cx="3623729" cy="1022139"/>
          </a:xfrm>
        </p:grpSpPr>
        <p:sp>
          <p:nvSpPr>
            <p:cNvPr name="Freeform 16" id="16"/>
            <p:cNvSpPr/>
            <p:nvPr/>
          </p:nvSpPr>
          <p:spPr>
            <a:xfrm flipH="false" flipV="false" rot="0">
              <a:off x="0" y="0"/>
              <a:ext cx="3623727" cy="1022144"/>
            </a:xfrm>
            <a:custGeom>
              <a:avLst/>
              <a:gdLst/>
              <a:ahLst/>
              <a:cxnLst/>
              <a:rect r="r" b="b" t="t" l="l"/>
              <a:pathLst>
                <a:path h="1022144" w="3623727">
                  <a:moveTo>
                    <a:pt x="0" y="0"/>
                  </a:moveTo>
                  <a:lnTo>
                    <a:pt x="3623727" y="0"/>
                  </a:lnTo>
                  <a:lnTo>
                    <a:pt x="3623727" y="1022144"/>
                  </a:lnTo>
                  <a:lnTo>
                    <a:pt x="0" y="1022144"/>
                  </a:lnTo>
                  <a:close/>
                </a:path>
              </a:pathLst>
            </a:custGeom>
            <a:blipFill>
              <a:blip r:embed="rId3">
                <a:alphaModFix amt="0"/>
              </a:blip>
              <a:stretch>
                <a:fillRect l="0" t="-145149" r="-161682" b="-116385"/>
              </a:stretch>
            </a:blipFill>
          </p:spPr>
        </p:sp>
        <p:sp>
          <p:nvSpPr>
            <p:cNvPr name="TextBox 17" id="17"/>
            <p:cNvSpPr txBox="true"/>
            <p:nvPr/>
          </p:nvSpPr>
          <p:spPr>
            <a:xfrm>
              <a:off x="0" y="-38100"/>
              <a:ext cx="3623729" cy="1060239"/>
            </a:xfrm>
            <a:prstGeom prst="rect">
              <a:avLst/>
            </a:prstGeom>
          </p:spPr>
          <p:txBody>
            <a:bodyPr anchor="ctr" rtlCol="false" tIns="0" lIns="0" bIns="0" rIns="0"/>
            <a:lstStyle/>
            <a:p>
              <a:pPr algn="l">
                <a:lnSpc>
                  <a:spcPts val="4500"/>
                </a:lnSpc>
              </a:pPr>
              <a:r>
                <a:rPr lang="en-US" sz="3750" b="true">
                  <a:solidFill>
                    <a:srgbClr val="111111"/>
                  </a:solidFill>
                  <a:latin typeface="Arimo Bold"/>
                  <a:ea typeface="Arimo Bold"/>
                  <a:cs typeface="Arimo Bold"/>
                  <a:sym typeface="Arimo Bold"/>
                </a:rPr>
                <a:t>LARO-BOT</a:t>
              </a:r>
            </a:p>
          </p:txBody>
        </p:sp>
      </p:grpSp>
      <p:grpSp>
        <p:nvGrpSpPr>
          <p:cNvPr name="Group 18" id="18"/>
          <p:cNvGrpSpPr/>
          <p:nvPr/>
        </p:nvGrpSpPr>
        <p:grpSpPr>
          <a:xfrm rot="0">
            <a:off x="1423987" y="6873051"/>
            <a:ext cx="7048500" cy="381000"/>
            <a:chOff x="0" y="0"/>
            <a:chExt cx="9398000" cy="508000"/>
          </a:xfrm>
        </p:grpSpPr>
        <p:sp>
          <p:nvSpPr>
            <p:cNvPr name="Freeform 19" id="19"/>
            <p:cNvSpPr/>
            <p:nvPr/>
          </p:nvSpPr>
          <p:spPr>
            <a:xfrm flipH="false" flipV="false" rot="0">
              <a:off x="0" y="0"/>
              <a:ext cx="9398000" cy="508000"/>
            </a:xfrm>
            <a:custGeom>
              <a:avLst/>
              <a:gdLst/>
              <a:ahLst/>
              <a:cxnLst/>
              <a:rect r="r" b="b" t="t" l="l"/>
              <a:pathLst>
                <a:path h="508000" w="9398000">
                  <a:moveTo>
                    <a:pt x="0" y="0"/>
                  </a:moveTo>
                  <a:lnTo>
                    <a:pt x="9398000" y="0"/>
                  </a:lnTo>
                  <a:lnTo>
                    <a:pt x="9398000" y="508000"/>
                  </a:lnTo>
                  <a:lnTo>
                    <a:pt x="0" y="508000"/>
                  </a:lnTo>
                  <a:close/>
                </a:path>
              </a:pathLst>
            </a:custGeom>
            <a:blipFill>
              <a:blip r:embed="rId3">
                <a:alphaModFix amt="0"/>
              </a:blip>
              <a:stretch>
                <a:fillRect l="0" t="-310473" r="0" b="-310473"/>
              </a:stretch>
            </a:blipFill>
          </p:spPr>
        </p:sp>
        <p:sp>
          <p:nvSpPr>
            <p:cNvPr name="TextBox 20" id="20"/>
            <p:cNvSpPr txBox="true"/>
            <p:nvPr/>
          </p:nvSpPr>
          <p:spPr>
            <a:xfrm>
              <a:off x="0" y="-19050"/>
              <a:ext cx="9398000" cy="527050"/>
            </a:xfrm>
            <a:prstGeom prst="rect">
              <a:avLst/>
            </a:prstGeom>
          </p:spPr>
          <p:txBody>
            <a:bodyPr anchor="ctr" rtlCol="false" tIns="0" lIns="0" bIns="0" rIns="0"/>
            <a:lstStyle/>
            <a:p>
              <a:pPr algn="l">
                <a:lnSpc>
                  <a:spcPts val="1919"/>
                </a:lnSpc>
              </a:pPr>
              <a:r>
                <a:rPr lang="en-US" sz="1599">
                  <a:solidFill>
                    <a:srgbClr val="66645F"/>
                  </a:solidFill>
                  <a:latin typeface="Arimo"/>
                  <a:ea typeface="Arimo"/>
                  <a:cs typeface="Arimo"/>
                  <a:sym typeface="Arimo"/>
                </a:rPr>
                <a:t>기간 : 2026.07~2026.08</a:t>
              </a:r>
            </a:p>
          </p:txBody>
        </p:sp>
      </p:grpSp>
      <p:grpSp>
        <p:nvGrpSpPr>
          <p:cNvPr name="Group 21" id="21"/>
          <p:cNvGrpSpPr/>
          <p:nvPr/>
        </p:nvGrpSpPr>
        <p:grpSpPr>
          <a:xfrm rot="0">
            <a:off x="1423987" y="7311201"/>
            <a:ext cx="7048500" cy="797619"/>
            <a:chOff x="0" y="0"/>
            <a:chExt cx="9398000" cy="1063493"/>
          </a:xfrm>
        </p:grpSpPr>
        <p:sp>
          <p:nvSpPr>
            <p:cNvPr name="Freeform 22" id="22"/>
            <p:cNvSpPr/>
            <p:nvPr/>
          </p:nvSpPr>
          <p:spPr>
            <a:xfrm flipH="false" flipV="false" rot="0">
              <a:off x="0" y="0"/>
              <a:ext cx="9398000" cy="1063493"/>
            </a:xfrm>
            <a:custGeom>
              <a:avLst/>
              <a:gdLst/>
              <a:ahLst/>
              <a:cxnLst/>
              <a:rect r="r" b="b" t="t" l="l"/>
              <a:pathLst>
                <a:path h="1063493" w="9398000">
                  <a:moveTo>
                    <a:pt x="0" y="0"/>
                  </a:moveTo>
                  <a:lnTo>
                    <a:pt x="9398000" y="0"/>
                  </a:lnTo>
                  <a:lnTo>
                    <a:pt x="9398000" y="1063493"/>
                  </a:lnTo>
                  <a:lnTo>
                    <a:pt x="0" y="1063493"/>
                  </a:lnTo>
                  <a:close/>
                </a:path>
              </a:pathLst>
            </a:custGeom>
            <a:blipFill>
              <a:blip r:embed="rId3">
                <a:alphaModFix amt="0"/>
              </a:blip>
              <a:stretch>
                <a:fillRect l="0" t="-148304" r="0" b="-96071"/>
              </a:stretch>
            </a:blipFill>
          </p:spPr>
        </p:sp>
        <p:sp>
          <p:nvSpPr>
            <p:cNvPr name="TextBox 23" id="23"/>
            <p:cNvSpPr txBox="true"/>
            <p:nvPr/>
          </p:nvSpPr>
          <p:spPr>
            <a:xfrm>
              <a:off x="0" y="-19050"/>
              <a:ext cx="9398000" cy="1082543"/>
            </a:xfrm>
            <a:prstGeom prst="rect">
              <a:avLst/>
            </a:prstGeom>
          </p:spPr>
          <p:txBody>
            <a:bodyPr anchor="ctr" rtlCol="false" tIns="0" lIns="0" bIns="0" rIns="0"/>
            <a:lstStyle/>
            <a:p>
              <a:pPr algn="l">
                <a:lnSpc>
                  <a:spcPts val="1919"/>
                </a:lnSpc>
              </a:pPr>
              <a:r>
                <a:rPr lang="en-US" sz="1599">
                  <a:solidFill>
                    <a:srgbClr val="111111"/>
                  </a:solidFill>
                  <a:latin typeface="Arimo"/>
                  <a:ea typeface="Arimo"/>
                  <a:cs typeface="Arimo"/>
                  <a:sym typeface="Arimo"/>
                </a:rPr>
                <a:t>다국어 명령을 로봇 행동으로 변환하고</a:t>
              </a:r>
            </a:p>
            <a:p>
              <a:pPr algn="l">
                <a:lnSpc>
                  <a:spcPts val="1919"/>
                </a:lnSpc>
              </a:pPr>
              <a:r>
                <a:rPr lang="en-US" sz="1599">
                  <a:solidFill>
                    <a:srgbClr val="111111"/>
                  </a:solidFill>
                  <a:latin typeface="Arimo"/>
                  <a:ea typeface="Arimo"/>
                  <a:cs typeface="Arimo"/>
                  <a:sym typeface="Arimo"/>
                </a:rPr>
                <a:t>실행 결과를 시뮬레이션과 실물로 확인한</a:t>
              </a:r>
            </a:p>
            <a:p>
              <a:pPr algn="l">
                <a:lnSpc>
                  <a:spcPts val="1919"/>
                </a:lnSpc>
              </a:pPr>
              <a:r>
                <a:rPr lang="en-US" sz="1599">
                  <a:solidFill>
                    <a:srgbClr val="111111"/>
                  </a:solidFill>
                  <a:latin typeface="Arimo"/>
                  <a:ea typeface="Arimo"/>
                  <a:cs typeface="Arimo"/>
                  <a:sym typeface="Arimo"/>
                </a:rPr>
                <a:t>ROS 2 로봇 팔 시스템</a:t>
              </a:r>
            </a:p>
          </p:txBody>
        </p:sp>
      </p:grpSp>
      <p:grpSp>
        <p:nvGrpSpPr>
          <p:cNvPr name="Group 24" id="24"/>
          <p:cNvGrpSpPr/>
          <p:nvPr/>
        </p:nvGrpSpPr>
        <p:grpSpPr>
          <a:xfrm rot="0">
            <a:off x="1392241" y="8389934"/>
            <a:ext cx="1254128" cy="441322"/>
            <a:chOff x="0" y="0"/>
            <a:chExt cx="1672171" cy="588429"/>
          </a:xfrm>
        </p:grpSpPr>
        <p:sp>
          <p:nvSpPr>
            <p:cNvPr name="Freeform 25" id="25"/>
            <p:cNvSpPr/>
            <p:nvPr/>
          </p:nvSpPr>
          <p:spPr>
            <a:xfrm flipH="false" flipV="false" rot="0">
              <a:off x="0" y="0"/>
              <a:ext cx="1672082" cy="588391"/>
            </a:xfrm>
            <a:custGeom>
              <a:avLst/>
              <a:gdLst/>
              <a:ahLst/>
              <a:cxnLst/>
              <a:rect r="r" b="b" t="t" l="l"/>
              <a:pathLst>
                <a:path h="588391" w="1672082">
                  <a:moveTo>
                    <a:pt x="0" y="149479"/>
                  </a:moveTo>
                  <a:cubicBezTo>
                    <a:pt x="0" y="66929"/>
                    <a:pt x="66929" y="0"/>
                    <a:pt x="149479" y="0"/>
                  </a:cubicBezTo>
                  <a:lnTo>
                    <a:pt x="1522603" y="0"/>
                  </a:lnTo>
                  <a:cubicBezTo>
                    <a:pt x="1605153" y="0"/>
                    <a:pt x="1672082" y="66929"/>
                    <a:pt x="1672082" y="149479"/>
                  </a:cubicBezTo>
                  <a:lnTo>
                    <a:pt x="1672082" y="438912"/>
                  </a:lnTo>
                  <a:cubicBezTo>
                    <a:pt x="1672082" y="521462"/>
                    <a:pt x="1605153" y="588391"/>
                    <a:pt x="1522603" y="588391"/>
                  </a:cubicBezTo>
                  <a:lnTo>
                    <a:pt x="149479" y="588391"/>
                  </a:lnTo>
                  <a:cubicBezTo>
                    <a:pt x="66929" y="588391"/>
                    <a:pt x="0" y="521462"/>
                    <a:pt x="0" y="438912"/>
                  </a:cubicBezTo>
                  <a:close/>
                </a:path>
              </a:pathLst>
            </a:custGeom>
            <a:solidFill>
              <a:srgbClr val="E9EEFF"/>
            </a:solidFill>
            <a:ln w="9525" cap="sq">
              <a:solidFill>
                <a:srgbClr val="E9EEFF"/>
              </a:solidFill>
              <a:prstDash val="solid"/>
              <a:miter/>
            </a:ln>
          </p:spPr>
        </p:sp>
      </p:grpSp>
      <p:grpSp>
        <p:nvGrpSpPr>
          <p:cNvPr name="Group 26" id="26"/>
          <p:cNvGrpSpPr/>
          <p:nvPr/>
        </p:nvGrpSpPr>
        <p:grpSpPr>
          <a:xfrm rot="0">
            <a:off x="1397003" y="8394695"/>
            <a:ext cx="1239831" cy="431800"/>
            <a:chOff x="0" y="0"/>
            <a:chExt cx="1653108" cy="575734"/>
          </a:xfrm>
        </p:grpSpPr>
        <p:sp>
          <p:nvSpPr>
            <p:cNvPr name="Freeform 27" id="27"/>
            <p:cNvSpPr/>
            <p:nvPr/>
          </p:nvSpPr>
          <p:spPr>
            <a:xfrm flipH="false" flipV="false" rot="0">
              <a:off x="0" y="0"/>
              <a:ext cx="1653103" cy="575739"/>
            </a:xfrm>
            <a:custGeom>
              <a:avLst/>
              <a:gdLst/>
              <a:ahLst/>
              <a:cxnLst/>
              <a:rect r="r" b="b" t="t" l="l"/>
              <a:pathLst>
                <a:path h="575739" w="1653103">
                  <a:moveTo>
                    <a:pt x="0" y="0"/>
                  </a:moveTo>
                  <a:lnTo>
                    <a:pt x="1653103" y="0"/>
                  </a:lnTo>
                  <a:lnTo>
                    <a:pt x="1653103" y="575739"/>
                  </a:lnTo>
                  <a:lnTo>
                    <a:pt x="0" y="575739"/>
                  </a:lnTo>
                  <a:close/>
                </a:path>
              </a:pathLst>
            </a:custGeom>
            <a:blipFill>
              <a:blip r:embed="rId3">
                <a:alphaModFix amt="0"/>
              </a:blip>
              <a:stretch>
                <a:fillRect l="0" t="-6163" r="-385" b="-6161"/>
              </a:stretch>
            </a:blipFill>
          </p:spPr>
        </p:sp>
        <p:sp>
          <p:nvSpPr>
            <p:cNvPr name="TextBox 28" id="28"/>
            <p:cNvSpPr txBox="true"/>
            <p:nvPr/>
          </p:nvSpPr>
          <p:spPr>
            <a:xfrm>
              <a:off x="0" y="-9525"/>
              <a:ext cx="1653108" cy="585259"/>
            </a:xfrm>
            <a:prstGeom prst="rect">
              <a:avLst/>
            </a:prstGeom>
          </p:spPr>
          <p:txBody>
            <a:bodyPr anchor="ctr" rtlCol="false" tIns="0" lIns="0" bIns="0" rIns="0"/>
            <a:lstStyle/>
            <a:p>
              <a:pPr algn="ctr">
                <a:lnSpc>
                  <a:spcPts val="1350"/>
                </a:lnSpc>
              </a:pPr>
              <a:r>
                <a:rPr lang="en-US" b="true" sz="1125">
                  <a:solidFill>
                    <a:srgbClr val="1B2CC1"/>
                  </a:solidFill>
                  <a:latin typeface="Arimo Bold"/>
                  <a:ea typeface="Arimo Bold"/>
                  <a:cs typeface="Arimo Bold"/>
                  <a:sym typeface="Arimo Bold"/>
                </a:rPr>
                <a:t>ROS2(Jazzy)</a:t>
              </a:r>
            </a:p>
          </p:txBody>
        </p:sp>
      </p:grpSp>
      <p:grpSp>
        <p:nvGrpSpPr>
          <p:cNvPr name="Group 29" id="29"/>
          <p:cNvGrpSpPr/>
          <p:nvPr/>
        </p:nvGrpSpPr>
        <p:grpSpPr>
          <a:xfrm rot="0">
            <a:off x="2751134" y="8389934"/>
            <a:ext cx="1254128" cy="441322"/>
            <a:chOff x="0" y="0"/>
            <a:chExt cx="1672171" cy="588429"/>
          </a:xfrm>
        </p:grpSpPr>
        <p:sp>
          <p:nvSpPr>
            <p:cNvPr name="Freeform 30" id="30"/>
            <p:cNvSpPr/>
            <p:nvPr/>
          </p:nvSpPr>
          <p:spPr>
            <a:xfrm flipH="false" flipV="false" rot="0">
              <a:off x="0" y="0"/>
              <a:ext cx="1672082" cy="588391"/>
            </a:xfrm>
            <a:custGeom>
              <a:avLst/>
              <a:gdLst/>
              <a:ahLst/>
              <a:cxnLst/>
              <a:rect r="r" b="b" t="t" l="l"/>
              <a:pathLst>
                <a:path h="588391" w="1672082">
                  <a:moveTo>
                    <a:pt x="0" y="149479"/>
                  </a:moveTo>
                  <a:cubicBezTo>
                    <a:pt x="0" y="66929"/>
                    <a:pt x="66929" y="0"/>
                    <a:pt x="149479" y="0"/>
                  </a:cubicBezTo>
                  <a:lnTo>
                    <a:pt x="1522603" y="0"/>
                  </a:lnTo>
                  <a:cubicBezTo>
                    <a:pt x="1605153" y="0"/>
                    <a:pt x="1672082" y="66929"/>
                    <a:pt x="1672082" y="149479"/>
                  </a:cubicBezTo>
                  <a:lnTo>
                    <a:pt x="1672082" y="438912"/>
                  </a:lnTo>
                  <a:cubicBezTo>
                    <a:pt x="1672082" y="521462"/>
                    <a:pt x="1605153" y="588391"/>
                    <a:pt x="1522603" y="588391"/>
                  </a:cubicBezTo>
                  <a:lnTo>
                    <a:pt x="149479" y="588391"/>
                  </a:lnTo>
                  <a:cubicBezTo>
                    <a:pt x="66929" y="588391"/>
                    <a:pt x="0" y="521462"/>
                    <a:pt x="0" y="438912"/>
                  </a:cubicBezTo>
                  <a:close/>
                </a:path>
              </a:pathLst>
            </a:custGeom>
            <a:solidFill>
              <a:srgbClr val="E9EEFF"/>
            </a:solidFill>
            <a:ln w="9525" cap="sq">
              <a:solidFill>
                <a:srgbClr val="E9EEFF"/>
              </a:solidFill>
              <a:prstDash val="solid"/>
              <a:miter/>
            </a:ln>
          </p:spPr>
        </p:sp>
      </p:grpSp>
      <p:grpSp>
        <p:nvGrpSpPr>
          <p:cNvPr name="Group 31" id="31"/>
          <p:cNvGrpSpPr/>
          <p:nvPr/>
        </p:nvGrpSpPr>
        <p:grpSpPr>
          <a:xfrm rot="0">
            <a:off x="2755897" y="8394697"/>
            <a:ext cx="1239841" cy="431800"/>
            <a:chOff x="0" y="0"/>
            <a:chExt cx="1653121" cy="575734"/>
          </a:xfrm>
        </p:grpSpPr>
        <p:sp>
          <p:nvSpPr>
            <p:cNvPr name="Freeform 32" id="32"/>
            <p:cNvSpPr/>
            <p:nvPr/>
          </p:nvSpPr>
          <p:spPr>
            <a:xfrm flipH="false" flipV="false" rot="0">
              <a:off x="0" y="0"/>
              <a:ext cx="1653116" cy="575739"/>
            </a:xfrm>
            <a:custGeom>
              <a:avLst/>
              <a:gdLst/>
              <a:ahLst/>
              <a:cxnLst/>
              <a:rect r="r" b="b" t="t" l="l"/>
              <a:pathLst>
                <a:path h="575739" w="1653116">
                  <a:moveTo>
                    <a:pt x="0" y="0"/>
                  </a:moveTo>
                  <a:lnTo>
                    <a:pt x="1653116" y="0"/>
                  </a:lnTo>
                  <a:lnTo>
                    <a:pt x="1653116" y="575739"/>
                  </a:lnTo>
                  <a:lnTo>
                    <a:pt x="0" y="575739"/>
                  </a:lnTo>
                  <a:close/>
                </a:path>
              </a:pathLst>
            </a:custGeom>
            <a:blipFill>
              <a:blip r:embed="rId3">
                <a:alphaModFix amt="0"/>
              </a:blip>
              <a:stretch>
                <a:fillRect l="0" t="-6163" r="-384" b="-6161"/>
              </a:stretch>
            </a:blipFill>
          </p:spPr>
        </p:sp>
        <p:sp>
          <p:nvSpPr>
            <p:cNvPr name="TextBox 33" id="33"/>
            <p:cNvSpPr txBox="true"/>
            <p:nvPr/>
          </p:nvSpPr>
          <p:spPr>
            <a:xfrm>
              <a:off x="0" y="-9525"/>
              <a:ext cx="1653121" cy="585259"/>
            </a:xfrm>
            <a:prstGeom prst="rect">
              <a:avLst/>
            </a:prstGeom>
          </p:spPr>
          <p:txBody>
            <a:bodyPr anchor="ctr" rtlCol="false" tIns="0" lIns="0" bIns="0" rIns="0"/>
            <a:lstStyle/>
            <a:p>
              <a:pPr algn="ctr">
                <a:lnSpc>
                  <a:spcPts val="1350"/>
                </a:lnSpc>
              </a:pPr>
              <a:r>
                <a:rPr lang="en-US" b="true" sz="1125">
                  <a:solidFill>
                    <a:srgbClr val="1B2CC1"/>
                  </a:solidFill>
                  <a:latin typeface="Arimo Bold"/>
                  <a:ea typeface="Arimo Bold"/>
                  <a:cs typeface="Arimo Bold"/>
                  <a:sym typeface="Arimo Bold"/>
                </a:rPr>
                <a:t>C++ / Python</a:t>
              </a:r>
            </a:p>
          </p:txBody>
        </p:sp>
      </p:grpSp>
      <p:grpSp>
        <p:nvGrpSpPr>
          <p:cNvPr name="Group 34" id="34"/>
          <p:cNvGrpSpPr/>
          <p:nvPr/>
        </p:nvGrpSpPr>
        <p:grpSpPr>
          <a:xfrm rot="0">
            <a:off x="4110038" y="8389934"/>
            <a:ext cx="962025" cy="441322"/>
            <a:chOff x="0" y="0"/>
            <a:chExt cx="1282700" cy="588429"/>
          </a:xfrm>
        </p:grpSpPr>
        <p:sp>
          <p:nvSpPr>
            <p:cNvPr name="Freeform 35" id="35"/>
            <p:cNvSpPr/>
            <p:nvPr/>
          </p:nvSpPr>
          <p:spPr>
            <a:xfrm flipH="false" flipV="false" rot="0">
              <a:off x="0" y="0"/>
              <a:ext cx="1282700" cy="588391"/>
            </a:xfrm>
            <a:custGeom>
              <a:avLst/>
              <a:gdLst/>
              <a:ahLst/>
              <a:cxnLst/>
              <a:rect r="r" b="b" t="t" l="l"/>
              <a:pathLst>
                <a:path h="588391" w="1282700">
                  <a:moveTo>
                    <a:pt x="0" y="149479"/>
                  </a:moveTo>
                  <a:cubicBezTo>
                    <a:pt x="0" y="66929"/>
                    <a:pt x="66929" y="0"/>
                    <a:pt x="149479" y="0"/>
                  </a:cubicBezTo>
                  <a:lnTo>
                    <a:pt x="1133221" y="0"/>
                  </a:lnTo>
                  <a:cubicBezTo>
                    <a:pt x="1215771" y="0"/>
                    <a:pt x="1282700" y="66929"/>
                    <a:pt x="1282700" y="149479"/>
                  </a:cubicBezTo>
                  <a:lnTo>
                    <a:pt x="1282700" y="438912"/>
                  </a:lnTo>
                  <a:cubicBezTo>
                    <a:pt x="1282700" y="521462"/>
                    <a:pt x="1215771" y="588391"/>
                    <a:pt x="1133221" y="588391"/>
                  </a:cubicBezTo>
                  <a:lnTo>
                    <a:pt x="149479" y="588391"/>
                  </a:lnTo>
                  <a:cubicBezTo>
                    <a:pt x="66929" y="588391"/>
                    <a:pt x="0" y="521462"/>
                    <a:pt x="0" y="438912"/>
                  </a:cubicBezTo>
                  <a:close/>
                </a:path>
              </a:pathLst>
            </a:custGeom>
            <a:solidFill>
              <a:srgbClr val="E9EEFF"/>
            </a:solidFill>
            <a:ln w="9525" cap="sq">
              <a:solidFill>
                <a:srgbClr val="E9EEFF"/>
              </a:solidFill>
              <a:prstDash val="solid"/>
              <a:miter/>
            </a:ln>
          </p:spPr>
        </p:sp>
      </p:grpSp>
      <p:grpSp>
        <p:nvGrpSpPr>
          <p:cNvPr name="Group 36" id="36"/>
          <p:cNvGrpSpPr/>
          <p:nvPr/>
        </p:nvGrpSpPr>
        <p:grpSpPr>
          <a:xfrm rot="0">
            <a:off x="4114800" y="8394695"/>
            <a:ext cx="957262" cy="431800"/>
            <a:chOff x="0" y="0"/>
            <a:chExt cx="1276350" cy="575734"/>
          </a:xfrm>
        </p:grpSpPr>
        <p:sp>
          <p:nvSpPr>
            <p:cNvPr name="Freeform 37" id="37"/>
            <p:cNvSpPr/>
            <p:nvPr/>
          </p:nvSpPr>
          <p:spPr>
            <a:xfrm flipH="false" flipV="false" rot="0">
              <a:off x="0" y="0"/>
              <a:ext cx="1276350" cy="575739"/>
            </a:xfrm>
            <a:custGeom>
              <a:avLst/>
              <a:gdLst/>
              <a:ahLst/>
              <a:cxnLst/>
              <a:rect r="r" b="b" t="t" l="l"/>
              <a:pathLst>
                <a:path h="575739" w="1276350">
                  <a:moveTo>
                    <a:pt x="0" y="0"/>
                  </a:moveTo>
                  <a:lnTo>
                    <a:pt x="1276350" y="0"/>
                  </a:lnTo>
                  <a:lnTo>
                    <a:pt x="1276350" y="575739"/>
                  </a:lnTo>
                  <a:lnTo>
                    <a:pt x="0" y="575739"/>
                  </a:lnTo>
                  <a:close/>
                </a:path>
              </a:pathLst>
            </a:custGeom>
            <a:blipFill>
              <a:blip r:embed="rId3">
                <a:alphaModFix amt="0"/>
              </a:blip>
              <a:stretch>
                <a:fillRect l="-8123" t="0" r="-7625" b="1"/>
              </a:stretch>
            </a:blipFill>
          </p:spPr>
        </p:sp>
        <p:sp>
          <p:nvSpPr>
            <p:cNvPr name="TextBox 38" id="38"/>
            <p:cNvSpPr txBox="true"/>
            <p:nvPr/>
          </p:nvSpPr>
          <p:spPr>
            <a:xfrm>
              <a:off x="0" y="-9525"/>
              <a:ext cx="1276350" cy="585259"/>
            </a:xfrm>
            <a:prstGeom prst="rect">
              <a:avLst/>
            </a:prstGeom>
          </p:spPr>
          <p:txBody>
            <a:bodyPr anchor="ctr" rtlCol="false" tIns="0" lIns="0" bIns="0" rIns="0"/>
            <a:lstStyle/>
            <a:p>
              <a:pPr algn="ctr">
                <a:lnSpc>
                  <a:spcPts val="1350"/>
                </a:lnSpc>
              </a:pPr>
              <a:r>
                <a:rPr lang="en-US" sz="1125" b="true">
                  <a:solidFill>
                    <a:srgbClr val="1B2CC1"/>
                  </a:solidFill>
                  <a:latin typeface="Arimo Bold"/>
                  <a:ea typeface="Arimo Bold"/>
                  <a:cs typeface="Arimo Bold"/>
                  <a:sym typeface="Arimo Bold"/>
                </a:rPr>
                <a:t>Action</a:t>
              </a:r>
            </a:p>
          </p:txBody>
        </p:sp>
      </p:grpSp>
      <p:grpSp>
        <p:nvGrpSpPr>
          <p:cNvPr name="Group 39" id="39"/>
          <p:cNvGrpSpPr/>
          <p:nvPr/>
        </p:nvGrpSpPr>
        <p:grpSpPr>
          <a:xfrm rot="0">
            <a:off x="5176838" y="8389934"/>
            <a:ext cx="1114425" cy="441322"/>
            <a:chOff x="0" y="0"/>
            <a:chExt cx="1485900" cy="588429"/>
          </a:xfrm>
        </p:grpSpPr>
        <p:sp>
          <p:nvSpPr>
            <p:cNvPr name="Freeform 40" id="40"/>
            <p:cNvSpPr/>
            <p:nvPr/>
          </p:nvSpPr>
          <p:spPr>
            <a:xfrm flipH="false" flipV="false" rot="0">
              <a:off x="0" y="0"/>
              <a:ext cx="1485900" cy="588391"/>
            </a:xfrm>
            <a:custGeom>
              <a:avLst/>
              <a:gdLst/>
              <a:ahLst/>
              <a:cxnLst/>
              <a:rect r="r" b="b" t="t" l="l"/>
              <a:pathLst>
                <a:path h="588391" w="1485900">
                  <a:moveTo>
                    <a:pt x="0" y="149479"/>
                  </a:moveTo>
                  <a:cubicBezTo>
                    <a:pt x="0" y="66929"/>
                    <a:pt x="66929" y="0"/>
                    <a:pt x="149479" y="0"/>
                  </a:cubicBezTo>
                  <a:lnTo>
                    <a:pt x="1336294" y="0"/>
                  </a:lnTo>
                  <a:cubicBezTo>
                    <a:pt x="1418971" y="0"/>
                    <a:pt x="1485900" y="66929"/>
                    <a:pt x="1485900" y="149479"/>
                  </a:cubicBezTo>
                  <a:lnTo>
                    <a:pt x="1485900" y="438912"/>
                  </a:lnTo>
                  <a:cubicBezTo>
                    <a:pt x="1485900" y="521462"/>
                    <a:pt x="1418971" y="588391"/>
                    <a:pt x="1336421" y="588391"/>
                  </a:cubicBezTo>
                  <a:lnTo>
                    <a:pt x="149479" y="588391"/>
                  </a:lnTo>
                  <a:cubicBezTo>
                    <a:pt x="66929" y="588391"/>
                    <a:pt x="0" y="521462"/>
                    <a:pt x="0" y="438912"/>
                  </a:cubicBezTo>
                  <a:close/>
                </a:path>
              </a:pathLst>
            </a:custGeom>
            <a:solidFill>
              <a:srgbClr val="E9EEFF"/>
            </a:solidFill>
            <a:ln w="9525" cap="sq">
              <a:solidFill>
                <a:srgbClr val="E9EEFF"/>
              </a:solidFill>
              <a:prstDash val="solid"/>
              <a:miter/>
            </a:ln>
          </p:spPr>
        </p:sp>
      </p:grpSp>
      <p:grpSp>
        <p:nvGrpSpPr>
          <p:cNvPr name="Group 41" id="41"/>
          <p:cNvGrpSpPr/>
          <p:nvPr/>
        </p:nvGrpSpPr>
        <p:grpSpPr>
          <a:xfrm rot="0">
            <a:off x="5181600" y="8394695"/>
            <a:ext cx="1100137" cy="431800"/>
            <a:chOff x="0" y="0"/>
            <a:chExt cx="1466850" cy="575734"/>
          </a:xfrm>
        </p:grpSpPr>
        <p:sp>
          <p:nvSpPr>
            <p:cNvPr name="Freeform 42" id="42"/>
            <p:cNvSpPr/>
            <p:nvPr/>
          </p:nvSpPr>
          <p:spPr>
            <a:xfrm flipH="false" flipV="false" rot="0">
              <a:off x="0" y="0"/>
              <a:ext cx="1466850" cy="575739"/>
            </a:xfrm>
            <a:custGeom>
              <a:avLst/>
              <a:gdLst/>
              <a:ahLst/>
              <a:cxnLst/>
              <a:rect r="r" b="b" t="t" l="l"/>
              <a:pathLst>
                <a:path h="575739" w="1466850">
                  <a:moveTo>
                    <a:pt x="0" y="0"/>
                  </a:moveTo>
                  <a:lnTo>
                    <a:pt x="1466850" y="0"/>
                  </a:lnTo>
                  <a:lnTo>
                    <a:pt x="1466850" y="575739"/>
                  </a:lnTo>
                  <a:lnTo>
                    <a:pt x="0" y="575739"/>
                  </a:lnTo>
                  <a:close/>
                </a:path>
              </a:pathLst>
            </a:custGeom>
            <a:blipFill>
              <a:blip r:embed="rId3">
                <a:alphaModFix amt="0"/>
              </a:blip>
              <a:stretch>
                <a:fillRect l="-141" t="0" r="-574" b="1"/>
              </a:stretch>
            </a:blipFill>
          </p:spPr>
        </p:sp>
        <p:sp>
          <p:nvSpPr>
            <p:cNvPr name="TextBox 43" id="43"/>
            <p:cNvSpPr txBox="true"/>
            <p:nvPr/>
          </p:nvSpPr>
          <p:spPr>
            <a:xfrm>
              <a:off x="0" y="-9525"/>
              <a:ext cx="1466850" cy="585259"/>
            </a:xfrm>
            <a:prstGeom prst="rect">
              <a:avLst/>
            </a:prstGeom>
          </p:spPr>
          <p:txBody>
            <a:bodyPr anchor="ctr" rtlCol="false" tIns="0" lIns="0" bIns="0" rIns="0"/>
            <a:lstStyle/>
            <a:p>
              <a:pPr algn="ctr">
                <a:lnSpc>
                  <a:spcPts val="1350"/>
                </a:lnSpc>
              </a:pPr>
              <a:r>
                <a:rPr lang="en-US" sz="1125" b="true">
                  <a:solidFill>
                    <a:srgbClr val="1B2CC1"/>
                  </a:solidFill>
                  <a:latin typeface="Arimo Bold"/>
                  <a:ea typeface="Arimo Bold"/>
                  <a:cs typeface="Arimo Bold"/>
                  <a:sym typeface="Arimo Bold"/>
                </a:rPr>
                <a:t>Gazebo</a:t>
              </a:r>
            </a:p>
          </p:txBody>
        </p:sp>
      </p:grpSp>
      <p:grpSp>
        <p:nvGrpSpPr>
          <p:cNvPr name="Group 44" id="44"/>
          <p:cNvGrpSpPr/>
          <p:nvPr/>
        </p:nvGrpSpPr>
        <p:grpSpPr>
          <a:xfrm rot="0">
            <a:off x="6396038" y="8389934"/>
            <a:ext cx="962025" cy="441322"/>
            <a:chOff x="0" y="0"/>
            <a:chExt cx="1282700" cy="588429"/>
          </a:xfrm>
        </p:grpSpPr>
        <p:sp>
          <p:nvSpPr>
            <p:cNvPr name="Freeform 45" id="45"/>
            <p:cNvSpPr/>
            <p:nvPr/>
          </p:nvSpPr>
          <p:spPr>
            <a:xfrm flipH="false" flipV="false" rot="0">
              <a:off x="0" y="0"/>
              <a:ext cx="1282700" cy="588391"/>
            </a:xfrm>
            <a:custGeom>
              <a:avLst/>
              <a:gdLst/>
              <a:ahLst/>
              <a:cxnLst/>
              <a:rect r="r" b="b" t="t" l="l"/>
              <a:pathLst>
                <a:path h="588391" w="1282700">
                  <a:moveTo>
                    <a:pt x="0" y="149479"/>
                  </a:moveTo>
                  <a:cubicBezTo>
                    <a:pt x="0" y="66929"/>
                    <a:pt x="66929" y="0"/>
                    <a:pt x="149479" y="0"/>
                  </a:cubicBezTo>
                  <a:lnTo>
                    <a:pt x="1133221" y="0"/>
                  </a:lnTo>
                  <a:cubicBezTo>
                    <a:pt x="1215771" y="0"/>
                    <a:pt x="1282700" y="66929"/>
                    <a:pt x="1282700" y="149479"/>
                  </a:cubicBezTo>
                  <a:lnTo>
                    <a:pt x="1282700" y="438912"/>
                  </a:lnTo>
                  <a:cubicBezTo>
                    <a:pt x="1282700" y="521462"/>
                    <a:pt x="1215771" y="588391"/>
                    <a:pt x="1133221" y="588391"/>
                  </a:cubicBezTo>
                  <a:lnTo>
                    <a:pt x="149479" y="588391"/>
                  </a:lnTo>
                  <a:cubicBezTo>
                    <a:pt x="66929" y="588391"/>
                    <a:pt x="0" y="521462"/>
                    <a:pt x="0" y="438912"/>
                  </a:cubicBezTo>
                  <a:close/>
                </a:path>
              </a:pathLst>
            </a:custGeom>
            <a:solidFill>
              <a:srgbClr val="E9EEFF"/>
            </a:solidFill>
            <a:ln w="9525" cap="sq">
              <a:solidFill>
                <a:srgbClr val="E9EEFF"/>
              </a:solidFill>
              <a:prstDash val="solid"/>
              <a:miter/>
            </a:ln>
          </p:spPr>
        </p:sp>
      </p:grpSp>
      <p:grpSp>
        <p:nvGrpSpPr>
          <p:cNvPr name="Group 46" id="46"/>
          <p:cNvGrpSpPr/>
          <p:nvPr/>
        </p:nvGrpSpPr>
        <p:grpSpPr>
          <a:xfrm rot="0">
            <a:off x="6400800" y="8394695"/>
            <a:ext cx="947738" cy="431800"/>
            <a:chOff x="0" y="0"/>
            <a:chExt cx="1263650" cy="575734"/>
          </a:xfrm>
        </p:grpSpPr>
        <p:sp>
          <p:nvSpPr>
            <p:cNvPr name="Freeform 47" id="47"/>
            <p:cNvSpPr/>
            <p:nvPr/>
          </p:nvSpPr>
          <p:spPr>
            <a:xfrm flipH="false" flipV="false" rot="0">
              <a:off x="0" y="0"/>
              <a:ext cx="1263650" cy="575739"/>
            </a:xfrm>
            <a:custGeom>
              <a:avLst/>
              <a:gdLst/>
              <a:ahLst/>
              <a:cxnLst/>
              <a:rect r="r" b="b" t="t" l="l"/>
              <a:pathLst>
                <a:path h="575739" w="1263650">
                  <a:moveTo>
                    <a:pt x="0" y="0"/>
                  </a:moveTo>
                  <a:lnTo>
                    <a:pt x="1263650" y="0"/>
                  </a:lnTo>
                  <a:lnTo>
                    <a:pt x="1263650" y="575739"/>
                  </a:lnTo>
                  <a:lnTo>
                    <a:pt x="0" y="575739"/>
                  </a:lnTo>
                  <a:close/>
                </a:path>
              </a:pathLst>
            </a:custGeom>
            <a:blipFill>
              <a:blip r:embed="rId3">
                <a:alphaModFix amt="0"/>
              </a:blip>
              <a:stretch>
                <a:fillRect l="-8204" t="0" r="-8707" b="1"/>
              </a:stretch>
            </a:blipFill>
          </p:spPr>
        </p:sp>
        <p:sp>
          <p:nvSpPr>
            <p:cNvPr name="TextBox 48" id="48"/>
            <p:cNvSpPr txBox="true"/>
            <p:nvPr/>
          </p:nvSpPr>
          <p:spPr>
            <a:xfrm>
              <a:off x="0" y="-9525"/>
              <a:ext cx="1263650" cy="585259"/>
            </a:xfrm>
            <a:prstGeom prst="rect">
              <a:avLst/>
            </a:prstGeom>
          </p:spPr>
          <p:txBody>
            <a:bodyPr anchor="ctr" rtlCol="false" tIns="0" lIns="0" bIns="0" rIns="0"/>
            <a:lstStyle/>
            <a:p>
              <a:pPr algn="ctr">
                <a:lnSpc>
                  <a:spcPts val="1350"/>
                </a:lnSpc>
              </a:pPr>
              <a:r>
                <a:rPr lang="en-US" b="true" sz="1125">
                  <a:solidFill>
                    <a:srgbClr val="1B2CC1"/>
                  </a:solidFill>
                  <a:latin typeface="Arimo Bold"/>
                  <a:ea typeface="Arimo Bold"/>
                  <a:cs typeface="Arimo Bold"/>
                  <a:sym typeface="Arimo Bold"/>
                </a:rPr>
                <a:t>Ollama</a:t>
              </a:r>
            </a:p>
          </p:txBody>
        </p:sp>
      </p:grpSp>
      <p:grpSp>
        <p:nvGrpSpPr>
          <p:cNvPr name="Group 49" id="49"/>
          <p:cNvGrpSpPr/>
          <p:nvPr/>
        </p:nvGrpSpPr>
        <p:grpSpPr>
          <a:xfrm rot="0">
            <a:off x="7462838" y="8389934"/>
            <a:ext cx="962025" cy="441322"/>
            <a:chOff x="0" y="0"/>
            <a:chExt cx="1282700" cy="588429"/>
          </a:xfrm>
        </p:grpSpPr>
        <p:sp>
          <p:nvSpPr>
            <p:cNvPr name="Freeform 50" id="50"/>
            <p:cNvSpPr/>
            <p:nvPr/>
          </p:nvSpPr>
          <p:spPr>
            <a:xfrm flipH="false" flipV="false" rot="0">
              <a:off x="0" y="0"/>
              <a:ext cx="1282700" cy="588391"/>
            </a:xfrm>
            <a:custGeom>
              <a:avLst/>
              <a:gdLst/>
              <a:ahLst/>
              <a:cxnLst/>
              <a:rect r="r" b="b" t="t" l="l"/>
              <a:pathLst>
                <a:path h="588391" w="1282700">
                  <a:moveTo>
                    <a:pt x="0" y="149479"/>
                  </a:moveTo>
                  <a:cubicBezTo>
                    <a:pt x="0" y="66929"/>
                    <a:pt x="66929" y="0"/>
                    <a:pt x="149479" y="0"/>
                  </a:cubicBezTo>
                  <a:lnTo>
                    <a:pt x="1133221" y="0"/>
                  </a:lnTo>
                  <a:cubicBezTo>
                    <a:pt x="1215771" y="0"/>
                    <a:pt x="1282700" y="66929"/>
                    <a:pt x="1282700" y="149479"/>
                  </a:cubicBezTo>
                  <a:lnTo>
                    <a:pt x="1282700" y="438912"/>
                  </a:lnTo>
                  <a:cubicBezTo>
                    <a:pt x="1282700" y="521462"/>
                    <a:pt x="1215771" y="588391"/>
                    <a:pt x="1133221" y="588391"/>
                  </a:cubicBezTo>
                  <a:lnTo>
                    <a:pt x="149479" y="588391"/>
                  </a:lnTo>
                  <a:cubicBezTo>
                    <a:pt x="66929" y="588391"/>
                    <a:pt x="0" y="521462"/>
                    <a:pt x="0" y="438912"/>
                  </a:cubicBezTo>
                  <a:close/>
                </a:path>
              </a:pathLst>
            </a:custGeom>
            <a:solidFill>
              <a:srgbClr val="E9EEFF"/>
            </a:solidFill>
            <a:ln w="9525" cap="sq">
              <a:solidFill>
                <a:srgbClr val="E9EEFF"/>
              </a:solidFill>
              <a:prstDash val="solid"/>
              <a:miter/>
            </a:ln>
          </p:spPr>
        </p:sp>
      </p:grpSp>
      <p:grpSp>
        <p:nvGrpSpPr>
          <p:cNvPr name="Group 51" id="51"/>
          <p:cNvGrpSpPr/>
          <p:nvPr/>
        </p:nvGrpSpPr>
        <p:grpSpPr>
          <a:xfrm rot="0">
            <a:off x="7467600" y="8394695"/>
            <a:ext cx="957263" cy="431800"/>
            <a:chOff x="0" y="0"/>
            <a:chExt cx="1276350" cy="575734"/>
          </a:xfrm>
        </p:grpSpPr>
        <p:sp>
          <p:nvSpPr>
            <p:cNvPr name="Freeform 52" id="52"/>
            <p:cNvSpPr/>
            <p:nvPr/>
          </p:nvSpPr>
          <p:spPr>
            <a:xfrm flipH="false" flipV="false" rot="0">
              <a:off x="0" y="0"/>
              <a:ext cx="1276350" cy="575739"/>
            </a:xfrm>
            <a:custGeom>
              <a:avLst/>
              <a:gdLst/>
              <a:ahLst/>
              <a:cxnLst/>
              <a:rect r="r" b="b" t="t" l="l"/>
              <a:pathLst>
                <a:path h="575739" w="1276350">
                  <a:moveTo>
                    <a:pt x="0" y="0"/>
                  </a:moveTo>
                  <a:lnTo>
                    <a:pt x="1276350" y="0"/>
                  </a:lnTo>
                  <a:lnTo>
                    <a:pt x="1276350" y="575739"/>
                  </a:lnTo>
                  <a:lnTo>
                    <a:pt x="0" y="575739"/>
                  </a:lnTo>
                  <a:close/>
                </a:path>
              </a:pathLst>
            </a:custGeom>
            <a:blipFill>
              <a:blip r:embed="rId3">
                <a:alphaModFix amt="0"/>
              </a:blip>
              <a:stretch>
                <a:fillRect l="-8123" t="0" r="-7625" b="1"/>
              </a:stretch>
            </a:blipFill>
          </p:spPr>
        </p:sp>
        <p:sp>
          <p:nvSpPr>
            <p:cNvPr name="TextBox 53" id="53"/>
            <p:cNvSpPr txBox="true"/>
            <p:nvPr/>
          </p:nvSpPr>
          <p:spPr>
            <a:xfrm>
              <a:off x="0" y="-9525"/>
              <a:ext cx="1276350" cy="585259"/>
            </a:xfrm>
            <a:prstGeom prst="rect">
              <a:avLst/>
            </a:prstGeom>
          </p:spPr>
          <p:txBody>
            <a:bodyPr anchor="ctr" rtlCol="false" tIns="0" lIns="0" bIns="0" rIns="0"/>
            <a:lstStyle/>
            <a:p>
              <a:pPr algn="ctr">
                <a:lnSpc>
                  <a:spcPts val="1350"/>
                </a:lnSpc>
              </a:pPr>
              <a:r>
                <a:rPr lang="en-US" b="true" sz="1125">
                  <a:solidFill>
                    <a:srgbClr val="1B2CC1"/>
                  </a:solidFill>
                  <a:latin typeface="Arimo Bold"/>
                  <a:ea typeface="Arimo Bold"/>
                  <a:cs typeface="Arimo Bold"/>
                  <a:sym typeface="Arimo Bold"/>
                </a:rPr>
                <a:t>Docker</a:t>
              </a:r>
            </a:p>
          </p:txBody>
        </p:sp>
      </p:grpSp>
      <p:grpSp>
        <p:nvGrpSpPr>
          <p:cNvPr name="Group 54" id="54"/>
          <p:cNvGrpSpPr/>
          <p:nvPr/>
        </p:nvGrpSpPr>
        <p:grpSpPr>
          <a:xfrm rot="0">
            <a:off x="9346387" y="2053590"/>
            <a:ext cx="7904017" cy="7132320"/>
            <a:chOff x="0" y="0"/>
            <a:chExt cx="10538689" cy="9509760"/>
          </a:xfrm>
        </p:grpSpPr>
        <p:sp>
          <p:nvSpPr>
            <p:cNvPr name="Freeform 55" id="55"/>
            <p:cNvSpPr/>
            <p:nvPr/>
          </p:nvSpPr>
          <p:spPr>
            <a:xfrm flipH="false" flipV="false" rot="0">
              <a:off x="0" y="0"/>
              <a:ext cx="10538650" cy="9509760"/>
            </a:xfrm>
            <a:custGeom>
              <a:avLst/>
              <a:gdLst/>
              <a:ahLst/>
              <a:cxnLst/>
              <a:rect r="r" b="b" t="t" l="l"/>
              <a:pathLst>
                <a:path h="9509760" w="10538650">
                  <a:moveTo>
                    <a:pt x="0" y="148082"/>
                  </a:moveTo>
                  <a:cubicBezTo>
                    <a:pt x="0" y="66294"/>
                    <a:pt x="66914" y="0"/>
                    <a:pt x="149466" y="0"/>
                  </a:cubicBezTo>
                  <a:lnTo>
                    <a:pt x="10389184" y="0"/>
                  </a:lnTo>
                  <a:cubicBezTo>
                    <a:pt x="10471737" y="0"/>
                    <a:pt x="10538650" y="66294"/>
                    <a:pt x="10538650" y="148082"/>
                  </a:cubicBezTo>
                  <a:lnTo>
                    <a:pt x="10538650" y="9361678"/>
                  </a:lnTo>
                  <a:cubicBezTo>
                    <a:pt x="10538650" y="9443466"/>
                    <a:pt x="10471737" y="9509760"/>
                    <a:pt x="10389184" y="9509760"/>
                  </a:cubicBezTo>
                  <a:lnTo>
                    <a:pt x="149466" y="9509760"/>
                  </a:lnTo>
                  <a:cubicBezTo>
                    <a:pt x="66914" y="9509760"/>
                    <a:pt x="0" y="9443466"/>
                    <a:pt x="0" y="9361678"/>
                  </a:cubicBezTo>
                  <a:close/>
                </a:path>
              </a:pathLst>
            </a:custGeom>
            <a:solidFill>
              <a:srgbClr val="FFFFFF"/>
            </a:solidFill>
            <a:ln w="38100" cap="sq">
              <a:solidFill>
                <a:srgbClr val="111111"/>
              </a:solidFill>
              <a:prstDash val="solid"/>
              <a:miter/>
            </a:ln>
          </p:spPr>
        </p:sp>
      </p:grpSp>
      <p:grpSp>
        <p:nvGrpSpPr>
          <p:cNvPr name="Group 56" id="56"/>
          <p:cNvGrpSpPr/>
          <p:nvPr/>
        </p:nvGrpSpPr>
        <p:grpSpPr>
          <a:xfrm rot="0">
            <a:off x="9779003" y="2425703"/>
            <a:ext cx="7112003" cy="3098797"/>
            <a:chOff x="0" y="0"/>
            <a:chExt cx="9482671" cy="4131729"/>
          </a:xfrm>
        </p:grpSpPr>
        <p:sp>
          <p:nvSpPr>
            <p:cNvPr name="Freeform 57" id="57" descr="/Users/junsupark/Desktop/personal_project/portfolio_test/p2_media/vicpinky_carrier_official_poster.jpg"/>
            <p:cNvSpPr/>
            <p:nvPr/>
          </p:nvSpPr>
          <p:spPr>
            <a:xfrm flipH="false" flipV="false" rot="0">
              <a:off x="0" y="0"/>
              <a:ext cx="9482709" cy="4131691"/>
            </a:xfrm>
            <a:custGeom>
              <a:avLst/>
              <a:gdLst/>
              <a:ahLst/>
              <a:cxnLst/>
              <a:rect r="r" b="b" t="t" l="l"/>
              <a:pathLst>
                <a:path h="4131691" w="9482709">
                  <a:moveTo>
                    <a:pt x="0" y="0"/>
                  </a:moveTo>
                  <a:lnTo>
                    <a:pt x="9482709" y="0"/>
                  </a:lnTo>
                  <a:lnTo>
                    <a:pt x="9482709" y="4131691"/>
                  </a:lnTo>
                  <a:lnTo>
                    <a:pt x="0" y="4131691"/>
                  </a:lnTo>
                  <a:lnTo>
                    <a:pt x="0" y="0"/>
                  </a:lnTo>
                  <a:close/>
                </a:path>
              </a:pathLst>
            </a:custGeom>
            <a:blipFill>
              <a:blip r:embed="rId7"/>
              <a:stretch>
                <a:fillRect l="0" t="0" r="0" b="-29099"/>
              </a:stretch>
            </a:blipFill>
          </p:spPr>
        </p:sp>
      </p:grpSp>
      <p:grpSp>
        <p:nvGrpSpPr>
          <p:cNvPr name="Group 58" id="58"/>
          <p:cNvGrpSpPr/>
          <p:nvPr/>
        </p:nvGrpSpPr>
        <p:grpSpPr>
          <a:xfrm rot="0">
            <a:off x="9952034" y="2624138"/>
            <a:ext cx="2219325" cy="669922"/>
            <a:chOff x="0" y="0"/>
            <a:chExt cx="2959100" cy="893229"/>
          </a:xfrm>
        </p:grpSpPr>
        <p:sp>
          <p:nvSpPr>
            <p:cNvPr name="Freeform 59" id="59"/>
            <p:cNvSpPr/>
            <p:nvPr/>
          </p:nvSpPr>
          <p:spPr>
            <a:xfrm flipH="false" flipV="false" rot="0">
              <a:off x="0" y="0"/>
              <a:ext cx="2959100" cy="893318"/>
            </a:xfrm>
            <a:custGeom>
              <a:avLst/>
              <a:gdLst/>
              <a:ahLst/>
              <a:cxnLst/>
              <a:rect r="r" b="b" t="t" l="l"/>
              <a:pathLst>
                <a:path h="893318" w="2959100">
                  <a:moveTo>
                    <a:pt x="0" y="148463"/>
                  </a:moveTo>
                  <a:cubicBezTo>
                    <a:pt x="0" y="66421"/>
                    <a:pt x="66421" y="0"/>
                    <a:pt x="148463" y="0"/>
                  </a:cubicBezTo>
                  <a:lnTo>
                    <a:pt x="2810637" y="0"/>
                  </a:lnTo>
                  <a:cubicBezTo>
                    <a:pt x="2892679" y="0"/>
                    <a:pt x="2959100" y="66421"/>
                    <a:pt x="2959100" y="148463"/>
                  </a:cubicBezTo>
                  <a:lnTo>
                    <a:pt x="2959100" y="744855"/>
                  </a:lnTo>
                  <a:cubicBezTo>
                    <a:pt x="2959100" y="826770"/>
                    <a:pt x="2892679" y="893318"/>
                    <a:pt x="2810637" y="893318"/>
                  </a:cubicBezTo>
                  <a:lnTo>
                    <a:pt x="148463" y="893318"/>
                  </a:lnTo>
                  <a:cubicBezTo>
                    <a:pt x="66421" y="893191"/>
                    <a:pt x="0" y="826770"/>
                    <a:pt x="0" y="744855"/>
                  </a:cubicBezTo>
                  <a:close/>
                </a:path>
              </a:pathLst>
            </a:custGeom>
            <a:solidFill>
              <a:srgbClr val="EEE9DF"/>
            </a:solidFill>
            <a:ln w="9525" cap="sq">
              <a:solidFill>
                <a:srgbClr val="E9EEFF"/>
              </a:solidFill>
              <a:prstDash val="solid"/>
              <a:miter/>
            </a:ln>
          </p:spPr>
        </p:sp>
      </p:grpSp>
      <p:grpSp>
        <p:nvGrpSpPr>
          <p:cNvPr name="Group 60" id="60"/>
          <p:cNvGrpSpPr/>
          <p:nvPr/>
        </p:nvGrpSpPr>
        <p:grpSpPr>
          <a:xfrm rot="0">
            <a:off x="9956797" y="2628898"/>
            <a:ext cx="2247900" cy="660400"/>
            <a:chOff x="0" y="0"/>
            <a:chExt cx="2997200" cy="880534"/>
          </a:xfrm>
        </p:grpSpPr>
        <p:sp>
          <p:nvSpPr>
            <p:cNvPr name="Freeform 61" id="61"/>
            <p:cNvSpPr/>
            <p:nvPr/>
          </p:nvSpPr>
          <p:spPr>
            <a:xfrm flipH="false" flipV="false" rot="0">
              <a:off x="0" y="0"/>
              <a:ext cx="2997200" cy="880539"/>
            </a:xfrm>
            <a:custGeom>
              <a:avLst/>
              <a:gdLst/>
              <a:ahLst/>
              <a:cxnLst/>
              <a:rect r="r" b="b" t="t" l="l"/>
              <a:pathLst>
                <a:path h="880539" w="2997200">
                  <a:moveTo>
                    <a:pt x="0" y="0"/>
                  </a:moveTo>
                  <a:lnTo>
                    <a:pt x="2997200" y="0"/>
                  </a:lnTo>
                  <a:lnTo>
                    <a:pt x="2997200" y="880539"/>
                  </a:lnTo>
                  <a:lnTo>
                    <a:pt x="0" y="880539"/>
                  </a:lnTo>
                  <a:close/>
                </a:path>
              </a:pathLst>
            </a:custGeom>
            <a:blipFill>
              <a:blip r:embed="rId3">
                <a:alphaModFix amt="0"/>
              </a:blip>
              <a:stretch>
                <a:fillRect l="0" t="-15200" r="1694" b="-15198"/>
              </a:stretch>
            </a:blipFill>
          </p:spPr>
        </p:sp>
        <p:sp>
          <p:nvSpPr>
            <p:cNvPr name="TextBox 62" id="62"/>
            <p:cNvSpPr txBox="true"/>
            <p:nvPr/>
          </p:nvSpPr>
          <p:spPr>
            <a:xfrm>
              <a:off x="0" y="-19050"/>
              <a:ext cx="2997200" cy="899584"/>
            </a:xfrm>
            <a:prstGeom prst="rect">
              <a:avLst/>
            </a:prstGeom>
          </p:spPr>
          <p:txBody>
            <a:bodyPr anchor="ctr" rtlCol="false" tIns="0" lIns="0" bIns="0" rIns="0"/>
            <a:lstStyle/>
            <a:p>
              <a:pPr algn="ctr">
                <a:lnSpc>
                  <a:spcPts val="1980"/>
                </a:lnSpc>
              </a:pPr>
              <a:r>
                <a:rPr lang="en-US" b="true" sz="1650" u="sng">
                  <a:solidFill>
                    <a:srgbClr val="111111"/>
                  </a:solidFill>
                  <a:latin typeface="Arimo Bold"/>
                  <a:ea typeface="Arimo Bold"/>
                  <a:cs typeface="Arimo Bold"/>
                  <a:sym typeface="Arimo Bold"/>
                  <a:hlinkClick r:id="rId8" tooltip="https://kdm111.github.io/vicpinky.html"/>
                </a:rPr>
                <a:t>▶  비디오 재생</a:t>
              </a:r>
            </a:p>
          </p:txBody>
        </p:sp>
      </p:grpSp>
      <p:grpSp>
        <p:nvGrpSpPr>
          <p:cNvPr name="Group 63" id="63"/>
          <p:cNvGrpSpPr/>
          <p:nvPr/>
        </p:nvGrpSpPr>
        <p:grpSpPr>
          <a:xfrm rot="0">
            <a:off x="9774241" y="6127747"/>
            <a:ext cx="4711694" cy="766604"/>
            <a:chOff x="0" y="0"/>
            <a:chExt cx="6282258" cy="1022139"/>
          </a:xfrm>
        </p:grpSpPr>
        <p:sp>
          <p:nvSpPr>
            <p:cNvPr name="Freeform 64" id="64"/>
            <p:cNvSpPr/>
            <p:nvPr/>
          </p:nvSpPr>
          <p:spPr>
            <a:xfrm flipH="false" flipV="false" rot="0">
              <a:off x="0" y="0"/>
              <a:ext cx="6282255" cy="1022144"/>
            </a:xfrm>
            <a:custGeom>
              <a:avLst/>
              <a:gdLst/>
              <a:ahLst/>
              <a:cxnLst/>
              <a:rect r="r" b="b" t="t" l="l"/>
              <a:pathLst>
                <a:path h="1022144" w="6282255">
                  <a:moveTo>
                    <a:pt x="0" y="0"/>
                  </a:moveTo>
                  <a:lnTo>
                    <a:pt x="6282255" y="0"/>
                  </a:lnTo>
                  <a:lnTo>
                    <a:pt x="6282255" y="1022144"/>
                  </a:lnTo>
                  <a:lnTo>
                    <a:pt x="0" y="1022144"/>
                  </a:lnTo>
                  <a:close/>
                </a:path>
              </a:pathLst>
            </a:custGeom>
            <a:blipFill>
              <a:blip r:embed="rId3">
                <a:alphaModFix amt="0"/>
              </a:blip>
              <a:stretch>
                <a:fillRect l="0" t="-145149" r="-50943" b="-116385"/>
              </a:stretch>
            </a:blipFill>
          </p:spPr>
        </p:sp>
        <p:sp>
          <p:nvSpPr>
            <p:cNvPr name="TextBox 65" id="65"/>
            <p:cNvSpPr txBox="true"/>
            <p:nvPr/>
          </p:nvSpPr>
          <p:spPr>
            <a:xfrm>
              <a:off x="0" y="-38100"/>
              <a:ext cx="6282258" cy="1060239"/>
            </a:xfrm>
            <a:prstGeom prst="rect">
              <a:avLst/>
            </a:prstGeom>
          </p:spPr>
          <p:txBody>
            <a:bodyPr anchor="ctr" rtlCol="false" tIns="0" lIns="0" bIns="0" rIns="0"/>
            <a:lstStyle/>
            <a:p>
              <a:pPr algn="l">
                <a:lnSpc>
                  <a:spcPts val="4500"/>
                </a:lnSpc>
              </a:pPr>
              <a:r>
                <a:rPr lang="en-US" sz="3750" b="true">
                  <a:solidFill>
                    <a:srgbClr val="111111"/>
                  </a:solidFill>
                  <a:latin typeface="Arimo Bold"/>
                  <a:ea typeface="Arimo Bold"/>
                  <a:cs typeface="Arimo Bold"/>
                  <a:sym typeface="Arimo Bold"/>
                </a:rPr>
                <a:t>VICPINKY CARRIER</a:t>
              </a:r>
            </a:p>
          </p:txBody>
        </p:sp>
      </p:grpSp>
      <p:grpSp>
        <p:nvGrpSpPr>
          <p:cNvPr name="Group 66" id="66"/>
          <p:cNvGrpSpPr/>
          <p:nvPr/>
        </p:nvGrpSpPr>
        <p:grpSpPr>
          <a:xfrm rot="0">
            <a:off x="9774241" y="8389934"/>
            <a:ext cx="1254128" cy="441322"/>
            <a:chOff x="0" y="0"/>
            <a:chExt cx="1672171" cy="588429"/>
          </a:xfrm>
        </p:grpSpPr>
        <p:sp>
          <p:nvSpPr>
            <p:cNvPr name="Freeform 67" id="67"/>
            <p:cNvSpPr/>
            <p:nvPr/>
          </p:nvSpPr>
          <p:spPr>
            <a:xfrm flipH="false" flipV="false" rot="0">
              <a:off x="0" y="0"/>
              <a:ext cx="1672082" cy="588391"/>
            </a:xfrm>
            <a:custGeom>
              <a:avLst/>
              <a:gdLst/>
              <a:ahLst/>
              <a:cxnLst/>
              <a:rect r="r" b="b" t="t" l="l"/>
              <a:pathLst>
                <a:path h="588391" w="1672082">
                  <a:moveTo>
                    <a:pt x="0" y="149479"/>
                  </a:moveTo>
                  <a:cubicBezTo>
                    <a:pt x="0" y="66929"/>
                    <a:pt x="66929" y="0"/>
                    <a:pt x="149479" y="0"/>
                  </a:cubicBezTo>
                  <a:lnTo>
                    <a:pt x="1522603" y="0"/>
                  </a:lnTo>
                  <a:cubicBezTo>
                    <a:pt x="1605153" y="0"/>
                    <a:pt x="1672082" y="66929"/>
                    <a:pt x="1672082" y="149479"/>
                  </a:cubicBezTo>
                  <a:lnTo>
                    <a:pt x="1672082" y="438912"/>
                  </a:lnTo>
                  <a:cubicBezTo>
                    <a:pt x="1672082" y="521462"/>
                    <a:pt x="1605153" y="588391"/>
                    <a:pt x="1522603" y="588391"/>
                  </a:cubicBezTo>
                  <a:lnTo>
                    <a:pt x="149479" y="588391"/>
                  </a:lnTo>
                  <a:cubicBezTo>
                    <a:pt x="66929" y="588391"/>
                    <a:pt x="0" y="521462"/>
                    <a:pt x="0" y="438912"/>
                  </a:cubicBezTo>
                  <a:close/>
                </a:path>
              </a:pathLst>
            </a:custGeom>
            <a:solidFill>
              <a:srgbClr val="F3E7EC"/>
            </a:solidFill>
            <a:ln w="9525" cap="sq">
              <a:solidFill>
                <a:srgbClr val="F6EEF2"/>
              </a:solidFill>
              <a:prstDash val="solid"/>
              <a:miter/>
            </a:ln>
          </p:spPr>
        </p:sp>
      </p:grpSp>
      <p:grpSp>
        <p:nvGrpSpPr>
          <p:cNvPr name="Group 68" id="68"/>
          <p:cNvGrpSpPr/>
          <p:nvPr/>
        </p:nvGrpSpPr>
        <p:grpSpPr>
          <a:xfrm rot="0">
            <a:off x="9779003" y="8394697"/>
            <a:ext cx="1239831" cy="431800"/>
            <a:chOff x="0" y="0"/>
            <a:chExt cx="1653108" cy="575734"/>
          </a:xfrm>
        </p:grpSpPr>
        <p:sp>
          <p:nvSpPr>
            <p:cNvPr name="Freeform 69" id="69"/>
            <p:cNvSpPr/>
            <p:nvPr/>
          </p:nvSpPr>
          <p:spPr>
            <a:xfrm flipH="false" flipV="false" rot="0">
              <a:off x="0" y="0"/>
              <a:ext cx="1653103" cy="575739"/>
            </a:xfrm>
            <a:custGeom>
              <a:avLst/>
              <a:gdLst/>
              <a:ahLst/>
              <a:cxnLst/>
              <a:rect r="r" b="b" t="t" l="l"/>
              <a:pathLst>
                <a:path h="575739" w="1653103">
                  <a:moveTo>
                    <a:pt x="0" y="0"/>
                  </a:moveTo>
                  <a:lnTo>
                    <a:pt x="1653103" y="0"/>
                  </a:lnTo>
                  <a:lnTo>
                    <a:pt x="1653103" y="575739"/>
                  </a:lnTo>
                  <a:lnTo>
                    <a:pt x="0" y="575739"/>
                  </a:lnTo>
                  <a:close/>
                </a:path>
              </a:pathLst>
            </a:custGeom>
            <a:solidFill>
              <a:srgbClr val="F6F6F4">
                <a:alpha val="0"/>
              </a:srgbClr>
            </a:solidFill>
          </p:spPr>
        </p:sp>
        <p:sp>
          <p:nvSpPr>
            <p:cNvPr name="TextBox 70" id="70"/>
            <p:cNvSpPr txBox="true"/>
            <p:nvPr/>
          </p:nvSpPr>
          <p:spPr>
            <a:xfrm>
              <a:off x="0" y="-9525"/>
              <a:ext cx="1653108" cy="585259"/>
            </a:xfrm>
            <a:prstGeom prst="rect">
              <a:avLst/>
            </a:prstGeom>
          </p:spPr>
          <p:txBody>
            <a:bodyPr anchor="ctr" rtlCol="false" tIns="0" lIns="0" bIns="0" rIns="0"/>
            <a:lstStyle/>
            <a:p>
              <a:pPr algn="ctr">
                <a:lnSpc>
                  <a:spcPts val="1350"/>
                </a:lnSpc>
              </a:pPr>
              <a:r>
                <a:rPr lang="en-US" b="true" sz="1125">
                  <a:solidFill>
                    <a:srgbClr val="A14678"/>
                  </a:solidFill>
                  <a:latin typeface="Arimo Bold"/>
                  <a:ea typeface="Arimo Bold"/>
                  <a:cs typeface="Arimo Bold"/>
                  <a:sym typeface="Arimo Bold"/>
                </a:rPr>
                <a:t>ROS2(Jazzy)</a:t>
              </a:r>
            </a:p>
          </p:txBody>
        </p:sp>
      </p:grpSp>
      <p:grpSp>
        <p:nvGrpSpPr>
          <p:cNvPr name="Group 71" id="71"/>
          <p:cNvGrpSpPr/>
          <p:nvPr/>
        </p:nvGrpSpPr>
        <p:grpSpPr>
          <a:xfrm rot="0">
            <a:off x="11133134" y="8389934"/>
            <a:ext cx="962025" cy="441322"/>
            <a:chOff x="0" y="0"/>
            <a:chExt cx="1282700" cy="588429"/>
          </a:xfrm>
        </p:grpSpPr>
        <p:sp>
          <p:nvSpPr>
            <p:cNvPr name="Freeform 72" id="72"/>
            <p:cNvSpPr/>
            <p:nvPr/>
          </p:nvSpPr>
          <p:spPr>
            <a:xfrm flipH="false" flipV="false" rot="0">
              <a:off x="0" y="0"/>
              <a:ext cx="1282700" cy="588391"/>
            </a:xfrm>
            <a:custGeom>
              <a:avLst/>
              <a:gdLst/>
              <a:ahLst/>
              <a:cxnLst/>
              <a:rect r="r" b="b" t="t" l="l"/>
              <a:pathLst>
                <a:path h="588391" w="1282700">
                  <a:moveTo>
                    <a:pt x="0" y="149479"/>
                  </a:moveTo>
                  <a:cubicBezTo>
                    <a:pt x="0" y="66929"/>
                    <a:pt x="66929" y="0"/>
                    <a:pt x="149479" y="0"/>
                  </a:cubicBezTo>
                  <a:lnTo>
                    <a:pt x="1133221" y="0"/>
                  </a:lnTo>
                  <a:cubicBezTo>
                    <a:pt x="1215771" y="0"/>
                    <a:pt x="1282700" y="66929"/>
                    <a:pt x="1282700" y="149479"/>
                  </a:cubicBezTo>
                  <a:lnTo>
                    <a:pt x="1282700" y="438912"/>
                  </a:lnTo>
                  <a:cubicBezTo>
                    <a:pt x="1282700" y="521462"/>
                    <a:pt x="1215771" y="588391"/>
                    <a:pt x="1133221" y="588391"/>
                  </a:cubicBezTo>
                  <a:lnTo>
                    <a:pt x="149479" y="588391"/>
                  </a:lnTo>
                  <a:cubicBezTo>
                    <a:pt x="66929" y="588391"/>
                    <a:pt x="0" y="521462"/>
                    <a:pt x="0" y="438912"/>
                  </a:cubicBezTo>
                  <a:close/>
                </a:path>
              </a:pathLst>
            </a:custGeom>
            <a:solidFill>
              <a:srgbClr val="F3E7EC"/>
            </a:solidFill>
            <a:ln w="9525" cap="sq">
              <a:solidFill>
                <a:srgbClr val="F6EEF2"/>
              </a:solidFill>
              <a:prstDash val="solid"/>
              <a:miter/>
            </a:ln>
          </p:spPr>
        </p:sp>
      </p:grpSp>
      <p:grpSp>
        <p:nvGrpSpPr>
          <p:cNvPr name="Group 73" id="73"/>
          <p:cNvGrpSpPr/>
          <p:nvPr/>
        </p:nvGrpSpPr>
        <p:grpSpPr>
          <a:xfrm rot="0">
            <a:off x="11137897" y="8394695"/>
            <a:ext cx="947738" cy="431800"/>
            <a:chOff x="0" y="0"/>
            <a:chExt cx="1263650" cy="575734"/>
          </a:xfrm>
        </p:grpSpPr>
        <p:sp>
          <p:nvSpPr>
            <p:cNvPr name="Freeform 74" id="74"/>
            <p:cNvSpPr/>
            <p:nvPr/>
          </p:nvSpPr>
          <p:spPr>
            <a:xfrm flipH="false" flipV="false" rot="0">
              <a:off x="0" y="0"/>
              <a:ext cx="1263650" cy="575739"/>
            </a:xfrm>
            <a:custGeom>
              <a:avLst/>
              <a:gdLst/>
              <a:ahLst/>
              <a:cxnLst/>
              <a:rect r="r" b="b" t="t" l="l"/>
              <a:pathLst>
                <a:path h="575739" w="1263650">
                  <a:moveTo>
                    <a:pt x="0" y="0"/>
                  </a:moveTo>
                  <a:lnTo>
                    <a:pt x="1263650" y="0"/>
                  </a:lnTo>
                  <a:lnTo>
                    <a:pt x="1263650" y="575739"/>
                  </a:lnTo>
                  <a:lnTo>
                    <a:pt x="0" y="575739"/>
                  </a:lnTo>
                  <a:close/>
                </a:path>
              </a:pathLst>
            </a:custGeom>
            <a:solidFill>
              <a:srgbClr val="F6F6F4">
                <a:alpha val="0"/>
              </a:srgbClr>
            </a:solidFill>
          </p:spPr>
        </p:sp>
        <p:sp>
          <p:nvSpPr>
            <p:cNvPr name="TextBox 75" id="75"/>
            <p:cNvSpPr txBox="true"/>
            <p:nvPr/>
          </p:nvSpPr>
          <p:spPr>
            <a:xfrm>
              <a:off x="0" y="-9525"/>
              <a:ext cx="1263650" cy="585259"/>
            </a:xfrm>
            <a:prstGeom prst="rect">
              <a:avLst/>
            </a:prstGeom>
          </p:spPr>
          <p:txBody>
            <a:bodyPr anchor="ctr" rtlCol="false" tIns="0" lIns="0" bIns="0" rIns="0"/>
            <a:lstStyle/>
            <a:p>
              <a:pPr algn="ctr">
                <a:lnSpc>
                  <a:spcPts val="1350"/>
                </a:lnSpc>
              </a:pPr>
              <a:r>
                <a:rPr lang="en-US" b="true" sz="1125">
                  <a:solidFill>
                    <a:srgbClr val="A14678"/>
                  </a:solidFill>
                  <a:latin typeface="Arimo Bold"/>
                  <a:ea typeface="Arimo Bold"/>
                  <a:cs typeface="Arimo Bold"/>
                  <a:sym typeface="Arimo Bold"/>
                </a:rPr>
                <a:t>NestJS</a:t>
              </a:r>
            </a:p>
          </p:txBody>
        </p:sp>
      </p:grpSp>
      <p:grpSp>
        <p:nvGrpSpPr>
          <p:cNvPr name="Group 76" id="76"/>
          <p:cNvGrpSpPr/>
          <p:nvPr/>
        </p:nvGrpSpPr>
        <p:grpSpPr>
          <a:xfrm rot="0">
            <a:off x="12199934" y="8389934"/>
            <a:ext cx="962025" cy="441322"/>
            <a:chOff x="0" y="0"/>
            <a:chExt cx="1282700" cy="588429"/>
          </a:xfrm>
        </p:grpSpPr>
        <p:sp>
          <p:nvSpPr>
            <p:cNvPr name="Freeform 77" id="77"/>
            <p:cNvSpPr/>
            <p:nvPr/>
          </p:nvSpPr>
          <p:spPr>
            <a:xfrm flipH="false" flipV="false" rot="0">
              <a:off x="0" y="0"/>
              <a:ext cx="1282700" cy="588391"/>
            </a:xfrm>
            <a:custGeom>
              <a:avLst/>
              <a:gdLst/>
              <a:ahLst/>
              <a:cxnLst/>
              <a:rect r="r" b="b" t="t" l="l"/>
              <a:pathLst>
                <a:path h="588391" w="1282700">
                  <a:moveTo>
                    <a:pt x="0" y="149479"/>
                  </a:moveTo>
                  <a:cubicBezTo>
                    <a:pt x="0" y="66929"/>
                    <a:pt x="66929" y="0"/>
                    <a:pt x="149479" y="0"/>
                  </a:cubicBezTo>
                  <a:lnTo>
                    <a:pt x="1133221" y="0"/>
                  </a:lnTo>
                  <a:cubicBezTo>
                    <a:pt x="1215771" y="0"/>
                    <a:pt x="1282700" y="66929"/>
                    <a:pt x="1282700" y="149479"/>
                  </a:cubicBezTo>
                  <a:lnTo>
                    <a:pt x="1282700" y="438912"/>
                  </a:lnTo>
                  <a:cubicBezTo>
                    <a:pt x="1282700" y="521462"/>
                    <a:pt x="1215771" y="588391"/>
                    <a:pt x="1133221" y="588391"/>
                  </a:cubicBezTo>
                  <a:lnTo>
                    <a:pt x="149479" y="588391"/>
                  </a:lnTo>
                  <a:cubicBezTo>
                    <a:pt x="66929" y="588391"/>
                    <a:pt x="0" y="521462"/>
                    <a:pt x="0" y="438912"/>
                  </a:cubicBezTo>
                  <a:close/>
                </a:path>
              </a:pathLst>
            </a:custGeom>
            <a:solidFill>
              <a:srgbClr val="F3E7EC"/>
            </a:solidFill>
            <a:ln w="9525" cap="sq">
              <a:solidFill>
                <a:srgbClr val="F6EEF2"/>
              </a:solidFill>
              <a:prstDash val="solid"/>
              <a:miter/>
            </a:ln>
          </p:spPr>
        </p:sp>
      </p:grpSp>
      <p:grpSp>
        <p:nvGrpSpPr>
          <p:cNvPr name="Group 78" id="78"/>
          <p:cNvGrpSpPr/>
          <p:nvPr/>
        </p:nvGrpSpPr>
        <p:grpSpPr>
          <a:xfrm rot="0">
            <a:off x="12204697" y="8394695"/>
            <a:ext cx="947738" cy="431800"/>
            <a:chOff x="0" y="0"/>
            <a:chExt cx="1263650" cy="575734"/>
          </a:xfrm>
        </p:grpSpPr>
        <p:sp>
          <p:nvSpPr>
            <p:cNvPr name="Freeform 79" id="79"/>
            <p:cNvSpPr/>
            <p:nvPr/>
          </p:nvSpPr>
          <p:spPr>
            <a:xfrm flipH="false" flipV="false" rot="0">
              <a:off x="0" y="0"/>
              <a:ext cx="1263650" cy="575739"/>
            </a:xfrm>
            <a:custGeom>
              <a:avLst/>
              <a:gdLst/>
              <a:ahLst/>
              <a:cxnLst/>
              <a:rect r="r" b="b" t="t" l="l"/>
              <a:pathLst>
                <a:path h="575739" w="1263650">
                  <a:moveTo>
                    <a:pt x="0" y="0"/>
                  </a:moveTo>
                  <a:lnTo>
                    <a:pt x="1263650" y="0"/>
                  </a:lnTo>
                  <a:lnTo>
                    <a:pt x="1263650" y="575739"/>
                  </a:lnTo>
                  <a:lnTo>
                    <a:pt x="0" y="575739"/>
                  </a:lnTo>
                  <a:close/>
                </a:path>
              </a:pathLst>
            </a:custGeom>
            <a:solidFill>
              <a:srgbClr val="F6F6F4">
                <a:alpha val="0"/>
              </a:srgbClr>
            </a:solidFill>
          </p:spPr>
        </p:sp>
        <p:sp>
          <p:nvSpPr>
            <p:cNvPr name="TextBox 80" id="80"/>
            <p:cNvSpPr txBox="true"/>
            <p:nvPr/>
          </p:nvSpPr>
          <p:spPr>
            <a:xfrm>
              <a:off x="0" y="-9525"/>
              <a:ext cx="1263650" cy="585259"/>
            </a:xfrm>
            <a:prstGeom prst="rect">
              <a:avLst/>
            </a:prstGeom>
          </p:spPr>
          <p:txBody>
            <a:bodyPr anchor="ctr" rtlCol="false" tIns="0" lIns="0" bIns="0" rIns="0"/>
            <a:lstStyle/>
            <a:p>
              <a:pPr algn="ctr">
                <a:lnSpc>
                  <a:spcPts val="1350"/>
                </a:lnSpc>
              </a:pPr>
              <a:r>
                <a:rPr lang="en-US" b="true" sz="1125">
                  <a:solidFill>
                    <a:srgbClr val="A14678"/>
                  </a:solidFill>
                  <a:latin typeface="Arimo Bold"/>
                  <a:ea typeface="Arimo Bold"/>
                  <a:cs typeface="Arimo Bold"/>
                  <a:sym typeface="Arimo Bold"/>
                </a:rPr>
                <a:t>React</a:t>
              </a:r>
            </a:p>
          </p:txBody>
        </p:sp>
      </p:grpSp>
      <p:grpSp>
        <p:nvGrpSpPr>
          <p:cNvPr name="Group 81" id="81"/>
          <p:cNvGrpSpPr/>
          <p:nvPr/>
        </p:nvGrpSpPr>
        <p:grpSpPr>
          <a:xfrm rot="0">
            <a:off x="13266734" y="8389934"/>
            <a:ext cx="1114425" cy="441322"/>
            <a:chOff x="0" y="0"/>
            <a:chExt cx="1485900" cy="588429"/>
          </a:xfrm>
        </p:grpSpPr>
        <p:sp>
          <p:nvSpPr>
            <p:cNvPr name="Freeform 82" id="82"/>
            <p:cNvSpPr/>
            <p:nvPr/>
          </p:nvSpPr>
          <p:spPr>
            <a:xfrm flipH="false" flipV="false" rot="0">
              <a:off x="0" y="0"/>
              <a:ext cx="1485900" cy="588391"/>
            </a:xfrm>
            <a:custGeom>
              <a:avLst/>
              <a:gdLst/>
              <a:ahLst/>
              <a:cxnLst/>
              <a:rect r="r" b="b" t="t" l="l"/>
              <a:pathLst>
                <a:path h="588391" w="1485900">
                  <a:moveTo>
                    <a:pt x="0" y="149479"/>
                  </a:moveTo>
                  <a:cubicBezTo>
                    <a:pt x="0" y="66929"/>
                    <a:pt x="66929" y="0"/>
                    <a:pt x="149479" y="0"/>
                  </a:cubicBezTo>
                  <a:lnTo>
                    <a:pt x="1336294" y="0"/>
                  </a:lnTo>
                  <a:cubicBezTo>
                    <a:pt x="1418971" y="0"/>
                    <a:pt x="1485900" y="66929"/>
                    <a:pt x="1485900" y="149479"/>
                  </a:cubicBezTo>
                  <a:lnTo>
                    <a:pt x="1485900" y="438912"/>
                  </a:lnTo>
                  <a:cubicBezTo>
                    <a:pt x="1485900" y="521462"/>
                    <a:pt x="1418971" y="588391"/>
                    <a:pt x="1336421" y="588391"/>
                  </a:cubicBezTo>
                  <a:lnTo>
                    <a:pt x="149479" y="588391"/>
                  </a:lnTo>
                  <a:cubicBezTo>
                    <a:pt x="66929" y="588391"/>
                    <a:pt x="0" y="521462"/>
                    <a:pt x="0" y="438912"/>
                  </a:cubicBezTo>
                  <a:close/>
                </a:path>
              </a:pathLst>
            </a:custGeom>
            <a:solidFill>
              <a:srgbClr val="F3E7EC"/>
            </a:solidFill>
            <a:ln w="9525" cap="sq">
              <a:solidFill>
                <a:srgbClr val="F6EEF2"/>
              </a:solidFill>
              <a:prstDash val="solid"/>
              <a:miter/>
            </a:ln>
          </p:spPr>
        </p:sp>
      </p:grpSp>
      <p:grpSp>
        <p:nvGrpSpPr>
          <p:cNvPr name="Group 83" id="83"/>
          <p:cNvGrpSpPr/>
          <p:nvPr/>
        </p:nvGrpSpPr>
        <p:grpSpPr>
          <a:xfrm rot="0">
            <a:off x="13271497" y="8394695"/>
            <a:ext cx="1100137" cy="431800"/>
            <a:chOff x="0" y="0"/>
            <a:chExt cx="1466850" cy="575734"/>
          </a:xfrm>
        </p:grpSpPr>
        <p:sp>
          <p:nvSpPr>
            <p:cNvPr name="Freeform 84" id="84"/>
            <p:cNvSpPr/>
            <p:nvPr/>
          </p:nvSpPr>
          <p:spPr>
            <a:xfrm flipH="false" flipV="false" rot="0">
              <a:off x="0" y="0"/>
              <a:ext cx="1466850" cy="575739"/>
            </a:xfrm>
            <a:custGeom>
              <a:avLst/>
              <a:gdLst/>
              <a:ahLst/>
              <a:cxnLst/>
              <a:rect r="r" b="b" t="t" l="l"/>
              <a:pathLst>
                <a:path h="575739" w="1466850">
                  <a:moveTo>
                    <a:pt x="0" y="0"/>
                  </a:moveTo>
                  <a:lnTo>
                    <a:pt x="1466850" y="0"/>
                  </a:lnTo>
                  <a:lnTo>
                    <a:pt x="1466850" y="575739"/>
                  </a:lnTo>
                  <a:lnTo>
                    <a:pt x="0" y="575739"/>
                  </a:lnTo>
                  <a:close/>
                </a:path>
              </a:pathLst>
            </a:custGeom>
            <a:solidFill>
              <a:srgbClr val="F6F6F4">
                <a:alpha val="0"/>
              </a:srgbClr>
            </a:solidFill>
          </p:spPr>
        </p:sp>
        <p:sp>
          <p:nvSpPr>
            <p:cNvPr name="TextBox 85" id="85"/>
            <p:cNvSpPr txBox="true"/>
            <p:nvPr/>
          </p:nvSpPr>
          <p:spPr>
            <a:xfrm>
              <a:off x="0" y="-9525"/>
              <a:ext cx="1466850" cy="585259"/>
            </a:xfrm>
            <a:prstGeom prst="rect">
              <a:avLst/>
            </a:prstGeom>
          </p:spPr>
          <p:txBody>
            <a:bodyPr anchor="ctr" rtlCol="false" tIns="0" lIns="0" bIns="0" rIns="0"/>
            <a:lstStyle/>
            <a:p>
              <a:pPr algn="ctr">
                <a:lnSpc>
                  <a:spcPts val="1350"/>
                </a:lnSpc>
              </a:pPr>
              <a:r>
                <a:rPr lang="en-US" b="true" sz="1125">
                  <a:solidFill>
                    <a:srgbClr val="A14678"/>
                  </a:solidFill>
                  <a:latin typeface="Arimo Bold"/>
                  <a:ea typeface="Arimo Bold"/>
                  <a:cs typeface="Arimo Bold"/>
                  <a:sym typeface="Arimo Bold"/>
                </a:rPr>
                <a:t>Socket.IO</a:t>
              </a:r>
            </a:p>
          </p:txBody>
        </p:sp>
      </p:grpSp>
      <p:grpSp>
        <p:nvGrpSpPr>
          <p:cNvPr name="Group 86" id="86"/>
          <p:cNvGrpSpPr/>
          <p:nvPr/>
        </p:nvGrpSpPr>
        <p:grpSpPr>
          <a:xfrm rot="0">
            <a:off x="14485934" y="8389934"/>
            <a:ext cx="962025" cy="441322"/>
            <a:chOff x="0" y="0"/>
            <a:chExt cx="1282700" cy="588429"/>
          </a:xfrm>
        </p:grpSpPr>
        <p:sp>
          <p:nvSpPr>
            <p:cNvPr name="Freeform 87" id="87"/>
            <p:cNvSpPr/>
            <p:nvPr/>
          </p:nvSpPr>
          <p:spPr>
            <a:xfrm flipH="false" flipV="false" rot="0">
              <a:off x="0" y="0"/>
              <a:ext cx="1282700" cy="588391"/>
            </a:xfrm>
            <a:custGeom>
              <a:avLst/>
              <a:gdLst/>
              <a:ahLst/>
              <a:cxnLst/>
              <a:rect r="r" b="b" t="t" l="l"/>
              <a:pathLst>
                <a:path h="588391" w="1282700">
                  <a:moveTo>
                    <a:pt x="0" y="149479"/>
                  </a:moveTo>
                  <a:cubicBezTo>
                    <a:pt x="0" y="66929"/>
                    <a:pt x="66929" y="0"/>
                    <a:pt x="149479" y="0"/>
                  </a:cubicBezTo>
                  <a:lnTo>
                    <a:pt x="1133221" y="0"/>
                  </a:lnTo>
                  <a:cubicBezTo>
                    <a:pt x="1215771" y="0"/>
                    <a:pt x="1282700" y="66929"/>
                    <a:pt x="1282700" y="149479"/>
                  </a:cubicBezTo>
                  <a:lnTo>
                    <a:pt x="1282700" y="438912"/>
                  </a:lnTo>
                  <a:cubicBezTo>
                    <a:pt x="1282700" y="521462"/>
                    <a:pt x="1215771" y="588391"/>
                    <a:pt x="1133221" y="588391"/>
                  </a:cubicBezTo>
                  <a:lnTo>
                    <a:pt x="149479" y="588391"/>
                  </a:lnTo>
                  <a:cubicBezTo>
                    <a:pt x="66929" y="588391"/>
                    <a:pt x="0" y="521462"/>
                    <a:pt x="0" y="438912"/>
                  </a:cubicBezTo>
                  <a:close/>
                </a:path>
              </a:pathLst>
            </a:custGeom>
            <a:solidFill>
              <a:srgbClr val="F3E7EC"/>
            </a:solidFill>
            <a:ln w="9525" cap="sq">
              <a:solidFill>
                <a:srgbClr val="F6EEF2"/>
              </a:solidFill>
              <a:prstDash val="solid"/>
              <a:miter/>
            </a:ln>
          </p:spPr>
        </p:sp>
      </p:grpSp>
      <p:grpSp>
        <p:nvGrpSpPr>
          <p:cNvPr name="Group 88" id="88"/>
          <p:cNvGrpSpPr/>
          <p:nvPr/>
        </p:nvGrpSpPr>
        <p:grpSpPr>
          <a:xfrm rot="0">
            <a:off x="14490697" y="8394695"/>
            <a:ext cx="957262" cy="431800"/>
            <a:chOff x="0" y="0"/>
            <a:chExt cx="1276350" cy="575734"/>
          </a:xfrm>
        </p:grpSpPr>
        <p:sp>
          <p:nvSpPr>
            <p:cNvPr name="Freeform 89" id="89"/>
            <p:cNvSpPr/>
            <p:nvPr/>
          </p:nvSpPr>
          <p:spPr>
            <a:xfrm flipH="false" flipV="false" rot="0">
              <a:off x="0" y="0"/>
              <a:ext cx="1276350" cy="575739"/>
            </a:xfrm>
            <a:custGeom>
              <a:avLst/>
              <a:gdLst/>
              <a:ahLst/>
              <a:cxnLst/>
              <a:rect r="r" b="b" t="t" l="l"/>
              <a:pathLst>
                <a:path h="575739" w="1276350">
                  <a:moveTo>
                    <a:pt x="0" y="0"/>
                  </a:moveTo>
                  <a:lnTo>
                    <a:pt x="1276350" y="0"/>
                  </a:lnTo>
                  <a:lnTo>
                    <a:pt x="1276350" y="575739"/>
                  </a:lnTo>
                  <a:lnTo>
                    <a:pt x="0" y="575739"/>
                  </a:lnTo>
                  <a:close/>
                </a:path>
              </a:pathLst>
            </a:custGeom>
            <a:solidFill>
              <a:srgbClr val="F6F6F4">
                <a:alpha val="0"/>
              </a:srgbClr>
            </a:solidFill>
          </p:spPr>
        </p:sp>
        <p:sp>
          <p:nvSpPr>
            <p:cNvPr name="TextBox 90" id="90"/>
            <p:cNvSpPr txBox="true"/>
            <p:nvPr/>
          </p:nvSpPr>
          <p:spPr>
            <a:xfrm>
              <a:off x="0" y="-9525"/>
              <a:ext cx="1276350" cy="585259"/>
            </a:xfrm>
            <a:prstGeom prst="rect">
              <a:avLst/>
            </a:prstGeom>
          </p:spPr>
          <p:txBody>
            <a:bodyPr anchor="ctr" rtlCol="false" tIns="0" lIns="0" bIns="0" rIns="0"/>
            <a:lstStyle/>
            <a:p>
              <a:pPr algn="ctr">
                <a:lnSpc>
                  <a:spcPts val="1350"/>
                </a:lnSpc>
              </a:pPr>
              <a:r>
                <a:rPr lang="en-US" b="true" sz="1125">
                  <a:solidFill>
                    <a:srgbClr val="A14678"/>
                  </a:solidFill>
                  <a:latin typeface="Arimo Bold"/>
                  <a:ea typeface="Arimo Bold"/>
                  <a:cs typeface="Arimo Bold"/>
                  <a:sym typeface="Arimo Bold"/>
                </a:rPr>
                <a:t>WebRTC</a:t>
              </a:r>
            </a:p>
          </p:txBody>
        </p:sp>
      </p:grpSp>
      <p:grpSp>
        <p:nvGrpSpPr>
          <p:cNvPr name="Group 91" id="91"/>
          <p:cNvGrpSpPr/>
          <p:nvPr/>
        </p:nvGrpSpPr>
        <p:grpSpPr>
          <a:xfrm rot="0">
            <a:off x="15552734" y="8389934"/>
            <a:ext cx="962025" cy="441322"/>
            <a:chOff x="0" y="0"/>
            <a:chExt cx="1282700" cy="588429"/>
          </a:xfrm>
        </p:grpSpPr>
        <p:sp>
          <p:nvSpPr>
            <p:cNvPr name="Freeform 92" id="92"/>
            <p:cNvSpPr/>
            <p:nvPr/>
          </p:nvSpPr>
          <p:spPr>
            <a:xfrm flipH="false" flipV="false" rot="0">
              <a:off x="0" y="0"/>
              <a:ext cx="1282700" cy="588391"/>
            </a:xfrm>
            <a:custGeom>
              <a:avLst/>
              <a:gdLst/>
              <a:ahLst/>
              <a:cxnLst/>
              <a:rect r="r" b="b" t="t" l="l"/>
              <a:pathLst>
                <a:path h="588391" w="1282700">
                  <a:moveTo>
                    <a:pt x="0" y="149479"/>
                  </a:moveTo>
                  <a:cubicBezTo>
                    <a:pt x="0" y="66929"/>
                    <a:pt x="66929" y="0"/>
                    <a:pt x="149479" y="0"/>
                  </a:cubicBezTo>
                  <a:lnTo>
                    <a:pt x="1133221" y="0"/>
                  </a:lnTo>
                  <a:cubicBezTo>
                    <a:pt x="1215771" y="0"/>
                    <a:pt x="1282700" y="66929"/>
                    <a:pt x="1282700" y="149479"/>
                  </a:cubicBezTo>
                  <a:lnTo>
                    <a:pt x="1282700" y="438912"/>
                  </a:lnTo>
                  <a:cubicBezTo>
                    <a:pt x="1282700" y="521462"/>
                    <a:pt x="1215771" y="588391"/>
                    <a:pt x="1133221" y="588391"/>
                  </a:cubicBezTo>
                  <a:lnTo>
                    <a:pt x="149479" y="588391"/>
                  </a:lnTo>
                  <a:cubicBezTo>
                    <a:pt x="66929" y="588391"/>
                    <a:pt x="0" y="521462"/>
                    <a:pt x="0" y="438912"/>
                  </a:cubicBezTo>
                  <a:close/>
                </a:path>
              </a:pathLst>
            </a:custGeom>
            <a:solidFill>
              <a:srgbClr val="F3E7EC"/>
            </a:solidFill>
            <a:ln w="9525" cap="sq">
              <a:solidFill>
                <a:srgbClr val="F6EEF2"/>
              </a:solidFill>
              <a:prstDash val="solid"/>
              <a:miter/>
            </a:ln>
          </p:spPr>
        </p:sp>
      </p:grpSp>
      <p:grpSp>
        <p:nvGrpSpPr>
          <p:cNvPr name="Group 93" id="93"/>
          <p:cNvGrpSpPr/>
          <p:nvPr/>
        </p:nvGrpSpPr>
        <p:grpSpPr>
          <a:xfrm rot="0">
            <a:off x="15557497" y="8394695"/>
            <a:ext cx="957263" cy="431800"/>
            <a:chOff x="0" y="0"/>
            <a:chExt cx="1276350" cy="575734"/>
          </a:xfrm>
        </p:grpSpPr>
        <p:sp>
          <p:nvSpPr>
            <p:cNvPr name="Freeform 94" id="94"/>
            <p:cNvSpPr/>
            <p:nvPr/>
          </p:nvSpPr>
          <p:spPr>
            <a:xfrm flipH="false" flipV="false" rot="0">
              <a:off x="0" y="0"/>
              <a:ext cx="1276350" cy="575739"/>
            </a:xfrm>
            <a:custGeom>
              <a:avLst/>
              <a:gdLst/>
              <a:ahLst/>
              <a:cxnLst/>
              <a:rect r="r" b="b" t="t" l="l"/>
              <a:pathLst>
                <a:path h="575739" w="1276350">
                  <a:moveTo>
                    <a:pt x="0" y="0"/>
                  </a:moveTo>
                  <a:lnTo>
                    <a:pt x="1276350" y="0"/>
                  </a:lnTo>
                  <a:lnTo>
                    <a:pt x="1276350" y="575739"/>
                  </a:lnTo>
                  <a:lnTo>
                    <a:pt x="0" y="575739"/>
                  </a:lnTo>
                  <a:close/>
                </a:path>
              </a:pathLst>
            </a:custGeom>
            <a:solidFill>
              <a:srgbClr val="F6F6F4">
                <a:alpha val="0"/>
              </a:srgbClr>
            </a:solidFill>
          </p:spPr>
        </p:sp>
        <p:sp>
          <p:nvSpPr>
            <p:cNvPr name="TextBox 95" id="95"/>
            <p:cNvSpPr txBox="true"/>
            <p:nvPr/>
          </p:nvSpPr>
          <p:spPr>
            <a:xfrm>
              <a:off x="0" y="-9525"/>
              <a:ext cx="1276350" cy="585259"/>
            </a:xfrm>
            <a:prstGeom prst="rect">
              <a:avLst/>
            </a:prstGeom>
          </p:spPr>
          <p:txBody>
            <a:bodyPr anchor="ctr" rtlCol="false" tIns="0" lIns="0" bIns="0" rIns="0"/>
            <a:lstStyle/>
            <a:p>
              <a:pPr algn="ctr">
                <a:lnSpc>
                  <a:spcPts val="1350"/>
                </a:lnSpc>
              </a:pPr>
              <a:r>
                <a:rPr lang="en-US" b="true" sz="1125">
                  <a:solidFill>
                    <a:srgbClr val="A14678"/>
                  </a:solidFill>
                  <a:latin typeface="Arimo Bold"/>
                  <a:ea typeface="Arimo Bold"/>
                  <a:cs typeface="Arimo Bold"/>
                  <a:sym typeface="Arimo Bold"/>
                </a:rPr>
                <a:t>MongoDB</a:t>
              </a:r>
            </a:p>
          </p:txBody>
        </p:sp>
      </p:grpSp>
      <p:grpSp>
        <p:nvGrpSpPr>
          <p:cNvPr name="Group 96" id="96"/>
          <p:cNvGrpSpPr/>
          <p:nvPr/>
        </p:nvGrpSpPr>
        <p:grpSpPr>
          <a:xfrm rot="0">
            <a:off x="1079497" y="9550403"/>
            <a:ext cx="3810000" cy="279397"/>
            <a:chOff x="0" y="0"/>
            <a:chExt cx="5080000" cy="372529"/>
          </a:xfrm>
        </p:grpSpPr>
        <p:sp>
          <p:nvSpPr>
            <p:cNvPr name="Freeform 97" id="97"/>
            <p:cNvSpPr/>
            <p:nvPr/>
          </p:nvSpPr>
          <p:spPr>
            <a:xfrm flipH="false" flipV="false" rot="0">
              <a:off x="0" y="0"/>
              <a:ext cx="5080000" cy="372534"/>
            </a:xfrm>
            <a:custGeom>
              <a:avLst/>
              <a:gdLst/>
              <a:ahLst/>
              <a:cxnLst/>
              <a:rect r="r" b="b" t="t" l="l"/>
              <a:pathLst>
                <a:path h="372534" w="5080000">
                  <a:moveTo>
                    <a:pt x="0" y="0"/>
                  </a:moveTo>
                  <a:lnTo>
                    <a:pt x="5080000" y="0"/>
                  </a:lnTo>
                  <a:lnTo>
                    <a:pt x="5080000" y="372534"/>
                  </a:lnTo>
                  <a:lnTo>
                    <a:pt x="0" y="372534"/>
                  </a:lnTo>
                  <a:close/>
                </a:path>
              </a:pathLst>
            </a:custGeom>
            <a:blipFill>
              <a:blip r:embed="rId3">
                <a:alphaModFix amt="0"/>
              </a:blip>
              <a:stretch>
                <a:fillRect l="0" t="-215705" r="0" b="-215703"/>
              </a:stretch>
            </a:blipFill>
          </p:spPr>
        </p:sp>
        <p:sp>
          <p:nvSpPr>
            <p:cNvPr name="TextBox 98" id="98"/>
            <p:cNvSpPr txBox="true"/>
            <p:nvPr/>
          </p:nvSpPr>
          <p:spPr>
            <a:xfrm>
              <a:off x="0" y="-19050"/>
              <a:ext cx="5080000" cy="391579"/>
            </a:xfrm>
            <a:prstGeom prst="rect">
              <a:avLst/>
            </a:prstGeom>
          </p:spPr>
          <p:txBody>
            <a:bodyPr anchor="ctr" rtlCol="false" tIns="0" lIns="0" bIns="0" rIns="0"/>
            <a:lstStyle/>
            <a:p>
              <a:pPr algn="l">
                <a:lnSpc>
                  <a:spcPts val="1530"/>
                </a:lnSpc>
              </a:pPr>
              <a:r>
                <a:rPr lang="en-US" sz="1275">
                  <a:solidFill>
                    <a:srgbClr val="66645F"/>
                  </a:solidFill>
                  <a:latin typeface="Arimo"/>
                  <a:ea typeface="Arimo"/>
                  <a:cs typeface="Arimo"/>
                  <a:sym typeface="Arimo"/>
                </a:rPr>
                <a:t>PROJECT OVERVIEW</a:t>
              </a:r>
            </a:p>
          </p:txBody>
        </p:sp>
      </p:grpSp>
      <p:grpSp>
        <p:nvGrpSpPr>
          <p:cNvPr name="Group 99" id="99"/>
          <p:cNvGrpSpPr/>
          <p:nvPr/>
        </p:nvGrpSpPr>
        <p:grpSpPr>
          <a:xfrm rot="0">
            <a:off x="1423987" y="5715000"/>
            <a:ext cx="3465509" cy="412747"/>
            <a:chOff x="0" y="0"/>
            <a:chExt cx="4620679" cy="550329"/>
          </a:xfrm>
        </p:grpSpPr>
        <p:sp>
          <p:nvSpPr>
            <p:cNvPr name="Freeform 100" id="100"/>
            <p:cNvSpPr/>
            <p:nvPr/>
          </p:nvSpPr>
          <p:spPr>
            <a:xfrm flipH="false" flipV="false" rot="0">
              <a:off x="0" y="0"/>
              <a:ext cx="4620679" cy="550291"/>
            </a:xfrm>
            <a:custGeom>
              <a:avLst/>
              <a:gdLst/>
              <a:ahLst/>
              <a:cxnLst/>
              <a:rect r="r" b="b" t="t" l="l"/>
              <a:pathLst>
                <a:path h="550291" w="4620679">
                  <a:moveTo>
                    <a:pt x="0" y="159766"/>
                  </a:moveTo>
                  <a:cubicBezTo>
                    <a:pt x="0" y="71501"/>
                    <a:pt x="47997" y="0"/>
                    <a:pt x="107247" y="0"/>
                  </a:cubicBezTo>
                  <a:lnTo>
                    <a:pt x="4513431" y="0"/>
                  </a:lnTo>
                  <a:cubicBezTo>
                    <a:pt x="4572682" y="0"/>
                    <a:pt x="4620679" y="71501"/>
                    <a:pt x="4620679" y="159766"/>
                  </a:cubicBezTo>
                  <a:lnTo>
                    <a:pt x="4620679" y="390525"/>
                  </a:lnTo>
                  <a:cubicBezTo>
                    <a:pt x="4620679" y="478790"/>
                    <a:pt x="4572682" y="550291"/>
                    <a:pt x="4513431" y="550291"/>
                  </a:cubicBezTo>
                  <a:lnTo>
                    <a:pt x="107247" y="550291"/>
                  </a:lnTo>
                  <a:cubicBezTo>
                    <a:pt x="47997" y="550291"/>
                    <a:pt x="0" y="478790"/>
                    <a:pt x="0" y="390525"/>
                  </a:cubicBezTo>
                  <a:close/>
                </a:path>
              </a:pathLst>
            </a:custGeom>
            <a:solidFill>
              <a:srgbClr val="E7ECFF"/>
            </a:solidFill>
          </p:spPr>
        </p:sp>
      </p:grpSp>
      <p:sp>
        <p:nvSpPr>
          <p:cNvPr name="TextBox 101" id="101"/>
          <p:cNvSpPr txBox="true"/>
          <p:nvPr/>
        </p:nvSpPr>
        <p:spPr>
          <a:xfrm rot="0">
            <a:off x="2358893" y="5773968"/>
            <a:ext cx="1595698" cy="266237"/>
          </a:xfrm>
          <a:prstGeom prst="rect">
            <a:avLst/>
          </a:prstGeom>
        </p:spPr>
        <p:txBody>
          <a:bodyPr anchor="t" rtlCol="false" tIns="0" lIns="0" bIns="0" rIns="0">
            <a:spAutoFit/>
          </a:bodyPr>
          <a:lstStyle/>
          <a:p>
            <a:pPr algn="ctr">
              <a:lnSpc>
                <a:spcPts val="2074"/>
              </a:lnSpc>
            </a:pPr>
            <a:r>
              <a:rPr lang="en-US" sz="1600" b="true">
                <a:solidFill>
                  <a:srgbClr val="1B2CC1"/>
                </a:solidFill>
                <a:latin typeface="Arimo Bold"/>
                <a:ea typeface="Arimo Bold"/>
                <a:cs typeface="Arimo Bold"/>
                <a:sym typeface="Arimo Bold"/>
              </a:rPr>
              <a:t>개인 프로젝트</a:t>
            </a:r>
          </a:p>
        </p:txBody>
      </p:sp>
      <p:grpSp>
        <p:nvGrpSpPr>
          <p:cNvPr name="Group 102" id="102"/>
          <p:cNvGrpSpPr/>
          <p:nvPr/>
        </p:nvGrpSpPr>
        <p:grpSpPr>
          <a:xfrm rot="0">
            <a:off x="9779003" y="5715000"/>
            <a:ext cx="3519392" cy="412747"/>
            <a:chOff x="0" y="0"/>
            <a:chExt cx="4692523" cy="550329"/>
          </a:xfrm>
        </p:grpSpPr>
        <p:sp>
          <p:nvSpPr>
            <p:cNvPr name="Freeform 103" id="103"/>
            <p:cNvSpPr/>
            <p:nvPr/>
          </p:nvSpPr>
          <p:spPr>
            <a:xfrm flipH="false" flipV="false" rot="0">
              <a:off x="0" y="0"/>
              <a:ext cx="4692523" cy="550291"/>
            </a:xfrm>
            <a:custGeom>
              <a:avLst/>
              <a:gdLst/>
              <a:ahLst/>
              <a:cxnLst/>
              <a:rect r="r" b="b" t="t" l="l"/>
              <a:pathLst>
                <a:path h="550291" w="4692523">
                  <a:moveTo>
                    <a:pt x="0" y="159766"/>
                  </a:moveTo>
                  <a:cubicBezTo>
                    <a:pt x="0" y="71501"/>
                    <a:pt x="48743" y="0"/>
                    <a:pt x="108915" y="0"/>
                  </a:cubicBezTo>
                  <a:lnTo>
                    <a:pt x="4583607" y="0"/>
                  </a:lnTo>
                  <a:cubicBezTo>
                    <a:pt x="4643779" y="0"/>
                    <a:pt x="4692523" y="71501"/>
                    <a:pt x="4692523" y="159766"/>
                  </a:cubicBezTo>
                  <a:lnTo>
                    <a:pt x="4692523" y="390525"/>
                  </a:lnTo>
                  <a:cubicBezTo>
                    <a:pt x="4692523" y="478790"/>
                    <a:pt x="4643779" y="550291"/>
                    <a:pt x="4583607" y="550291"/>
                  </a:cubicBezTo>
                  <a:lnTo>
                    <a:pt x="108915" y="550291"/>
                  </a:lnTo>
                  <a:cubicBezTo>
                    <a:pt x="48743" y="550291"/>
                    <a:pt x="0" y="478790"/>
                    <a:pt x="0" y="390525"/>
                  </a:cubicBezTo>
                  <a:close/>
                </a:path>
              </a:pathLst>
            </a:custGeom>
            <a:solidFill>
              <a:srgbClr val="F6EEF2"/>
            </a:solidFill>
          </p:spPr>
        </p:sp>
      </p:grpSp>
      <p:sp>
        <p:nvSpPr>
          <p:cNvPr name="TextBox 104" id="104"/>
          <p:cNvSpPr txBox="true"/>
          <p:nvPr/>
        </p:nvSpPr>
        <p:spPr>
          <a:xfrm rot="0">
            <a:off x="10764581" y="5773968"/>
            <a:ext cx="1598122" cy="266237"/>
          </a:xfrm>
          <a:prstGeom prst="rect">
            <a:avLst/>
          </a:prstGeom>
        </p:spPr>
        <p:txBody>
          <a:bodyPr anchor="t" rtlCol="false" tIns="0" lIns="0" bIns="0" rIns="0">
            <a:spAutoFit/>
          </a:bodyPr>
          <a:lstStyle/>
          <a:p>
            <a:pPr algn="ctr">
              <a:lnSpc>
                <a:spcPts val="2074"/>
              </a:lnSpc>
            </a:pPr>
            <a:r>
              <a:rPr lang="en-US" sz="1600" b="true">
                <a:solidFill>
                  <a:srgbClr val="A14678"/>
                </a:solidFill>
                <a:latin typeface="Arimo Bold"/>
                <a:ea typeface="Arimo Bold"/>
                <a:cs typeface="Arimo Bold"/>
                <a:sym typeface="Arimo Bold"/>
              </a:rPr>
              <a:t>팀 </a:t>
            </a:r>
            <a:r>
              <a:rPr lang="en-US" sz="1600" b="true">
                <a:solidFill>
                  <a:srgbClr val="A14678"/>
                </a:solidFill>
                <a:latin typeface="Arimo Bold"/>
                <a:ea typeface="Arimo Bold"/>
                <a:cs typeface="Arimo Bold"/>
                <a:sym typeface="Arimo Bold"/>
              </a:rPr>
              <a:t>프로젝트</a:t>
            </a:r>
          </a:p>
        </p:txBody>
      </p:sp>
      <p:sp>
        <p:nvSpPr>
          <p:cNvPr name="TextBox 105" id="105"/>
          <p:cNvSpPr txBox="true"/>
          <p:nvPr/>
        </p:nvSpPr>
        <p:spPr>
          <a:xfrm rot="0">
            <a:off x="5334010" y="5729983"/>
            <a:ext cx="3174997" cy="344681"/>
          </a:xfrm>
          <a:prstGeom prst="rect">
            <a:avLst/>
          </a:prstGeom>
        </p:spPr>
        <p:txBody>
          <a:bodyPr anchor="t" rtlCol="false" tIns="0" lIns="0" bIns="0" rIns="0">
            <a:spAutoFit/>
          </a:bodyPr>
          <a:lstStyle/>
          <a:p>
            <a:pPr algn="r">
              <a:lnSpc>
                <a:spcPts val="2202"/>
              </a:lnSpc>
            </a:pPr>
            <a:r>
              <a:rPr lang="en-US" b="true" sz="1699" u="sng">
                <a:solidFill>
                  <a:srgbClr val="2734BF"/>
                </a:solidFill>
                <a:latin typeface="Arimo Bold"/>
                <a:ea typeface="Arimo Bold"/>
                <a:cs typeface="Arimo Bold"/>
                <a:sym typeface="Arimo Bold"/>
                <a:hlinkClick r:id="rId9" tooltip="https://github.com/kdm111/LARO-BOT"/>
              </a:rPr>
              <a:t>프로젝트 코드 ↗</a:t>
            </a:r>
          </a:p>
        </p:txBody>
      </p:sp>
      <p:sp>
        <p:nvSpPr>
          <p:cNvPr name="TextBox 106" id="106"/>
          <p:cNvSpPr txBox="true"/>
          <p:nvPr/>
        </p:nvSpPr>
        <p:spPr>
          <a:xfrm rot="0">
            <a:off x="13716010" y="5755521"/>
            <a:ext cx="3174997" cy="293605"/>
          </a:xfrm>
          <a:prstGeom prst="rect">
            <a:avLst/>
          </a:prstGeom>
        </p:spPr>
        <p:txBody>
          <a:bodyPr anchor="t" rtlCol="false" tIns="0" lIns="0" bIns="0" rIns="0">
            <a:spAutoFit/>
          </a:bodyPr>
          <a:lstStyle/>
          <a:p>
            <a:pPr algn="r">
              <a:lnSpc>
                <a:spcPts val="2202"/>
              </a:lnSpc>
            </a:pPr>
            <a:r>
              <a:rPr lang="en-US" b="true" sz="1699" u="sng">
                <a:solidFill>
                  <a:srgbClr val="A14678"/>
                </a:solidFill>
                <a:latin typeface="Arimo Bold"/>
                <a:ea typeface="Arimo Bold"/>
                <a:cs typeface="Arimo Bold"/>
                <a:sym typeface="Arimo Bold"/>
                <a:hlinkClick r:id="rId10" tooltip="https://github.com/ManticoreXL/vicpinky_carrier/tree/web"/>
              </a:rPr>
              <a:t>프로젝트 코드 ↗</a:t>
            </a:r>
          </a:p>
        </p:txBody>
      </p:sp>
      <p:sp>
        <p:nvSpPr>
          <p:cNvPr name="TextBox 107" id="107"/>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2</a:t>
            </a:r>
          </a:p>
        </p:txBody>
      </p:sp>
      <p:grpSp>
        <p:nvGrpSpPr>
          <p:cNvPr name="Group 108" id="108"/>
          <p:cNvGrpSpPr/>
          <p:nvPr/>
        </p:nvGrpSpPr>
        <p:grpSpPr>
          <a:xfrm rot="0">
            <a:off x="9774241" y="6873051"/>
            <a:ext cx="7048500" cy="381000"/>
            <a:chOff x="0" y="0"/>
            <a:chExt cx="9398000" cy="508000"/>
          </a:xfrm>
        </p:grpSpPr>
        <p:sp>
          <p:nvSpPr>
            <p:cNvPr name="Freeform 109" id="109"/>
            <p:cNvSpPr/>
            <p:nvPr/>
          </p:nvSpPr>
          <p:spPr>
            <a:xfrm flipH="false" flipV="false" rot="0">
              <a:off x="0" y="0"/>
              <a:ext cx="9398000" cy="508000"/>
            </a:xfrm>
            <a:custGeom>
              <a:avLst/>
              <a:gdLst/>
              <a:ahLst/>
              <a:cxnLst/>
              <a:rect r="r" b="b" t="t" l="l"/>
              <a:pathLst>
                <a:path h="508000" w="9398000">
                  <a:moveTo>
                    <a:pt x="0" y="0"/>
                  </a:moveTo>
                  <a:lnTo>
                    <a:pt x="9398000" y="0"/>
                  </a:lnTo>
                  <a:lnTo>
                    <a:pt x="9398000" y="508000"/>
                  </a:lnTo>
                  <a:lnTo>
                    <a:pt x="0" y="508000"/>
                  </a:lnTo>
                  <a:close/>
                </a:path>
              </a:pathLst>
            </a:custGeom>
            <a:blipFill>
              <a:blip r:embed="rId3">
                <a:alphaModFix amt="0"/>
              </a:blip>
              <a:stretch>
                <a:fillRect l="0" t="-310473" r="0" b="-310473"/>
              </a:stretch>
            </a:blipFill>
          </p:spPr>
        </p:sp>
        <p:sp>
          <p:nvSpPr>
            <p:cNvPr name="TextBox 110" id="110"/>
            <p:cNvSpPr txBox="true"/>
            <p:nvPr/>
          </p:nvSpPr>
          <p:spPr>
            <a:xfrm>
              <a:off x="0" y="-19050"/>
              <a:ext cx="9398000" cy="527050"/>
            </a:xfrm>
            <a:prstGeom prst="rect">
              <a:avLst/>
            </a:prstGeom>
          </p:spPr>
          <p:txBody>
            <a:bodyPr anchor="ctr" rtlCol="false" tIns="0" lIns="0" bIns="0" rIns="0"/>
            <a:lstStyle/>
            <a:p>
              <a:pPr algn="l">
                <a:lnSpc>
                  <a:spcPts val="1919"/>
                </a:lnSpc>
              </a:pPr>
              <a:r>
                <a:rPr lang="en-US" sz="1599">
                  <a:solidFill>
                    <a:srgbClr val="66645F"/>
                  </a:solidFill>
                  <a:latin typeface="Arimo"/>
                  <a:ea typeface="Arimo"/>
                  <a:cs typeface="Arimo"/>
                  <a:sym typeface="Arimo"/>
                </a:rPr>
                <a:t>기간 : 2026.06~2026.07</a:t>
              </a:r>
            </a:p>
          </p:txBody>
        </p:sp>
      </p:grpSp>
      <p:grpSp>
        <p:nvGrpSpPr>
          <p:cNvPr name="Group 111" id="111"/>
          <p:cNvGrpSpPr/>
          <p:nvPr/>
        </p:nvGrpSpPr>
        <p:grpSpPr>
          <a:xfrm rot="0">
            <a:off x="9779003" y="7296207"/>
            <a:ext cx="7048500" cy="797619"/>
            <a:chOff x="0" y="0"/>
            <a:chExt cx="9398000" cy="1063493"/>
          </a:xfrm>
        </p:grpSpPr>
        <p:sp>
          <p:nvSpPr>
            <p:cNvPr name="Freeform 112" id="112"/>
            <p:cNvSpPr/>
            <p:nvPr/>
          </p:nvSpPr>
          <p:spPr>
            <a:xfrm flipH="false" flipV="false" rot="0">
              <a:off x="0" y="0"/>
              <a:ext cx="9398000" cy="1063493"/>
            </a:xfrm>
            <a:custGeom>
              <a:avLst/>
              <a:gdLst/>
              <a:ahLst/>
              <a:cxnLst/>
              <a:rect r="r" b="b" t="t" l="l"/>
              <a:pathLst>
                <a:path h="1063493" w="9398000">
                  <a:moveTo>
                    <a:pt x="0" y="0"/>
                  </a:moveTo>
                  <a:lnTo>
                    <a:pt x="9398000" y="0"/>
                  </a:lnTo>
                  <a:lnTo>
                    <a:pt x="9398000" y="1063493"/>
                  </a:lnTo>
                  <a:lnTo>
                    <a:pt x="0" y="1063493"/>
                  </a:lnTo>
                  <a:close/>
                </a:path>
              </a:pathLst>
            </a:custGeom>
            <a:blipFill>
              <a:blip r:embed="rId3">
                <a:alphaModFix amt="0"/>
              </a:blip>
              <a:stretch>
                <a:fillRect l="0" t="-148304" r="0" b="-96071"/>
              </a:stretch>
            </a:blipFill>
          </p:spPr>
        </p:sp>
        <p:sp>
          <p:nvSpPr>
            <p:cNvPr name="TextBox 113" id="113"/>
            <p:cNvSpPr txBox="true"/>
            <p:nvPr/>
          </p:nvSpPr>
          <p:spPr>
            <a:xfrm>
              <a:off x="0" y="-19050"/>
              <a:ext cx="9398000" cy="1082543"/>
            </a:xfrm>
            <a:prstGeom prst="rect">
              <a:avLst/>
            </a:prstGeom>
          </p:spPr>
          <p:txBody>
            <a:bodyPr anchor="ctr" rtlCol="false" tIns="0" lIns="0" bIns="0" rIns="0"/>
            <a:lstStyle/>
            <a:p>
              <a:pPr algn="l">
                <a:lnSpc>
                  <a:spcPts val="1919"/>
                </a:lnSpc>
              </a:pPr>
              <a:r>
                <a:rPr lang="en-US" sz="1599">
                  <a:solidFill>
                    <a:srgbClr val="111111"/>
                  </a:solidFill>
                  <a:latin typeface="Arimo"/>
                  <a:ea typeface="Arimo"/>
                  <a:cs typeface="Arimo"/>
                  <a:sym typeface="Arimo"/>
                </a:rPr>
                <a:t>6대의 이기종 로봇을 연결해 작업을 배정하고</a:t>
              </a:r>
            </a:p>
            <a:p>
              <a:pPr algn="l">
                <a:lnSpc>
                  <a:spcPts val="1919"/>
                </a:lnSpc>
              </a:pPr>
              <a:r>
                <a:rPr lang="en-US" sz="1599">
                  <a:solidFill>
                    <a:srgbClr val="111111"/>
                  </a:solidFill>
                  <a:latin typeface="Arimo"/>
                  <a:ea typeface="Arimo"/>
                  <a:cs typeface="Arimo"/>
                  <a:sym typeface="Arimo"/>
                </a:rPr>
                <a:t>로봇 간 통행을 조율하고 운영상태를 관리하는</a:t>
              </a:r>
            </a:p>
            <a:p>
              <a:pPr algn="l">
                <a:lnSpc>
                  <a:spcPts val="1919"/>
                </a:lnSpc>
              </a:pPr>
              <a:r>
                <a:rPr lang="en-US" sz="1599">
                  <a:solidFill>
                    <a:srgbClr val="111111"/>
                  </a:solidFill>
                  <a:latin typeface="Arimo"/>
                  <a:ea typeface="Arimo"/>
                  <a:cs typeface="Arimo"/>
                  <a:sym typeface="Arimo"/>
                </a:rPr>
                <a:t>통합 관제 시스템</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sp>
        <p:nvSpPr>
          <p:cNvPr name="TextBox 2" id="2"/>
          <p:cNvSpPr txBox="true"/>
          <p:nvPr/>
        </p:nvSpPr>
        <p:spPr>
          <a:xfrm rot="0">
            <a:off x="762000" y="530228"/>
            <a:ext cx="12699997" cy="299085"/>
          </a:xfrm>
          <a:prstGeom prst="rect">
            <a:avLst/>
          </a:prstGeom>
        </p:spPr>
        <p:txBody>
          <a:bodyPr anchor="t" rtlCol="false" tIns="0" lIns="0" bIns="0" rIns="0">
            <a:spAutoFit/>
          </a:bodyPr>
          <a:lstStyle/>
          <a:p>
            <a:pPr algn="l">
              <a:lnSpc>
                <a:spcPts val="1944"/>
              </a:lnSpc>
            </a:pPr>
            <a:r>
              <a:rPr lang="en-US" sz="1500" b="true">
                <a:solidFill>
                  <a:srgbClr val="666666"/>
                </a:solidFill>
                <a:latin typeface="Arimo Bold"/>
                <a:ea typeface="Arimo Bold"/>
                <a:cs typeface="Arimo Bold"/>
                <a:sym typeface="Arimo Bold"/>
              </a:rPr>
              <a:t>PROJECT 01</a:t>
            </a:r>
          </a:p>
        </p:txBody>
      </p:sp>
      <p:grpSp>
        <p:nvGrpSpPr>
          <p:cNvPr name="Group 3" id="3"/>
          <p:cNvGrpSpPr/>
          <p:nvPr/>
        </p:nvGrpSpPr>
        <p:grpSpPr>
          <a:xfrm rot="0">
            <a:off x="730253" y="1457325"/>
            <a:ext cx="16795747" cy="8007353"/>
            <a:chOff x="0" y="0"/>
            <a:chExt cx="22394329" cy="10676471"/>
          </a:xfrm>
        </p:grpSpPr>
        <p:sp>
          <p:nvSpPr>
            <p:cNvPr name="Freeform 4" id="4"/>
            <p:cNvSpPr/>
            <p:nvPr/>
          </p:nvSpPr>
          <p:spPr>
            <a:xfrm flipH="false" flipV="false" rot="0">
              <a:off x="0" y="0"/>
              <a:ext cx="22394419" cy="10676509"/>
            </a:xfrm>
            <a:custGeom>
              <a:avLst/>
              <a:gdLst/>
              <a:ahLst/>
              <a:cxnLst/>
              <a:rect r="r" b="b" t="t" l="l"/>
              <a:pathLst>
                <a:path h="10676509" w="22394419">
                  <a:moveTo>
                    <a:pt x="0" y="153035"/>
                  </a:moveTo>
                  <a:cubicBezTo>
                    <a:pt x="0" y="68453"/>
                    <a:pt x="68453" y="0"/>
                    <a:pt x="153035" y="0"/>
                  </a:cubicBezTo>
                  <a:lnTo>
                    <a:pt x="22241383" y="0"/>
                  </a:lnTo>
                  <a:cubicBezTo>
                    <a:pt x="22325839" y="0"/>
                    <a:pt x="22394419" y="68453"/>
                    <a:pt x="22394419" y="153035"/>
                  </a:cubicBezTo>
                  <a:lnTo>
                    <a:pt x="22394419" y="10523474"/>
                  </a:lnTo>
                  <a:cubicBezTo>
                    <a:pt x="22394419" y="10607929"/>
                    <a:pt x="22325966" y="10676509"/>
                    <a:pt x="22241383" y="10676509"/>
                  </a:cubicBezTo>
                  <a:lnTo>
                    <a:pt x="153035" y="10676509"/>
                  </a:lnTo>
                  <a:cubicBezTo>
                    <a:pt x="68453" y="10676509"/>
                    <a:pt x="0" y="10607929"/>
                    <a:pt x="0" y="10523474"/>
                  </a:cubicBezTo>
                  <a:close/>
                </a:path>
              </a:pathLst>
            </a:custGeom>
            <a:solidFill>
              <a:srgbClr val="FFFFFF"/>
            </a:solidFill>
            <a:ln w="38100" cap="sq">
              <a:solidFill>
                <a:srgbClr val="111111"/>
              </a:solidFill>
              <a:prstDash val="solid"/>
              <a:miter/>
            </a:ln>
          </p:spPr>
        </p:sp>
      </p:grpSp>
      <p:grpSp>
        <p:nvGrpSpPr>
          <p:cNvPr name="Group 5" id="5"/>
          <p:cNvGrpSpPr/>
          <p:nvPr/>
        </p:nvGrpSpPr>
        <p:grpSpPr>
          <a:xfrm rot="0">
            <a:off x="1158878" y="2022472"/>
            <a:ext cx="2228850" cy="412747"/>
            <a:chOff x="0" y="0"/>
            <a:chExt cx="2971800" cy="550329"/>
          </a:xfrm>
        </p:grpSpPr>
        <p:sp>
          <p:nvSpPr>
            <p:cNvPr name="Freeform 6" id="6"/>
            <p:cNvSpPr/>
            <p:nvPr/>
          </p:nvSpPr>
          <p:spPr>
            <a:xfrm flipH="false" flipV="false" rot="0">
              <a:off x="0" y="0"/>
              <a:ext cx="2971800" cy="550291"/>
            </a:xfrm>
            <a:custGeom>
              <a:avLst/>
              <a:gdLst/>
              <a:ahLst/>
              <a:cxnLst/>
              <a:rect r="r" b="b" t="t" l="l"/>
              <a:pathLst>
                <a:path h="550291" w="2971800">
                  <a:moveTo>
                    <a:pt x="0" y="159766"/>
                  </a:moveTo>
                  <a:cubicBezTo>
                    <a:pt x="0" y="71501"/>
                    <a:pt x="71501" y="0"/>
                    <a:pt x="159766" y="0"/>
                  </a:cubicBezTo>
                  <a:lnTo>
                    <a:pt x="2812034" y="0"/>
                  </a:lnTo>
                  <a:cubicBezTo>
                    <a:pt x="2900299" y="0"/>
                    <a:pt x="2971800" y="71501"/>
                    <a:pt x="2971800" y="159766"/>
                  </a:cubicBezTo>
                  <a:lnTo>
                    <a:pt x="2971800" y="390525"/>
                  </a:lnTo>
                  <a:cubicBezTo>
                    <a:pt x="2971800" y="478790"/>
                    <a:pt x="2900299" y="550291"/>
                    <a:pt x="2812034" y="550291"/>
                  </a:cubicBezTo>
                  <a:lnTo>
                    <a:pt x="159766" y="550291"/>
                  </a:lnTo>
                  <a:cubicBezTo>
                    <a:pt x="71501" y="550291"/>
                    <a:pt x="0" y="478790"/>
                    <a:pt x="0" y="390525"/>
                  </a:cubicBezTo>
                  <a:close/>
                </a:path>
              </a:pathLst>
            </a:custGeom>
            <a:solidFill>
              <a:srgbClr val="E9EDFF"/>
            </a:solidFill>
          </p:spPr>
        </p:sp>
      </p:grpSp>
      <p:sp>
        <p:nvSpPr>
          <p:cNvPr name="TextBox 7" id="7"/>
          <p:cNvSpPr txBox="true"/>
          <p:nvPr/>
        </p:nvSpPr>
        <p:spPr>
          <a:xfrm rot="0">
            <a:off x="1257300" y="2079622"/>
            <a:ext cx="2031997" cy="317116"/>
          </a:xfrm>
          <a:prstGeom prst="rect">
            <a:avLst/>
          </a:prstGeom>
        </p:spPr>
        <p:txBody>
          <a:bodyPr anchor="t" rtlCol="false" tIns="0" lIns="0" bIns="0" rIns="0">
            <a:spAutoFit/>
          </a:bodyPr>
          <a:lstStyle/>
          <a:p>
            <a:pPr algn="ctr">
              <a:lnSpc>
                <a:spcPts val="2074"/>
              </a:lnSpc>
            </a:pPr>
            <a:r>
              <a:rPr lang="en-US" sz="1600" b="true">
                <a:solidFill>
                  <a:srgbClr val="2734BF"/>
                </a:solidFill>
                <a:latin typeface="Arimo Bold"/>
                <a:ea typeface="Arimo Bold"/>
                <a:cs typeface="Arimo Bold"/>
                <a:sym typeface="Arimo Bold"/>
              </a:rPr>
              <a:t>개인 프로젝트</a:t>
            </a:r>
          </a:p>
        </p:txBody>
      </p:sp>
      <p:sp>
        <p:nvSpPr>
          <p:cNvPr name="TextBox 8" id="8"/>
          <p:cNvSpPr txBox="true"/>
          <p:nvPr/>
        </p:nvSpPr>
        <p:spPr>
          <a:xfrm rot="0">
            <a:off x="1320839" y="2951823"/>
            <a:ext cx="8318497" cy="1095632"/>
          </a:xfrm>
          <a:prstGeom prst="rect">
            <a:avLst/>
          </a:prstGeom>
        </p:spPr>
        <p:txBody>
          <a:bodyPr anchor="t" rtlCol="false" tIns="0" lIns="0" bIns="0" rIns="0">
            <a:spAutoFit/>
          </a:bodyPr>
          <a:lstStyle/>
          <a:p>
            <a:pPr algn="l">
              <a:lnSpc>
                <a:spcPts val="7256"/>
              </a:lnSpc>
            </a:pPr>
            <a:r>
              <a:rPr lang="en-US" sz="5599" b="true">
                <a:solidFill>
                  <a:srgbClr val="111111"/>
                </a:solidFill>
                <a:latin typeface="Arimo Bold"/>
                <a:ea typeface="Arimo Bold"/>
                <a:cs typeface="Arimo Bold"/>
                <a:sym typeface="Arimo Bold"/>
              </a:rPr>
              <a:t>LARO-BOT</a:t>
            </a:r>
          </a:p>
        </p:txBody>
      </p:sp>
      <p:grpSp>
        <p:nvGrpSpPr>
          <p:cNvPr name="Group 9" id="9"/>
          <p:cNvGrpSpPr/>
          <p:nvPr/>
        </p:nvGrpSpPr>
        <p:grpSpPr>
          <a:xfrm rot="0">
            <a:off x="10452097" y="2324891"/>
            <a:ext cx="6477000" cy="3643312"/>
            <a:chOff x="0" y="0"/>
            <a:chExt cx="8636000" cy="4857750"/>
          </a:xfrm>
        </p:grpSpPr>
        <p:sp>
          <p:nvSpPr>
            <p:cNvPr name="Freeform 10" id="10" descr="실제 로봇 개발 환경"/>
            <p:cNvSpPr/>
            <p:nvPr/>
          </p:nvSpPr>
          <p:spPr>
            <a:xfrm flipH="false" flipV="false" rot="0">
              <a:off x="0" y="0"/>
              <a:ext cx="8636000" cy="4857750"/>
            </a:xfrm>
            <a:custGeom>
              <a:avLst/>
              <a:gdLst/>
              <a:ahLst/>
              <a:cxnLst/>
              <a:rect r="r" b="b" t="t" l="l"/>
              <a:pathLst>
                <a:path h="4857750" w="8636000">
                  <a:moveTo>
                    <a:pt x="0" y="0"/>
                  </a:moveTo>
                  <a:lnTo>
                    <a:pt x="8636000" y="0"/>
                  </a:lnTo>
                  <a:lnTo>
                    <a:pt x="8636000" y="4857750"/>
                  </a:lnTo>
                  <a:lnTo>
                    <a:pt x="0" y="4857750"/>
                  </a:lnTo>
                  <a:lnTo>
                    <a:pt x="0" y="0"/>
                  </a:lnTo>
                  <a:close/>
                </a:path>
              </a:pathLst>
            </a:custGeom>
            <a:blipFill>
              <a:blip r:embed="rId3"/>
              <a:stretch>
                <a:fillRect l="0" t="0" r="0" b="0"/>
              </a:stretch>
            </a:blipFill>
          </p:spPr>
        </p:sp>
      </p:grpSp>
      <p:sp>
        <p:nvSpPr>
          <p:cNvPr name="TextBox 11" id="11"/>
          <p:cNvSpPr txBox="true"/>
          <p:nvPr/>
        </p:nvSpPr>
        <p:spPr>
          <a:xfrm rot="0">
            <a:off x="10452097" y="6210300"/>
            <a:ext cx="6477000" cy="362712"/>
          </a:xfrm>
          <a:prstGeom prst="rect">
            <a:avLst/>
          </a:prstGeom>
        </p:spPr>
        <p:txBody>
          <a:bodyPr anchor="t" rtlCol="false" tIns="0" lIns="0" bIns="0" rIns="0">
            <a:spAutoFit/>
          </a:bodyPr>
          <a:lstStyle/>
          <a:p>
            <a:pPr algn="ctr">
              <a:lnSpc>
                <a:spcPts val="2332"/>
              </a:lnSpc>
            </a:pPr>
            <a:r>
              <a:rPr lang="en-US" sz="1800">
                <a:solidFill>
                  <a:srgbClr val="666666"/>
                </a:solidFill>
                <a:latin typeface="Arimo"/>
                <a:ea typeface="Arimo"/>
                <a:cs typeface="Arimo"/>
                <a:sym typeface="Arimo"/>
              </a:rPr>
              <a:t>실물 로봇 개발 환경</a:t>
            </a:r>
          </a:p>
        </p:txBody>
      </p:sp>
      <p:sp>
        <p:nvSpPr>
          <p:cNvPr name="TextBox 12" id="12"/>
          <p:cNvSpPr txBox="true"/>
          <p:nvPr/>
        </p:nvSpPr>
        <p:spPr>
          <a:xfrm rot="0">
            <a:off x="1673228" y="8305800"/>
            <a:ext cx="3429000" cy="470916"/>
          </a:xfrm>
          <a:prstGeom prst="rect">
            <a:avLst/>
          </a:prstGeom>
        </p:spPr>
        <p:txBody>
          <a:bodyPr anchor="t" rtlCol="false" tIns="0" lIns="0" bIns="0" rIns="0">
            <a:spAutoFit/>
          </a:bodyPr>
          <a:lstStyle/>
          <a:p>
            <a:pPr algn="ctr">
              <a:lnSpc>
                <a:spcPts val="3110"/>
              </a:lnSpc>
            </a:pPr>
            <a:r>
              <a:rPr lang="en-US" sz="2400" b="true">
                <a:solidFill>
                  <a:srgbClr val="111111"/>
                </a:solidFill>
                <a:latin typeface="Arimo Bold"/>
                <a:ea typeface="Arimo Bold"/>
                <a:cs typeface="Arimo Bold"/>
                <a:sym typeface="Arimo Bold"/>
              </a:rPr>
              <a:t>자연어 명령</a:t>
            </a:r>
          </a:p>
        </p:txBody>
      </p:sp>
      <p:sp>
        <p:nvSpPr>
          <p:cNvPr name="TextBox 13" id="13"/>
          <p:cNvSpPr txBox="true"/>
          <p:nvPr/>
        </p:nvSpPr>
        <p:spPr>
          <a:xfrm rot="0">
            <a:off x="7227710" y="8305800"/>
            <a:ext cx="3429000" cy="470916"/>
          </a:xfrm>
          <a:prstGeom prst="rect">
            <a:avLst/>
          </a:prstGeom>
        </p:spPr>
        <p:txBody>
          <a:bodyPr anchor="t" rtlCol="false" tIns="0" lIns="0" bIns="0" rIns="0">
            <a:spAutoFit/>
          </a:bodyPr>
          <a:lstStyle/>
          <a:p>
            <a:pPr algn="ctr">
              <a:lnSpc>
                <a:spcPts val="3110"/>
              </a:lnSpc>
            </a:pPr>
            <a:r>
              <a:rPr lang="en-US" sz="2400" b="true">
                <a:solidFill>
                  <a:srgbClr val="111111"/>
                </a:solidFill>
                <a:latin typeface="Arimo Bold"/>
                <a:ea typeface="Arimo Bold"/>
                <a:cs typeface="Arimo Bold"/>
                <a:sym typeface="Arimo Bold"/>
              </a:rPr>
              <a:t>로봇팔 동작</a:t>
            </a:r>
          </a:p>
        </p:txBody>
      </p:sp>
      <p:sp>
        <p:nvSpPr>
          <p:cNvPr name="TextBox 14" id="14"/>
          <p:cNvSpPr txBox="true"/>
          <p:nvPr/>
        </p:nvSpPr>
        <p:spPr>
          <a:xfrm rot="0">
            <a:off x="12458695" y="8305800"/>
            <a:ext cx="3429000" cy="470916"/>
          </a:xfrm>
          <a:prstGeom prst="rect">
            <a:avLst/>
          </a:prstGeom>
        </p:spPr>
        <p:txBody>
          <a:bodyPr anchor="t" rtlCol="false" tIns="0" lIns="0" bIns="0" rIns="0">
            <a:spAutoFit/>
          </a:bodyPr>
          <a:lstStyle/>
          <a:p>
            <a:pPr algn="ctr">
              <a:lnSpc>
                <a:spcPts val="3110"/>
              </a:lnSpc>
            </a:pPr>
            <a:r>
              <a:rPr lang="en-US" sz="2400" b="true">
                <a:solidFill>
                  <a:srgbClr val="111111"/>
                </a:solidFill>
                <a:latin typeface="Arimo Bold"/>
                <a:ea typeface="Arimo Bold"/>
                <a:cs typeface="Arimo Bold"/>
                <a:sym typeface="Arimo Bold"/>
              </a:rPr>
              <a:t>실패 복구</a:t>
            </a:r>
          </a:p>
        </p:txBody>
      </p:sp>
      <p:sp>
        <p:nvSpPr>
          <p:cNvPr name="TextBox 15" id="15"/>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3</a:t>
            </a:r>
          </a:p>
        </p:txBody>
      </p:sp>
      <p:sp>
        <p:nvSpPr>
          <p:cNvPr name="Freeform 16" id="16"/>
          <p:cNvSpPr/>
          <p:nvPr/>
        </p:nvSpPr>
        <p:spPr>
          <a:xfrm flipH="false" flipV="false" rot="0">
            <a:off x="2690003" y="6725412"/>
            <a:ext cx="1326449" cy="1326449"/>
          </a:xfrm>
          <a:custGeom>
            <a:avLst/>
            <a:gdLst/>
            <a:ahLst/>
            <a:cxnLst/>
            <a:rect r="r" b="b" t="t" l="l"/>
            <a:pathLst>
              <a:path h="1326449" w="1326449">
                <a:moveTo>
                  <a:pt x="0" y="0"/>
                </a:moveTo>
                <a:lnTo>
                  <a:pt x="1326449" y="0"/>
                </a:lnTo>
                <a:lnTo>
                  <a:pt x="1326449" y="1326449"/>
                </a:lnTo>
                <a:lnTo>
                  <a:pt x="0" y="13264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0">
            <a:off x="8125597" y="6725412"/>
            <a:ext cx="1326449" cy="1326449"/>
          </a:xfrm>
          <a:custGeom>
            <a:avLst/>
            <a:gdLst/>
            <a:ahLst/>
            <a:cxnLst/>
            <a:rect r="r" b="b" t="t" l="l"/>
            <a:pathLst>
              <a:path h="1326449" w="1326449">
                <a:moveTo>
                  <a:pt x="0" y="0"/>
                </a:moveTo>
                <a:lnTo>
                  <a:pt x="1326449" y="0"/>
                </a:lnTo>
                <a:lnTo>
                  <a:pt x="1326449" y="1326449"/>
                </a:lnTo>
                <a:lnTo>
                  <a:pt x="0" y="132644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8" id="18"/>
          <p:cNvSpPr/>
          <p:nvPr/>
        </p:nvSpPr>
        <p:spPr>
          <a:xfrm flipH="false" flipV="false" rot="0">
            <a:off x="13561200" y="6827870"/>
            <a:ext cx="1223991" cy="1223991"/>
          </a:xfrm>
          <a:custGeom>
            <a:avLst/>
            <a:gdLst/>
            <a:ahLst/>
            <a:cxnLst/>
            <a:rect r="r" b="b" t="t" l="l"/>
            <a:pathLst>
              <a:path h="1223991" w="1223991">
                <a:moveTo>
                  <a:pt x="0" y="0"/>
                </a:moveTo>
                <a:lnTo>
                  <a:pt x="1223991" y="0"/>
                </a:lnTo>
                <a:lnTo>
                  <a:pt x="1223991" y="1223991"/>
                </a:lnTo>
                <a:lnTo>
                  <a:pt x="0" y="122399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9" id="19"/>
          <p:cNvGrpSpPr/>
          <p:nvPr/>
        </p:nvGrpSpPr>
        <p:grpSpPr>
          <a:xfrm rot="0">
            <a:off x="1310946" y="6121093"/>
            <a:ext cx="917255" cy="94488"/>
            <a:chOff x="0" y="0"/>
            <a:chExt cx="1223007" cy="125984"/>
          </a:xfrm>
        </p:grpSpPr>
        <p:sp>
          <p:nvSpPr>
            <p:cNvPr name="Freeform 20" id="20"/>
            <p:cNvSpPr/>
            <p:nvPr/>
          </p:nvSpPr>
          <p:spPr>
            <a:xfrm flipH="false" flipV="false" rot="0">
              <a:off x="0" y="0"/>
              <a:ext cx="1223007" cy="125984"/>
            </a:xfrm>
            <a:custGeom>
              <a:avLst/>
              <a:gdLst/>
              <a:ahLst/>
              <a:cxnLst/>
              <a:rect r="r" b="b" t="t" l="l"/>
              <a:pathLst>
                <a:path h="125984" w="1223007">
                  <a:moveTo>
                    <a:pt x="0" y="0"/>
                  </a:moveTo>
                  <a:lnTo>
                    <a:pt x="1223007" y="0"/>
                  </a:lnTo>
                  <a:lnTo>
                    <a:pt x="1223007" y="125984"/>
                  </a:lnTo>
                  <a:lnTo>
                    <a:pt x="0" y="125984"/>
                  </a:lnTo>
                  <a:close/>
                </a:path>
              </a:pathLst>
            </a:custGeom>
            <a:solidFill>
              <a:srgbClr val="2734BF"/>
            </a:solidFill>
            <a:ln w="19050" cap="sq">
              <a:solidFill>
                <a:srgbClr val="2734BF"/>
              </a:solidFill>
              <a:prstDash val="solid"/>
              <a:miter/>
            </a:ln>
          </p:spPr>
        </p:sp>
      </p:grpSp>
      <p:grpSp>
        <p:nvGrpSpPr>
          <p:cNvPr name="Group 21" id="21"/>
          <p:cNvGrpSpPr/>
          <p:nvPr/>
        </p:nvGrpSpPr>
        <p:grpSpPr>
          <a:xfrm rot="0">
            <a:off x="1310946" y="5762983"/>
            <a:ext cx="15242741" cy="345621"/>
            <a:chOff x="0" y="0"/>
            <a:chExt cx="20323655" cy="460828"/>
          </a:xfrm>
        </p:grpSpPr>
        <p:sp>
          <p:nvSpPr>
            <p:cNvPr name="Freeform 22" id="22"/>
            <p:cNvSpPr/>
            <p:nvPr/>
          </p:nvSpPr>
          <p:spPr>
            <a:xfrm flipH="false" flipV="false" rot="0">
              <a:off x="0" y="0"/>
              <a:ext cx="20323656" cy="460828"/>
            </a:xfrm>
            <a:custGeom>
              <a:avLst/>
              <a:gdLst/>
              <a:ahLst/>
              <a:cxnLst/>
              <a:rect r="r" b="b" t="t" l="l"/>
              <a:pathLst>
                <a:path h="460828" w="20323656">
                  <a:moveTo>
                    <a:pt x="0" y="0"/>
                  </a:moveTo>
                  <a:lnTo>
                    <a:pt x="20323656" y="0"/>
                  </a:lnTo>
                  <a:lnTo>
                    <a:pt x="20323656" y="460828"/>
                  </a:lnTo>
                  <a:lnTo>
                    <a:pt x="0" y="460828"/>
                  </a:lnTo>
                  <a:close/>
                </a:path>
              </a:pathLst>
            </a:custGeom>
            <a:blipFill>
              <a:blip r:embed="rId10">
                <a:alphaModFix amt="0"/>
              </a:blip>
              <a:stretch>
                <a:fillRect l="0" t="-742070" r="3717" b="-812716"/>
              </a:stretch>
            </a:blipFill>
          </p:spPr>
        </p:sp>
        <p:sp>
          <p:nvSpPr>
            <p:cNvPr name="TextBox 23" id="23"/>
            <p:cNvSpPr txBox="true"/>
            <p:nvPr/>
          </p:nvSpPr>
          <p:spPr>
            <a:xfrm>
              <a:off x="0" y="-19050"/>
              <a:ext cx="20323655" cy="479878"/>
            </a:xfrm>
            <a:prstGeom prst="rect">
              <a:avLst/>
            </a:prstGeom>
          </p:spPr>
          <p:txBody>
            <a:bodyPr anchor="ctr" rtlCol="false" tIns="0" lIns="0" bIns="0" rIns="0"/>
            <a:lstStyle/>
            <a:p>
              <a:pPr algn="l">
                <a:lnSpc>
                  <a:spcPts val="2039"/>
                </a:lnSpc>
              </a:pPr>
              <a:r>
                <a:rPr lang="en-US" sz="1699" b="true">
                  <a:solidFill>
                    <a:srgbClr val="0000FF"/>
                  </a:solidFill>
                  <a:latin typeface="Arimo Bold"/>
                  <a:ea typeface="Arimo Bold"/>
                  <a:cs typeface="Arimo Bold"/>
                  <a:sym typeface="Arimo Bold"/>
                </a:rPr>
                <a:t>2026.07~08</a:t>
              </a:r>
            </a:p>
          </p:txBody>
        </p:sp>
      </p:grpSp>
      <p:grpSp>
        <p:nvGrpSpPr>
          <p:cNvPr name="Group 24" id="24"/>
          <p:cNvGrpSpPr/>
          <p:nvPr/>
        </p:nvGrpSpPr>
        <p:grpSpPr>
          <a:xfrm rot="0">
            <a:off x="1320839" y="4649785"/>
            <a:ext cx="15242741" cy="959625"/>
            <a:chOff x="0" y="0"/>
            <a:chExt cx="20323655" cy="1279500"/>
          </a:xfrm>
        </p:grpSpPr>
        <p:sp>
          <p:nvSpPr>
            <p:cNvPr name="Freeform 25" id="25"/>
            <p:cNvSpPr/>
            <p:nvPr/>
          </p:nvSpPr>
          <p:spPr>
            <a:xfrm flipH="false" flipV="false" rot="0">
              <a:off x="0" y="0"/>
              <a:ext cx="20323656" cy="1279500"/>
            </a:xfrm>
            <a:custGeom>
              <a:avLst/>
              <a:gdLst/>
              <a:ahLst/>
              <a:cxnLst/>
              <a:rect r="r" b="b" t="t" l="l"/>
              <a:pathLst>
                <a:path h="1279500" w="20323656">
                  <a:moveTo>
                    <a:pt x="0" y="0"/>
                  </a:moveTo>
                  <a:lnTo>
                    <a:pt x="20323656" y="0"/>
                  </a:lnTo>
                  <a:lnTo>
                    <a:pt x="20323656" y="1279500"/>
                  </a:lnTo>
                  <a:lnTo>
                    <a:pt x="0" y="1279500"/>
                  </a:lnTo>
                  <a:close/>
                </a:path>
              </a:pathLst>
            </a:custGeom>
            <a:blipFill>
              <a:blip r:embed="rId10">
                <a:alphaModFix amt="0"/>
              </a:blip>
              <a:stretch>
                <a:fillRect l="0" t="-267266" r="3717" b="-228726"/>
              </a:stretch>
            </a:blipFill>
          </p:spPr>
        </p:sp>
        <p:sp>
          <p:nvSpPr>
            <p:cNvPr name="TextBox 26" id="26"/>
            <p:cNvSpPr txBox="true"/>
            <p:nvPr/>
          </p:nvSpPr>
          <p:spPr>
            <a:xfrm>
              <a:off x="0" y="-19050"/>
              <a:ext cx="20323655" cy="1298550"/>
            </a:xfrm>
            <a:prstGeom prst="rect">
              <a:avLst/>
            </a:prstGeom>
          </p:spPr>
          <p:txBody>
            <a:bodyPr anchor="ctr" rtlCol="false" tIns="0" lIns="0" bIns="0" rIns="0"/>
            <a:lstStyle/>
            <a:p>
              <a:pPr algn="l">
                <a:lnSpc>
                  <a:spcPts val="3240"/>
                </a:lnSpc>
              </a:pPr>
              <a:r>
                <a:rPr lang="en-US" sz="2700">
                  <a:solidFill>
                    <a:srgbClr val="666666"/>
                  </a:solidFill>
                  <a:latin typeface="Arimo"/>
                  <a:ea typeface="Arimo"/>
                  <a:cs typeface="Arimo"/>
                  <a:sym typeface="Arimo"/>
                </a:rPr>
                <a:t>자연어 명령으로 물체를 집고 옮기는 로봇팔 시스템</a:t>
              </a:r>
            </a:p>
            <a:p>
              <a:pPr algn="l">
                <a:lnSpc>
                  <a:spcPts val="3240"/>
                </a:lnSpc>
              </a:pPr>
              <a:r>
                <a:rPr lang="en-US" sz="2700">
                  <a:solidFill>
                    <a:srgbClr val="666666"/>
                  </a:solidFill>
                  <a:latin typeface="Arimo"/>
                  <a:ea typeface="Arimo"/>
                  <a:cs typeface="Arimo"/>
                  <a:sym typeface="Arimo"/>
                </a:rPr>
                <a:t>개인 프로젝트 | </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grpSp>
        <p:nvGrpSpPr>
          <p:cNvPr name="Group 2" id="2"/>
          <p:cNvGrpSpPr/>
          <p:nvPr/>
        </p:nvGrpSpPr>
        <p:grpSpPr>
          <a:xfrm rot="0">
            <a:off x="762000" y="609600"/>
            <a:ext cx="6350003" cy="355601"/>
            <a:chOff x="0" y="0"/>
            <a:chExt cx="8466671" cy="474134"/>
          </a:xfrm>
        </p:grpSpPr>
        <p:sp>
          <p:nvSpPr>
            <p:cNvPr name="Freeform 3" id="3"/>
            <p:cNvSpPr/>
            <p:nvPr/>
          </p:nvSpPr>
          <p:spPr>
            <a:xfrm flipH="false" flipV="false" rot="0">
              <a:off x="0" y="0"/>
              <a:ext cx="8466666" cy="474139"/>
            </a:xfrm>
            <a:custGeom>
              <a:avLst/>
              <a:gdLst/>
              <a:ahLst/>
              <a:cxnLst/>
              <a:rect r="r" b="b" t="t" l="l"/>
              <a:pathLst>
                <a:path h="474139" w="8466666">
                  <a:moveTo>
                    <a:pt x="0" y="0"/>
                  </a:moveTo>
                  <a:lnTo>
                    <a:pt x="8466666" y="0"/>
                  </a:lnTo>
                  <a:lnTo>
                    <a:pt x="8466666" y="474139"/>
                  </a:lnTo>
                  <a:lnTo>
                    <a:pt x="0" y="474139"/>
                  </a:lnTo>
                  <a:close/>
                </a:path>
              </a:pathLst>
            </a:custGeom>
            <a:blipFill>
              <a:blip r:embed="rId3">
                <a:alphaModFix amt="0"/>
              </a:blip>
              <a:stretch>
                <a:fillRect l="0" t="-297944" r="0" b="-297942"/>
              </a:stretch>
            </a:blipFill>
          </p:spPr>
        </p:sp>
        <p:sp>
          <p:nvSpPr>
            <p:cNvPr name="TextBox 4" id="4"/>
            <p:cNvSpPr txBox="true"/>
            <p:nvPr/>
          </p:nvSpPr>
          <p:spPr>
            <a:xfrm>
              <a:off x="0" y="-19050"/>
              <a:ext cx="8466671" cy="493184"/>
            </a:xfrm>
            <a:prstGeom prst="rect">
              <a:avLst/>
            </a:prstGeom>
          </p:spPr>
          <p:txBody>
            <a:bodyPr anchor="ctr" rtlCol="false" tIns="0" lIns="0" bIns="0" rIns="0"/>
            <a:lstStyle/>
            <a:p>
              <a:pPr algn="l">
                <a:lnSpc>
                  <a:spcPts val="1800"/>
                </a:lnSpc>
              </a:pPr>
              <a:r>
                <a:rPr lang="en-US" sz="1500" b="true">
                  <a:solidFill>
                    <a:srgbClr val="66645F"/>
                  </a:solidFill>
                  <a:latin typeface="Arimo Bold"/>
                  <a:ea typeface="Arimo Bold"/>
                  <a:cs typeface="Arimo Bold"/>
                  <a:sym typeface="Arimo Bold"/>
                </a:rPr>
                <a:t>LARO-BOT</a:t>
              </a:r>
            </a:p>
          </p:txBody>
        </p:sp>
      </p:grpSp>
      <p:grpSp>
        <p:nvGrpSpPr>
          <p:cNvPr name="Group 5" id="5"/>
          <p:cNvGrpSpPr/>
          <p:nvPr/>
        </p:nvGrpSpPr>
        <p:grpSpPr>
          <a:xfrm rot="0">
            <a:off x="762000" y="1041397"/>
            <a:ext cx="16256003" cy="698497"/>
            <a:chOff x="0" y="0"/>
            <a:chExt cx="21674671" cy="931329"/>
          </a:xfrm>
        </p:grpSpPr>
        <p:sp>
          <p:nvSpPr>
            <p:cNvPr name="Freeform 6" id="6"/>
            <p:cNvSpPr/>
            <p:nvPr/>
          </p:nvSpPr>
          <p:spPr>
            <a:xfrm flipH="false" flipV="false" rot="0">
              <a:off x="0" y="0"/>
              <a:ext cx="21674666" cy="931334"/>
            </a:xfrm>
            <a:custGeom>
              <a:avLst/>
              <a:gdLst/>
              <a:ahLst/>
              <a:cxnLst/>
              <a:rect r="r" b="b" t="t" l="l"/>
              <a:pathLst>
                <a:path h="931334" w="21674666">
                  <a:moveTo>
                    <a:pt x="0" y="0"/>
                  </a:moveTo>
                  <a:lnTo>
                    <a:pt x="21674666" y="0"/>
                  </a:lnTo>
                  <a:lnTo>
                    <a:pt x="21674666" y="931334"/>
                  </a:lnTo>
                  <a:lnTo>
                    <a:pt x="0" y="931334"/>
                  </a:lnTo>
                  <a:close/>
                </a:path>
              </a:pathLst>
            </a:custGeom>
            <a:blipFill>
              <a:blip r:embed="rId3">
                <a:alphaModFix amt="0"/>
              </a:blip>
              <a:stretch>
                <a:fillRect l="0" t="-403469" r="0" b="-403469"/>
              </a:stretch>
            </a:blipFill>
          </p:spPr>
        </p:sp>
        <p:sp>
          <p:nvSpPr>
            <p:cNvPr name="TextBox 7" id="7"/>
            <p:cNvSpPr txBox="true"/>
            <p:nvPr/>
          </p:nvSpPr>
          <p:spPr>
            <a:xfrm>
              <a:off x="0" y="-19050"/>
              <a:ext cx="21674671" cy="950379"/>
            </a:xfrm>
            <a:prstGeom prst="rect">
              <a:avLst/>
            </a:prstGeom>
          </p:spPr>
          <p:txBody>
            <a:bodyPr anchor="ctr" rtlCol="false" tIns="0" lIns="0" bIns="0" rIns="0"/>
            <a:lstStyle/>
            <a:p>
              <a:pPr algn="l">
                <a:lnSpc>
                  <a:spcPts val="5040"/>
                </a:lnSpc>
              </a:pPr>
              <a:r>
                <a:rPr lang="en-US" sz="4200" b="true">
                  <a:solidFill>
                    <a:srgbClr val="111111"/>
                  </a:solidFill>
                  <a:latin typeface="Arimo Bold"/>
                  <a:ea typeface="Arimo Bold"/>
                  <a:cs typeface="Arimo Bold"/>
                  <a:sym typeface="Arimo Bold"/>
                </a:rPr>
                <a:t>자연어 명령에서 실제 로봇 행동까지</a:t>
              </a:r>
            </a:p>
          </p:txBody>
        </p:sp>
      </p:grpSp>
      <p:grpSp>
        <p:nvGrpSpPr>
          <p:cNvPr name="Group 8" id="8"/>
          <p:cNvGrpSpPr/>
          <p:nvPr/>
        </p:nvGrpSpPr>
        <p:grpSpPr>
          <a:xfrm rot="0">
            <a:off x="737235" y="2578732"/>
            <a:ext cx="2462527" cy="2843527"/>
            <a:chOff x="0" y="0"/>
            <a:chExt cx="3283369" cy="3791369"/>
          </a:xfrm>
        </p:grpSpPr>
        <p:sp>
          <p:nvSpPr>
            <p:cNvPr name="Freeform 9" id="9"/>
            <p:cNvSpPr/>
            <p:nvPr/>
          </p:nvSpPr>
          <p:spPr>
            <a:xfrm flipH="false" flipV="false" rot="0">
              <a:off x="0" y="0"/>
              <a:ext cx="3283458" cy="3791458"/>
            </a:xfrm>
            <a:custGeom>
              <a:avLst/>
              <a:gdLst/>
              <a:ahLst/>
              <a:cxnLst/>
              <a:rect r="r" b="b" t="t" l="l"/>
              <a:pathLst>
                <a:path h="3791458" w="3283458">
                  <a:moveTo>
                    <a:pt x="0" y="149352"/>
                  </a:moveTo>
                  <a:cubicBezTo>
                    <a:pt x="0" y="66802"/>
                    <a:pt x="66802" y="0"/>
                    <a:pt x="149352" y="0"/>
                  </a:cubicBezTo>
                  <a:lnTo>
                    <a:pt x="3134106" y="0"/>
                  </a:lnTo>
                  <a:cubicBezTo>
                    <a:pt x="3216529" y="0"/>
                    <a:pt x="3283458" y="66802"/>
                    <a:pt x="3283458" y="149352"/>
                  </a:cubicBezTo>
                  <a:lnTo>
                    <a:pt x="3283458" y="3642106"/>
                  </a:lnTo>
                  <a:cubicBezTo>
                    <a:pt x="3283458" y="3724529"/>
                    <a:pt x="3216656" y="3791458"/>
                    <a:pt x="3134106" y="3791458"/>
                  </a:cubicBezTo>
                  <a:lnTo>
                    <a:pt x="149352" y="3791458"/>
                  </a:lnTo>
                  <a:cubicBezTo>
                    <a:pt x="66802" y="3791331"/>
                    <a:pt x="0" y="3724529"/>
                    <a:pt x="0" y="3642106"/>
                  </a:cubicBezTo>
                  <a:close/>
                </a:path>
              </a:pathLst>
            </a:custGeom>
            <a:solidFill>
              <a:srgbClr val="FFFFFF"/>
            </a:solidFill>
            <a:ln w="19050" cap="sq">
              <a:solidFill>
                <a:srgbClr val="111111"/>
              </a:solidFill>
              <a:prstDash val="solid"/>
              <a:miter/>
            </a:ln>
          </p:spPr>
        </p:sp>
      </p:grpSp>
      <p:grpSp>
        <p:nvGrpSpPr>
          <p:cNvPr name="Group 10" id="10"/>
          <p:cNvGrpSpPr/>
          <p:nvPr/>
        </p:nvGrpSpPr>
        <p:grpSpPr>
          <a:xfrm rot="0">
            <a:off x="1079497" y="2793997"/>
            <a:ext cx="1841497" cy="381000"/>
            <a:chOff x="0" y="0"/>
            <a:chExt cx="2455329" cy="508000"/>
          </a:xfrm>
        </p:grpSpPr>
        <p:sp>
          <p:nvSpPr>
            <p:cNvPr name="Freeform 11" id="11"/>
            <p:cNvSpPr/>
            <p:nvPr/>
          </p:nvSpPr>
          <p:spPr>
            <a:xfrm flipH="false" flipV="false" rot="0">
              <a:off x="0" y="0"/>
              <a:ext cx="2455334" cy="508000"/>
            </a:xfrm>
            <a:custGeom>
              <a:avLst/>
              <a:gdLst/>
              <a:ahLst/>
              <a:cxnLst/>
              <a:rect r="r" b="b" t="t" l="l"/>
              <a:pathLst>
                <a:path h="508000" w="2455334">
                  <a:moveTo>
                    <a:pt x="0" y="0"/>
                  </a:moveTo>
                  <a:lnTo>
                    <a:pt x="2455334" y="0"/>
                  </a:lnTo>
                  <a:lnTo>
                    <a:pt x="2455334" y="508000"/>
                  </a:lnTo>
                  <a:lnTo>
                    <a:pt x="0" y="508000"/>
                  </a:lnTo>
                  <a:close/>
                </a:path>
              </a:pathLst>
            </a:custGeom>
            <a:blipFill>
              <a:blip r:embed="rId3">
                <a:alphaModFix amt="0"/>
              </a:blip>
              <a:stretch>
                <a:fillRect l="0" t="-44177" r="0" b="-44177"/>
              </a:stretch>
            </a:blipFill>
          </p:spPr>
        </p:sp>
        <p:sp>
          <p:nvSpPr>
            <p:cNvPr name="TextBox 12" id="12"/>
            <p:cNvSpPr txBox="true"/>
            <p:nvPr/>
          </p:nvSpPr>
          <p:spPr>
            <a:xfrm>
              <a:off x="0" y="-19050"/>
              <a:ext cx="2455329" cy="527050"/>
            </a:xfrm>
            <a:prstGeom prst="rect">
              <a:avLst/>
            </a:prstGeom>
          </p:spPr>
          <p:txBody>
            <a:bodyPr anchor="ctr" rtlCol="false" tIns="0" lIns="0" bIns="0" rIns="0"/>
            <a:lstStyle/>
            <a:p>
              <a:pPr algn="l">
                <a:lnSpc>
                  <a:spcPts val="1530"/>
                </a:lnSpc>
              </a:pPr>
              <a:r>
                <a:rPr lang="en-US" sz="1275" b="true">
                  <a:solidFill>
                    <a:srgbClr val="111111"/>
                  </a:solidFill>
                  <a:latin typeface="Arimo Bold"/>
                  <a:ea typeface="Arimo Bold"/>
                  <a:cs typeface="Arimo Bold"/>
                  <a:sym typeface="Arimo Bold"/>
                </a:rPr>
                <a:t>INPUT</a:t>
              </a:r>
            </a:p>
          </p:txBody>
        </p:sp>
      </p:grpSp>
      <p:grpSp>
        <p:nvGrpSpPr>
          <p:cNvPr name="Group 13" id="13"/>
          <p:cNvGrpSpPr/>
          <p:nvPr/>
        </p:nvGrpSpPr>
        <p:grpSpPr>
          <a:xfrm rot="0">
            <a:off x="1079497" y="3238500"/>
            <a:ext cx="1841497" cy="558803"/>
            <a:chOff x="0" y="0"/>
            <a:chExt cx="2455329" cy="745071"/>
          </a:xfrm>
        </p:grpSpPr>
        <p:sp>
          <p:nvSpPr>
            <p:cNvPr name="Freeform 14" id="14"/>
            <p:cNvSpPr/>
            <p:nvPr/>
          </p:nvSpPr>
          <p:spPr>
            <a:xfrm flipH="false" flipV="false" rot="0">
              <a:off x="0" y="0"/>
              <a:ext cx="2455334" cy="745066"/>
            </a:xfrm>
            <a:custGeom>
              <a:avLst/>
              <a:gdLst/>
              <a:ahLst/>
              <a:cxnLst/>
              <a:rect r="r" b="b" t="t" l="l"/>
              <a:pathLst>
                <a:path h="745066" w="2455334">
                  <a:moveTo>
                    <a:pt x="0" y="0"/>
                  </a:moveTo>
                  <a:lnTo>
                    <a:pt x="2455334" y="0"/>
                  </a:lnTo>
                  <a:lnTo>
                    <a:pt x="2455334" y="745066"/>
                  </a:lnTo>
                  <a:lnTo>
                    <a:pt x="0" y="745066"/>
                  </a:lnTo>
                  <a:close/>
                </a:path>
              </a:pathLst>
            </a:custGeom>
            <a:blipFill>
              <a:blip r:embed="rId3">
                <a:alphaModFix amt="0"/>
              </a:blip>
              <a:stretch>
                <a:fillRect l="0" t="-14211" r="0" b="-14212"/>
              </a:stretch>
            </a:blipFill>
          </p:spPr>
        </p:sp>
        <p:sp>
          <p:nvSpPr>
            <p:cNvPr name="TextBox 15" id="15"/>
            <p:cNvSpPr txBox="true"/>
            <p:nvPr/>
          </p:nvSpPr>
          <p:spPr>
            <a:xfrm>
              <a:off x="0" y="-19050"/>
              <a:ext cx="2455329" cy="764121"/>
            </a:xfrm>
            <a:prstGeom prst="rect">
              <a:avLst/>
            </a:prstGeom>
          </p:spPr>
          <p:txBody>
            <a:bodyPr anchor="ctr" rtlCol="false" tIns="0" lIns="0" bIns="0" rIns="0"/>
            <a:lstStyle/>
            <a:p>
              <a:pPr algn="l">
                <a:lnSpc>
                  <a:spcPts val="3150"/>
                </a:lnSpc>
              </a:pPr>
              <a:r>
                <a:rPr lang="en-US" sz="2625" b="true">
                  <a:solidFill>
                    <a:srgbClr val="111111"/>
                  </a:solidFill>
                  <a:latin typeface="Arimo Bold"/>
                  <a:ea typeface="Arimo Bold"/>
                  <a:cs typeface="Arimo Bold"/>
                  <a:sym typeface="Arimo Bold"/>
                </a:rPr>
                <a:t>사용자 명령</a:t>
              </a:r>
            </a:p>
          </p:txBody>
        </p:sp>
      </p:grpSp>
      <p:grpSp>
        <p:nvGrpSpPr>
          <p:cNvPr name="Group 16" id="16"/>
          <p:cNvGrpSpPr/>
          <p:nvPr/>
        </p:nvGrpSpPr>
        <p:grpSpPr>
          <a:xfrm rot="0">
            <a:off x="1079497" y="3911603"/>
            <a:ext cx="1841497" cy="330203"/>
            <a:chOff x="0" y="0"/>
            <a:chExt cx="2455329" cy="440271"/>
          </a:xfrm>
        </p:grpSpPr>
        <p:sp>
          <p:nvSpPr>
            <p:cNvPr name="Freeform 17" id="17"/>
            <p:cNvSpPr/>
            <p:nvPr/>
          </p:nvSpPr>
          <p:spPr>
            <a:xfrm flipH="false" flipV="false" rot="0">
              <a:off x="0" y="0"/>
              <a:ext cx="2455334" cy="440266"/>
            </a:xfrm>
            <a:custGeom>
              <a:avLst/>
              <a:gdLst/>
              <a:ahLst/>
              <a:cxnLst/>
              <a:rect r="r" b="b" t="t" l="l"/>
              <a:pathLst>
                <a:path h="440266" w="2455334">
                  <a:moveTo>
                    <a:pt x="0" y="0"/>
                  </a:moveTo>
                  <a:lnTo>
                    <a:pt x="2455334" y="0"/>
                  </a:lnTo>
                  <a:lnTo>
                    <a:pt x="2455334" y="440266"/>
                  </a:lnTo>
                  <a:lnTo>
                    <a:pt x="0" y="440266"/>
                  </a:lnTo>
                  <a:close/>
                </a:path>
              </a:pathLst>
            </a:custGeom>
            <a:blipFill>
              <a:blip r:embed="rId3">
                <a:alphaModFix amt="0"/>
              </a:blip>
              <a:stretch>
                <a:fillRect l="0" t="-58665" r="0" b="-58667"/>
              </a:stretch>
            </a:blipFill>
          </p:spPr>
        </p:sp>
        <p:sp>
          <p:nvSpPr>
            <p:cNvPr name="TextBox 18" id="18"/>
            <p:cNvSpPr txBox="true"/>
            <p:nvPr/>
          </p:nvSpPr>
          <p:spPr>
            <a:xfrm>
              <a:off x="0" y="-19050"/>
              <a:ext cx="2455329" cy="459321"/>
            </a:xfrm>
            <a:prstGeom prst="rect">
              <a:avLst/>
            </a:prstGeom>
          </p:spPr>
          <p:txBody>
            <a:bodyPr anchor="ctr" rtlCol="false" tIns="0" lIns="0" bIns="0" rIns="0"/>
            <a:lstStyle/>
            <a:p>
              <a:pPr algn="l">
                <a:lnSpc>
                  <a:spcPts val="1980"/>
                </a:lnSpc>
              </a:pPr>
              <a:r>
                <a:rPr lang="en-US" sz="1650">
                  <a:solidFill>
                    <a:srgbClr val="111111"/>
                  </a:solidFill>
                  <a:latin typeface="Arimo"/>
                  <a:ea typeface="Arimo"/>
                  <a:cs typeface="Arimo"/>
                  <a:sym typeface="Arimo"/>
                </a:rPr>
                <a:t>“빨간 블록을</a:t>
              </a:r>
            </a:p>
          </p:txBody>
        </p:sp>
      </p:grpSp>
      <p:grpSp>
        <p:nvGrpSpPr>
          <p:cNvPr name="Group 19" id="19"/>
          <p:cNvGrpSpPr/>
          <p:nvPr/>
        </p:nvGrpSpPr>
        <p:grpSpPr>
          <a:xfrm rot="0">
            <a:off x="1079497" y="4292603"/>
            <a:ext cx="1841497" cy="330203"/>
            <a:chOff x="0" y="0"/>
            <a:chExt cx="2455329" cy="440271"/>
          </a:xfrm>
        </p:grpSpPr>
        <p:sp>
          <p:nvSpPr>
            <p:cNvPr name="Freeform 20" id="20"/>
            <p:cNvSpPr/>
            <p:nvPr/>
          </p:nvSpPr>
          <p:spPr>
            <a:xfrm flipH="false" flipV="false" rot="0">
              <a:off x="0" y="0"/>
              <a:ext cx="2455334" cy="440266"/>
            </a:xfrm>
            <a:custGeom>
              <a:avLst/>
              <a:gdLst/>
              <a:ahLst/>
              <a:cxnLst/>
              <a:rect r="r" b="b" t="t" l="l"/>
              <a:pathLst>
                <a:path h="440266" w="2455334">
                  <a:moveTo>
                    <a:pt x="0" y="0"/>
                  </a:moveTo>
                  <a:lnTo>
                    <a:pt x="2455334" y="0"/>
                  </a:lnTo>
                  <a:lnTo>
                    <a:pt x="2455334" y="440266"/>
                  </a:lnTo>
                  <a:lnTo>
                    <a:pt x="0" y="440266"/>
                  </a:lnTo>
                  <a:close/>
                </a:path>
              </a:pathLst>
            </a:custGeom>
            <a:blipFill>
              <a:blip r:embed="rId3">
                <a:alphaModFix amt="0"/>
              </a:blip>
              <a:stretch>
                <a:fillRect l="0" t="-58665" r="0" b="-58667"/>
              </a:stretch>
            </a:blipFill>
          </p:spPr>
        </p:sp>
        <p:sp>
          <p:nvSpPr>
            <p:cNvPr name="TextBox 21" id="21"/>
            <p:cNvSpPr txBox="true"/>
            <p:nvPr/>
          </p:nvSpPr>
          <p:spPr>
            <a:xfrm>
              <a:off x="0" y="-19050"/>
              <a:ext cx="2455329" cy="459321"/>
            </a:xfrm>
            <a:prstGeom prst="rect">
              <a:avLst/>
            </a:prstGeom>
          </p:spPr>
          <p:txBody>
            <a:bodyPr anchor="ctr" rtlCol="false" tIns="0" lIns="0" bIns="0" rIns="0"/>
            <a:lstStyle/>
            <a:p>
              <a:pPr algn="l">
                <a:lnSpc>
                  <a:spcPts val="1980"/>
                </a:lnSpc>
              </a:pPr>
              <a:r>
                <a:rPr lang="en-US" sz="1650">
                  <a:solidFill>
                    <a:srgbClr val="111111"/>
                  </a:solidFill>
                  <a:latin typeface="Arimo"/>
                  <a:ea typeface="Arimo"/>
                  <a:cs typeface="Arimo"/>
                  <a:sym typeface="Arimo"/>
                </a:rPr>
                <a:t>선반으로 옮겨줘”</a:t>
              </a:r>
            </a:p>
          </p:txBody>
        </p:sp>
      </p:grpSp>
      <p:grpSp>
        <p:nvGrpSpPr>
          <p:cNvPr name="Group 22" id="22"/>
          <p:cNvGrpSpPr/>
          <p:nvPr/>
        </p:nvGrpSpPr>
        <p:grpSpPr>
          <a:xfrm rot="0">
            <a:off x="1079497" y="4673603"/>
            <a:ext cx="1841497" cy="330200"/>
            <a:chOff x="0" y="0"/>
            <a:chExt cx="2455329" cy="440266"/>
          </a:xfrm>
        </p:grpSpPr>
        <p:sp>
          <p:nvSpPr>
            <p:cNvPr name="Freeform 23" id="23"/>
            <p:cNvSpPr/>
            <p:nvPr/>
          </p:nvSpPr>
          <p:spPr>
            <a:xfrm flipH="false" flipV="false" rot="0">
              <a:off x="0" y="0"/>
              <a:ext cx="2455334" cy="440261"/>
            </a:xfrm>
            <a:custGeom>
              <a:avLst/>
              <a:gdLst/>
              <a:ahLst/>
              <a:cxnLst/>
              <a:rect r="r" b="b" t="t" l="l"/>
              <a:pathLst>
                <a:path h="440261" w="2455334">
                  <a:moveTo>
                    <a:pt x="0" y="0"/>
                  </a:moveTo>
                  <a:lnTo>
                    <a:pt x="2455334" y="0"/>
                  </a:lnTo>
                  <a:lnTo>
                    <a:pt x="2455334" y="440261"/>
                  </a:lnTo>
                  <a:lnTo>
                    <a:pt x="0" y="440261"/>
                  </a:lnTo>
                  <a:close/>
                </a:path>
              </a:pathLst>
            </a:custGeom>
            <a:blipFill>
              <a:blip r:embed="rId3">
                <a:alphaModFix amt="0"/>
              </a:blip>
              <a:stretch>
                <a:fillRect l="0" t="-58666" r="0" b="-58668"/>
              </a:stretch>
            </a:blipFill>
          </p:spPr>
        </p:sp>
        <p:sp>
          <p:nvSpPr>
            <p:cNvPr name="TextBox 24" id="24"/>
            <p:cNvSpPr txBox="true"/>
            <p:nvPr/>
          </p:nvSpPr>
          <p:spPr>
            <a:xfrm>
              <a:off x="0" y="-19050"/>
              <a:ext cx="2455329" cy="459316"/>
            </a:xfrm>
            <a:prstGeom prst="rect">
              <a:avLst/>
            </a:prstGeom>
          </p:spPr>
          <p:txBody>
            <a:bodyPr anchor="ctr" rtlCol="false" tIns="0" lIns="0" bIns="0" rIns="0"/>
            <a:lstStyle/>
            <a:p>
              <a:pPr algn="l">
                <a:lnSpc>
                  <a:spcPts val="1620"/>
                </a:lnSpc>
              </a:pPr>
              <a:r>
                <a:rPr lang="en-US" sz="1350">
                  <a:solidFill>
                    <a:srgbClr val="66645F"/>
                  </a:solidFill>
                  <a:latin typeface="Arimo"/>
                  <a:ea typeface="Arimo"/>
                  <a:cs typeface="Arimo"/>
                  <a:sym typeface="Arimo"/>
                </a:rPr>
                <a:t>한국어, 영어, 일본어 등</a:t>
              </a:r>
            </a:p>
          </p:txBody>
        </p:sp>
      </p:grpSp>
      <p:grpSp>
        <p:nvGrpSpPr>
          <p:cNvPr name="Group 25" id="25"/>
          <p:cNvGrpSpPr/>
          <p:nvPr/>
        </p:nvGrpSpPr>
        <p:grpSpPr>
          <a:xfrm rot="0">
            <a:off x="3594735" y="2578732"/>
            <a:ext cx="3034027" cy="2843527"/>
            <a:chOff x="0" y="0"/>
            <a:chExt cx="4045369" cy="3791369"/>
          </a:xfrm>
        </p:grpSpPr>
        <p:sp>
          <p:nvSpPr>
            <p:cNvPr name="Freeform 26" id="26"/>
            <p:cNvSpPr/>
            <p:nvPr/>
          </p:nvSpPr>
          <p:spPr>
            <a:xfrm flipH="false" flipV="false" rot="0">
              <a:off x="0" y="0"/>
              <a:ext cx="4045331" cy="3791331"/>
            </a:xfrm>
            <a:custGeom>
              <a:avLst/>
              <a:gdLst/>
              <a:ahLst/>
              <a:cxnLst/>
              <a:rect r="r" b="b" t="t" l="l"/>
              <a:pathLst>
                <a:path h="3791331" w="4045331">
                  <a:moveTo>
                    <a:pt x="0" y="148844"/>
                  </a:moveTo>
                  <a:cubicBezTo>
                    <a:pt x="0" y="66675"/>
                    <a:pt x="66675" y="0"/>
                    <a:pt x="148844" y="0"/>
                  </a:cubicBezTo>
                  <a:lnTo>
                    <a:pt x="3896487" y="0"/>
                  </a:lnTo>
                  <a:cubicBezTo>
                    <a:pt x="3978656" y="0"/>
                    <a:pt x="4045331" y="66675"/>
                    <a:pt x="4045331" y="148844"/>
                  </a:cubicBezTo>
                  <a:lnTo>
                    <a:pt x="4045331" y="3642487"/>
                  </a:lnTo>
                  <a:cubicBezTo>
                    <a:pt x="4045331" y="3724656"/>
                    <a:pt x="3978656" y="3791331"/>
                    <a:pt x="3896487" y="3791331"/>
                  </a:cubicBezTo>
                  <a:lnTo>
                    <a:pt x="148844" y="3791331"/>
                  </a:lnTo>
                  <a:cubicBezTo>
                    <a:pt x="66675" y="3791331"/>
                    <a:pt x="0" y="3724656"/>
                    <a:pt x="0" y="3642487"/>
                  </a:cubicBezTo>
                  <a:close/>
                </a:path>
              </a:pathLst>
            </a:custGeom>
            <a:solidFill>
              <a:srgbClr val="FFFFFF"/>
            </a:solidFill>
            <a:ln w="19050" cap="sq">
              <a:solidFill>
                <a:srgbClr val="111111"/>
              </a:solidFill>
              <a:prstDash val="solid"/>
              <a:miter/>
            </a:ln>
          </p:spPr>
        </p:sp>
      </p:grpSp>
      <p:grpSp>
        <p:nvGrpSpPr>
          <p:cNvPr name="Group 27" id="27"/>
          <p:cNvGrpSpPr/>
          <p:nvPr/>
        </p:nvGrpSpPr>
        <p:grpSpPr>
          <a:xfrm rot="0">
            <a:off x="3936997" y="2793997"/>
            <a:ext cx="2412997" cy="381000"/>
            <a:chOff x="0" y="0"/>
            <a:chExt cx="3217329" cy="508000"/>
          </a:xfrm>
        </p:grpSpPr>
        <p:sp>
          <p:nvSpPr>
            <p:cNvPr name="Freeform 28" id="28"/>
            <p:cNvSpPr/>
            <p:nvPr/>
          </p:nvSpPr>
          <p:spPr>
            <a:xfrm flipH="false" flipV="false" rot="0">
              <a:off x="0" y="0"/>
              <a:ext cx="3217334" cy="508000"/>
            </a:xfrm>
            <a:custGeom>
              <a:avLst/>
              <a:gdLst/>
              <a:ahLst/>
              <a:cxnLst/>
              <a:rect r="r" b="b" t="t" l="l"/>
              <a:pathLst>
                <a:path h="508000" w="3217334">
                  <a:moveTo>
                    <a:pt x="0" y="0"/>
                  </a:moveTo>
                  <a:lnTo>
                    <a:pt x="3217334" y="0"/>
                  </a:lnTo>
                  <a:lnTo>
                    <a:pt x="3217334" y="508000"/>
                  </a:lnTo>
                  <a:lnTo>
                    <a:pt x="0" y="508000"/>
                  </a:lnTo>
                  <a:close/>
                </a:path>
              </a:pathLst>
            </a:custGeom>
            <a:blipFill>
              <a:blip r:embed="rId3">
                <a:alphaModFix amt="0"/>
              </a:blip>
              <a:stretch>
                <a:fillRect l="0" t="-73405" r="0" b="-73405"/>
              </a:stretch>
            </a:blipFill>
          </p:spPr>
        </p:sp>
        <p:sp>
          <p:nvSpPr>
            <p:cNvPr name="TextBox 29" id="29"/>
            <p:cNvSpPr txBox="true"/>
            <p:nvPr/>
          </p:nvSpPr>
          <p:spPr>
            <a:xfrm>
              <a:off x="0" y="-19050"/>
              <a:ext cx="3217329" cy="527050"/>
            </a:xfrm>
            <a:prstGeom prst="rect">
              <a:avLst/>
            </a:prstGeom>
          </p:spPr>
          <p:txBody>
            <a:bodyPr anchor="ctr" rtlCol="false" tIns="0" lIns="0" bIns="0" rIns="0"/>
            <a:lstStyle/>
            <a:p>
              <a:pPr algn="l">
                <a:lnSpc>
                  <a:spcPts val="1530"/>
                </a:lnSpc>
              </a:pPr>
              <a:r>
                <a:rPr lang="en-US" sz="1275" b="true">
                  <a:solidFill>
                    <a:srgbClr val="1B2CC1"/>
                  </a:solidFill>
                  <a:latin typeface="Arimo Bold"/>
                  <a:ea typeface="Arimo Bold"/>
                  <a:cs typeface="Arimo Bold"/>
                  <a:sym typeface="Arimo Bold"/>
                </a:rPr>
                <a:t>arm_agent</a:t>
              </a:r>
            </a:p>
          </p:txBody>
        </p:sp>
      </p:grpSp>
      <p:grpSp>
        <p:nvGrpSpPr>
          <p:cNvPr name="Group 30" id="30"/>
          <p:cNvGrpSpPr/>
          <p:nvPr/>
        </p:nvGrpSpPr>
        <p:grpSpPr>
          <a:xfrm rot="0">
            <a:off x="3936997" y="3238500"/>
            <a:ext cx="2412997" cy="558800"/>
            <a:chOff x="0" y="0"/>
            <a:chExt cx="3217329" cy="745066"/>
          </a:xfrm>
        </p:grpSpPr>
        <p:sp>
          <p:nvSpPr>
            <p:cNvPr name="Freeform 31" id="31"/>
            <p:cNvSpPr/>
            <p:nvPr/>
          </p:nvSpPr>
          <p:spPr>
            <a:xfrm flipH="false" flipV="false" rot="0">
              <a:off x="0" y="0"/>
              <a:ext cx="3217334" cy="745061"/>
            </a:xfrm>
            <a:custGeom>
              <a:avLst/>
              <a:gdLst/>
              <a:ahLst/>
              <a:cxnLst/>
              <a:rect r="r" b="b" t="t" l="l"/>
              <a:pathLst>
                <a:path h="745061" w="3217334">
                  <a:moveTo>
                    <a:pt x="0" y="0"/>
                  </a:moveTo>
                  <a:lnTo>
                    <a:pt x="3217334" y="0"/>
                  </a:lnTo>
                  <a:lnTo>
                    <a:pt x="3217334" y="745061"/>
                  </a:lnTo>
                  <a:lnTo>
                    <a:pt x="0" y="745061"/>
                  </a:lnTo>
                  <a:close/>
                </a:path>
              </a:pathLst>
            </a:custGeom>
            <a:blipFill>
              <a:blip r:embed="rId3">
                <a:alphaModFix amt="0"/>
              </a:blip>
              <a:stretch>
                <a:fillRect l="0" t="-34139" r="0" b="-34141"/>
              </a:stretch>
            </a:blipFill>
          </p:spPr>
        </p:sp>
        <p:sp>
          <p:nvSpPr>
            <p:cNvPr name="TextBox 32" id="32"/>
            <p:cNvSpPr txBox="true"/>
            <p:nvPr/>
          </p:nvSpPr>
          <p:spPr>
            <a:xfrm>
              <a:off x="0" y="-19050"/>
              <a:ext cx="3217329" cy="764116"/>
            </a:xfrm>
            <a:prstGeom prst="rect">
              <a:avLst/>
            </a:prstGeom>
          </p:spPr>
          <p:txBody>
            <a:bodyPr anchor="ctr" rtlCol="false" tIns="0" lIns="0" bIns="0" rIns="0"/>
            <a:lstStyle/>
            <a:p>
              <a:pPr algn="l">
                <a:lnSpc>
                  <a:spcPts val="3150"/>
                </a:lnSpc>
              </a:pPr>
              <a:r>
                <a:rPr lang="en-US" sz="2625" b="true">
                  <a:solidFill>
                    <a:srgbClr val="111111"/>
                  </a:solidFill>
                  <a:latin typeface="Arimo Bold"/>
                  <a:ea typeface="Arimo Bold"/>
                  <a:cs typeface="Arimo Bold"/>
                  <a:sym typeface="Arimo Bold"/>
                </a:rPr>
                <a:t>계획 생성/검증</a:t>
              </a:r>
            </a:p>
          </p:txBody>
        </p:sp>
      </p:grpSp>
      <p:grpSp>
        <p:nvGrpSpPr>
          <p:cNvPr name="Group 33" id="33"/>
          <p:cNvGrpSpPr/>
          <p:nvPr/>
        </p:nvGrpSpPr>
        <p:grpSpPr>
          <a:xfrm rot="0">
            <a:off x="3936997" y="3911603"/>
            <a:ext cx="2412997" cy="331781"/>
            <a:chOff x="0" y="0"/>
            <a:chExt cx="3217329" cy="442375"/>
          </a:xfrm>
        </p:grpSpPr>
        <p:sp>
          <p:nvSpPr>
            <p:cNvPr name="Freeform 34" id="34"/>
            <p:cNvSpPr/>
            <p:nvPr/>
          </p:nvSpPr>
          <p:spPr>
            <a:xfrm flipH="false" flipV="false" rot="0">
              <a:off x="0" y="0"/>
              <a:ext cx="3217334" cy="442370"/>
            </a:xfrm>
            <a:custGeom>
              <a:avLst/>
              <a:gdLst/>
              <a:ahLst/>
              <a:cxnLst/>
              <a:rect r="r" b="b" t="t" l="l"/>
              <a:pathLst>
                <a:path h="442370" w="3217334">
                  <a:moveTo>
                    <a:pt x="0" y="0"/>
                  </a:moveTo>
                  <a:lnTo>
                    <a:pt x="3217334" y="0"/>
                  </a:lnTo>
                  <a:lnTo>
                    <a:pt x="3217334" y="442370"/>
                  </a:lnTo>
                  <a:lnTo>
                    <a:pt x="0" y="442370"/>
                  </a:lnTo>
                  <a:close/>
                </a:path>
              </a:pathLst>
            </a:custGeom>
            <a:blipFill>
              <a:blip r:embed="rId3">
                <a:alphaModFix amt="0"/>
              </a:blip>
              <a:stretch>
                <a:fillRect l="0" t="-91950" r="0" b="-91476"/>
              </a:stretch>
            </a:blipFill>
          </p:spPr>
        </p:sp>
        <p:sp>
          <p:nvSpPr>
            <p:cNvPr name="TextBox 35" id="35"/>
            <p:cNvSpPr txBox="true"/>
            <p:nvPr/>
          </p:nvSpPr>
          <p:spPr>
            <a:xfrm>
              <a:off x="0" y="-47625"/>
              <a:ext cx="3217329" cy="490000"/>
            </a:xfrm>
            <a:prstGeom prst="rect">
              <a:avLst/>
            </a:prstGeom>
          </p:spPr>
          <p:txBody>
            <a:bodyPr anchor="ctr" rtlCol="false" tIns="0" lIns="0" bIns="0" rIns="0"/>
            <a:lstStyle/>
            <a:p>
              <a:pPr algn="l">
                <a:lnSpc>
                  <a:spcPts val="2293"/>
                </a:lnSpc>
              </a:pPr>
              <a:r>
                <a:rPr lang="en-US" sz="1650">
                  <a:solidFill>
                    <a:srgbClr val="111111"/>
                  </a:solidFill>
                  <a:latin typeface="Arimo"/>
                  <a:ea typeface="Arimo"/>
                  <a:cs typeface="Arimo"/>
                  <a:sym typeface="Arimo"/>
                </a:rPr>
                <a:t>명령을 로봇 행동으로 변경</a:t>
              </a:r>
            </a:p>
          </p:txBody>
        </p:sp>
      </p:grpSp>
      <p:grpSp>
        <p:nvGrpSpPr>
          <p:cNvPr name="Group 36" id="36"/>
          <p:cNvGrpSpPr/>
          <p:nvPr/>
        </p:nvGrpSpPr>
        <p:grpSpPr>
          <a:xfrm rot="0">
            <a:off x="3936997" y="4225928"/>
            <a:ext cx="2412997" cy="333496"/>
            <a:chOff x="0" y="0"/>
            <a:chExt cx="3217329" cy="444661"/>
          </a:xfrm>
        </p:grpSpPr>
        <p:sp>
          <p:nvSpPr>
            <p:cNvPr name="Freeform 37" id="37"/>
            <p:cNvSpPr/>
            <p:nvPr/>
          </p:nvSpPr>
          <p:spPr>
            <a:xfrm flipH="false" flipV="false" rot="0">
              <a:off x="0" y="0"/>
              <a:ext cx="3217334" cy="444656"/>
            </a:xfrm>
            <a:custGeom>
              <a:avLst/>
              <a:gdLst/>
              <a:ahLst/>
              <a:cxnLst/>
              <a:rect r="r" b="b" t="t" l="l"/>
              <a:pathLst>
                <a:path h="444656" w="3217334">
                  <a:moveTo>
                    <a:pt x="0" y="0"/>
                  </a:moveTo>
                  <a:lnTo>
                    <a:pt x="3217334" y="0"/>
                  </a:lnTo>
                  <a:lnTo>
                    <a:pt x="3217334" y="444656"/>
                  </a:lnTo>
                  <a:lnTo>
                    <a:pt x="0" y="444656"/>
                  </a:lnTo>
                  <a:close/>
                </a:path>
              </a:pathLst>
            </a:custGeom>
            <a:blipFill>
              <a:blip r:embed="rId3">
                <a:alphaModFix amt="0"/>
              </a:blip>
              <a:stretch>
                <a:fillRect l="0" t="-91477" r="0" b="-90491"/>
              </a:stretch>
            </a:blipFill>
          </p:spPr>
        </p:sp>
        <p:sp>
          <p:nvSpPr>
            <p:cNvPr name="TextBox 38" id="38"/>
            <p:cNvSpPr txBox="true"/>
            <p:nvPr/>
          </p:nvSpPr>
          <p:spPr>
            <a:xfrm>
              <a:off x="0" y="-19050"/>
              <a:ext cx="3217329" cy="463711"/>
            </a:xfrm>
            <a:prstGeom prst="rect">
              <a:avLst/>
            </a:prstGeom>
          </p:spPr>
          <p:txBody>
            <a:bodyPr anchor="ctr" rtlCol="false" tIns="0" lIns="0" bIns="0" rIns="0"/>
            <a:lstStyle/>
            <a:p>
              <a:pPr algn="l">
                <a:lnSpc>
                  <a:spcPts val="1980"/>
                </a:lnSpc>
              </a:pPr>
              <a:r>
                <a:rPr lang="en-US" sz="1650" spc="-95">
                  <a:solidFill>
                    <a:srgbClr val="111111"/>
                  </a:solidFill>
                  <a:latin typeface="Arimo"/>
                  <a:ea typeface="Arimo"/>
                  <a:cs typeface="Arimo"/>
                  <a:sym typeface="Arimo"/>
                </a:rPr>
                <a:t>인식된 </a:t>
              </a:r>
              <a:r>
                <a:rPr lang="en-US" sz="1650" spc="-95">
                  <a:solidFill>
                    <a:srgbClr val="111111"/>
                  </a:solidFill>
                  <a:latin typeface="Arimo"/>
                  <a:ea typeface="Arimo"/>
                  <a:cs typeface="Arimo"/>
                  <a:sym typeface="Arimo"/>
                </a:rPr>
                <a:t>물체와 허용 행동 확인</a:t>
              </a:r>
            </a:p>
          </p:txBody>
        </p:sp>
      </p:grpSp>
      <p:grpSp>
        <p:nvGrpSpPr>
          <p:cNvPr name="Group 39" id="39"/>
          <p:cNvGrpSpPr/>
          <p:nvPr/>
        </p:nvGrpSpPr>
        <p:grpSpPr>
          <a:xfrm rot="0">
            <a:off x="3937002" y="4626099"/>
            <a:ext cx="2412997" cy="330200"/>
            <a:chOff x="0" y="0"/>
            <a:chExt cx="3217329" cy="440266"/>
          </a:xfrm>
        </p:grpSpPr>
        <p:sp>
          <p:nvSpPr>
            <p:cNvPr name="Freeform 40" id="40"/>
            <p:cNvSpPr/>
            <p:nvPr/>
          </p:nvSpPr>
          <p:spPr>
            <a:xfrm flipH="false" flipV="false" rot="0">
              <a:off x="0" y="0"/>
              <a:ext cx="3217334" cy="440261"/>
            </a:xfrm>
            <a:custGeom>
              <a:avLst/>
              <a:gdLst/>
              <a:ahLst/>
              <a:cxnLst/>
              <a:rect r="r" b="b" t="t" l="l"/>
              <a:pathLst>
                <a:path h="440261" w="3217334">
                  <a:moveTo>
                    <a:pt x="0" y="0"/>
                  </a:moveTo>
                  <a:lnTo>
                    <a:pt x="3217334" y="0"/>
                  </a:lnTo>
                  <a:lnTo>
                    <a:pt x="3217334" y="440261"/>
                  </a:lnTo>
                  <a:lnTo>
                    <a:pt x="0" y="440261"/>
                  </a:lnTo>
                  <a:close/>
                </a:path>
              </a:pathLst>
            </a:custGeom>
            <a:blipFill>
              <a:blip r:embed="rId3">
                <a:alphaModFix amt="0"/>
              </a:blip>
              <a:stretch>
                <a:fillRect l="0" t="-92391" r="0" b="-92393"/>
              </a:stretch>
            </a:blipFill>
          </p:spPr>
        </p:sp>
        <p:sp>
          <p:nvSpPr>
            <p:cNvPr name="TextBox 41" id="41"/>
            <p:cNvSpPr txBox="true"/>
            <p:nvPr/>
          </p:nvSpPr>
          <p:spPr>
            <a:xfrm>
              <a:off x="0" y="-19050"/>
              <a:ext cx="3217329" cy="459316"/>
            </a:xfrm>
            <a:prstGeom prst="rect">
              <a:avLst/>
            </a:prstGeom>
          </p:spPr>
          <p:txBody>
            <a:bodyPr anchor="ctr" rtlCol="false" tIns="0" lIns="0" bIns="0" rIns="0"/>
            <a:lstStyle/>
            <a:p>
              <a:pPr algn="l">
                <a:lnSpc>
                  <a:spcPts val="1620"/>
                </a:lnSpc>
              </a:pPr>
              <a:r>
                <a:rPr lang="en-US" sz="1350">
                  <a:solidFill>
                    <a:srgbClr val="66645F"/>
                  </a:solidFill>
                  <a:latin typeface="Arimo"/>
                  <a:ea typeface="Arimo"/>
                  <a:cs typeface="Arimo"/>
                  <a:sym typeface="Arimo"/>
                </a:rPr>
                <a:t>검증을 통과한 계획만 실행</a:t>
              </a:r>
            </a:p>
          </p:txBody>
        </p:sp>
      </p:grpSp>
      <p:grpSp>
        <p:nvGrpSpPr>
          <p:cNvPr name="Group 42" id="42"/>
          <p:cNvGrpSpPr/>
          <p:nvPr/>
        </p:nvGrpSpPr>
        <p:grpSpPr>
          <a:xfrm rot="0">
            <a:off x="7023735" y="2578732"/>
            <a:ext cx="3158490" cy="2843527"/>
            <a:chOff x="0" y="0"/>
            <a:chExt cx="4211320" cy="3791369"/>
          </a:xfrm>
        </p:grpSpPr>
        <p:sp>
          <p:nvSpPr>
            <p:cNvPr name="Freeform 43" id="43"/>
            <p:cNvSpPr/>
            <p:nvPr/>
          </p:nvSpPr>
          <p:spPr>
            <a:xfrm flipH="false" flipV="false" rot="0">
              <a:off x="0" y="0"/>
              <a:ext cx="4211409" cy="3791458"/>
            </a:xfrm>
            <a:custGeom>
              <a:avLst/>
              <a:gdLst/>
              <a:ahLst/>
              <a:cxnLst/>
              <a:rect r="r" b="b" t="t" l="l"/>
              <a:pathLst>
                <a:path h="3791458" w="4211409">
                  <a:moveTo>
                    <a:pt x="0" y="149352"/>
                  </a:moveTo>
                  <a:cubicBezTo>
                    <a:pt x="0" y="66802"/>
                    <a:pt x="85682" y="0"/>
                    <a:pt x="191562" y="0"/>
                  </a:cubicBezTo>
                  <a:lnTo>
                    <a:pt x="4019872" y="0"/>
                  </a:lnTo>
                  <a:cubicBezTo>
                    <a:pt x="4125590" y="0"/>
                    <a:pt x="4211409" y="66802"/>
                    <a:pt x="4211409" y="149352"/>
                  </a:cubicBezTo>
                  <a:lnTo>
                    <a:pt x="4211409" y="3642106"/>
                  </a:lnTo>
                  <a:cubicBezTo>
                    <a:pt x="4211409" y="3724529"/>
                    <a:pt x="4125752" y="3791458"/>
                    <a:pt x="4019872" y="3791458"/>
                  </a:cubicBezTo>
                  <a:lnTo>
                    <a:pt x="191562" y="3791458"/>
                  </a:lnTo>
                  <a:cubicBezTo>
                    <a:pt x="85682" y="3791331"/>
                    <a:pt x="0" y="3724529"/>
                    <a:pt x="0" y="3642106"/>
                  </a:cubicBezTo>
                  <a:close/>
                </a:path>
              </a:pathLst>
            </a:custGeom>
            <a:solidFill>
              <a:srgbClr val="FFFFFF"/>
            </a:solidFill>
            <a:ln w="19050" cap="sq">
              <a:solidFill>
                <a:srgbClr val="111111"/>
              </a:solidFill>
              <a:prstDash val="solid"/>
              <a:miter/>
            </a:ln>
          </p:spPr>
        </p:sp>
      </p:grpSp>
      <p:grpSp>
        <p:nvGrpSpPr>
          <p:cNvPr name="Group 44" id="44"/>
          <p:cNvGrpSpPr/>
          <p:nvPr/>
        </p:nvGrpSpPr>
        <p:grpSpPr>
          <a:xfrm rot="0">
            <a:off x="10477500" y="2578732"/>
            <a:ext cx="2437762" cy="2843527"/>
            <a:chOff x="0" y="0"/>
            <a:chExt cx="3250349" cy="3791369"/>
          </a:xfrm>
        </p:grpSpPr>
        <p:sp>
          <p:nvSpPr>
            <p:cNvPr name="Freeform 45" id="45"/>
            <p:cNvSpPr/>
            <p:nvPr/>
          </p:nvSpPr>
          <p:spPr>
            <a:xfrm flipH="false" flipV="false" rot="0">
              <a:off x="0" y="0"/>
              <a:ext cx="3250318" cy="3791331"/>
            </a:xfrm>
            <a:custGeom>
              <a:avLst/>
              <a:gdLst/>
              <a:ahLst/>
              <a:cxnLst/>
              <a:rect r="r" b="b" t="t" l="l"/>
              <a:pathLst>
                <a:path h="3791331" w="3250318">
                  <a:moveTo>
                    <a:pt x="0" y="148844"/>
                  </a:moveTo>
                  <a:cubicBezTo>
                    <a:pt x="0" y="66675"/>
                    <a:pt x="53572" y="0"/>
                    <a:pt x="119592" y="0"/>
                  </a:cubicBezTo>
                  <a:lnTo>
                    <a:pt x="3130726" y="0"/>
                  </a:lnTo>
                  <a:cubicBezTo>
                    <a:pt x="3196747" y="0"/>
                    <a:pt x="3250318" y="66675"/>
                    <a:pt x="3250318" y="148844"/>
                  </a:cubicBezTo>
                  <a:lnTo>
                    <a:pt x="3250318" y="3642487"/>
                  </a:lnTo>
                  <a:cubicBezTo>
                    <a:pt x="3250318" y="3724656"/>
                    <a:pt x="3196747" y="3791331"/>
                    <a:pt x="3130726" y="3791331"/>
                  </a:cubicBezTo>
                  <a:lnTo>
                    <a:pt x="119592" y="3791331"/>
                  </a:lnTo>
                  <a:cubicBezTo>
                    <a:pt x="53572" y="3791331"/>
                    <a:pt x="0" y="3724656"/>
                    <a:pt x="0" y="3642487"/>
                  </a:cubicBezTo>
                  <a:close/>
                </a:path>
              </a:pathLst>
            </a:custGeom>
            <a:solidFill>
              <a:srgbClr val="FFFFFF"/>
            </a:solidFill>
            <a:ln w="19050" cap="sq">
              <a:solidFill>
                <a:srgbClr val="111111"/>
              </a:solidFill>
              <a:prstDash val="solid"/>
              <a:miter/>
            </a:ln>
          </p:spPr>
        </p:sp>
      </p:grpSp>
      <p:grpSp>
        <p:nvGrpSpPr>
          <p:cNvPr name="Group 46" id="46"/>
          <p:cNvGrpSpPr/>
          <p:nvPr/>
        </p:nvGrpSpPr>
        <p:grpSpPr>
          <a:xfrm rot="0">
            <a:off x="10737209" y="2793997"/>
            <a:ext cx="1841497" cy="381000"/>
            <a:chOff x="0" y="0"/>
            <a:chExt cx="2455329" cy="508000"/>
          </a:xfrm>
        </p:grpSpPr>
        <p:sp>
          <p:nvSpPr>
            <p:cNvPr name="Freeform 47" id="47"/>
            <p:cNvSpPr/>
            <p:nvPr/>
          </p:nvSpPr>
          <p:spPr>
            <a:xfrm flipH="false" flipV="false" rot="0">
              <a:off x="0" y="0"/>
              <a:ext cx="2455334" cy="508000"/>
            </a:xfrm>
            <a:custGeom>
              <a:avLst/>
              <a:gdLst/>
              <a:ahLst/>
              <a:cxnLst/>
              <a:rect r="r" b="b" t="t" l="l"/>
              <a:pathLst>
                <a:path h="508000" w="2455334">
                  <a:moveTo>
                    <a:pt x="0" y="0"/>
                  </a:moveTo>
                  <a:lnTo>
                    <a:pt x="2455334" y="0"/>
                  </a:lnTo>
                  <a:lnTo>
                    <a:pt x="2455334" y="508000"/>
                  </a:lnTo>
                  <a:lnTo>
                    <a:pt x="0" y="508000"/>
                  </a:lnTo>
                  <a:close/>
                </a:path>
              </a:pathLst>
            </a:custGeom>
            <a:blipFill>
              <a:blip r:embed="rId3">
                <a:alphaModFix amt="0"/>
              </a:blip>
              <a:stretch>
                <a:fillRect l="0" t="-44177" r="0" b="-44177"/>
              </a:stretch>
            </a:blipFill>
          </p:spPr>
        </p:sp>
        <p:sp>
          <p:nvSpPr>
            <p:cNvPr name="TextBox 48" id="48"/>
            <p:cNvSpPr txBox="true"/>
            <p:nvPr/>
          </p:nvSpPr>
          <p:spPr>
            <a:xfrm>
              <a:off x="0" y="-19050"/>
              <a:ext cx="2455329" cy="527050"/>
            </a:xfrm>
            <a:prstGeom prst="rect">
              <a:avLst/>
            </a:prstGeom>
          </p:spPr>
          <p:txBody>
            <a:bodyPr anchor="ctr" rtlCol="false" tIns="0" lIns="0" bIns="0" rIns="0"/>
            <a:lstStyle/>
            <a:p>
              <a:pPr algn="l">
                <a:lnSpc>
                  <a:spcPts val="1530"/>
                </a:lnSpc>
              </a:pPr>
              <a:r>
                <a:rPr lang="en-US" sz="1275">
                  <a:solidFill>
                    <a:srgbClr val="1B2CC1"/>
                  </a:solidFill>
                  <a:latin typeface="Arimo"/>
                  <a:ea typeface="Arimo"/>
                  <a:cs typeface="Arimo"/>
                  <a:sym typeface="Arimo"/>
                </a:rPr>
                <a:t> </a:t>
              </a:r>
              <a:r>
                <a:rPr lang="en-US" sz="1275" b="true">
                  <a:solidFill>
                    <a:srgbClr val="1B2CC1"/>
                  </a:solidFill>
                  <a:latin typeface="Arimo Bold"/>
                  <a:ea typeface="Arimo Bold"/>
                  <a:cs typeface="Arimo Bold"/>
                  <a:sym typeface="Arimo Bold"/>
                </a:rPr>
                <a:t>ROBOT CONTROL</a:t>
              </a:r>
            </a:p>
          </p:txBody>
        </p:sp>
      </p:grpSp>
      <p:grpSp>
        <p:nvGrpSpPr>
          <p:cNvPr name="Group 49" id="49"/>
          <p:cNvGrpSpPr/>
          <p:nvPr/>
        </p:nvGrpSpPr>
        <p:grpSpPr>
          <a:xfrm rot="0">
            <a:off x="10737209" y="3238496"/>
            <a:ext cx="1841497" cy="558800"/>
            <a:chOff x="0" y="0"/>
            <a:chExt cx="2455329" cy="745066"/>
          </a:xfrm>
        </p:grpSpPr>
        <p:sp>
          <p:nvSpPr>
            <p:cNvPr name="Freeform 50" id="50"/>
            <p:cNvSpPr/>
            <p:nvPr/>
          </p:nvSpPr>
          <p:spPr>
            <a:xfrm flipH="false" flipV="false" rot="0">
              <a:off x="0" y="0"/>
              <a:ext cx="2455334" cy="745061"/>
            </a:xfrm>
            <a:custGeom>
              <a:avLst/>
              <a:gdLst/>
              <a:ahLst/>
              <a:cxnLst/>
              <a:rect r="r" b="b" t="t" l="l"/>
              <a:pathLst>
                <a:path h="745061" w="2455334">
                  <a:moveTo>
                    <a:pt x="0" y="0"/>
                  </a:moveTo>
                  <a:lnTo>
                    <a:pt x="2455334" y="0"/>
                  </a:lnTo>
                  <a:lnTo>
                    <a:pt x="2455334" y="745061"/>
                  </a:lnTo>
                  <a:lnTo>
                    <a:pt x="0" y="745061"/>
                  </a:lnTo>
                  <a:close/>
                </a:path>
              </a:pathLst>
            </a:custGeom>
            <a:blipFill>
              <a:blip r:embed="rId3">
                <a:alphaModFix amt="0"/>
              </a:blip>
              <a:stretch>
                <a:fillRect l="0" t="-14211" r="0" b="-14213"/>
              </a:stretch>
            </a:blipFill>
          </p:spPr>
        </p:sp>
        <p:sp>
          <p:nvSpPr>
            <p:cNvPr name="TextBox 51" id="51"/>
            <p:cNvSpPr txBox="true"/>
            <p:nvPr/>
          </p:nvSpPr>
          <p:spPr>
            <a:xfrm>
              <a:off x="0" y="-19050"/>
              <a:ext cx="2455329" cy="764116"/>
            </a:xfrm>
            <a:prstGeom prst="rect">
              <a:avLst/>
            </a:prstGeom>
          </p:spPr>
          <p:txBody>
            <a:bodyPr anchor="ctr" rtlCol="false" tIns="0" lIns="0" bIns="0" rIns="0"/>
            <a:lstStyle/>
            <a:p>
              <a:pPr algn="l">
                <a:lnSpc>
                  <a:spcPts val="3150"/>
                </a:lnSpc>
              </a:pPr>
              <a:r>
                <a:rPr lang="en-US" sz="2625" b="true">
                  <a:solidFill>
                    <a:srgbClr val="111111"/>
                  </a:solidFill>
                  <a:latin typeface="Arimo Bold"/>
                  <a:ea typeface="Arimo Bold"/>
                  <a:cs typeface="Arimo Bold"/>
                  <a:sym typeface="Arimo Bold"/>
                </a:rPr>
                <a:t>명령 </a:t>
              </a:r>
              <a:r>
                <a:rPr lang="en-US" sz="2625" b="true">
                  <a:solidFill>
                    <a:srgbClr val="111111"/>
                  </a:solidFill>
                  <a:latin typeface="Arimo Bold"/>
                  <a:ea typeface="Arimo Bold"/>
                  <a:cs typeface="Arimo Bold"/>
                  <a:sym typeface="Arimo Bold"/>
                </a:rPr>
                <a:t>실행</a:t>
              </a:r>
            </a:p>
          </p:txBody>
        </p:sp>
      </p:grpSp>
      <p:grpSp>
        <p:nvGrpSpPr>
          <p:cNvPr name="Group 52" id="52"/>
          <p:cNvGrpSpPr/>
          <p:nvPr/>
        </p:nvGrpSpPr>
        <p:grpSpPr>
          <a:xfrm rot="0">
            <a:off x="10775632" y="3911603"/>
            <a:ext cx="1841497" cy="333496"/>
            <a:chOff x="0" y="0"/>
            <a:chExt cx="2455329" cy="444661"/>
          </a:xfrm>
        </p:grpSpPr>
        <p:sp>
          <p:nvSpPr>
            <p:cNvPr name="Freeform 53" id="53"/>
            <p:cNvSpPr/>
            <p:nvPr/>
          </p:nvSpPr>
          <p:spPr>
            <a:xfrm flipH="false" flipV="false" rot="0">
              <a:off x="0" y="0"/>
              <a:ext cx="2455334" cy="444656"/>
            </a:xfrm>
            <a:custGeom>
              <a:avLst/>
              <a:gdLst/>
              <a:ahLst/>
              <a:cxnLst/>
              <a:rect r="r" b="b" t="t" l="l"/>
              <a:pathLst>
                <a:path h="444656" w="2455334">
                  <a:moveTo>
                    <a:pt x="0" y="0"/>
                  </a:moveTo>
                  <a:lnTo>
                    <a:pt x="2455334" y="0"/>
                  </a:lnTo>
                  <a:lnTo>
                    <a:pt x="2455334" y="444656"/>
                  </a:lnTo>
                  <a:lnTo>
                    <a:pt x="0" y="444656"/>
                  </a:lnTo>
                  <a:close/>
                </a:path>
              </a:pathLst>
            </a:custGeom>
            <a:blipFill>
              <a:blip r:embed="rId3">
                <a:alphaModFix amt="0"/>
              </a:blip>
              <a:stretch>
                <a:fillRect l="0" t="-58086" r="0" b="-57100"/>
              </a:stretch>
            </a:blipFill>
          </p:spPr>
        </p:sp>
        <p:sp>
          <p:nvSpPr>
            <p:cNvPr name="TextBox 54" id="54"/>
            <p:cNvSpPr txBox="true"/>
            <p:nvPr/>
          </p:nvSpPr>
          <p:spPr>
            <a:xfrm>
              <a:off x="0" y="-19050"/>
              <a:ext cx="2455329" cy="463711"/>
            </a:xfrm>
            <a:prstGeom prst="rect">
              <a:avLst/>
            </a:prstGeom>
          </p:spPr>
          <p:txBody>
            <a:bodyPr anchor="ctr" rtlCol="false" tIns="0" lIns="0" bIns="0" rIns="0"/>
            <a:lstStyle/>
            <a:p>
              <a:pPr algn="l">
                <a:lnSpc>
                  <a:spcPts val="1980"/>
                </a:lnSpc>
              </a:pPr>
              <a:r>
                <a:rPr lang="en-US" sz="1650" b="true">
                  <a:solidFill>
                    <a:srgbClr val="111111"/>
                  </a:solidFill>
                  <a:latin typeface="Arimo Bold"/>
                  <a:ea typeface="Arimo Bold"/>
                  <a:cs typeface="Arimo Bold"/>
                  <a:sym typeface="Arimo Bold"/>
                </a:rPr>
                <a:t>Move It 2 경로 계획</a:t>
              </a:r>
            </a:p>
          </p:txBody>
        </p:sp>
      </p:grpSp>
      <p:grpSp>
        <p:nvGrpSpPr>
          <p:cNvPr name="Group 55" id="55"/>
          <p:cNvGrpSpPr/>
          <p:nvPr/>
        </p:nvGrpSpPr>
        <p:grpSpPr>
          <a:xfrm rot="0">
            <a:off x="10775632" y="4292603"/>
            <a:ext cx="1841497" cy="333496"/>
            <a:chOff x="0" y="0"/>
            <a:chExt cx="2455329" cy="444661"/>
          </a:xfrm>
        </p:grpSpPr>
        <p:sp>
          <p:nvSpPr>
            <p:cNvPr name="Freeform 56" id="56"/>
            <p:cNvSpPr/>
            <p:nvPr/>
          </p:nvSpPr>
          <p:spPr>
            <a:xfrm flipH="false" flipV="false" rot="0">
              <a:off x="0" y="0"/>
              <a:ext cx="2455334" cy="444656"/>
            </a:xfrm>
            <a:custGeom>
              <a:avLst/>
              <a:gdLst/>
              <a:ahLst/>
              <a:cxnLst/>
              <a:rect r="r" b="b" t="t" l="l"/>
              <a:pathLst>
                <a:path h="444656" w="2455334">
                  <a:moveTo>
                    <a:pt x="0" y="0"/>
                  </a:moveTo>
                  <a:lnTo>
                    <a:pt x="2455334" y="0"/>
                  </a:lnTo>
                  <a:lnTo>
                    <a:pt x="2455334" y="444656"/>
                  </a:lnTo>
                  <a:lnTo>
                    <a:pt x="0" y="444656"/>
                  </a:lnTo>
                  <a:close/>
                </a:path>
              </a:pathLst>
            </a:custGeom>
            <a:blipFill>
              <a:blip r:embed="rId3">
                <a:alphaModFix amt="0"/>
              </a:blip>
              <a:stretch>
                <a:fillRect l="0" t="-58086" r="0" b="-57100"/>
              </a:stretch>
            </a:blipFill>
          </p:spPr>
        </p:sp>
        <p:sp>
          <p:nvSpPr>
            <p:cNvPr name="TextBox 57" id="57"/>
            <p:cNvSpPr txBox="true"/>
            <p:nvPr/>
          </p:nvSpPr>
          <p:spPr>
            <a:xfrm>
              <a:off x="0" y="-19050"/>
              <a:ext cx="2455329" cy="463711"/>
            </a:xfrm>
            <a:prstGeom prst="rect">
              <a:avLst/>
            </a:prstGeom>
          </p:spPr>
          <p:txBody>
            <a:bodyPr anchor="ctr" rtlCol="false" tIns="0" lIns="0" bIns="0" rIns="0"/>
            <a:lstStyle/>
            <a:p>
              <a:pPr algn="l">
                <a:lnSpc>
                  <a:spcPts val="1980"/>
                </a:lnSpc>
              </a:pPr>
              <a:r>
                <a:rPr lang="en-US" sz="1650" b="true">
                  <a:solidFill>
                    <a:srgbClr val="111111"/>
                  </a:solidFill>
                  <a:latin typeface="Arimo Bold"/>
                  <a:ea typeface="Arimo Bold"/>
                  <a:cs typeface="Arimo Bold"/>
                  <a:sym typeface="Arimo Bold"/>
                </a:rPr>
                <a:t>ros2_control 실행</a:t>
              </a:r>
            </a:p>
          </p:txBody>
        </p:sp>
      </p:grpSp>
      <p:grpSp>
        <p:nvGrpSpPr>
          <p:cNvPr name="Group 58" id="58"/>
          <p:cNvGrpSpPr/>
          <p:nvPr/>
        </p:nvGrpSpPr>
        <p:grpSpPr>
          <a:xfrm rot="0">
            <a:off x="10775632" y="4692774"/>
            <a:ext cx="1841497" cy="333496"/>
            <a:chOff x="0" y="0"/>
            <a:chExt cx="2455329" cy="444661"/>
          </a:xfrm>
        </p:grpSpPr>
        <p:sp>
          <p:nvSpPr>
            <p:cNvPr name="Freeform 59" id="59"/>
            <p:cNvSpPr/>
            <p:nvPr/>
          </p:nvSpPr>
          <p:spPr>
            <a:xfrm flipH="false" flipV="false" rot="0">
              <a:off x="0" y="0"/>
              <a:ext cx="2455334" cy="444656"/>
            </a:xfrm>
            <a:custGeom>
              <a:avLst/>
              <a:gdLst/>
              <a:ahLst/>
              <a:cxnLst/>
              <a:rect r="r" b="b" t="t" l="l"/>
              <a:pathLst>
                <a:path h="444656" w="2455334">
                  <a:moveTo>
                    <a:pt x="0" y="0"/>
                  </a:moveTo>
                  <a:lnTo>
                    <a:pt x="2455334" y="0"/>
                  </a:lnTo>
                  <a:lnTo>
                    <a:pt x="2455334" y="444656"/>
                  </a:lnTo>
                  <a:lnTo>
                    <a:pt x="0" y="444656"/>
                  </a:lnTo>
                  <a:close/>
                </a:path>
              </a:pathLst>
            </a:custGeom>
            <a:blipFill>
              <a:blip r:embed="rId3">
                <a:alphaModFix amt="0"/>
              </a:blip>
              <a:stretch>
                <a:fillRect l="0" t="-58086" r="0" b="-57100"/>
              </a:stretch>
            </a:blipFill>
          </p:spPr>
        </p:sp>
        <p:sp>
          <p:nvSpPr>
            <p:cNvPr name="TextBox 60" id="60"/>
            <p:cNvSpPr txBox="true"/>
            <p:nvPr/>
          </p:nvSpPr>
          <p:spPr>
            <a:xfrm>
              <a:off x="0" y="-19050"/>
              <a:ext cx="2455329" cy="463711"/>
            </a:xfrm>
            <a:prstGeom prst="rect">
              <a:avLst/>
            </a:prstGeom>
          </p:spPr>
          <p:txBody>
            <a:bodyPr anchor="ctr" rtlCol="false" tIns="0" lIns="0" bIns="0" rIns="0"/>
            <a:lstStyle/>
            <a:p>
              <a:pPr algn="l">
                <a:lnSpc>
                  <a:spcPts val="1980"/>
                </a:lnSpc>
              </a:pPr>
              <a:r>
                <a:rPr lang="en-US" sz="1650" b="true">
                  <a:solidFill>
                    <a:srgbClr val="111111"/>
                  </a:solidFill>
                  <a:latin typeface="Arimo Bold"/>
                  <a:ea typeface="Arimo Bold"/>
                  <a:cs typeface="Arimo Bold"/>
                  <a:sym typeface="Arimo Bold"/>
                </a:rPr>
                <a:t>실행 결과 반환</a:t>
              </a:r>
            </a:p>
          </p:txBody>
        </p:sp>
      </p:grpSp>
      <p:grpSp>
        <p:nvGrpSpPr>
          <p:cNvPr name="Group 61" id="61"/>
          <p:cNvGrpSpPr/>
          <p:nvPr/>
        </p:nvGrpSpPr>
        <p:grpSpPr>
          <a:xfrm rot="0">
            <a:off x="7398387" y="2793997"/>
            <a:ext cx="2412997" cy="381000"/>
            <a:chOff x="0" y="0"/>
            <a:chExt cx="3217329" cy="508000"/>
          </a:xfrm>
        </p:grpSpPr>
        <p:sp>
          <p:nvSpPr>
            <p:cNvPr name="Freeform 62" id="62"/>
            <p:cNvSpPr/>
            <p:nvPr/>
          </p:nvSpPr>
          <p:spPr>
            <a:xfrm flipH="false" flipV="false" rot="0">
              <a:off x="0" y="0"/>
              <a:ext cx="3217334" cy="508000"/>
            </a:xfrm>
            <a:custGeom>
              <a:avLst/>
              <a:gdLst/>
              <a:ahLst/>
              <a:cxnLst/>
              <a:rect r="r" b="b" t="t" l="l"/>
              <a:pathLst>
                <a:path h="508000" w="3217334">
                  <a:moveTo>
                    <a:pt x="0" y="0"/>
                  </a:moveTo>
                  <a:lnTo>
                    <a:pt x="3217334" y="0"/>
                  </a:lnTo>
                  <a:lnTo>
                    <a:pt x="3217334" y="508000"/>
                  </a:lnTo>
                  <a:lnTo>
                    <a:pt x="0" y="508000"/>
                  </a:lnTo>
                  <a:close/>
                </a:path>
              </a:pathLst>
            </a:custGeom>
            <a:blipFill>
              <a:blip r:embed="rId3">
                <a:alphaModFix amt="0"/>
              </a:blip>
              <a:stretch>
                <a:fillRect l="0" t="-73405" r="0" b="-73405"/>
              </a:stretch>
            </a:blipFill>
          </p:spPr>
        </p:sp>
        <p:sp>
          <p:nvSpPr>
            <p:cNvPr name="TextBox 63" id="63"/>
            <p:cNvSpPr txBox="true"/>
            <p:nvPr/>
          </p:nvSpPr>
          <p:spPr>
            <a:xfrm>
              <a:off x="0" y="-19050"/>
              <a:ext cx="3217329" cy="527050"/>
            </a:xfrm>
            <a:prstGeom prst="rect">
              <a:avLst/>
            </a:prstGeom>
          </p:spPr>
          <p:txBody>
            <a:bodyPr anchor="ctr" rtlCol="false" tIns="0" lIns="0" bIns="0" rIns="0"/>
            <a:lstStyle/>
            <a:p>
              <a:pPr algn="l">
                <a:lnSpc>
                  <a:spcPts val="1530"/>
                </a:lnSpc>
              </a:pPr>
              <a:r>
                <a:rPr lang="en-US" sz="1275" b="true">
                  <a:solidFill>
                    <a:srgbClr val="1B2CC1"/>
                  </a:solidFill>
                  <a:latin typeface="Arimo Bold"/>
                  <a:ea typeface="Arimo Bold"/>
                  <a:cs typeface="Arimo Bold"/>
                  <a:sym typeface="Arimo Bold"/>
                </a:rPr>
                <a:t>arm_skills</a:t>
              </a:r>
            </a:p>
          </p:txBody>
        </p:sp>
      </p:grpSp>
      <p:grpSp>
        <p:nvGrpSpPr>
          <p:cNvPr name="Group 64" id="64"/>
          <p:cNvGrpSpPr/>
          <p:nvPr/>
        </p:nvGrpSpPr>
        <p:grpSpPr>
          <a:xfrm rot="0">
            <a:off x="7398387" y="3238500"/>
            <a:ext cx="2412997" cy="558800"/>
            <a:chOff x="0" y="0"/>
            <a:chExt cx="3217329" cy="745066"/>
          </a:xfrm>
        </p:grpSpPr>
        <p:sp>
          <p:nvSpPr>
            <p:cNvPr name="Freeform 65" id="65"/>
            <p:cNvSpPr/>
            <p:nvPr/>
          </p:nvSpPr>
          <p:spPr>
            <a:xfrm flipH="false" flipV="false" rot="0">
              <a:off x="0" y="0"/>
              <a:ext cx="3217334" cy="745061"/>
            </a:xfrm>
            <a:custGeom>
              <a:avLst/>
              <a:gdLst/>
              <a:ahLst/>
              <a:cxnLst/>
              <a:rect r="r" b="b" t="t" l="l"/>
              <a:pathLst>
                <a:path h="745061" w="3217334">
                  <a:moveTo>
                    <a:pt x="0" y="0"/>
                  </a:moveTo>
                  <a:lnTo>
                    <a:pt x="3217334" y="0"/>
                  </a:lnTo>
                  <a:lnTo>
                    <a:pt x="3217334" y="745061"/>
                  </a:lnTo>
                  <a:lnTo>
                    <a:pt x="0" y="745061"/>
                  </a:lnTo>
                  <a:close/>
                </a:path>
              </a:pathLst>
            </a:custGeom>
            <a:blipFill>
              <a:blip r:embed="rId3">
                <a:alphaModFix amt="0"/>
              </a:blip>
              <a:stretch>
                <a:fillRect l="0" t="-34139" r="0" b="-34141"/>
              </a:stretch>
            </a:blipFill>
          </p:spPr>
        </p:sp>
        <p:sp>
          <p:nvSpPr>
            <p:cNvPr name="TextBox 66" id="66"/>
            <p:cNvSpPr txBox="true"/>
            <p:nvPr/>
          </p:nvSpPr>
          <p:spPr>
            <a:xfrm>
              <a:off x="0" y="-19050"/>
              <a:ext cx="3217329" cy="764116"/>
            </a:xfrm>
            <a:prstGeom prst="rect">
              <a:avLst/>
            </a:prstGeom>
          </p:spPr>
          <p:txBody>
            <a:bodyPr anchor="ctr" rtlCol="false" tIns="0" lIns="0" bIns="0" rIns="0"/>
            <a:lstStyle/>
            <a:p>
              <a:pPr algn="l">
                <a:lnSpc>
                  <a:spcPts val="3150"/>
                </a:lnSpc>
              </a:pPr>
              <a:r>
                <a:rPr lang="en-US" sz="2625" b="true">
                  <a:solidFill>
                    <a:srgbClr val="111111"/>
                  </a:solidFill>
                  <a:latin typeface="Arimo Bold"/>
                  <a:ea typeface="Arimo Bold"/>
                  <a:cs typeface="Arimo Bold"/>
                  <a:sym typeface="Arimo Bold"/>
                </a:rPr>
                <a:t>실행 명령 관리</a:t>
              </a:r>
            </a:p>
          </p:txBody>
        </p:sp>
      </p:grpSp>
      <p:grpSp>
        <p:nvGrpSpPr>
          <p:cNvPr name="Group 67" id="67"/>
          <p:cNvGrpSpPr/>
          <p:nvPr/>
        </p:nvGrpSpPr>
        <p:grpSpPr>
          <a:xfrm rot="0">
            <a:off x="7398387" y="3911603"/>
            <a:ext cx="2412997" cy="333496"/>
            <a:chOff x="0" y="0"/>
            <a:chExt cx="3217329" cy="444661"/>
          </a:xfrm>
        </p:grpSpPr>
        <p:sp>
          <p:nvSpPr>
            <p:cNvPr name="Freeform 68" id="68"/>
            <p:cNvSpPr/>
            <p:nvPr/>
          </p:nvSpPr>
          <p:spPr>
            <a:xfrm flipH="false" flipV="false" rot="0">
              <a:off x="0" y="0"/>
              <a:ext cx="3217334" cy="444656"/>
            </a:xfrm>
            <a:custGeom>
              <a:avLst/>
              <a:gdLst/>
              <a:ahLst/>
              <a:cxnLst/>
              <a:rect r="r" b="b" t="t" l="l"/>
              <a:pathLst>
                <a:path h="444656" w="3217334">
                  <a:moveTo>
                    <a:pt x="0" y="0"/>
                  </a:moveTo>
                  <a:lnTo>
                    <a:pt x="3217334" y="0"/>
                  </a:lnTo>
                  <a:lnTo>
                    <a:pt x="3217334" y="444656"/>
                  </a:lnTo>
                  <a:lnTo>
                    <a:pt x="0" y="444656"/>
                  </a:lnTo>
                  <a:close/>
                </a:path>
              </a:pathLst>
            </a:custGeom>
            <a:blipFill>
              <a:blip r:embed="rId3">
                <a:alphaModFix amt="0"/>
              </a:blip>
              <a:stretch>
                <a:fillRect l="0" t="-91477" r="0" b="-90491"/>
              </a:stretch>
            </a:blipFill>
          </p:spPr>
        </p:sp>
        <p:sp>
          <p:nvSpPr>
            <p:cNvPr name="TextBox 69" id="69"/>
            <p:cNvSpPr txBox="true"/>
            <p:nvPr/>
          </p:nvSpPr>
          <p:spPr>
            <a:xfrm>
              <a:off x="0" y="-19050"/>
              <a:ext cx="3217329" cy="463711"/>
            </a:xfrm>
            <a:prstGeom prst="rect">
              <a:avLst/>
            </a:prstGeom>
          </p:spPr>
          <p:txBody>
            <a:bodyPr anchor="ctr" rtlCol="false" tIns="0" lIns="0" bIns="0" rIns="0"/>
            <a:lstStyle/>
            <a:p>
              <a:pPr algn="l">
                <a:lnSpc>
                  <a:spcPts val="1980"/>
                </a:lnSpc>
              </a:pPr>
              <a:r>
                <a:rPr lang="en-US" sz="1650" spc="-103">
                  <a:solidFill>
                    <a:srgbClr val="111111"/>
                  </a:solidFill>
                  <a:latin typeface="Arimo"/>
                  <a:ea typeface="Arimo"/>
                  <a:cs typeface="Arimo"/>
                  <a:sym typeface="Arimo"/>
                </a:rPr>
                <a:t>Pick / Place / MoveTo</a:t>
              </a:r>
            </a:p>
          </p:txBody>
        </p:sp>
      </p:grpSp>
      <p:grpSp>
        <p:nvGrpSpPr>
          <p:cNvPr name="Group 70" id="70"/>
          <p:cNvGrpSpPr/>
          <p:nvPr/>
        </p:nvGrpSpPr>
        <p:grpSpPr>
          <a:xfrm rot="0">
            <a:off x="7394577" y="4234507"/>
            <a:ext cx="2412997" cy="333496"/>
            <a:chOff x="0" y="0"/>
            <a:chExt cx="3217329" cy="444661"/>
          </a:xfrm>
        </p:grpSpPr>
        <p:sp>
          <p:nvSpPr>
            <p:cNvPr name="Freeform 71" id="71"/>
            <p:cNvSpPr/>
            <p:nvPr/>
          </p:nvSpPr>
          <p:spPr>
            <a:xfrm flipH="false" flipV="false" rot="0">
              <a:off x="0" y="0"/>
              <a:ext cx="3217334" cy="444656"/>
            </a:xfrm>
            <a:custGeom>
              <a:avLst/>
              <a:gdLst/>
              <a:ahLst/>
              <a:cxnLst/>
              <a:rect r="r" b="b" t="t" l="l"/>
              <a:pathLst>
                <a:path h="444656" w="3217334">
                  <a:moveTo>
                    <a:pt x="0" y="0"/>
                  </a:moveTo>
                  <a:lnTo>
                    <a:pt x="3217334" y="0"/>
                  </a:lnTo>
                  <a:lnTo>
                    <a:pt x="3217334" y="444656"/>
                  </a:lnTo>
                  <a:lnTo>
                    <a:pt x="0" y="444656"/>
                  </a:lnTo>
                  <a:close/>
                </a:path>
              </a:pathLst>
            </a:custGeom>
            <a:blipFill>
              <a:blip r:embed="rId3">
                <a:alphaModFix amt="0"/>
              </a:blip>
              <a:stretch>
                <a:fillRect l="0" t="-91477" r="0" b="-90491"/>
              </a:stretch>
            </a:blipFill>
          </p:spPr>
        </p:sp>
        <p:sp>
          <p:nvSpPr>
            <p:cNvPr name="TextBox 72" id="72"/>
            <p:cNvSpPr txBox="true"/>
            <p:nvPr/>
          </p:nvSpPr>
          <p:spPr>
            <a:xfrm>
              <a:off x="0" y="-19050"/>
              <a:ext cx="3217329" cy="463711"/>
            </a:xfrm>
            <a:prstGeom prst="rect">
              <a:avLst/>
            </a:prstGeom>
          </p:spPr>
          <p:txBody>
            <a:bodyPr anchor="ctr" rtlCol="false" tIns="0" lIns="0" bIns="0" rIns="0"/>
            <a:lstStyle/>
            <a:p>
              <a:pPr algn="l">
                <a:lnSpc>
                  <a:spcPts val="1980"/>
                </a:lnSpc>
              </a:pPr>
              <a:r>
                <a:rPr lang="en-US" sz="1650">
                  <a:solidFill>
                    <a:srgbClr val="111111"/>
                  </a:solidFill>
                  <a:latin typeface="Arimo"/>
                  <a:ea typeface="Arimo"/>
                  <a:cs typeface="Arimo"/>
                  <a:sym typeface="Arimo"/>
                </a:rPr>
                <a:t>목표점 이동 요청</a:t>
              </a:r>
            </a:p>
          </p:txBody>
        </p:sp>
      </p:grpSp>
      <p:grpSp>
        <p:nvGrpSpPr>
          <p:cNvPr name="Group 73" id="73"/>
          <p:cNvGrpSpPr/>
          <p:nvPr/>
        </p:nvGrpSpPr>
        <p:grpSpPr>
          <a:xfrm rot="0">
            <a:off x="7398387" y="4919602"/>
            <a:ext cx="2412997" cy="333496"/>
            <a:chOff x="0" y="0"/>
            <a:chExt cx="3217329" cy="444661"/>
          </a:xfrm>
        </p:grpSpPr>
        <p:sp>
          <p:nvSpPr>
            <p:cNvPr name="Freeform 74" id="74"/>
            <p:cNvSpPr/>
            <p:nvPr/>
          </p:nvSpPr>
          <p:spPr>
            <a:xfrm flipH="false" flipV="false" rot="0">
              <a:off x="0" y="0"/>
              <a:ext cx="3217334" cy="444656"/>
            </a:xfrm>
            <a:custGeom>
              <a:avLst/>
              <a:gdLst/>
              <a:ahLst/>
              <a:cxnLst/>
              <a:rect r="r" b="b" t="t" l="l"/>
              <a:pathLst>
                <a:path h="444656" w="3217334">
                  <a:moveTo>
                    <a:pt x="0" y="0"/>
                  </a:moveTo>
                  <a:lnTo>
                    <a:pt x="3217334" y="0"/>
                  </a:lnTo>
                  <a:lnTo>
                    <a:pt x="3217334" y="444656"/>
                  </a:lnTo>
                  <a:lnTo>
                    <a:pt x="0" y="444656"/>
                  </a:lnTo>
                  <a:close/>
                </a:path>
              </a:pathLst>
            </a:custGeom>
            <a:blipFill>
              <a:blip r:embed="rId3">
                <a:alphaModFix amt="0"/>
              </a:blip>
              <a:stretch>
                <a:fillRect l="0" t="-91477" r="0" b="-90491"/>
              </a:stretch>
            </a:blipFill>
          </p:spPr>
        </p:sp>
        <p:sp>
          <p:nvSpPr>
            <p:cNvPr name="TextBox 75" id="75"/>
            <p:cNvSpPr txBox="true"/>
            <p:nvPr/>
          </p:nvSpPr>
          <p:spPr>
            <a:xfrm>
              <a:off x="0" y="-19050"/>
              <a:ext cx="3217329" cy="463711"/>
            </a:xfrm>
            <a:prstGeom prst="rect">
              <a:avLst/>
            </a:prstGeom>
          </p:spPr>
          <p:txBody>
            <a:bodyPr anchor="ctr" rtlCol="false" tIns="0" lIns="0" bIns="0" rIns="0"/>
            <a:lstStyle/>
            <a:p>
              <a:pPr algn="l">
                <a:lnSpc>
                  <a:spcPts val="1980"/>
                </a:lnSpc>
              </a:pPr>
              <a:r>
                <a:rPr lang="en-US" sz="1650">
                  <a:solidFill>
                    <a:srgbClr val="111111"/>
                  </a:solidFill>
                  <a:latin typeface="Arimo"/>
                  <a:ea typeface="Arimo"/>
                  <a:cs typeface="Arimo"/>
                  <a:sym typeface="Arimo"/>
                </a:rPr>
                <a:t>진행 상태와 실행 결과 반환</a:t>
              </a:r>
            </a:p>
          </p:txBody>
        </p:sp>
      </p:grpSp>
      <p:grpSp>
        <p:nvGrpSpPr>
          <p:cNvPr name="Group 76" id="76"/>
          <p:cNvGrpSpPr/>
          <p:nvPr/>
        </p:nvGrpSpPr>
        <p:grpSpPr>
          <a:xfrm rot="0">
            <a:off x="13322303" y="2229230"/>
            <a:ext cx="4371337" cy="3545843"/>
            <a:chOff x="0" y="0"/>
            <a:chExt cx="5828449" cy="4727791"/>
          </a:xfrm>
        </p:grpSpPr>
        <p:sp>
          <p:nvSpPr>
            <p:cNvPr name="Freeform 77" id="77"/>
            <p:cNvSpPr/>
            <p:nvPr/>
          </p:nvSpPr>
          <p:spPr>
            <a:xfrm flipH="false" flipV="false" rot="0">
              <a:off x="0" y="0"/>
              <a:ext cx="5828538" cy="4727829"/>
            </a:xfrm>
            <a:custGeom>
              <a:avLst/>
              <a:gdLst/>
              <a:ahLst/>
              <a:cxnLst/>
              <a:rect r="r" b="b" t="t" l="l"/>
              <a:pathLst>
                <a:path h="4727829" w="5828538">
                  <a:moveTo>
                    <a:pt x="0" y="148590"/>
                  </a:moveTo>
                  <a:cubicBezTo>
                    <a:pt x="0" y="66548"/>
                    <a:pt x="66548" y="0"/>
                    <a:pt x="148590" y="0"/>
                  </a:cubicBezTo>
                  <a:lnTo>
                    <a:pt x="5679948" y="0"/>
                  </a:lnTo>
                  <a:cubicBezTo>
                    <a:pt x="5761990" y="0"/>
                    <a:pt x="5828538" y="66548"/>
                    <a:pt x="5828538" y="148590"/>
                  </a:cubicBezTo>
                  <a:lnTo>
                    <a:pt x="5828538" y="4579239"/>
                  </a:lnTo>
                  <a:cubicBezTo>
                    <a:pt x="5828538" y="4661281"/>
                    <a:pt x="5761990" y="4727829"/>
                    <a:pt x="5679948" y="4727829"/>
                  </a:cubicBezTo>
                  <a:lnTo>
                    <a:pt x="148590" y="4727829"/>
                  </a:lnTo>
                  <a:cubicBezTo>
                    <a:pt x="66548" y="4727829"/>
                    <a:pt x="0" y="4661281"/>
                    <a:pt x="0" y="4579239"/>
                  </a:cubicBezTo>
                  <a:close/>
                </a:path>
              </a:pathLst>
            </a:custGeom>
            <a:solidFill>
              <a:srgbClr val="FFFFFF"/>
            </a:solidFill>
            <a:ln w="19050" cap="sq">
              <a:solidFill>
                <a:srgbClr val="111111"/>
              </a:solidFill>
              <a:prstDash val="solid"/>
              <a:miter/>
            </a:ln>
          </p:spPr>
        </p:sp>
      </p:grpSp>
      <p:grpSp>
        <p:nvGrpSpPr>
          <p:cNvPr name="Group 78" id="78"/>
          <p:cNvGrpSpPr/>
          <p:nvPr/>
        </p:nvGrpSpPr>
        <p:grpSpPr>
          <a:xfrm rot="0">
            <a:off x="13412476" y="2319393"/>
            <a:ext cx="4191000" cy="3365497"/>
            <a:chOff x="0" y="0"/>
            <a:chExt cx="5588000" cy="4487329"/>
          </a:xfrm>
        </p:grpSpPr>
        <p:sp>
          <p:nvSpPr>
            <p:cNvPr name="Freeform 79" id="79" descr="/Users/junsupark/Desktop/personal_project/portfolio_test/p3_media/larobot_cell.jpg"/>
            <p:cNvSpPr/>
            <p:nvPr/>
          </p:nvSpPr>
          <p:spPr>
            <a:xfrm flipH="false" flipV="false" rot="0">
              <a:off x="0" y="0"/>
              <a:ext cx="5588000" cy="4487291"/>
            </a:xfrm>
            <a:custGeom>
              <a:avLst/>
              <a:gdLst/>
              <a:ahLst/>
              <a:cxnLst/>
              <a:rect r="r" b="b" t="t" l="l"/>
              <a:pathLst>
                <a:path h="4487291" w="5588000">
                  <a:moveTo>
                    <a:pt x="0" y="0"/>
                  </a:moveTo>
                  <a:lnTo>
                    <a:pt x="5588000" y="0"/>
                  </a:lnTo>
                  <a:lnTo>
                    <a:pt x="5588000" y="4487291"/>
                  </a:lnTo>
                  <a:lnTo>
                    <a:pt x="0" y="4487291"/>
                  </a:lnTo>
                  <a:lnTo>
                    <a:pt x="0" y="0"/>
                  </a:lnTo>
                  <a:close/>
                </a:path>
              </a:pathLst>
            </a:custGeom>
            <a:blipFill>
              <a:blip r:embed="rId4"/>
              <a:stretch>
                <a:fillRect l="0" t="0" r="-42760" b="0"/>
              </a:stretch>
            </a:blipFill>
          </p:spPr>
        </p:sp>
      </p:grpSp>
      <p:grpSp>
        <p:nvGrpSpPr>
          <p:cNvPr name="Group 80" id="80"/>
          <p:cNvGrpSpPr/>
          <p:nvPr/>
        </p:nvGrpSpPr>
        <p:grpSpPr>
          <a:xfrm rot="0">
            <a:off x="13623617" y="2479737"/>
            <a:ext cx="1597028" cy="492128"/>
            <a:chOff x="0" y="0"/>
            <a:chExt cx="2129371" cy="656171"/>
          </a:xfrm>
        </p:grpSpPr>
        <p:sp>
          <p:nvSpPr>
            <p:cNvPr name="Freeform 81" id="81"/>
            <p:cNvSpPr/>
            <p:nvPr/>
          </p:nvSpPr>
          <p:spPr>
            <a:xfrm flipH="false" flipV="false" rot="0">
              <a:off x="0" y="0"/>
              <a:ext cx="2129409" cy="656209"/>
            </a:xfrm>
            <a:custGeom>
              <a:avLst/>
              <a:gdLst/>
              <a:ahLst/>
              <a:cxnLst/>
              <a:rect r="r" b="b" t="t" l="l"/>
              <a:pathLst>
                <a:path h="656209" w="2129409">
                  <a:moveTo>
                    <a:pt x="0" y="149225"/>
                  </a:moveTo>
                  <a:cubicBezTo>
                    <a:pt x="0" y="66802"/>
                    <a:pt x="66802" y="0"/>
                    <a:pt x="149225" y="0"/>
                  </a:cubicBezTo>
                  <a:lnTo>
                    <a:pt x="1980184" y="0"/>
                  </a:lnTo>
                  <a:cubicBezTo>
                    <a:pt x="2062607" y="0"/>
                    <a:pt x="2129409" y="66802"/>
                    <a:pt x="2129409" y="149225"/>
                  </a:cubicBezTo>
                  <a:lnTo>
                    <a:pt x="2129409" y="506984"/>
                  </a:lnTo>
                  <a:cubicBezTo>
                    <a:pt x="2129409" y="589407"/>
                    <a:pt x="2062607" y="656209"/>
                    <a:pt x="1980184" y="656209"/>
                  </a:cubicBezTo>
                  <a:lnTo>
                    <a:pt x="149225" y="656209"/>
                  </a:lnTo>
                  <a:cubicBezTo>
                    <a:pt x="66802" y="656209"/>
                    <a:pt x="0" y="589407"/>
                    <a:pt x="0" y="506984"/>
                  </a:cubicBezTo>
                  <a:close/>
                </a:path>
              </a:pathLst>
            </a:custGeom>
            <a:solidFill>
              <a:srgbClr val="111111"/>
            </a:solidFill>
            <a:ln w="9525" cap="sq">
              <a:solidFill>
                <a:srgbClr val="111111"/>
              </a:solidFill>
              <a:prstDash val="solid"/>
              <a:miter/>
            </a:ln>
          </p:spPr>
        </p:sp>
      </p:grpSp>
      <p:grpSp>
        <p:nvGrpSpPr>
          <p:cNvPr name="Group 82" id="82"/>
          <p:cNvGrpSpPr/>
          <p:nvPr/>
        </p:nvGrpSpPr>
        <p:grpSpPr>
          <a:xfrm rot="0">
            <a:off x="13628380" y="2484500"/>
            <a:ext cx="1587503" cy="482603"/>
            <a:chOff x="0" y="0"/>
            <a:chExt cx="2116671" cy="643471"/>
          </a:xfrm>
        </p:grpSpPr>
        <p:sp>
          <p:nvSpPr>
            <p:cNvPr name="Freeform 83" id="83"/>
            <p:cNvSpPr/>
            <p:nvPr/>
          </p:nvSpPr>
          <p:spPr>
            <a:xfrm flipH="false" flipV="false" rot="0">
              <a:off x="0" y="0"/>
              <a:ext cx="2116666" cy="643466"/>
            </a:xfrm>
            <a:custGeom>
              <a:avLst/>
              <a:gdLst/>
              <a:ahLst/>
              <a:cxnLst/>
              <a:rect r="r" b="b" t="t" l="l"/>
              <a:pathLst>
                <a:path h="643466" w="2116666">
                  <a:moveTo>
                    <a:pt x="0" y="0"/>
                  </a:moveTo>
                  <a:lnTo>
                    <a:pt x="2116666" y="0"/>
                  </a:lnTo>
                  <a:lnTo>
                    <a:pt x="2116666" y="643466"/>
                  </a:lnTo>
                  <a:lnTo>
                    <a:pt x="0" y="643466"/>
                  </a:lnTo>
                  <a:close/>
                </a:path>
              </a:pathLst>
            </a:custGeom>
            <a:blipFill>
              <a:blip r:embed="rId3">
                <a:alphaModFix amt="0"/>
              </a:blip>
              <a:stretch>
                <a:fillRect l="0" t="-14095" r="0" b="-14096"/>
              </a:stretch>
            </a:blipFill>
          </p:spPr>
        </p:sp>
        <p:sp>
          <p:nvSpPr>
            <p:cNvPr name="TextBox 84" id="84"/>
            <p:cNvSpPr txBox="true"/>
            <p:nvPr/>
          </p:nvSpPr>
          <p:spPr>
            <a:xfrm>
              <a:off x="0" y="-19050"/>
              <a:ext cx="2116671" cy="662521"/>
            </a:xfrm>
            <a:prstGeom prst="rect">
              <a:avLst/>
            </a:prstGeom>
          </p:spPr>
          <p:txBody>
            <a:bodyPr anchor="ctr" rtlCol="false" tIns="0" lIns="0" bIns="0" rIns="0"/>
            <a:lstStyle/>
            <a:p>
              <a:pPr algn="ctr">
                <a:lnSpc>
                  <a:spcPts val="1620"/>
                </a:lnSpc>
              </a:pPr>
              <a:r>
                <a:rPr lang="en-US" sz="1350" b="true">
                  <a:solidFill>
                    <a:srgbClr val="FFFFFF"/>
                  </a:solidFill>
                  <a:latin typeface="Arimo Bold"/>
                  <a:ea typeface="Arimo Bold"/>
                  <a:cs typeface="Arimo Bold"/>
                  <a:sym typeface="Arimo Bold"/>
                </a:rPr>
                <a:t>실제 로봇 셀</a:t>
              </a:r>
            </a:p>
          </p:txBody>
        </p:sp>
      </p:grpSp>
      <p:grpSp>
        <p:nvGrpSpPr>
          <p:cNvPr name="Group 85" id="85"/>
          <p:cNvGrpSpPr/>
          <p:nvPr/>
        </p:nvGrpSpPr>
        <p:grpSpPr>
          <a:xfrm rot="0">
            <a:off x="737235" y="7403459"/>
            <a:ext cx="7280910" cy="2175510"/>
            <a:chOff x="0" y="0"/>
            <a:chExt cx="9707880" cy="2900680"/>
          </a:xfrm>
        </p:grpSpPr>
        <p:sp>
          <p:nvSpPr>
            <p:cNvPr name="Freeform 86" id="86"/>
            <p:cNvSpPr/>
            <p:nvPr/>
          </p:nvSpPr>
          <p:spPr>
            <a:xfrm flipH="false" flipV="false" rot="0">
              <a:off x="0" y="0"/>
              <a:ext cx="9707880" cy="2900680"/>
            </a:xfrm>
            <a:custGeom>
              <a:avLst/>
              <a:gdLst/>
              <a:ahLst/>
              <a:cxnLst/>
              <a:rect r="r" b="b" t="t" l="l"/>
              <a:pathLst>
                <a:path h="2900680" w="9707880">
                  <a:moveTo>
                    <a:pt x="0" y="149225"/>
                  </a:moveTo>
                  <a:cubicBezTo>
                    <a:pt x="0" y="66802"/>
                    <a:pt x="66802" y="0"/>
                    <a:pt x="149225" y="0"/>
                  </a:cubicBezTo>
                  <a:lnTo>
                    <a:pt x="9558655" y="0"/>
                  </a:lnTo>
                  <a:cubicBezTo>
                    <a:pt x="9641078" y="0"/>
                    <a:pt x="9707880" y="66802"/>
                    <a:pt x="9707880" y="149225"/>
                  </a:cubicBezTo>
                  <a:lnTo>
                    <a:pt x="9707880" y="2751455"/>
                  </a:lnTo>
                  <a:cubicBezTo>
                    <a:pt x="9707880" y="2833878"/>
                    <a:pt x="9641078" y="2900680"/>
                    <a:pt x="9558655" y="2900680"/>
                  </a:cubicBezTo>
                  <a:lnTo>
                    <a:pt x="149225" y="2900680"/>
                  </a:lnTo>
                  <a:cubicBezTo>
                    <a:pt x="66802" y="2900680"/>
                    <a:pt x="0" y="2833878"/>
                    <a:pt x="0" y="2751455"/>
                  </a:cubicBezTo>
                  <a:close/>
                </a:path>
              </a:pathLst>
            </a:custGeom>
            <a:solidFill>
              <a:srgbClr val="FFFFFF"/>
            </a:solidFill>
            <a:ln w="19050" cap="sq">
              <a:solidFill>
                <a:srgbClr val="111111"/>
              </a:solidFill>
              <a:prstDash val="solid"/>
              <a:miter/>
            </a:ln>
          </p:spPr>
        </p:sp>
      </p:grpSp>
      <p:grpSp>
        <p:nvGrpSpPr>
          <p:cNvPr name="Group 87" id="87"/>
          <p:cNvGrpSpPr/>
          <p:nvPr/>
        </p:nvGrpSpPr>
        <p:grpSpPr>
          <a:xfrm rot="0">
            <a:off x="1012193" y="7691114"/>
            <a:ext cx="2412997" cy="1587503"/>
            <a:chOff x="0" y="0"/>
            <a:chExt cx="3217329" cy="2116671"/>
          </a:xfrm>
        </p:grpSpPr>
        <p:sp>
          <p:nvSpPr>
            <p:cNvPr name="Freeform 88" id="88" descr="/Users/junsupark/Desktop/personal_project/media/calibration_current.jpg"/>
            <p:cNvSpPr/>
            <p:nvPr/>
          </p:nvSpPr>
          <p:spPr>
            <a:xfrm flipH="false" flipV="false" rot="0">
              <a:off x="0" y="0"/>
              <a:ext cx="3217291" cy="2116709"/>
            </a:xfrm>
            <a:custGeom>
              <a:avLst/>
              <a:gdLst/>
              <a:ahLst/>
              <a:cxnLst/>
              <a:rect r="r" b="b" t="t" l="l"/>
              <a:pathLst>
                <a:path h="2116709" w="3217291">
                  <a:moveTo>
                    <a:pt x="0" y="0"/>
                  </a:moveTo>
                  <a:lnTo>
                    <a:pt x="3217291" y="0"/>
                  </a:lnTo>
                  <a:lnTo>
                    <a:pt x="3217291" y="2116709"/>
                  </a:lnTo>
                  <a:lnTo>
                    <a:pt x="0" y="2116709"/>
                  </a:lnTo>
                  <a:lnTo>
                    <a:pt x="0" y="0"/>
                  </a:lnTo>
                  <a:close/>
                </a:path>
              </a:pathLst>
            </a:custGeom>
            <a:blipFill>
              <a:blip r:embed="rId5"/>
              <a:stretch>
                <a:fillRect l="0" t="0" r="-1" b="-13997"/>
              </a:stretch>
            </a:blipFill>
          </p:spPr>
        </p:sp>
      </p:grpSp>
      <p:grpSp>
        <p:nvGrpSpPr>
          <p:cNvPr name="Group 89" id="89"/>
          <p:cNvGrpSpPr/>
          <p:nvPr/>
        </p:nvGrpSpPr>
        <p:grpSpPr>
          <a:xfrm rot="0">
            <a:off x="3704587" y="7665720"/>
            <a:ext cx="3555997" cy="342900"/>
            <a:chOff x="0" y="0"/>
            <a:chExt cx="4741329" cy="457200"/>
          </a:xfrm>
        </p:grpSpPr>
        <p:sp>
          <p:nvSpPr>
            <p:cNvPr name="Freeform 90" id="90"/>
            <p:cNvSpPr/>
            <p:nvPr/>
          </p:nvSpPr>
          <p:spPr>
            <a:xfrm flipH="false" flipV="false" rot="0">
              <a:off x="0" y="0"/>
              <a:ext cx="4741334" cy="457200"/>
            </a:xfrm>
            <a:custGeom>
              <a:avLst/>
              <a:gdLst/>
              <a:ahLst/>
              <a:cxnLst/>
              <a:rect r="r" b="b" t="t" l="l"/>
              <a:pathLst>
                <a:path h="457200" w="4741334">
                  <a:moveTo>
                    <a:pt x="0" y="0"/>
                  </a:moveTo>
                  <a:lnTo>
                    <a:pt x="4741334" y="0"/>
                  </a:lnTo>
                  <a:lnTo>
                    <a:pt x="4741334" y="457200"/>
                  </a:lnTo>
                  <a:lnTo>
                    <a:pt x="0" y="457200"/>
                  </a:lnTo>
                  <a:close/>
                </a:path>
              </a:pathLst>
            </a:custGeom>
            <a:blipFill>
              <a:blip r:embed="rId3">
                <a:alphaModFix amt="0"/>
              </a:blip>
              <a:stretch>
                <a:fillRect l="0" t="-152066" r="0" b="-152066"/>
              </a:stretch>
            </a:blipFill>
          </p:spPr>
        </p:sp>
        <p:sp>
          <p:nvSpPr>
            <p:cNvPr name="TextBox 91" id="91"/>
            <p:cNvSpPr txBox="true"/>
            <p:nvPr/>
          </p:nvSpPr>
          <p:spPr>
            <a:xfrm>
              <a:off x="0" y="-19050"/>
              <a:ext cx="4741329" cy="476250"/>
            </a:xfrm>
            <a:prstGeom prst="rect">
              <a:avLst/>
            </a:prstGeom>
          </p:spPr>
          <p:txBody>
            <a:bodyPr anchor="ctr" rtlCol="false" tIns="0" lIns="0" bIns="0" rIns="0"/>
            <a:lstStyle/>
            <a:p>
              <a:pPr algn="l">
                <a:lnSpc>
                  <a:spcPts val="1530"/>
                </a:lnSpc>
              </a:pPr>
              <a:r>
                <a:rPr lang="en-US" sz="1275" b="true">
                  <a:solidFill>
                    <a:srgbClr val="1B2CC1"/>
                  </a:solidFill>
                  <a:latin typeface="Arimo Bold"/>
                  <a:ea typeface="Arimo Bold"/>
                  <a:cs typeface="Arimo Bold"/>
                  <a:sym typeface="Arimo Bold"/>
                </a:rPr>
                <a:t>arm_perception</a:t>
              </a:r>
            </a:p>
          </p:txBody>
        </p:sp>
      </p:grpSp>
      <p:grpSp>
        <p:nvGrpSpPr>
          <p:cNvPr name="Group 92" id="92"/>
          <p:cNvGrpSpPr/>
          <p:nvPr/>
        </p:nvGrpSpPr>
        <p:grpSpPr>
          <a:xfrm rot="0">
            <a:off x="3704587" y="8034014"/>
            <a:ext cx="3555997" cy="469897"/>
            <a:chOff x="0" y="0"/>
            <a:chExt cx="4741329" cy="626529"/>
          </a:xfrm>
        </p:grpSpPr>
        <p:sp>
          <p:nvSpPr>
            <p:cNvPr name="Freeform 93" id="93"/>
            <p:cNvSpPr/>
            <p:nvPr/>
          </p:nvSpPr>
          <p:spPr>
            <a:xfrm flipH="false" flipV="false" rot="0">
              <a:off x="0" y="0"/>
              <a:ext cx="4741334" cy="626534"/>
            </a:xfrm>
            <a:custGeom>
              <a:avLst/>
              <a:gdLst/>
              <a:ahLst/>
              <a:cxnLst/>
              <a:rect r="r" b="b" t="t" l="l"/>
              <a:pathLst>
                <a:path h="626534" w="4741334">
                  <a:moveTo>
                    <a:pt x="0" y="0"/>
                  </a:moveTo>
                  <a:lnTo>
                    <a:pt x="4741334" y="0"/>
                  </a:lnTo>
                  <a:lnTo>
                    <a:pt x="4741334" y="626534"/>
                  </a:lnTo>
                  <a:lnTo>
                    <a:pt x="0" y="626534"/>
                  </a:lnTo>
                  <a:close/>
                </a:path>
              </a:pathLst>
            </a:custGeom>
            <a:blipFill>
              <a:blip r:embed="rId3">
                <a:alphaModFix amt="0"/>
              </a:blip>
              <a:stretch>
                <a:fillRect l="0" t="-97454" r="0" b="-97453"/>
              </a:stretch>
            </a:blipFill>
          </p:spPr>
        </p:sp>
        <p:sp>
          <p:nvSpPr>
            <p:cNvPr name="TextBox 94" id="94"/>
            <p:cNvSpPr txBox="true"/>
            <p:nvPr/>
          </p:nvSpPr>
          <p:spPr>
            <a:xfrm>
              <a:off x="0" y="-9525"/>
              <a:ext cx="4741329" cy="636054"/>
            </a:xfrm>
            <a:prstGeom prst="rect">
              <a:avLst/>
            </a:prstGeom>
          </p:spPr>
          <p:txBody>
            <a:bodyPr anchor="ctr" rtlCol="false" tIns="0" lIns="0" bIns="0" rIns="0"/>
            <a:lstStyle/>
            <a:p>
              <a:pPr algn="l">
                <a:lnSpc>
                  <a:spcPts val="3060"/>
                </a:lnSpc>
              </a:pPr>
              <a:r>
                <a:rPr lang="en-US" sz="2550" b="true">
                  <a:solidFill>
                    <a:srgbClr val="111111"/>
                  </a:solidFill>
                  <a:latin typeface="Arimo Bold"/>
                  <a:ea typeface="Arimo Bold"/>
                  <a:cs typeface="Arimo Bold"/>
                  <a:sym typeface="Arimo Bold"/>
                </a:rPr>
                <a:t>카메라 인지</a:t>
              </a:r>
            </a:p>
          </p:txBody>
        </p:sp>
      </p:grpSp>
      <p:grpSp>
        <p:nvGrpSpPr>
          <p:cNvPr name="Group 95" id="95"/>
          <p:cNvGrpSpPr/>
          <p:nvPr/>
        </p:nvGrpSpPr>
        <p:grpSpPr>
          <a:xfrm rot="0">
            <a:off x="3704587" y="8567414"/>
            <a:ext cx="3555997" cy="333496"/>
            <a:chOff x="0" y="0"/>
            <a:chExt cx="4741329" cy="444661"/>
          </a:xfrm>
        </p:grpSpPr>
        <p:sp>
          <p:nvSpPr>
            <p:cNvPr name="Freeform 96" id="96"/>
            <p:cNvSpPr/>
            <p:nvPr/>
          </p:nvSpPr>
          <p:spPr>
            <a:xfrm flipH="false" flipV="false" rot="0">
              <a:off x="0" y="0"/>
              <a:ext cx="4741334" cy="444666"/>
            </a:xfrm>
            <a:custGeom>
              <a:avLst/>
              <a:gdLst/>
              <a:ahLst/>
              <a:cxnLst/>
              <a:rect r="r" b="b" t="t" l="l"/>
              <a:pathLst>
                <a:path h="444666" w="4741334">
                  <a:moveTo>
                    <a:pt x="0" y="0"/>
                  </a:moveTo>
                  <a:lnTo>
                    <a:pt x="4741334" y="0"/>
                  </a:lnTo>
                  <a:lnTo>
                    <a:pt x="4741334" y="444666"/>
                  </a:lnTo>
                  <a:lnTo>
                    <a:pt x="0" y="444666"/>
                  </a:lnTo>
                  <a:close/>
                </a:path>
              </a:pathLst>
            </a:custGeom>
            <a:blipFill>
              <a:blip r:embed="rId3">
                <a:alphaModFix amt="0"/>
              </a:blip>
              <a:stretch>
                <a:fillRect l="0" t="-160161" r="0" b="-155363"/>
              </a:stretch>
            </a:blipFill>
          </p:spPr>
        </p:sp>
        <p:sp>
          <p:nvSpPr>
            <p:cNvPr name="TextBox 97" id="97"/>
            <p:cNvSpPr txBox="true"/>
            <p:nvPr/>
          </p:nvSpPr>
          <p:spPr>
            <a:xfrm>
              <a:off x="0" y="-19050"/>
              <a:ext cx="4741329" cy="463711"/>
            </a:xfrm>
            <a:prstGeom prst="rect">
              <a:avLst/>
            </a:prstGeom>
          </p:spPr>
          <p:txBody>
            <a:bodyPr anchor="ctr" rtlCol="false" tIns="0" lIns="0" bIns="0" rIns="0"/>
            <a:lstStyle/>
            <a:p>
              <a:pPr algn="l">
                <a:lnSpc>
                  <a:spcPts val="1980"/>
                </a:lnSpc>
              </a:pPr>
              <a:r>
                <a:rPr lang="en-US" sz="1650">
                  <a:solidFill>
                    <a:srgbClr val="111111"/>
                  </a:solidFill>
                  <a:latin typeface="Arimo"/>
                  <a:ea typeface="Arimo"/>
                  <a:cs typeface="Arimo"/>
                  <a:sym typeface="Arimo"/>
                </a:rPr>
                <a:t>물체 위치와 구역 확인</a:t>
              </a:r>
            </a:p>
          </p:txBody>
        </p:sp>
      </p:grpSp>
      <p:grpSp>
        <p:nvGrpSpPr>
          <p:cNvPr name="Group 98" id="98"/>
          <p:cNvGrpSpPr/>
          <p:nvPr/>
        </p:nvGrpSpPr>
        <p:grpSpPr>
          <a:xfrm rot="0">
            <a:off x="3704587" y="8935717"/>
            <a:ext cx="3683003" cy="304800"/>
            <a:chOff x="0" y="0"/>
            <a:chExt cx="4910671" cy="406400"/>
          </a:xfrm>
        </p:grpSpPr>
        <p:sp>
          <p:nvSpPr>
            <p:cNvPr name="Freeform 99" id="99"/>
            <p:cNvSpPr/>
            <p:nvPr/>
          </p:nvSpPr>
          <p:spPr>
            <a:xfrm flipH="false" flipV="false" rot="0">
              <a:off x="0" y="0"/>
              <a:ext cx="4910666" cy="406400"/>
            </a:xfrm>
            <a:custGeom>
              <a:avLst/>
              <a:gdLst/>
              <a:ahLst/>
              <a:cxnLst/>
              <a:rect r="r" b="b" t="t" l="l"/>
              <a:pathLst>
                <a:path h="406400" w="4910666">
                  <a:moveTo>
                    <a:pt x="0" y="0"/>
                  </a:moveTo>
                  <a:lnTo>
                    <a:pt x="4910666" y="0"/>
                  </a:lnTo>
                  <a:lnTo>
                    <a:pt x="4910666" y="406400"/>
                  </a:lnTo>
                  <a:lnTo>
                    <a:pt x="0" y="406400"/>
                  </a:lnTo>
                  <a:close/>
                </a:path>
              </a:pathLst>
            </a:custGeom>
            <a:blipFill>
              <a:blip r:embed="rId3">
                <a:alphaModFix amt="0"/>
              </a:blip>
              <a:stretch>
                <a:fillRect l="0" t="-185444" r="0" b="-185444"/>
              </a:stretch>
            </a:blipFill>
          </p:spPr>
        </p:sp>
        <p:sp>
          <p:nvSpPr>
            <p:cNvPr name="TextBox 100" id="100"/>
            <p:cNvSpPr txBox="true"/>
            <p:nvPr/>
          </p:nvSpPr>
          <p:spPr>
            <a:xfrm>
              <a:off x="0" y="-19050"/>
              <a:ext cx="4910671" cy="425450"/>
            </a:xfrm>
            <a:prstGeom prst="rect">
              <a:avLst/>
            </a:prstGeom>
          </p:spPr>
          <p:txBody>
            <a:bodyPr anchor="ctr" rtlCol="false" tIns="0" lIns="0" bIns="0" rIns="0"/>
            <a:lstStyle/>
            <a:p>
              <a:pPr algn="l">
                <a:lnSpc>
                  <a:spcPts val="1620"/>
                </a:lnSpc>
              </a:pPr>
              <a:r>
                <a:rPr lang="en-US" sz="1350">
                  <a:solidFill>
                    <a:srgbClr val="66645F"/>
                  </a:solidFill>
                  <a:latin typeface="Arimo"/>
                  <a:ea typeface="Arimo"/>
                  <a:cs typeface="Arimo"/>
                  <a:sym typeface="Arimo"/>
                </a:rPr>
                <a:t>현재 인식 정보를 /scene_state 토픽으로 발행</a:t>
              </a:r>
            </a:p>
          </p:txBody>
        </p:sp>
      </p:grpSp>
      <p:grpSp>
        <p:nvGrpSpPr>
          <p:cNvPr name="Group 101" id="101"/>
          <p:cNvGrpSpPr/>
          <p:nvPr/>
        </p:nvGrpSpPr>
        <p:grpSpPr>
          <a:xfrm rot="0">
            <a:off x="8430254" y="7403459"/>
            <a:ext cx="9185910" cy="2175510"/>
            <a:chOff x="0" y="0"/>
            <a:chExt cx="12247880" cy="2900680"/>
          </a:xfrm>
        </p:grpSpPr>
        <p:sp>
          <p:nvSpPr>
            <p:cNvPr name="Freeform 102" id="102"/>
            <p:cNvSpPr/>
            <p:nvPr/>
          </p:nvSpPr>
          <p:spPr>
            <a:xfrm flipH="false" flipV="false" rot="0">
              <a:off x="0" y="0"/>
              <a:ext cx="12247880" cy="2900680"/>
            </a:xfrm>
            <a:custGeom>
              <a:avLst/>
              <a:gdLst/>
              <a:ahLst/>
              <a:cxnLst/>
              <a:rect r="r" b="b" t="t" l="l"/>
              <a:pathLst>
                <a:path h="2900680" w="12247880">
                  <a:moveTo>
                    <a:pt x="0" y="149225"/>
                  </a:moveTo>
                  <a:cubicBezTo>
                    <a:pt x="0" y="66802"/>
                    <a:pt x="66802" y="0"/>
                    <a:pt x="149225" y="0"/>
                  </a:cubicBezTo>
                  <a:lnTo>
                    <a:pt x="12098655" y="0"/>
                  </a:lnTo>
                  <a:cubicBezTo>
                    <a:pt x="12181078" y="0"/>
                    <a:pt x="12247880" y="66802"/>
                    <a:pt x="12247880" y="149225"/>
                  </a:cubicBezTo>
                  <a:lnTo>
                    <a:pt x="12247880" y="2751455"/>
                  </a:lnTo>
                  <a:cubicBezTo>
                    <a:pt x="12247880" y="2833878"/>
                    <a:pt x="12181078" y="2900680"/>
                    <a:pt x="12098655" y="2900680"/>
                  </a:cubicBezTo>
                  <a:lnTo>
                    <a:pt x="149225" y="2900680"/>
                  </a:lnTo>
                  <a:cubicBezTo>
                    <a:pt x="66802" y="2900680"/>
                    <a:pt x="0" y="2833878"/>
                    <a:pt x="0" y="2751455"/>
                  </a:cubicBezTo>
                  <a:close/>
                </a:path>
              </a:pathLst>
            </a:custGeom>
            <a:solidFill>
              <a:srgbClr val="FFFFFF"/>
            </a:solidFill>
            <a:ln w="19050" cap="sq">
              <a:solidFill>
                <a:srgbClr val="111111"/>
              </a:solidFill>
              <a:prstDash val="solid"/>
              <a:miter/>
            </a:ln>
          </p:spPr>
        </p:sp>
      </p:grpSp>
      <p:grpSp>
        <p:nvGrpSpPr>
          <p:cNvPr name="Group 103" id="103"/>
          <p:cNvGrpSpPr/>
          <p:nvPr/>
        </p:nvGrpSpPr>
        <p:grpSpPr>
          <a:xfrm rot="0">
            <a:off x="8832209" y="7665720"/>
            <a:ext cx="4317997" cy="342900"/>
            <a:chOff x="0" y="0"/>
            <a:chExt cx="5757329" cy="457200"/>
          </a:xfrm>
        </p:grpSpPr>
        <p:sp>
          <p:nvSpPr>
            <p:cNvPr name="Freeform 104" id="104"/>
            <p:cNvSpPr/>
            <p:nvPr/>
          </p:nvSpPr>
          <p:spPr>
            <a:xfrm flipH="false" flipV="false" rot="0">
              <a:off x="0" y="0"/>
              <a:ext cx="5757334" cy="457200"/>
            </a:xfrm>
            <a:custGeom>
              <a:avLst/>
              <a:gdLst/>
              <a:ahLst/>
              <a:cxnLst/>
              <a:rect r="r" b="b" t="t" l="l"/>
              <a:pathLst>
                <a:path h="457200" w="5757334">
                  <a:moveTo>
                    <a:pt x="0" y="0"/>
                  </a:moveTo>
                  <a:lnTo>
                    <a:pt x="5757334" y="0"/>
                  </a:lnTo>
                  <a:lnTo>
                    <a:pt x="5757334" y="457200"/>
                  </a:lnTo>
                  <a:lnTo>
                    <a:pt x="0" y="457200"/>
                  </a:lnTo>
                  <a:close/>
                </a:path>
              </a:pathLst>
            </a:custGeom>
            <a:blipFill>
              <a:blip r:embed="rId3">
                <a:alphaModFix amt="0"/>
              </a:blip>
              <a:stretch>
                <a:fillRect l="0" t="-195366" r="0" b="-195366"/>
              </a:stretch>
            </a:blipFill>
          </p:spPr>
        </p:sp>
        <p:sp>
          <p:nvSpPr>
            <p:cNvPr name="TextBox 105" id="105"/>
            <p:cNvSpPr txBox="true"/>
            <p:nvPr/>
          </p:nvSpPr>
          <p:spPr>
            <a:xfrm>
              <a:off x="0" y="-19050"/>
              <a:ext cx="5757329" cy="476250"/>
            </a:xfrm>
            <a:prstGeom prst="rect">
              <a:avLst/>
            </a:prstGeom>
          </p:spPr>
          <p:txBody>
            <a:bodyPr anchor="ctr" rtlCol="false" tIns="0" lIns="0" bIns="0" rIns="0"/>
            <a:lstStyle/>
            <a:p>
              <a:pPr algn="l">
                <a:lnSpc>
                  <a:spcPts val="1530"/>
                </a:lnSpc>
              </a:pPr>
              <a:r>
                <a:rPr lang="en-US" sz="1275" b="true">
                  <a:solidFill>
                    <a:srgbClr val="1B2CC1"/>
                  </a:solidFill>
                  <a:latin typeface="Arimo Bold"/>
                  <a:ea typeface="Arimo Bold"/>
                  <a:cs typeface="Arimo Bold"/>
                  <a:sym typeface="Arimo Bold"/>
                </a:rPr>
                <a:t>실행 결과 피드백, 센서 피드백</a:t>
              </a:r>
            </a:p>
          </p:txBody>
        </p:sp>
      </p:grpSp>
      <p:grpSp>
        <p:nvGrpSpPr>
          <p:cNvPr name="Group 106" id="106"/>
          <p:cNvGrpSpPr/>
          <p:nvPr/>
        </p:nvGrpSpPr>
        <p:grpSpPr>
          <a:xfrm rot="0">
            <a:off x="8832209" y="8034014"/>
            <a:ext cx="3810000" cy="457200"/>
            <a:chOff x="0" y="0"/>
            <a:chExt cx="5080000" cy="609600"/>
          </a:xfrm>
        </p:grpSpPr>
        <p:sp>
          <p:nvSpPr>
            <p:cNvPr name="Freeform 107" id="107"/>
            <p:cNvSpPr/>
            <p:nvPr/>
          </p:nvSpPr>
          <p:spPr>
            <a:xfrm flipH="false" flipV="false" rot="0">
              <a:off x="0" y="0"/>
              <a:ext cx="5080000" cy="609600"/>
            </a:xfrm>
            <a:custGeom>
              <a:avLst/>
              <a:gdLst/>
              <a:ahLst/>
              <a:cxnLst/>
              <a:rect r="r" b="b" t="t" l="l"/>
              <a:pathLst>
                <a:path h="609600" w="5080000">
                  <a:moveTo>
                    <a:pt x="0" y="0"/>
                  </a:moveTo>
                  <a:lnTo>
                    <a:pt x="5080000" y="0"/>
                  </a:lnTo>
                  <a:lnTo>
                    <a:pt x="5080000" y="609600"/>
                  </a:lnTo>
                  <a:lnTo>
                    <a:pt x="0" y="609600"/>
                  </a:lnTo>
                  <a:close/>
                </a:path>
              </a:pathLst>
            </a:custGeom>
            <a:blipFill>
              <a:blip r:embed="rId3">
                <a:alphaModFix amt="0"/>
              </a:blip>
              <a:stretch>
                <a:fillRect l="0" t="-112375" r="0" b="-112375"/>
              </a:stretch>
            </a:blipFill>
          </p:spPr>
        </p:sp>
        <p:sp>
          <p:nvSpPr>
            <p:cNvPr name="TextBox 108" id="108"/>
            <p:cNvSpPr txBox="true"/>
            <p:nvPr/>
          </p:nvSpPr>
          <p:spPr>
            <a:xfrm>
              <a:off x="0" y="-9525"/>
              <a:ext cx="5080000" cy="619125"/>
            </a:xfrm>
            <a:prstGeom prst="rect">
              <a:avLst/>
            </a:prstGeom>
          </p:spPr>
          <p:txBody>
            <a:bodyPr anchor="ctr" rtlCol="false" tIns="0" lIns="0" bIns="0" rIns="0"/>
            <a:lstStyle/>
            <a:p>
              <a:pPr algn="l">
                <a:lnSpc>
                  <a:spcPts val="3060"/>
                </a:lnSpc>
              </a:pPr>
              <a:r>
                <a:rPr lang="en-US" sz="2550" b="true">
                  <a:solidFill>
                    <a:srgbClr val="111111"/>
                  </a:solidFill>
                  <a:latin typeface="Arimo Bold"/>
                  <a:ea typeface="Arimo Bold"/>
                  <a:cs typeface="Arimo Bold"/>
                  <a:sym typeface="Arimo Bold"/>
                </a:rPr>
                <a:t>실행 결과 확인</a:t>
              </a:r>
            </a:p>
          </p:txBody>
        </p:sp>
      </p:grpSp>
      <p:grpSp>
        <p:nvGrpSpPr>
          <p:cNvPr name="Group 109" id="109"/>
          <p:cNvGrpSpPr/>
          <p:nvPr/>
        </p:nvGrpSpPr>
        <p:grpSpPr>
          <a:xfrm rot="0">
            <a:off x="8832209" y="8554717"/>
            <a:ext cx="6603997" cy="320069"/>
            <a:chOff x="0" y="0"/>
            <a:chExt cx="8805329" cy="426758"/>
          </a:xfrm>
        </p:grpSpPr>
        <p:sp>
          <p:nvSpPr>
            <p:cNvPr name="Freeform 110" id="110"/>
            <p:cNvSpPr/>
            <p:nvPr/>
          </p:nvSpPr>
          <p:spPr>
            <a:xfrm flipH="false" flipV="false" rot="0">
              <a:off x="0" y="0"/>
              <a:ext cx="8805334" cy="426763"/>
            </a:xfrm>
            <a:custGeom>
              <a:avLst/>
              <a:gdLst/>
              <a:ahLst/>
              <a:cxnLst/>
              <a:rect r="r" b="b" t="t" l="l"/>
              <a:pathLst>
                <a:path h="426763" w="8805334">
                  <a:moveTo>
                    <a:pt x="0" y="0"/>
                  </a:moveTo>
                  <a:lnTo>
                    <a:pt x="8805334" y="0"/>
                  </a:lnTo>
                  <a:lnTo>
                    <a:pt x="8805334" y="426763"/>
                  </a:lnTo>
                  <a:lnTo>
                    <a:pt x="0" y="426763"/>
                  </a:lnTo>
                  <a:close/>
                </a:path>
              </a:pathLst>
            </a:custGeom>
            <a:blipFill>
              <a:blip r:embed="rId3">
                <a:alphaModFix amt="0"/>
              </a:blip>
              <a:stretch>
                <a:fillRect l="0" t="-352433" r="0" b="-351628"/>
              </a:stretch>
            </a:blipFill>
          </p:spPr>
        </p:sp>
        <p:sp>
          <p:nvSpPr>
            <p:cNvPr name="TextBox 111" id="111"/>
            <p:cNvSpPr txBox="true"/>
            <p:nvPr/>
          </p:nvSpPr>
          <p:spPr>
            <a:xfrm>
              <a:off x="0" y="-9525"/>
              <a:ext cx="8805329" cy="436283"/>
            </a:xfrm>
            <a:prstGeom prst="rect">
              <a:avLst/>
            </a:prstGeom>
          </p:spPr>
          <p:txBody>
            <a:bodyPr anchor="ctr" rtlCol="false" tIns="0" lIns="0" bIns="0" rIns="0"/>
            <a:lstStyle/>
            <a:p>
              <a:pPr algn="l">
                <a:lnSpc>
                  <a:spcPts val="1889"/>
                </a:lnSpc>
              </a:pPr>
              <a:r>
                <a:rPr lang="en-US" sz="1575">
                  <a:solidFill>
                    <a:srgbClr val="111111"/>
                  </a:solidFill>
                  <a:latin typeface="Arimo"/>
                  <a:ea typeface="Arimo"/>
                  <a:cs typeface="Arimo"/>
                  <a:sym typeface="Arimo"/>
                </a:rPr>
                <a:t>카메라에 보이는 물체 최종 위치와 그리퍼 관절값으로 결과 판단</a:t>
              </a:r>
            </a:p>
          </p:txBody>
        </p:sp>
      </p:grpSp>
      <p:grpSp>
        <p:nvGrpSpPr>
          <p:cNvPr name="Group 112" id="112"/>
          <p:cNvGrpSpPr/>
          <p:nvPr/>
        </p:nvGrpSpPr>
        <p:grpSpPr>
          <a:xfrm rot="0">
            <a:off x="8832209" y="8922411"/>
            <a:ext cx="4191000" cy="355600"/>
            <a:chOff x="0" y="0"/>
            <a:chExt cx="5588000" cy="474134"/>
          </a:xfrm>
        </p:grpSpPr>
        <p:sp>
          <p:nvSpPr>
            <p:cNvPr name="Freeform 113" id="113"/>
            <p:cNvSpPr/>
            <p:nvPr/>
          </p:nvSpPr>
          <p:spPr>
            <a:xfrm flipH="false" flipV="false" rot="0">
              <a:off x="0" y="0"/>
              <a:ext cx="5587995" cy="474139"/>
            </a:xfrm>
            <a:custGeom>
              <a:avLst/>
              <a:gdLst/>
              <a:ahLst/>
              <a:cxnLst/>
              <a:rect r="r" b="b" t="t" l="l"/>
              <a:pathLst>
                <a:path h="474139" w="5587995">
                  <a:moveTo>
                    <a:pt x="0" y="0"/>
                  </a:moveTo>
                  <a:lnTo>
                    <a:pt x="5587995" y="0"/>
                  </a:lnTo>
                  <a:lnTo>
                    <a:pt x="5587995" y="474139"/>
                  </a:lnTo>
                  <a:lnTo>
                    <a:pt x="0" y="474139"/>
                  </a:lnTo>
                  <a:close/>
                </a:path>
              </a:pathLst>
            </a:custGeom>
            <a:blipFill>
              <a:blip r:embed="rId3">
                <a:alphaModFix amt="0"/>
              </a:blip>
              <a:stretch>
                <a:fillRect l="0" t="-162246" r="7575" b="-162244"/>
              </a:stretch>
            </a:blipFill>
          </p:spPr>
        </p:sp>
        <p:sp>
          <p:nvSpPr>
            <p:cNvPr name="TextBox 114" id="114"/>
            <p:cNvSpPr txBox="true"/>
            <p:nvPr/>
          </p:nvSpPr>
          <p:spPr>
            <a:xfrm>
              <a:off x="0" y="-19050"/>
              <a:ext cx="5588000" cy="493184"/>
            </a:xfrm>
            <a:prstGeom prst="rect">
              <a:avLst/>
            </a:prstGeom>
          </p:spPr>
          <p:txBody>
            <a:bodyPr anchor="ctr" rtlCol="false" tIns="0" lIns="0" bIns="0" rIns="0"/>
            <a:lstStyle/>
            <a:p>
              <a:pPr algn="l">
                <a:lnSpc>
                  <a:spcPts val="1800"/>
                </a:lnSpc>
              </a:pPr>
              <a:r>
                <a:rPr lang="en-US" sz="1500">
                  <a:solidFill>
                    <a:srgbClr val="111111"/>
                  </a:solidFill>
                  <a:latin typeface="Arimo"/>
                  <a:ea typeface="Arimo"/>
                  <a:cs typeface="Arimo"/>
                  <a:sym typeface="Arimo"/>
                </a:rPr>
                <a:t>실패 원인에 따라 다시 시도하거나 중단</a:t>
              </a:r>
            </a:p>
          </p:txBody>
        </p:sp>
      </p:grpSp>
      <p:sp>
        <p:nvSpPr>
          <p:cNvPr name="Freeform 115" id="115"/>
          <p:cNvSpPr/>
          <p:nvPr/>
        </p:nvSpPr>
        <p:spPr>
          <a:xfrm>
            <a:off x="15507971" y="6589266"/>
            <a:ext cx="0" cy="814193"/>
          </a:xfrm>
          <a:custGeom>
            <a:avLst/>
            <a:gdLst/>
            <a:ahLst/>
            <a:cxnLst/>
            <a:rect r="r" b="b" t="t" l="l"/>
            <a:pathLst>
              <a:path h="814193" w="0">
                <a:moveTo>
                  <a:pt x="0" y="0"/>
                </a:moveTo>
                <a:lnTo>
                  <a:pt x="0" y="814193"/>
                </a:lnTo>
              </a:path>
            </a:pathLst>
          </a:custGeom>
          <a:ln cap="flat" w="28575">
            <a:solidFill>
              <a:srgbClr val="000000"/>
            </a:solidFill>
            <a:prstDash val="solid"/>
            <a:headEnd type="none" len="sm" w="sm"/>
            <a:tailEnd type="triangle" len="med" w="lg"/>
          </a:ln>
        </p:spPr>
      </p:sp>
      <p:sp>
        <p:nvSpPr>
          <p:cNvPr name="AutoShape 116" id="116"/>
          <p:cNvSpPr/>
          <p:nvPr/>
        </p:nvSpPr>
        <p:spPr>
          <a:xfrm>
            <a:off x="6628733" y="4000495"/>
            <a:ext cx="395002" cy="0"/>
          </a:xfrm>
          <a:prstGeom prst="line">
            <a:avLst/>
          </a:prstGeom>
          <a:ln cap="flat" w="28575">
            <a:solidFill>
              <a:srgbClr val="000000"/>
            </a:solidFill>
            <a:prstDash val="solid"/>
            <a:headEnd type="none" len="sm" w="sm"/>
            <a:tailEnd type="triangle" len="med" w="lg"/>
          </a:ln>
        </p:spPr>
      </p:sp>
      <p:sp>
        <p:nvSpPr>
          <p:cNvPr name="AutoShape 117" id="117"/>
          <p:cNvSpPr/>
          <p:nvPr/>
        </p:nvSpPr>
        <p:spPr>
          <a:xfrm>
            <a:off x="10182225" y="4000495"/>
            <a:ext cx="295275" cy="0"/>
          </a:xfrm>
          <a:prstGeom prst="line">
            <a:avLst/>
          </a:prstGeom>
          <a:ln cap="flat" w="28575">
            <a:solidFill>
              <a:srgbClr val="000000"/>
            </a:solidFill>
            <a:prstDash val="solid"/>
            <a:headEnd type="none" len="sm" w="sm"/>
            <a:tailEnd type="triangle" len="med" w="lg"/>
          </a:ln>
        </p:spPr>
      </p:sp>
      <p:sp>
        <p:nvSpPr>
          <p:cNvPr name="AutoShape 118" id="118"/>
          <p:cNvSpPr/>
          <p:nvPr/>
        </p:nvSpPr>
        <p:spPr>
          <a:xfrm>
            <a:off x="12915239" y="4000495"/>
            <a:ext cx="407064" cy="1656"/>
          </a:xfrm>
          <a:prstGeom prst="line">
            <a:avLst/>
          </a:prstGeom>
          <a:ln cap="flat" w="28575">
            <a:solidFill>
              <a:srgbClr val="000000"/>
            </a:solidFill>
            <a:prstDash val="solid"/>
            <a:headEnd type="none" len="sm" w="sm"/>
            <a:tailEnd type="triangle" len="med" w="lg"/>
          </a:ln>
        </p:spPr>
      </p:sp>
      <p:sp>
        <p:nvSpPr>
          <p:cNvPr name="AutoShape 119" id="119"/>
          <p:cNvSpPr/>
          <p:nvPr/>
        </p:nvSpPr>
        <p:spPr>
          <a:xfrm>
            <a:off x="3199762" y="4000495"/>
            <a:ext cx="394973" cy="0"/>
          </a:xfrm>
          <a:prstGeom prst="line">
            <a:avLst/>
          </a:prstGeom>
          <a:ln cap="flat" w="28575">
            <a:solidFill>
              <a:srgbClr val="000000"/>
            </a:solidFill>
            <a:prstDash val="solid"/>
            <a:headEnd type="none" len="sm" w="sm"/>
            <a:tailEnd type="triangle" len="med" w="lg"/>
          </a:ln>
        </p:spPr>
      </p:sp>
      <p:sp>
        <p:nvSpPr>
          <p:cNvPr name="Freeform 120" id="120"/>
          <p:cNvSpPr/>
          <p:nvPr/>
        </p:nvSpPr>
        <p:spPr>
          <a:xfrm>
            <a:off x="5111748" y="5422230"/>
            <a:ext cx="0" cy="990614"/>
          </a:xfrm>
          <a:custGeom>
            <a:avLst/>
            <a:gdLst/>
            <a:ahLst/>
            <a:cxnLst/>
            <a:rect r="r" b="b" t="t" l="l"/>
            <a:pathLst>
              <a:path h="990614" w="0">
                <a:moveTo>
                  <a:pt x="0" y="990614"/>
                </a:moveTo>
                <a:lnTo>
                  <a:pt x="0" y="0"/>
                </a:lnTo>
              </a:path>
            </a:pathLst>
          </a:custGeom>
          <a:ln cap="flat" w="28575">
            <a:solidFill>
              <a:srgbClr val="000000"/>
            </a:solidFill>
            <a:prstDash val="solid"/>
            <a:headEnd type="none" len="sm" w="sm"/>
            <a:tailEnd type="triangle" len="med" w="lg"/>
          </a:ln>
        </p:spPr>
      </p:sp>
      <p:sp>
        <p:nvSpPr>
          <p:cNvPr name="AutoShape 121" id="121"/>
          <p:cNvSpPr/>
          <p:nvPr/>
        </p:nvSpPr>
        <p:spPr>
          <a:xfrm>
            <a:off x="8018145" y="8491214"/>
            <a:ext cx="412109" cy="0"/>
          </a:xfrm>
          <a:prstGeom prst="line">
            <a:avLst/>
          </a:prstGeom>
          <a:ln cap="flat" w="28575">
            <a:solidFill>
              <a:srgbClr val="000000"/>
            </a:solidFill>
            <a:prstDash val="solid"/>
            <a:headEnd type="none" len="sm" w="sm"/>
            <a:tailEnd type="triangle" len="med" w="lg"/>
          </a:ln>
        </p:spPr>
      </p:sp>
      <p:grpSp>
        <p:nvGrpSpPr>
          <p:cNvPr name="Group 122" id="122"/>
          <p:cNvGrpSpPr/>
          <p:nvPr/>
        </p:nvGrpSpPr>
        <p:grpSpPr>
          <a:xfrm rot="0">
            <a:off x="7394577" y="4576581"/>
            <a:ext cx="2412997" cy="333496"/>
            <a:chOff x="0" y="0"/>
            <a:chExt cx="3217329" cy="444661"/>
          </a:xfrm>
        </p:grpSpPr>
        <p:sp>
          <p:nvSpPr>
            <p:cNvPr name="Freeform 123" id="123"/>
            <p:cNvSpPr/>
            <p:nvPr/>
          </p:nvSpPr>
          <p:spPr>
            <a:xfrm flipH="false" flipV="false" rot="0">
              <a:off x="0" y="0"/>
              <a:ext cx="3217334" cy="444656"/>
            </a:xfrm>
            <a:custGeom>
              <a:avLst/>
              <a:gdLst/>
              <a:ahLst/>
              <a:cxnLst/>
              <a:rect r="r" b="b" t="t" l="l"/>
              <a:pathLst>
                <a:path h="444656" w="3217334">
                  <a:moveTo>
                    <a:pt x="0" y="0"/>
                  </a:moveTo>
                  <a:lnTo>
                    <a:pt x="3217334" y="0"/>
                  </a:lnTo>
                  <a:lnTo>
                    <a:pt x="3217334" y="444656"/>
                  </a:lnTo>
                  <a:lnTo>
                    <a:pt x="0" y="444656"/>
                  </a:lnTo>
                  <a:close/>
                </a:path>
              </a:pathLst>
            </a:custGeom>
            <a:blipFill>
              <a:blip r:embed="rId3">
                <a:alphaModFix amt="0"/>
              </a:blip>
              <a:stretch>
                <a:fillRect l="0" t="-91477" r="0" b="-90491"/>
              </a:stretch>
            </a:blipFill>
          </p:spPr>
        </p:sp>
        <p:sp>
          <p:nvSpPr>
            <p:cNvPr name="TextBox 124" id="124"/>
            <p:cNvSpPr txBox="true"/>
            <p:nvPr/>
          </p:nvSpPr>
          <p:spPr>
            <a:xfrm>
              <a:off x="0" y="-19050"/>
              <a:ext cx="3217329" cy="463711"/>
            </a:xfrm>
            <a:prstGeom prst="rect">
              <a:avLst/>
            </a:prstGeom>
          </p:spPr>
          <p:txBody>
            <a:bodyPr anchor="ctr" rtlCol="false" tIns="0" lIns="0" bIns="0" rIns="0"/>
            <a:lstStyle/>
            <a:p>
              <a:pPr algn="l">
                <a:lnSpc>
                  <a:spcPts val="1980"/>
                </a:lnSpc>
              </a:pPr>
              <a:r>
                <a:rPr lang="en-US" sz="1650">
                  <a:solidFill>
                    <a:srgbClr val="111111"/>
                  </a:solidFill>
                  <a:latin typeface="Arimo"/>
                  <a:ea typeface="Arimo"/>
                  <a:cs typeface="Arimo"/>
                  <a:sym typeface="Arimo"/>
                </a:rPr>
                <a:t>동작 결과 수신 </a:t>
              </a:r>
            </a:p>
          </p:txBody>
        </p:sp>
      </p:grpSp>
      <p:sp>
        <p:nvSpPr>
          <p:cNvPr name="TextBox 125" id="125"/>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4</a:t>
            </a:r>
          </a:p>
        </p:txBody>
      </p:sp>
      <p:grpSp>
        <p:nvGrpSpPr>
          <p:cNvPr name="Group 126" id="126"/>
          <p:cNvGrpSpPr/>
          <p:nvPr/>
        </p:nvGrpSpPr>
        <p:grpSpPr>
          <a:xfrm rot="0">
            <a:off x="3936997" y="4922898"/>
            <a:ext cx="2496188" cy="330200"/>
            <a:chOff x="0" y="0"/>
            <a:chExt cx="3328251" cy="440266"/>
          </a:xfrm>
        </p:grpSpPr>
        <p:sp>
          <p:nvSpPr>
            <p:cNvPr name="Freeform 127" id="127"/>
            <p:cNvSpPr/>
            <p:nvPr/>
          </p:nvSpPr>
          <p:spPr>
            <a:xfrm flipH="false" flipV="false" rot="0">
              <a:off x="0" y="0"/>
              <a:ext cx="3328256" cy="440261"/>
            </a:xfrm>
            <a:custGeom>
              <a:avLst/>
              <a:gdLst/>
              <a:ahLst/>
              <a:cxnLst/>
              <a:rect r="r" b="b" t="t" l="l"/>
              <a:pathLst>
                <a:path h="440261" w="3328256">
                  <a:moveTo>
                    <a:pt x="0" y="0"/>
                  </a:moveTo>
                  <a:lnTo>
                    <a:pt x="3328256" y="0"/>
                  </a:lnTo>
                  <a:lnTo>
                    <a:pt x="3328256" y="440261"/>
                  </a:lnTo>
                  <a:lnTo>
                    <a:pt x="0" y="440261"/>
                  </a:lnTo>
                  <a:close/>
                </a:path>
              </a:pathLst>
            </a:custGeom>
            <a:blipFill>
              <a:blip r:embed="rId3">
                <a:alphaModFix amt="0"/>
              </a:blip>
              <a:stretch>
                <a:fillRect l="0" t="-92391" r="3332" b="-92393"/>
              </a:stretch>
            </a:blipFill>
          </p:spPr>
        </p:sp>
        <p:sp>
          <p:nvSpPr>
            <p:cNvPr name="TextBox 128" id="128"/>
            <p:cNvSpPr txBox="true"/>
            <p:nvPr/>
          </p:nvSpPr>
          <p:spPr>
            <a:xfrm>
              <a:off x="0" y="-19050"/>
              <a:ext cx="3328251" cy="459316"/>
            </a:xfrm>
            <a:prstGeom prst="rect">
              <a:avLst/>
            </a:prstGeom>
          </p:spPr>
          <p:txBody>
            <a:bodyPr anchor="ctr" rtlCol="false" tIns="0" lIns="0" bIns="0" rIns="0"/>
            <a:lstStyle/>
            <a:p>
              <a:pPr algn="l">
                <a:lnSpc>
                  <a:spcPts val="1620"/>
                </a:lnSpc>
              </a:pPr>
              <a:r>
                <a:rPr lang="en-US" sz="1350">
                  <a:solidFill>
                    <a:srgbClr val="66645F"/>
                  </a:solidFill>
                  <a:latin typeface="Arimo"/>
                  <a:ea typeface="Arimo"/>
                  <a:cs typeface="Arimo"/>
                  <a:sym typeface="Arimo"/>
                </a:rPr>
                <a:t>검증 실패 시 LLM 프롬프트 재시도</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sp>
        <p:nvSpPr>
          <p:cNvPr name="TextBox 2" id="2"/>
          <p:cNvSpPr txBox="true"/>
          <p:nvPr/>
        </p:nvSpPr>
        <p:spPr>
          <a:xfrm rot="0">
            <a:off x="762000" y="628650"/>
            <a:ext cx="15875003" cy="281940"/>
          </a:xfrm>
          <a:prstGeom prst="rect">
            <a:avLst/>
          </a:prstGeom>
        </p:spPr>
        <p:txBody>
          <a:bodyPr anchor="t" rtlCol="false" tIns="0" lIns="0" bIns="0" rIns="0">
            <a:spAutoFit/>
          </a:bodyPr>
          <a:lstStyle/>
          <a:p>
            <a:pPr algn="l">
              <a:lnSpc>
                <a:spcPts val="1872"/>
              </a:lnSpc>
            </a:pPr>
            <a:r>
              <a:rPr lang="en-US" sz="1500" b="true">
                <a:solidFill>
                  <a:srgbClr val="666666"/>
                </a:solidFill>
                <a:latin typeface="Arimo Bold"/>
                <a:ea typeface="Arimo Bold"/>
                <a:cs typeface="Arimo Bold"/>
                <a:sym typeface="Arimo Bold"/>
              </a:rPr>
              <a:t>LARO-BOT</a:t>
            </a:r>
          </a:p>
        </p:txBody>
      </p:sp>
      <p:sp>
        <p:nvSpPr>
          <p:cNvPr name="TextBox 3" id="3"/>
          <p:cNvSpPr txBox="true"/>
          <p:nvPr/>
        </p:nvSpPr>
        <p:spPr>
          <a:xfrm rot="0">
            <a:off x="762000" y="1054103"/>
            <a:ext cx="16764000" cy="669722"/>
          </a:xfrm>
          <a:prstGeom prst="rect">
            <a:avLst/>
          </a:prstGeom>
        </p:spPr>
        <p:txBody>
          <a:bodyPr anchor="t" rtlCol="false" tIns="0" lIns="0" bIns="0" rIns="0">
            <a:spAutoFit/>
          </a:bodyPr>
          <a:lstStyle/>
          <a:p>
            <a:pPr algn="l">
              <a:lnSpc>
                <a:spcPts val="5241"/>
              </a:lnSpc>
            </a:pPr>
            <a:r>
              <a:rPr lang="en-US" sz="4200" b="true">
                <a:solidFill>
                  <a:srgbClr val="111111"/>
                </a:solidFill>
                <a:latin typeface="Arimo Bold"/>
                <a:ea typeface="Arimo Bold"/>
                <a:cs typeface="Arimo Bold"/>
                <a:sym typeface="Arimo Bold"/>
              </a:rPr>
              <a:t>Gazebo와 실물에서 확인한 로봇팔 동작</a:t>
            </a:r>
          </a:p>
        </p:txBody>
      </p:sp>
      <p:sp>
        <p:nvSpPr>
          <p:cNvPr name="TextBox 4" id="4"/>
          <p:cNvSpPr txBox="true"/>
          <p:nvPr/>
        </p:nvSpPr>
        <p:spPr>
          <a:xfrm rot="0">
            <a:off x="762000" y="1920878"/>
            <a:ext cx="1333500" cy="360045"/>
          </a:xfrm>
          <a:prstGeom prst="rect">
            <a:avLst/>
          </a:prstGeom>
        </p:spPr>
        <p:txBody>
          <a:bodyPr anchor="t" rtlCol="false" tIns="0" lIns="0" bIns="0" rIns="0">
            <a:spAutoFit/>
          </a:bodyPr>
          <a:lstStyle/>
          <a:p>
            <a:pPr algn="l">
              <a:lnSpc>
                <a:spcPts val="2496"/>
              </a:lnSpc>
            </a:pPr>
            <a:r>
              <a:rPr lang="en-US" sz="2000" b="true">
                <a:solidFill>
                  <a:srgbClr val="2734BF"/>
                </a:solidFill>
                <a:latin typeface="Arimo Bold"/>
                <a:ea typeface="Arimo Bold"/>
                <a:cs typeface="Arimo Bold"/>
                <a:sym typeface="Arimo Bold"/>
              </a:rPr>
              <a:t>작업 예시</a:t>
            </a:r>
          </a:p>
        </p:txBody>
      </p:sp>
      <p:sp>
        <p:nvSpPr>
          <p:cNvPr name="TextBox 5" id="5"/>
          <p:cNvSpPr txBox="true"/>
          <p:nvPr/>
        </p:nvSpPr>
        <p:spPr>
          <a:xfrm rot="0">
            <a:off x="2235203" y="1889122"/>
            <a:ext cx="14223997" cy="431673"/>
          </a:xfrm>
          <a:prstGeom prst="rect">
            <a:avLst/>
          </a:prstGeom>
        </p:spPr>
        <p:txBody>
          <a:bodyPr anchor="t" rtlCol="false" tIns="0" lIns="0" bIns="0" rIns="0">
            <a:spAutoFit/>
          </a:bodyPr>
          <a:lstStyle/>
          <a:p>
            <a:pPr algn="l">
              <a:lnSpc>
                <a:spcPts val="2870"/>
              </a:lnSpc>
            </a:pPr>
            <a:r>
              <a:rPr lang="en-US" sz="2300">
                <a:solidFill>
                  <a:srgbClr val="666666"/>
                </a:solidFill>
                <a:latin typeface="Arimo"/>
                <a:ea typeface="Arimo"/>
                <a:cs typeface="Arimo"/>
                <a:sym typeface="Arimo"/>
              </a:rPr>
              <a:t>“빨간 블록을 카운터로 옮겨줘”</a:t>
            </a:r>
          </a:p>
        </p:txBody>
      </p:sp>
      <p:grpSp>
        <p:nvGrpSpPr>
          <p:cNvPr name="Group 6" id="6"/>
          <p:cNvGrpSpPr/>
          <p:nvPr/>
        </p:nvGrpSpPr>
        <p:grpSpPr>
          <a:xfrm rot="0">
            <a:off x="744217" y="2661923"/>
            <a:ext cx="8188957" cy="6042660"/>
            <a:chOff x="0" y="0"/>
            <a:chExt cx="10918609" cy="8056880"/>
          </a:xfrm>
        </p:grpSpPr>
        <p:sp>
          <p:nvSpPr>
            <p:cNvPr name="Freeform 7" id="7"/>
            <p:cNvSpPr/>
            <p:nvPr/>
          </p:nvSpPr>
          <p:spPr>
            <a:xfrm flipH="false" flipV="false" rot="0">
              <a:off x="0" y="0"/>
              <a:ext cx="10918698" cy="8056880"/>
            </a:xfrm>
            <a:custGeom>
              <a:avLst/>
              <a:gdLst/>
              <a:ahLst/>
              <a:cxnLst/>
              <a:rect r="r" b="b" t="t" l="l"/>
              <a:pathLst>
                <a:path h="8056880" w="10918698">
                  <a:moveTo>
                    <a:pt x="0" y="136271"/>
                  </a:moveTo>
                  <a:cubicBezTo>
                    <a:pt x="0" y="60960"/>
                    <a:pt x="60960" y="0"/>
                    <a:pt x="136271" y="0"/>
                  </a:cubicBezTo>
                  <a:lnTo>
                    <a:pt x="10782427" y="0"/>
                  </a:lnTo>
                  <a:cubicBezTo>
                    <a:pt x="10857611" y="0"/>
                    <a:pt x="10918698" y="60960"/>
                    <a:pt x="10918698" y="136271"/>
                  </a:cubicBezTo>
                  <a:lnTo>
                    <a:pt x="10918698" y="7920609"/>
                  </a:lnTo>
                  <a:cubicBezTo>
                    <a:pt x="10918698" y="7995793"/>
                    <a:pt x="10857738" y="8056880"/>
                    <a:pt x="10782427" y="8056880"/>
                  </a:cubicBezTo>
                  <a:lnTo>
                    <a:pt x="136271" y="8056880"/>
                  </a:lnTo>
                  <a:cubicBezTo>
                    <a:pt x="60960" y="8056880"/>
                    <a:pt x="0" y="7995920"/>
                    <a:pt x="0" y="7920609"/>
                  </a:cubicBezTo>
                  <a:close/>
                </a:path>
              </a:pathLst>
            </a:custGeom>
            <a:solidFill>
              <a:srgbClr val="FFFFFF"/>
            </a:solidFill>
            <a:ln w="38100" cap="sq">
              <a:solidFill>
                <a:srgbClr val="111111"/>
              </a:solidFill>
              <a:prstDash val="solid"/>
              <a:miter/>
            </a:ln>
          </p:spPr>
        </p:sp>
      </p:grpSp>
      <p:grpSp>
        <p:nvGrpSpPr>
          <p:cNvPr name="Group 8" id="8"/>
          <p:cNvGrpSpPr/>
          <p:nvPr/>
        </p:nvGrpSpPr>
        <p:grpSpPr>
          <a:xfrm rot="0">
            <a:off x="9354817" y="2661923"/>
            <a:ext cx="8188957" cy="6042660"/>
            <a:chOff x="0" y="0"/>
            <a:chExt cx="10918609" cy="8056880"/>
          </a:xfrm>
        </p:grpSpPr>
        <p:sp>
          <p:nvSpPr>
            <p:cNvPr name="Freeform 9" id="9"/>
            <p:cNvSpPr/>
            <p:nvPr/>
          </p:nvSpPr>
          <p:spPr>
            <a:xfrm flipH="false" flipV="false" rot="0">
              <a:off x="0" y="0"/>
              <a:ext cx="10918698" cy="8056880"/>
            </a:xfrm>
            <a:custGeom>
              <a:avLst/>
              <a:gdLst/>
              <a:ahLst/>
              <a:cxnLst/>
              <a:rect r="r" b="b" t="t" l="l"/>
              <a:pathLst>
                <a:path h="8056880" w="10918698">
                  <a:moveTo>
                    <a:pt x="0" y="136271"/>
                  </a:moveTo>
                  <a:cubicBezTo>
                    <a:pt x="0" y="60960"/>
                    <a:pt x="60960" y="0"/>
                    <a:pt x="136271" y="0"/>
                  </a:cubicBezTo>
                  <a:lnTo>
                    <a:pt x="10782427" y="0"/>
                  </a:lnTo>
                  <a:cubicBezTo>
                    <a:pt x="10857611" y="0"/>
                    <a:pt x="10918698" y="60960"/>
                    <a:pt x="10918698" y="136271"/>
                  </a:cubicBezTo>
                  <a:lnTo>
                    <a:pt x="10918698" y="7920609"/>
                  </a:lnTo>
                  <a:cubicBezTo>
                    <a:pt x="10918698" y="7995793"/>
                    <a:pt x="10857738" y="8056880"/>
                    <a:pt x="10782427" y="8056880"/>
                  </a:cubicBezTo>
                  <a:lnTo>
                    <a:pt x="136271" y="8056880"/>
                  </a:lnTo>
                  <a:cubicBezTo>
                    <a:pt x="60960" y="8056880"/>
                    <a:pt x="0" y="7995920"/>
                    <a:pt x="0" y="7920609"/>
                  </a:cubicBezTo>
                  <a:close/>
                </a:path>
              </a:pathLst>
            </a:custGeom>
            <a:solidFill>
              <a:srgbClr val="FFFFFF"/>
            </a:solidFill>
            <a:ln w="38100" cap="sq">
              <a:solidFill>
                <a:srgbClr val="111111"/>
              </a:solidFill>
              <a:prstDash val="solid"/>
              <a:miter/>
            </a:ln>
          </p:spPr>
        </p:sp>
      </p:grpSp>
      <p:sp>
        <p:nvSpPr>
          <p:cNvPr name="TextBox 10" id="10"/>
          <p:cNvSpPr txBox="true"/>
          <p:nvPr/>
        </p:nvSpPr>
        <p:spPr>
          <a:xfrm rot="0">
            <a:off x="1016003" y="2917822"/>
            <a:ext cx="6159503" cy="431216"/>
          </a:xfrm>
          <a:prstGeom prst="rect">
            <a:avLst/>
          </a:prstGeom>
        </p:spPr>
        <p:txBody>
          <a:bodyPr anchor="t" rtlCol="false" tIns="0" lIns="0" bIns="0" rIns="0">
            <a:spAutoFit/>
          </a:bodyPr>
          <a:lstStyle/>
          <a:p>
            <a:pPr algn="l">
              <a:lnSpc>
                <a:spcPts val="3369"/>
              </a:lnSpc>
            </a:pPr>
            <a:r>
              <a:rPr lang="en-US" sz="2700" b="true">
                <a:solidFill>
                  <a:srgbClr val="2734BF"/>
                </a:solidFill>
                <a:latin typeface="Arimo Bold"/>
                <a:ea typeface="Arimo Bold"/>
                <a:cs typeface="Arimo Bold"/>
                <a:sym typeface="Arimo Bold"/>
              </a:rPr>
              <a:t>Gazebo : 전체 작업 흐름 확인</a:t>
            </a:r>
          </a:p>
        </p:txBody>
      </p:sp>
      <p:sp>
        <p:nvSpPr>
          <p:cNvPr name="TextBox 11" id="11"/>
          <p:cNvSpPr txBox="true"/>
          <p:nvPr/>
        </p:nvSpPr>
        <p:spPr>
          <a:xfrm rot="0">
            <a:off x="9626603" y="2917822"/>
            <a:ext cx="6159503" cy="431216"/>
          </a:xfrm>
          <a:prstGeom prst="rect">
            <a:avLst/>
          </a:prstGeom>
        </p:spPr>
        <p:txBody>
          <a:bodyPr anchor="t" rtlCol="false" tIns="0" lIns="0" bIns="0" rIns="0">
            <a:spAutoFit/>
          </a:bodyPr>
          <a:lstStyle/>
          <a:p>
            <a:pPr algn="l">
              <a:lnSpc>
                <a:spcPts val="3369"/>
              </a:lnSpc>
            </a:pPr>
            <a:r>
              <a:rPr lang="en-US" sz="2700" b="true">
                <a:solidFill>
                  <a:srgbClr val="2734BF"/>
                </a:solidFill>
                <a:latin typeface="Arimo Bold"/>
                <a:ea typeface="Arimo Bold"/>
                <a:cs typeface="Arimo Bold"/>
                <a:sym typeface="Arimo Bold"/>
              </a:rPr>
              <a:t>실물 : Pick, Place 실행</a:t>
            </a:r>
          </a:p>
        </p:txBody>
      </p:sp>
      <p:sp>
        <p:nvSpPr>
          <p:cNvPr name="TextBox 12" id="12"/>
          <p:cNvSpPr txBox="true"/>
          <p:nvPr/>
        </p:nvSpPr>
        <p:spPr>
          <a:xfrm rot="0">
            <a:off x="1028700" y="8137522"/>
            <a:ext cx="7620000" cy="358064"/>
          </a:xfrm>
          <a:prstGeom prst="rect">
            <a:avLst/>
          </a:prstGeom>
        </p:spPr>
        <p:txBody>
          <a:bodyPr anchor="t" rtlCol="false" tIns="0" lIns="0" bIns="0" rIns="0">
            <a:spAutoFit/>
          </a:bodyPr>
          <a:lstStyle/>
          <a:p>
            <a:pPr algn="l">
              <a:lnSpc>
                <a:spcPts val="2745"/>
              </a:lnSpc>
            </a:pPr>
            <a:r>
              <a:rPr lang="en-US" sz="2199" b="true">
                <a:solidFill>
                  <a:srgbClr val="111111"/>
                </a:solidFill>
                <a:latin typeface="Arimo Bold"/>
                <a:ea typeface="Arimo Bold"/>
                <a:cs typeface="Arimo Bold"/>
                <a:sym typeface="Arimo Bold"/>
              </a:rPr>
              <a:t>명령 → 집기 → 이동과 놓기 → 결과 확인</a:t>
            </a:r>
          </a:p>
        </p:txBody>
      </p:sp>
      <p:sp>
        <p:nvSpPr>
          <p:cNvPr name="TextBox 13" id="13"/>
          <p:cNvSpPr txBox="true"/>
          <p:nvPr/>
        </p:nvSpPr>
        <p:spPr>
          <a:xfrm rot="0">
            <a:off x="9639300" y="8137522"/>
            <a:ext cx="7620000" cy="358064"/>
          </a:xfrm>
          <a:prstGeom prst="rect">
            <a:avLst/>
          </a:prstGeom>
        </p:spPr>
        <p:txBody>
          <a:bodyPr anchor="t" rtlCol="false" tIns="0" lIns="0" bIns="0" rIns="0">
            <a:spAutoFit/>
          </a:bodyPr>
          <a:lstStyle/>
          <a:p>
            <a:pPr algn="l">
              <a:lnSpc>
                <a:spcPts val="2745"/>
              </a:lnSpc>
            </a:pPr>
            <a:r>
              <a:rPr lang="en-US" sz="2199" b="true">
                <a:solidFill>
                  <a:srgbClr val="111111"/>
                </a:solidFill>
                <a:latin typeface="Arimo Bold"/>
                <a:ea typeface="Arimo Bold"/>
                <a:cs typeface="Arimo Bold"/>
                <a:sym typeface="Arimo Bold"/>
              </a:rPr>
              <a:t>물체를 집고 내려놓는 </a:t>
            </a:r>
            <a:r>
              <a:rPr lang="en-US" sz="2199" b="true">
                <a:solidFill>
                  <a:srgbClr val="111111"/>
                </a:solidFill>
                <a:latin typeface="Arimo Bold"/>
                <a:ea typeface="Arimo Bold"/>
                <a:cs typeface="Arimo Bold"/>
                <a:sym typeface="Arimo Bold"/>
              </a:rPr>
              <a:t>실제 물체의 동작 확인</a:t>
            </a:r>
          </a:p>
        </p:txBody>
      </p:sp>
      <p:sp>
        <p:nvSpPr>
          <p:cNvPr name="TextBox 14" id="14"/>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5</a:t>
            </a:r>
          </a:p>
        </p:txBody>
      </p:sp>
      <p:grpSp>
        <p:nvGrpSpPr>
          <p:cNvPr name="Group 15" id="15"/>
          <p:cNvGrpSpPr/>
          <p:nvPr/>
        </p:nvGrpSpPr>
        <p:grpSpPr>
          <a:xfrm rot="0">
            <a:off x="1028705" y="3581400"/>
            <a:ext cx="7670797" cy="4314825"/>
            <a:chOff x="0" y="0"/>
            <a:chExt cx="10227729" cy="5753100"/>
          </a:xfrm>
        </p:grpSpPr>
        <p:sp>
          <p:nvSpPr>
            <p:cNvPr name="Freeform 16" id="16" descr="Gazebo 집기와 놓기 / Gazebo, 기존 3배속 유지 / 동영상 보기: https://kdm111.github.io/videos.html#video-p5_gazebo_pick_place"/>
            <p:cNvSpPr/>
            <p:nvPr/>
          </p:nvSpPr>
          <p:spPr>
            <a:xfrm flipH="false" flipV="false" rot="0">
              <a:off x="0" y="0"/>
              <a:ext cx="10227691" cy="5753100"/>
            </a:xfrm>
            <a:custGeom>
              <a:avLst/>
              <a:gdLst/>
              <a:ahLst/>
              <a:cxnLst/>
              <a:rect r="r" b="b" t="t" l="l"/>
              <a:pathLst>
                <a:path h="5753100" w="10227691">
                  <a:moveTo>
                    <a:pt x="0" y="0"/>
                  </a:moveTo>
                  <a:lnTo>
                    <a:pt x="10227691" y="0"/>
                  </a:lnTo>
                  <a:lnTo>
                    <a:pt x="10227691" y="5753100"/>
                  </a:lnTo>
                  <a:lnTo>
                    <a:pt x="0" y="5753100"/>
                  </a:lnTo>
                  <a:lnTo>
                    <a:pt x="0" y="0"/>
                  </a:lnTo>
                  <a:close/>
                </a:path>
              </a:pathLst>
            </a:custGeom>
            <a:blipFill>
              <a:blip r:embed="rId3"/>
              <a:stretch>
                <a:fillRect l="0" t="-36" r="0" b="-36"/>
              </a:stretch>
            </a:blipFill>
          </p:spPr>
        </p:sp>
      </p:grpSp>
      <p:grpSp>
        <p:nvGrpSpPr>
          <p:cNvPr name="Group 17" id="17"/>
          <p:cNvGrpSpPr/>
          <p:nvPr/>
        </p:nvGrpSpPr>
        <p:grpSpPr>
          <a:xfrm rot="0">
            <a:off x="9613897" y="3581400"/>
            <a:ext cx="7670797" cy="4314825"/>
            <a:chOff x="0" y="0"/>
            <a:chExt cx="10227729" cy="5753100"/>
          </a:xfrm>
        </p:grpSpPr>
        <p:sp>
          <p:nvSpPr>
            <p:cNvPr name="Freeform 18" id="18" descr="실물 집기와 놓기 / 실물 로봇 / 동영상 보기: https://kdm111.github.io/videos.html#video-p5_real_pick_place"/>
            <p:cNvSpPr/>
            <p:nvPr/>
          </p:nvSpPr>
          <p:spPr>
            <a:xfrm flipH="false" flipV="false" rot="0">
              <a:off x="0" y="0"/>
              <a:ext cx="10227691" cy="5753100"/>
            </a:xfrm>
            <a:custGeom>
              <a:avLst/>
              <a:gdLst/>
              <a:ahLst/>
              <a:cxnLst/>
              <a:rect r="r" b="b" t="t" l="l"/>
              <a:pathLst>
                <a:path h="5753100" w="10227691">
                  <a:moveTo>
                    <a:pt x="0" y="0"/>
                  </a:moveTo>
                  <a:lnTo>
                    <a:pt x="10227691" y="0"/>
                  </a:lnTo>
                  <a:lnTo>
                    <a:pt x="10227691" y="5753100"/>
                  </a:lnTo>
                  <a:lnTo>
                    <a:pt x="0" y="5753100"/>
                  </a:lnTo>
                  <a:lnTo>
                    <a:pt x="0" y="0"/>
                  </a:lnTo>
                  <a:close/>
                </a:path>
              </a:pathLst>
            </a:custGeom>
            <a:blipFill>
              <a:blip r:embed="rId4"/>
              <a:stretch>
                <a:fillRect l="0" t="-36" r="0" b="-36"/>
              </a:stretch>
            </a:blipFill>
          </p:spPr>
        </p:sp>
      </p:grpSp>
      <p:grpSp>
        <p:nvGrpSpPr>
          <p:cNvPr name="Group 19" id="19"/>
          <p:cNvGrpSpPr/>
          <p:nvPr/>
        </p:nvGrpSpPr>
        <p:grpSpPr>
          <a:xfrm rot="0">
            <a:off x="6326676" y="2812756"/>
            <a:ext cx="2219325" cy="669922"/>
            <a:chOff x="0" y="0"/>
            <a:chExt cx="2959100" cy="893229"/>
          </a:xfrm>
        </p:grpSpPr>
        <p:grpSp>
          <p:nvGrpSpPr>
            <p:cNvPr name="Group 20" id="20"/>
            <p:cNvGrpSpPr/>
            <p:nvPr/>
          </p:nvGrpSpPr>
          <p:grpSpPr>
            <a:xfrm rot="0">
              <a:off x="0" y="0"/>
              <a:ext cx="2959100" cy="893229"/>
              <a:chOff x="0" y="0"/>
              <a:chExt cx="2959100" cy="893229"/>
            </a:xfrm>
          </p:grpSpPr>
          <p:sp>
            <p:nvSpPr>
              <p:cNvPr name="Freeform 21" id="21"/>
              <p:cNvSpPr/>
              <p:nvPr/>
            </p:nvSpPr>
            <p:spPr>
              <a:xfrm flipH="false" flipV="false" rot="0">
                <a:off x="0" y="0"/>
                <a:ext cx="2959100" cy="893318"/>
              </a:xfrm>
              <a:custGeom>
                <a:avLst/>
                <a:gdLst/>
                <a:ahLst/>
                <a:cxnLst/>
                <a:rect r="r" b="b" t="t" l="l"/>
                <a:pathLst>
                  <a:path h="893318" w="2959100">
                    <a:moveTo>
                      <a:pt x="0" y="148463"/>
                    </a:moveTo>
                    <a:cubicBezTo>
                      <a:pt x="0" y="66421"/>
                      <a:pt x="66421" y="0"/>
                      <a:pt x="148463" y="0"/>
                    </a:cubicBezTo>
                    <a:lnTo>
                      <a:pt x="2810637" y="0"/>
                    </a:lnTo>
                    <a:cubicBezTo>
                      <a:pt x="2892679" y="0"/>
                      <a:pt x="2959100" y="66421"/>
                      <a:pt x="2959100" y="148463"/>
                    </a:cubicBezTo>
                    <a:lnTo>
                      <a:pt x="2959100" y="744855"/>
                    </a:lnTo>
                    <a:cubicBezTo>
                      <a:pt x="2959100" y="826770"/>
                      <a:pt x="2892679" y="893318"/>
                      <a:pt x="2810637" y="893318"/>
                    </a:cubicBezTo>
                    <a:lnTo>
                      <a:pt x="148463" y="893318"/>
                    </a:lnTo>
                    <a:cubicBezTo>
                      <a:pt x="66421" y="893191"/>
                      <a:pt x="0" y="826770"/>
                      <a:pt x="0" y="744855"/>
                    </a:cubicBezTo>
                    <a:close/>
                  </a:path>
                </a:pathLst>
              </a:custGeom>
              <a:solidFill>
                <a:srgbClr val="EEE9DF"/>
              </a:solidFill>
              <a:ln w="9525" cap="sq">
                <a:solidFill>
                  <a:srgbClr val="E9EEFF"/>
                </a:solidFill>
                <a:prstDash val="solid"/>
                <a:miter/>
              </a:ln>
            </p:spPr>
          </p:sp>
        </p:grpSp>
        <p:grpSp>
          <p:nvGrpSpPr>
            <p:cNvPr name="Group 22" id="22"/>
            <p:cNvGrpSpPr/>
            <p:nvPr/>
          </p:nvGrpSpPr>
          <p:grpSpPr>
            <a:xfrm rot="0">
              <a:off x="155388" y="6348"/>
              <a:ext cx="2648325" cy="880534"/>
              <a:chOff x="0" y="0"/>
              <a:chExt cx="2648325" cy="880534"/>
            </a:xfrm>
          </p:grpSpPr>
          <p:sp>
            <p:nvSpPr>
              <p:cNvPr name="Freeform 23" id="23"/>
              <p:cNvSpPr/>
              <p:nvPr/>
            </p:nvSpPr>
            <p:spPr>
              <a:xfrm flipH="false" flipV="false" rot="0">
                <a:off x="0" y="0"/>
                <a:ext cx="2648325" cy="880539"/>
              </a:xfrm>
              <a:custGeom>
                <a:avLst/>
                <a:gdLst/>
                <a:ahLst/>
                <a:cxnLst/>
                <a:rect r="r" b="b" t="t" l="l"/>
                <a:pathLst>
                  <a:path h="880539" w="2648325">
                    <a:moveTo>
                      <a:pt x="0" y="0"/>
                    </a:moveTo>
                    <a:lnTo>
                      <a:pt x="2648325" y="0"/>
                    </a:lnTo>
                    <a:lnTo>
                      <a:pt x="2648325" y="880539"/>
                    </a:lnTo>
                    <a:lnTo>
                      <a:pt x="0" y="880539"/>
                    </a:lnTo>
                    <a:close/>
                  </a:path>
                </a:pathLst>
              </a:custGeom>
              <a:blipFill>
                <a:blip r:embed="rId5">
                  <a:alphaModFix amt="0"/>
                </a:blip>
                <a:stretch>
                  <a:fillRect l="0" t="-15200" r="-11255" b="-15198"/>
                </a:stretch>
              </a:blipFill>
            </p:spPr>
          </p:sp>
          <p:sp>
            <p:nvSpPr>
              <p:cNvPr name="TextBox 24" id="24"/>
              <p:cNvSpPr txBox="true"/>
              <p:nvPr/>
            </p:nvSpPr>
            <p:spPr>
              <a:xfrm>
                <a:off x="0" y="-19050"/>
                <a:ext cx="2648325" cy="899584"/>
              </a:xfrm>
              <a:prstGeom prst="rect">
                <a:avLst/>
              </a:prstGeom>
            </p:spPr>
            <p:txBody>
              <a:bodyPr anchor="ctr" rtlCol="false" tIns="0" lIns="0" bIns="0" rIns="0"/>
              <a:lstStyle/>
              <a:p>
                <a:pPr algn="ctr">
                  <a:lnSpc>
                    <a:spcPts val="1980"/>
                  </a:lnSpc>
                </a:pPr>
                <a:r>
                  <a:rPr lang="en-US" b="true" sz="1650" u="sng">
                    <a:solidFill>
                      <a:srgbClr val="111111"/>
                    </a:solidFill>
                    <a:latin typeface="Arimo Bold"/>
                    <a:ea typeface="Arimo Bold"/>
                    <a:cs typeface="Arimo Bold"/>
                    <a:sym typeface="Arimo Bold"/>
                    <a:hlinkClick r:id="rId6" tooltip="https://kdm111.github.io/assets/videos/p5_gazebo_pick_place.mp4"/>
                  </a:rPr>
                  <a:t>▶</a:t>
                </a:r>
                <a:r>
                  <a:rPr lang="en-US" b="true" sz="1650" u="sng">
                    <a:solidFill>
                      <a:srgbClr val="111111"/>
                    </a:solidFill>
                    <a:latin typeface="Arimo Bold"/>
                    <a:ea typeface="Arimo Bold"/>
                    <a:cs typeface="Arimo Bold"/>
                    <a:sym typeface="Arimo Bold"/>
                    <a:hlinkClick r:id="rId7" tooltip="https://kdm111.github.io/assets/videos/p5_gazebo_pick_place.mp4"/>
                  </a:rPr>
                  <a:t> 비디오 재생</a:t>
                </a:r>
              </a:p>
            </p:txBody>
          </p:sp>
        </p:grpSp>
      </p:grpSp>
      <p:grpSp>
        <p:nvGrpSpPr>
          <p:cNvPr name="Group 25" id="25"/>
          <p:cNvGrpSpPr/>
          <p:nvPr/>
        </p:nvGrpSpPr>
        <p:grpSpPr>
          <a:xfrm rot="0">
            <a:off x="15020925" y="2812756"/>
            <a:ext cx="2219325" cy="669922"/>
            <a:chOff x="0" y="0"/>
            <a:chExt cx="2959100" cy="893229"/>
          </a:xfrm>
        </p:grpSpPr>
        <p:grpSp>
          <p:nvGrpSpPr>
            <p:cNvPr name="Group 26" id="26"/>
            <p:cNvGrpSpPr/>
            <p:nvPr/>
          </p:nvGrpSpPr>
          <p:grpSpPr>
            <a:xfrm rot="0">
              <a:off x="0" y="0"/>
              <a:ext cx="2959100" cy="893229"/>
              <a:chOff x="0" y="0"/>
              <a:chExt cx="2959100" cy="893229"/>
            </a:xfrm>
          </p:grpSpPr>
          <p:sp>
            <p:nvSpPr>
              <p:cNvPr name="Freeform 27" id="27"/>
              <p:cNvSpPr/>
              <p:nvPr/>
            </p:nvSpPr>
            <p:spPr>
              <a:xfrm flipH="false" flipV="false" rot="0">
                <a:off x="0" y="0"/>
                <a:ext cx="2959100" cy="893318"/>
              </a:xfrm>
              <a:custGeom>
                <a:avLst/>
                <a:gdLst/>
                <a:ahLst/>
                <a:cxnLst/>
                <a:rect r="r" b="b" t="t" l="l"/>
                <a:pathLst>
                  <a:path h="893318" w="2959100">
                    <a:moveTo>
                      <a:pt x="0" y="148463"/>
                    </a:moveTo>
                    <a:cubicBezTo>
                      <a:pt x="0" y="66421"/>
                      <a:pt x="66421" y="0"/>
                      <a:pt x="148463" y="0"/>
                    </a:cubicBezTo>
                    <a:lnTo>
                      <a:pt x="2810637" y="0"/>
                    </a:lnTo>
                    <a:cubicBezTo>
                      <a:pt x="2892679" y="0"/>
                      <a:pt x="2959100" y="66421"/>
                      <a:pt x="2959100" y="148463"/>
                    </a:cubicBezTo>
                    <a:lnTo>
                      <a:pt x="2959100" y="744855"/>
                    </a:lnTo>
                    <a:cubicBezTo>
                      <a:pt x="2959100" y="826770"/>
                      <a:pt x="2892679" y="893318"/>
                      <a:pt x="2810637" y="893318"/>
                    </a:cubicBezTo>
                    <a:lnTo>
                      <a:pt x="148463" y="893318"/>
                    </a:lnTo>
                    <a:cubicBezTo>
                      <a:pt x="66421" y="893191"/>
                      <a:pt x="0" y="826770"/>
                      <a:pt x="0" y="744855"/>
                    </a:cubicBezTo>
                    <a:close/>
                  </a:path>
                </a:pathLst>
              </a:custGeom>
              <a:solidFill>
                <a:srgbClr val="EEE9DF"/>
              </a:solidFill>
              <a:ln w="9525" cap="sq">
                <a:solidFill>
                  <a:srgbClr val="E9EEFF"/>
                </a:solidFill>
                <a:prstDash val="solid"/>
                <a:miter/>
              </a:ln>
            </p:spPr>
          </p:sp>
        </p:grpSp>
        <p:grpSp>
          <p:nvGrpSpPr>
            <p:cNvPr name="Group 28" id="28"/>
            <p:cNvGrpSpPr/>
            <p:nvPr/>
          </p:nvGrpSpPr>
          <p:grpSpPr>
            <a:xfrm rot="0">
              <a:off x="155388" y="6348"/>
              <a:ext cx="2648325" cy="880534"/>
              <a:chOff x="0" y="0"/>
              <a:chExt cx="2648325" cy="880534"/>
            </a:xfrm>
          </p:grpSpPr>
          <p:sp>
            <p:nvSpPr>
              <p:cNvPr name="Freeform 29" id="29"/>
              <p:cNvSpPr/>
              <p:nvPr/>
            </p:nvSpPr>
            <p:spPr>
              <a:xfrm flipH="false" flipV="false" rot="0">
                <a:off x="0" y="0"/>
                <a:ext cx="2648325" cy="880539"/>
              </a:xfrm>
              <a:custGeom>
                <a:avLst/>
                <a:gdLst/>
                <a:ahLst/>
                <a:cxnLst/>
                <a:rect r="r" b="b" t="t" l="l"/>
                <a:pathLst>
                  <a:path h="880539" w="2648325">
                    <a:moveTo>
                      <a:pt x="0" y="0"/>
                    </a:moveTo>
                    <a:lnTo>
                      <a:pt x="2648325" y="0"/>
                    </a:lnTo>
                    <a:lnTo>
                      <a:pt x="2648325" y="880539"/>
                    </a:lnTo>
                    <a:lnTo>
                      <a:pt x="0" y="880539"/>
                    </a:lnTo>
                    <a:close/>
                  </a:path>
                </a:pathLst>
              </a:custGeom>
              <a:blipFill>
                <a:blip r:embed="rId5">
                  <a:alphaModFix amt="0"/>
                </a:blip>
                <a:stretch>
                  <a:fillRect l="0" t="-15200" r="-11255" b="-15198"/>
                </a:stretch>
              </a:blipFill>
            </p:spPr>
          </p:sp>
          <p:sp>
            <p:nvSpPr>
              <p:cNvPr name="TextBox 30" id="30"/>
              <p:cNvSpPr txBox="true"/>
              <p:nvPr/>
            </p:nvSpPr>
            <p:spPr>
              <a:xfrm>
                <a:off x="0" y="-19050"/>
                <a:ext cx="2648325" cy="899584"/>
              </a:xfrm>
              <a:prstGeom prst="rect">
                <a:avLst/>
              </a:prstGeom>
            </p:spPr>
            <p:txBody>
              <a:bodyPr anchor="ctr" rtlCol="false" tIns="0" lIns="0" bIns="0" rIns="0"/>
              <a:lstStyle/>
              <a:p>
                <a:pPr algn="ctr">
                  <a:lnSpc>
                    <a:spcPts val="1980"/>
                  </a:lnSpc>
                </a:pPr>
                <a:r>
                  <a:rPr lang="en-US" b="true" sz="1650" u="sng">
                    <a:solidFill>
                      <a:srgbClr val="111111"/>
                    </a:solidFill>
                    <a:latin typeface="Arimo Bold"/>
                    <a:ea typeface="Arimo Bold"/>
                    <a:cs typeface="Arimo Bold"/>
                    <a:sym typeface="Arimo Bold"/>
                    <a:hlinkClick r:id="rId8" tooltip="https://kdm111.github.io/assets/videos/p5_real_pick_place.mp4"/>
                  </a:rPr>
                  <a:t>▶</a:t>
                </a:r>
                <a:r>
                  <a:rPr lang="en-US" b="true" sz="1650" u="sng">
                    <a:solidFill>
                      <a:srgbClr val="111111"/>
                    </a:solidFill>
                    <a:latin typeface="Arimo Bold"/>
                    <a:ea typeface="Arimo Bold"/>
                    <a:cs typeface="Arimo Bold"/>
                    <a:sym typeface="Arimo Bold"/>
                    <a:hlinkClick r:id="rId9" tooltip="https://kdm111.github.io/assets/videos/p5_real_pick_place.mp4"/>
                  </a:rPr>
                  <a:t> 비디오 재생</a:t>
                </a:r>
              </a:p>
            </p:txBody>
          </p:sp>
        </p:gr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grpSp>
        <p:nvGrpSpPr>
          <p:cNvPr name="Group 2" id="2"/>
          <p:cNvGrpSpPr/>
          <p:nvPr/>
        </p:nvGrpSpPr>
        <p:grpSpPr>
          <a:xfrm rot="0">
            <a:off x="768668" y="556813"/>
            <a:ext cx="6350003" cy="355601"/>
            <a:chOff x="0" y="0"/>
            <a:chExt cx="8466671" cy="474134"/>
          </a:xfrm>
        </p:grpSpPr>
        <p:sp>
          <p:nvSpPr>
            <p:cNvPr name="Freeform 3" id="3"/>
            <p:cNvSpPr/>
            <p:nvPr/>
          </p:nvSpPr>
          <p:spPr>
            <a:xfrm flipH="false" flipV="false" rot="0">
              <a:off x="0" y="0"/>
              <a:ext cx="8466666" cy="474139"/>
            </a:xfrm>
            <a:custGeom>
              <a:avLst/>
              <a:gdLst/>
              <a:ahLst/>
              <a:cxnLst/>
              <a:rect r="r" b="b" t="t" l="l"/>
              <a:pathLst>
                <a:path h="474139" w="8466666">
                  <a:moveTo>
                    <a:pt x="0" y="0"/>
                  </a:moveTo>
                  <a:lnTo>
                    <a:pt x="8466666" y="0"/>
                  </a:lnTo>
                  <a:lnTo>
                    <a:pt x="8466666" y="474139"/>
                  </a:lnTo>
                  <a:lnTo>
                    <a:pt x="0" y="474139"/>
                  </a:lnTo>
                  <a:close/>
                </a:path>
              </a:pathLst>
            </a:custGeom>
            <a:blipFill>
              <a:blip r:embed="rId3">
                <a:alphaModFix amt="0"/>
              </a:blip>
              <a:stretch>
                <a:fillRect l="0" t="-297944" r="0" b="-297942"/>
              </a:stretch>
            </a:blipFill>
          </p:spPr>
        </p:sp>
        <p:sp>
          <p:nvSpPr>
            <p:cNvPr name="TextBox 4" id="4"/>
            <p:cNvSpPr txBox="true"/>
            <p:nvPr/>
          </p:nvSpPr>
          <p:spPr>
            <a:xfrm>
              <a:off x="0" y="-19050"/>
              <a:ext cx="8466671" cy="493184"/>
            </a:xfrm>
            <a:prstGeom prst="rect">
              <a:avLst/>
            </a:prstGeom>
          </p:spPr>
          <p:txBody>
            <a:bodyPr anchor="ctr" rtlCol="false" tIns="0" lIns="0" bIns="0" rIns="0"/>
            <a:lstStyle/>
            <a:p>
              <a:pPr algn="l">
                <a:lnSpc>
                  <a:spcPts val="1800"/>
                </a:lnSpc>
              </a:pPr>
              <a:r>
                <a:rPr lang="en-US" sz="1500" b="true">
                  <a:solidFill>
                    <a:srgbClr val="66645F"/>
                  </a:solidFill>
                  <a:latin typeface="Arimo Bold"/>
                  <a:ea typeface="Arimo Bold"/>
                  <a:cs typeface="Arimo Bold"/>
                  <a:sym typeface="Arimo Bold"/>
                </a:rPr>
                <a:t>LARO-BOT</a:t>
              </a:r>
            </a:p>
          </p:txBody>
        </p:sp>
      </p:grpSp>
      <p:grpSp>
        <p:nvGrpSpPr>
          <p:cNvPr name="Group 5" id="5"/>
          <p:cNvGrpSpPr/>
          <p:nvPr/>
        </p:nvGrpSpPr>
        <p:grpSpPr>
          <a:xfrm rot="0">
            <a:off x="762000" y="912410"/>
            <a:ext cx="16256003" cy="856692"/>
            <a:chOff x="0" y="0"/>
            <a:chExt cx="21674671" cy="1142256"/>
          </a:xfrm>
        </p:grpSpPr>
        <p:sp>
          <p:nvSpPr>
            <p:cNvPr name="Freeform 6" id="6"/>
            <p:cNvSpPr/>
            <p:nvPr/>
          </p:nvSpPr>
          <p:spPr>
            <a:xfrm flipH="false" flipV="false" rot="0">
              <a:off x="0" y="0"/>
              <a:ext cx="21674666" cy="1142261"/>
            </a:xfrm>
            <a:custGeom>
              <a:avLst/>
              <a:gdLst/>
              <a:ahLst/>
              <a:cxnLst/>
              <a:rect r="r" b="b" t="t" l="l"/>
              <a:pathLst>
                <a:path h="1142261" w="21674666">
                  <a:moveTo>
                    <a:pt x="0" y="0"/>
                  </a:moveTo>
                  <a:lnTo>
                    <a:pt x="21674666" y="0"/>
                  </a:lnTo>
                  <a:lnTo>
                    <a:pt x="21674666" y="1142261"/>
                  </a:lnTo>
                  <a:lnTo>
                    <a:pt x="0" y="1142261"/>
                  </a:lnTo>
                  <a:close/>
                </a:path>
              </a:pathLst>
            </a:custGeom>
            <a:blipFill>
              <a:blip r:embed="rId3">
                <a:alphaModFix amt="0"/>
              </a:blip>
              <a:stretch>
                <a:fillRect l="0" t="-328966" r="0" b="-310500"/>
              </a:stretch>
            </a:blipFill>
          </p:spPr>
        </p:sp>
        <p:sp>
          <p:nvSpPr>
            <p:cNvPr name="TextBox 7" id="7"/>
            <p:cNvSpPr txBox="true"/>
            <p:nvPr/>
          </p:nvSpPr>
          <p:spPr>
            <a:xfrm>
              <a:off x="0" y="-19050"/>
              <a:ext cx="21674671" cy="1161306"/>
            </a:xfrm>
            <a:prstGeom prst="rect">
              <a:avLst/>
            </a:prstGeom>
          </p:spPr>
          <p:txBody>
            <a:bodyPr anchor="ctr" rtlCol="false" tIns="0" lIns="0" bIns="0" rIns="0"/>
            <a:lstStyle/>
            <a:p>
              <a:pPr algn="l">
                <a:lnSpc>
                  <a:spcPts val="5040"/>
                </a:lnSpc>
              </a:pPr>
              <a:r>
                <a:rPr lang="en-US" sz="4200" b="true">
                  <a:solidFill>
                    <a:srgbClr val="111111"/>
                  </a:solidFill>
                  <a:latin typeface="Arimo Bold"/>
                  <a:ea typeface="Arimo Bold"/>
                  <a:cs typeface="Arimo Bold"/>
                  <a:sym typeface="Arimo Bold"/>
                </a:rPr>
                <a:t>자연어 명령과 실행 흐름</a:t>
              </a:r>
            </a:p>
          </p:txBody>
        </p:sp>
      </p:grpSp>
      <p:grpSp>
        <p:nvGrpSpPr>
          <p:cNvPr name="Group 8" id="8"/>
          <p:cNvGrpSpPr/>
          <p:nvPr/>
        </p:nvGrpSpPr>
        <p:grpSpPr>
          <a:xfrm rot="0">
            <a:off x="757238" y="2117722"/>
            <a:ext cx="9693907" cy="1642110"/>
            <a:chOff x="0" y="0"/>
            <a:chExt cx="12925209" cy="2189480"/>
          </a:xfrm>
        </p:grpSpPr>
        <p:sp>
          <p:nvSpPr>
            <p:cNvPr name="Freeform 9" id="9"/>
            <p:cNvSpPr/>
            <p:nvPr/>
          </p:nvSpPr>
          <p:spPr>
            <a:xfrm flipH="false" flipV="false" rot="0">
              <a:off x="0" y="0"/>
              <a:ext cx="12925172" cy="2189480"/>
            </a:xfrm>
            <a:custGeom>
              <a:avLst/>
              <a:gdLst/>
              <a:ahLst/>
              <a:cxnLst/>
              <a:rect r="r" b="b" t="t" l="l"/>
              <a:pathLst>
                <a:path h="2189480" w="12925172">
                  <a:moveTo>
                    <a:pt x="0" y="150114"/>
                  </a:moveTo>
                  <a:cubicBezTo>
                    <a:pt x="0" y="67183"/>
                    <a:pt x="67183" y="0"/>
                    <a:pt x="150114" y="0"/>
                  </a:cubicBezTo>
                  <a:lnTo>
                    <a:pt x="12775057" y="0"/>
                  </a:lnTo>
                  <a:cubicBezTo>
                    <a:pt x="12857988" y="0"/>
                    <a:pt x="12925172" y="67183"/>
                    <a:pt x="12925172" y="150114"/>
                  </a:cubicBezTo>
                  <a:lnTo>
                    <a:pt x="12925172" y="2039366"/>
                  </a:lnTo>
                  <a:cubicBezTo>
                    <a:pt x="12925172" y="2122297"/>
                    <a:pt x="12857988" y="2189480"/>
                    <a:pt x="12775057" y="2189480"/>
                  </a:cubicBezTo>
                  <a:lnTo>
                    <a:pt x="150114" y="2189480"/>
                  </a:lnTo>
                  <a:cubicBezTo>
                    <a:pt x="67183" y="2189480"/>
                    <a:pt x="0" y="2122297"/>
                    <a:pt x="0" y="2039366"/>
                  </a:cubicBezTo>
                  <a:close/>
                </a:path>
              </a:pathLst>
            </a:custGeom>
            <a:solidFill>
              <a:srgbClr val="E9EEFF"/>
            </a:solidFill>
            <a:ln w="19050" cap="sq">
              <a:solidFill>
                <a:srgbClr val="111111"/>
              </a:solidFill>
              <a:prstDash val="solid"/>
              <a:miter/>
            </a:ln>
          </p:spPr>
        </p:sp>
      </p:grpSp>
      <p:grpSp>
        <p:nvGrpSpPr>
          <p:cNvPr name="Group 10" id="10"/>
          <p:cNvGrpSpPr/>
          <p:nvPr/>
        </p:nvGrpSpPr>
        <p:grpSpPr>
          <a:xfrm rot="0">
            <a:off x="1108396" y="2303783"/>
            <a:ext cx="3810000" cy="342900"/>
            <a:chOff x="0" y="0"/>
            <a:chExt cx="5080000" cy="457200"/>
          </a:xfrm>
        </p:grpSpPr>
        <p:sp>
          <p:nvSpPr>
            <p:cNvPr name="Freeform 11" id="11"/>
            <p:cNvSpPr/>
            <p:nvPr/>
          </p:nvSpPr>
          <p:spPr>
            <a:xfrm flipH="false" flipV="false" rot="0">
              <a:off x="0" y="0"/>
              <a:ext cx="5080000" cy="457200"/>
            </a:xfrm>
            <a:custGeom>
              <a:avLst/>
              <a:gdLst/>
              <a:ahLst/>
              <a:cxnLst/>
              <a:rect r="r" b="b" t="t" l="l"/>
              <a:pathLst>
                <a:path h="457200" w="5080000">
                  <a:moveTo>
                    <a:pt x="0" y="0"/>
                  </a:moveTo>
                  <a:lnTo>
                    <a:pt x="5080000" y="0"/>
                  </a:lnTo>
                  <a:lnTo>
                    <a:pt x="5080000" y="457200"/>
                  </a:lnTo>
                  <a:lnTo>
                    <a:pt x="0" y="457200"/>
                  </a:lnTo>
                  <a:close/>
                </a:path>
              </a:pathLst>
            </a:custGeom>
            <a:blipFill>
              <a:blip r:embed="rId3">
                <a:alphaModFix amt="0"/>
              </a:blip>
              <a:stretch>
                <a:fillRect l="0" t="-166500" r="0" b="-166500"/>
              </a:stretch>
            </a:blipFill>
          </p:spPr>
        </p:sp>
        <p:sp>
          <p:nvSpPr>
            <p:cNvPr name="TextBox 12" id="12"/>
            <p:cNvSpPr txBox="true"/>
            <p:nvPr/>
          </p:nvSpPr>
          <p:spPr>
            <a:xfrm>
              <a:off x="0" y="-19050"/>
              <a:ext cx="5080000" cy="476250"/>
            </a:xfrm>
            <a:prstGeom prst="rect">
              <a:avLst/>
            </a:prstGeom>
          </p:spPr>
          <p:txBody>
            <a:bodyPr anchor="ctr" rtlCol="false" tIns="0" lIns="0" bIns="0" rIns="0"/>
            <a:lstStyle/>
            <a:p>
              <a:pPr algn="l">
                <a:lnSpc>
                  <a:spcPts val="1530"/>
                </a:lnSpc>
              </a:pPr>
              <a:r>
                <a:rPr lang="en-US" b="true" sz="1275">
                  <a:solidFill>
                    <a:srgbClr val="1B2CC1"/>
                  </a:solidFill>
                  <a:latin typeface="Arimo Bold"/>
                  <a:ea typeface="Arimo Bold"/>
                  <a:cs typeface="Arimo Bold"/>
                  <a:sym typeface="Arimo Bold"/>
                </a:rPr>
                <a:t>사용자 명령 예시</a:t>
              </a:r>
            </a:p>
          </p:txBody>
        </p:sp>
      </p:grpSp>
      <p:grpSp>
        <p:nvGrpSpPr>
          <p:cNvPr name="Group 13" id="13"/>
          <p:cNvGrpSpPr/>
          <p:nvPr/>
        </p:nvGrpSpPr>
        <p:grpSpPr>
          <a:xfrm rot="0">
            <a:off x="1108396" y="2748277"/>
            <a:ext cx="8763000" cy="507997"/>
            <a:chOff x="0" y="0"/>
            <a:chExt cx="11684000" cy="677329"/>
          </a:xfrm>
        </p:grpSpPr>
        <p:sp>
          <p:nvSpPr>
            <p:cNvPr name="Freeform 14" id="14"/>
            <p:cNvSpPr/>
            <p:nvPr/>
          </p:nvSpPr>
          <p:spPr>
            <a:xfrm flipH="false" flipV="false" rot="0">
              <a:off x="0" y="0"/>
              <a:ext cx="11684000" cy="677334"/>
            </a:xfrm>
            <a:custGeom>
              <a:avLst/>
              <a:gdLst/>
              <a:ahLst/>
              <a:cxnLst/>
              <a:rect r="r" b="b" t="t" l="l"/>
              <a:pathLst>
                <a:path h="677334" w="11684000">
                  <a:moveTo>
                    <a:pt x="0" y="0"/>
                  </a:moveTo>
                  <a:lnTo>
                    <a:pt x="11684000" y="0"/>
                  </a:lnTo>
                  <a:lnTo>
                    <a:pt x="11684000" y="677334"/>
                  </a:lnTo>
                  <a:lnTo>
                    <a:pt x="0" y="677334"/>
                  </a:lnTo>
                  <a:close/>
                </a:path>
              </a:pathLst>
            </a:custGeom>
            <a:blipFill>
              <a:blip r:embed="rId3">
                <a:alphaModFix amt="0"/>
              </a:blip>
              <a:stretch>
                <a:fillRect l="0" t="-286116" r="0" b="-286116"/>
              </a:stretch>
            </a:blipFill>
          </p:spPr>
        </p:sp>
        <p:sp>
          <p:nvSpPr>
            <p:cNvPr name="TextBox 15" id="15"/>
            <p:cNvSpPr txBox="true"/>
            <p:nvPr/>
          </p:nvSpPr>
          <p:spPr>
            <a:xfrm>
              <a:off x="0" y="-19050"/>
              <a:ext cx="11684000" cy="696379"/>
            </a:xfrm>
            <a:prstGeom prst="rect">
              <a:avLst/>
            </a:prstGeom>
          </p:spPr>
          <p:txBody>
            <a:bodyPr anchor="ctr" rtlCol="false" tIns="0" lIns="0" bIns="0" rIns="0"/>
            <a:lstStyle/>
            <a:p>
              <a:pPr algn="l">
                <a:lnSpc>
                  <a:spcPts val="3150"/>
                </a:lnSpc>
              </a:pPr>
              <a:r>
                <a:rPr lang="en-US" sz="2625" b="true">
                  <a:solidFill>
                    <a:srgbClr val="111111"/>
                  </a:solidFill>
                  <a:latin typeface="Arimo Bold"/>
                  <a:ea typeface="Arimo Bold"/>
                  <a:cs typeface="Arimo Bold"/>
                  <a:sym typeface="Arimo Bold"/>
                </a:rPr>
                <a:t>“カウンターの赤いブロックを棚に移して”</a:t>
              </a:r>
            </a:p>
          </p:txBody>
        </p:sp>
      </p:grpSp>
      <p:grpSp>
        <p:nvGrpSpPr>
          <p:cNvPr name="Group 16" id="16"/>
          <p:cNvGrpSpPr/>
          <p:nvPr/>
        </p:nvGrpSpPr>
        <p:grpSpPr>
          <a:xfrm rot="0">
            <a:off x="1108396" y="3281677"/>
            <a:ext cx="6350003" cy="304800"/>
            <a:chOff x="0" y="0"/>
            <a:chExt cx="8466671" cy="406400"/>
          </a:xfrm>
        </p:grpSpPr>
        <p:sp>
          <p:nvSpPr>
            <p:cNvPr name="Freeform 17" id="17"/>
            <p:cNvSpPr/>
            <p:nvPr/>
          </p:nvSpPr>
          <p:spPr>
            <a:xfrm flipH="false" flipV="false" rot="0">
              <a:off x="0" y="0"/>
              <a:ext cx="8466666" cy="406400"/>
            </a:xfrm>
            <a:custGeom>
              <a:avLst/>
              <a:gdLst/>
              <a:ahLst/>
              <a:cxnLst/>
              <a:rect r="r" b="b" t="t" l="l"/>
              <a:pathLst>
                <a:path h="406400" w="8466666">
                  <a:moveTo>
                    <a:pt x="0" y="0"/>
                  </a:moveTo>
                  <a:lnTo>
                    <a:pt x="8466666" y="0"/>
                  </a:lnTo>
                  <a:lnTo>
                    <a:pt x="8466666" y="406400"/>
                  </a:lnTo>
                  <a:lnTo>
                    <a:pt x="0" y="406400"/>
                  </a:lnTo>
                  <a:close/>
                </a:path>
              </a:pathLst>
            </a:custGeom>
            <a:blipFill>
              <a:blip r:embed="rId3">
                <a:alphaModFix amt="0"/>
              </a:blip>
              <a:stretch>
                <a:fillRect l="0" t="-355938" r="0" b="-355938"/>
              </a:stretch>
            </a:blipFill>
          </p:spPr>
        </p:sp>
        <p:sp>
          <p:nvSpPr>
            <p:cNvPr name="TextBox 18" id="18"/>
            <p:cNvSpPr txBox="true"/>
            <p:nvPr/>
          </p:nvSpPr>
          <p:spPr>
            <a:xfrm>
              <a:off x="0" y="-19050"/>
              <a:ext cx="8466671" cy="425450"/>
            </a:xfrm>
            <a:prstGeom prst="rect">
              <a:avLst/>
            </a:prstGeom>
          </p:spPr>
          <p:txBody>
            <a:bodyPr anchor="ctr" rtlCol="false" tIns="0" lIns="0" bIns="0" rIns="0"/>
            <a:lstStyle/>
            <a:p>
              <a:pPr algn="l">
                <a:lnSpc>
                  <a:spcPts val="1709"/>
                </a:lnSpc>
              </a:pPr>
              <a:r>
                <a:rPr lang="en-US" sz="1425">
                  <a:solidFill>
                    <a:srgbClr val="66645F"/>
                  </a:solidFill>
                  <a:latin typeface="Arimo"/>
                  <a:ea typeface="Arimo"/>
                  <a:cs typeface="Arimo"/>
                  <a:sym typeface="Arimo"/>
                </a:rPr>
                <a:t>카운터의 빨간 블록을 선반으로 옮겨줘</a:t>
              </a:r>
            </a:p>
          </p:txBody>
        </p:sp>
      </p:grpSp>
      <p:grpSp>
        <p:nvGrpSpPr>
          <p:cNvPr name="Group 19" id="19"/>
          <p:cNvGrpSpPr/>
          <p:nvPr/>
        </p:nvGrpSpPr>
        <p:grpSpPr>
          <a:xfrm rot="0">
            <a:off x="757238" y="6475095"/>
            <a:ext cx="9693907" cy="1794510"/>
            <a:chOff x="0" y="0"/>
            <a:chExt cx="12925209" cy="2392680"/>
          </a:xfrm>
        </p:grpSpPr>
        <p:sp>
          <p:nvSpPr>
            <p:cNvPr name="Freeform 20" id="20"/>
            <p:cNvSpPr/>
            <p:nvPr/>
          </p:nvSpPr>
          <p:spPr>
            <a:xfrm flipH="false" flipV="false" rot="0">
              <a:off x="0" y="0"/>
              <a:ext cx="12925298" cy="2392680"/>
            </a:xfrm>
            <a:custGeom>
              <a:avLst/>
              <a:gdLst/>
              <a:ahLst/>
              <a:cxnLst/>
              <a:rect r="r" b="b" t="t" l="l"/>
              <a:pathLst>
                <a:path h="2392680" w="12925298">
                  <a:moveTo>
                    <a:pt x="0" y="149860"/>
                  </a:moveTo>
                  <a:cubicBezTo>
                    <a:pt x="0" y="67056"/>
                    <a:pt x="67056" y="0"/>
                    <a:pt x="149860" y="0"/>
                  </a:cubicBezTo>
                  <a:lnTo>
                    <a:pt x="12775438" y="0"/>
                  </a:lnTo>
                  <a:cubicBezTo>
                    <a:pt x="12858115" y="0"/>
                    <a:pt x="12925298" y="67056"/>
                    <a:pt x="12925298" y="149860"/>
                  </a:cubicBezTo>
                  <a:lnTo>
                    <a:pt x="12925298" y="2242820"/>
                  </a:lnTo>
                  <a:cubicBezTo>
                    <a:pt x="12925298" y="2325497"/>
                    <a:pt x="12858242" y="2392680"/>
                    <a:pt x="12775438" y="2392680"/>
                  </a:cubicBezTo>
                  <a:lnTo>
                    <a:pt x="149860" y="2392680"/>
                  </a:lnTo>
                  <a:cubicBezTo>
                    <a:pt x="67056" y="2392680"/>
                    <a:pt x="0" y="2325624"/>
                    <a:pt x="0" y="2242820"/>
                  </a:cubicBezTo>
                  <a:close/>
                </a:path>
              </a:pathLst>
            </a:custGeom>
            <a:solidFill>
              <a:srgbClr val="FFFFFF"/>
            </a:solidFill>
            <a:ln w="19050" cap="sq">
              <a:solidFill>
                <a:srgbClr val="111111"/>
              </a:solidFill>
              <a:prstDash val="solid"/>
              <a:miter/>
            </a:ln>
          </p:spPr>
        </p:sp>
      </p:grpSp>
      <p:grpSp>
        <p:nvGrpSpPr>
          <p:cNvPr name="Group 21" id="21"/>
          <p:cNvGrpSpPr/>
          <p:nvPr/>
        </p:nvGrpSpPr>
        <p:grpSpPr>
          <a:xfrm rot="0">
            <a:off x="1108396" y="6769103"/>
            <a:ext cx="3810000" cy="381000"/>
            <a:chOff x="0" y="0"/>
            <a:chExt cx="5080000" cy="508000"/>
          </a:xfrm>
        </p:grpSpPr>
        <p:sp>
          <p:nvSpPr>
            <p:cNvPr name="Freeform 22" id="22"/>
            <p:cNvSpPr/>
            <p:nvPr/>
          </p:nvSpPr>
          <p:spPr>
            <a:xfrm flipH="false" flipV="false" rot="0">
              <a:off x="0" y="0"/>
              <a:ext cx="5080000" cy="508000"/>
            </a:xfrm>
            <a:custGeom>
              <a:avLst/>
              <a:gdLst/>
              <a:ahLst/>
              <a:cxnLst/>
              <a:rect r="r" b="b" t="t" l="l"/>
              <a:pathLst>
                <a:path h="508000" w="5080000">
                  <a:moveTo>
                    <a:pt x="0" y="0"/>
                  </a:moveTo>
                  <a:lnTo>
                    <a:pt x="5080000" y="0"/>
                  </a:lnTo>
                  <a:lnTo>
                    <a:pt x="5080000" y="508000"/>
                  </a:lnTo>
                  <a:lnTo>
                    <a:pt x="0" y="508000"/>
                  </a:lnTo>
                  <a:close/>
                </a:path>
              </a:pathLst>
            </a:custGeom>
            <a:blipFill>
              <a:blip r:embed="rId3">
                <a:alphaModFix amt="0"/>
              </a:blip>
              <a:stretch>
                <a:fillRect l="0" t="-144850" r="0" b="-144850"/>
              </a:stretch>
            </a:blipFill>
          </p:spPr>
        </p:sp>
        <p:sp>
          <p:nvSpPr>
            <p:cNvPr name="TextBox 23" id="23"/>
            <p:cNvSpPr txBox="true"/>
            <p:nvPr/>
          </p:nvSpPr>
          <p:spPr>
            <a:xfrm>
              <a:off x="0" y="-19050"/>
              <a:ext cx="5080000" cy="527050"/>
            </a:xfrm>
            <a:prstGeom prst="rect">
              <a:avLst/>
            </a:prstGeom>
          </p:spPr>
          <p:txBody>
            <a:bodyPr anchor="ctr" rtlCol="false" tIns="0" lIns="0" bIns="0" rIns="0"/>
            <a:lstStyle/>
            <a:p>
              <a:pPr algn="l">
                <a:lnSpc>
                  <a:spcPts val="1530"/>
                </a:lnSpc>
              </a:pPr>
              <a:r>
                <a:rPr lang="en-US" sz="1275" b="true">
                  <a:solidFill>
                    <a:srgbClr val="1B2CC1"/>
                  </a:solidFill>
                  <a:latin typeface="Arimo Bold"/>
                  <a:ea typeface="Arimo Bold"/>
                  <a:cs typeface="Arimo Bold"/>
                  <a:sym typeface="Arimo Bold"/>
                </a:rPr>
                <a:t>구조화된 계획</a:t>
              </a:r>
            </a:p>
          </p:txBody>
        </p:sp>
      </p:grpSp>
      <p:grpSp>
        <p:nvGrpSpPr>
          <p:cNvPr name="Group 24" id="24"/>
          <p:cNvGrpSpPr/>
          <p:nvPr/>
        </p:nvGrpSpPr>
        <p:grpSpPr>
          <a:xfrm rot="0">
            <a:off x="1108396" y="7305675"/>
            <a:ext cx="2803522" cy="669922"/>
            <a:chOff x="0" y="0"/>
            <a:chExt cx="3738029" cy="893229"/>
          </a:xfrm>
        </p:grpSpPr>
        <p:sp>
          <p:nvSpPr>
            <p:cNvPr name="Freeform 25" id="25"/>
            <p:cNvSpPr/>
            <p:nvPr/>
          </p:nvSpPr>
          <p:spPr>
            <a:xfrm flipH="false" flipV="false" rot="0">
              <a:off x="0" y="0"/>
              <a:ext cx="3738118" cy="893318"/>
            </a:xfrm>
            <a:custGeom>
              <a:avLst/>
              <a:gdLst/>
              <a:ahLst/>
              <a:cxnLst/>
              <a:rect r="r" b="b" t="t" l="l"/>
              <a:pathLst>
                <a:path h="893318" w="3738118">
                  <a:moveTo>
                    <a:pt x="0" y="148463"/>
                  </a:moveTo>
                  <a:cubicBezTo>
                    <a:pt x="0" y="66421"/>
                    <a:pt x="66421" y="0"/>
                    <a:pt x="148463" y="0"/>
                  </a:cubicBezTo>
                  <a:lnTo>
                    <a:pt x="3589655" y="0"/>
                  </a:lnTo>
                  <a:cubicBezTo>
                    <a:pt x="3671570" y="0"/>
                    <a:pt x="3738118" y="66421"/>
                    <a:pt x="3738118" y="148463"/>
                  </a:cubicBezTo>
                  <a:lnTo>
                    <a:pt x="3738118" y="744855"/>
                  </a:lnTo>
                  <a:cubicBezTo>
                    <a:pt x="3738118" y="826770"/>
                    <a:pt x="3671697" y="893318"/>
                    <a:pt x="3589655" y="893318"/>
                  </a:cubicBezTo>
                  <a:lnTo>
                    <a:pt x="148463" y="893318"/>
                  </a:lnTo>
                  <a:cubicBezTo>
                    <a:pt x="66421" y="893191"/>
                    <a:pt x="0" y="826770"/>
                    <a:pt x="0" y="744855"/>
                  </a:cubicBezTo>
                  <a:close/>
                </a:path>
              </a:pathLst>
            </a:custGeom>
            <a:solidFill>
              <a:srgbClr val="E7ECFF"/>
            </a:solidFill>
            <a:ln w="9525" cap="sq">
              <a:solidFill>
                <a:srgbClr val="E7ECFF"/>
              </a:solidFill>
              <a:prstDash val="solid"/>
              <a:miter/>
            </a:ln>
          </p:spPr>
        </p:sp>
      </p:grpSp>
      <p:grpSp>
        <p:nvGrpSpPr>
          <p:cNvPr name="Group 26" id="26"/>
          <p:cNvGrpSpPr/>
          <p:nvPr/>
        </p:nvGrpSpPr>
        <p:grpSpPr>
          <a:xfrm rot="0">
            <a:off x="1133789" y="7315200"/>
            <a:ext cx="2793997" cy="660400"/>
            <a:chOff x="0" y="0"/>
            <a:chExt cx="3725329" cy="880534"/>
          </a:xfrm>
        </p:grpSpPr>
        <p:sp>
          <p:nvSpPr>
            <p:cNvPr name="Freeform 27" id="27"/>
            <p:cNvSpPr/>
            <p:nvPr/>
          </p:nvSpPr>
          <p:spPr>
            <a:xfrm flipH="false" flipV="false" rot="0">
              <a:off x="0" y="0"/>
              <a:ext cx="3725334" cy="880539"/>
            </a:xfrm>
            <a:custGeom>
              <a:avLst/>
              <a:gdLst/>
              <a:ahLst/>
              <a:cxnLst/>
              <a:rect r="r" b="b" t="t" l="l"/>
              <a:pathLst>
                <a:path h="880539" w="3725334">
                  <a:moveTo>
                    <a:pt x="0" y="0"/>
                  </a:moveTo>
                  <a:lnTo>
                    <a:pt x="3725334" y="0"/>
                  </a:lnTo>
                  <a:lnTo>
                    <a:pt x="3725334" y="880539"/>
                  </a:lnTo>
                  <a:lnTo>
                    <a:pt x="0" y="880539"/>
                  </a:lnTo>
                  <a:close/>
                </a:path>
              </a:pathLst>
            </a:custGeom>
            <a:blipFill>
              <a:blip r:embed="rId3">
                <a:alphaModFix amt="0"/>
              </a:blip>
              <a:stretch>
                <a:fillRect l="0" t="-32436" r="0" b="-32435"/>
              </a:stretch>
            </a:blipFill>
          </p:spPr>
        </p:sp>
        <p:sp>
          <p:nvSpPr>
            <p:cNvPr name="TextBox 28" id="28"/>
            <p:cNvSpPr txBox="true"/>
            <p:nvPr/>
          </p:nvSpPr>
          <p:spPr>
            <a:xfrm>
              <a:off x="0" y="-19050"/>
              <a:ext cx="3725329" cy="899584"/>
            </a:xfrm>
            <a:prstGeom prst="rect">
              <a:avLst/>
            </a:prstGeom>
          </p:spPr>
          <p:txBody>
            <a:bodyPr anchor="ctr" rtlCol="false" tIns="0" lIns="0" bIns="0" rIns="0"/>
            <a:lstStyle/>
            <a:p>
              <a:pPr algn="ctr">
                <a:lnSpc>
                  <a:spcPts val="2070"/>
                </a:lnSpc>
              </a:pPr>
              <a:r>
                <a:rPr lang="en-US" sz="1725" b="true">
                  <a:solidFill>
                    <a:srgbClr val="111111"/>
                  </a:solidFill>
                  <a:latin typeface="Arimo Bold"/>
                  <a:ea typeface="Arimo Bold"/>
                  <a:cs typeface="Arimo Bold"/>
                  <a:sym typeface="Arimo Bold"/>
                </a:rPr>
                <a:t>pick(red_block)</a:t>
              </a:r>
            </a:p>
          </p:txBody>
        </p:sp>
      </p:grpSp>
      <p:grpSp>
        <p:nvGrpSpPr>
          <p:cNvPr name="Group 29" id="29"/>
          <p:cNvGrpSpPr/>
          <p:nvPr/>
        </p:nvGrpSpPr>
        <p:grpSpPr>
          <a:xfrm rot="0">
            <a:off x="4858064" y="7305675"/>
            <a:ext cx="2803522" cy="669922"/>
            <a:chOff x="0" y="0"/>
            <a:chExt cx="3738029" cy="893229"/>
          </a:xfrm>
        </p:grpSpPr>
        <p:sp>
          <p:nvSpPr>
            <p:cNvPr name="Freeform 30" id="30"/>
            <p:cNvSpPr/>
            <p:nvPr/>
          </p:nvSpPr>
          <p:spPr>
            <a:xfrm flipH="false" flipV="false" rot="0">
              <a:off x="0" y="0"/>
              <a:ext cx="3738118" cy="893318"/>
            </a:xfrm>
            <a:custGeom>
              <a:avLst/>
              <a:gdLst/>
              <a:ahLst/>
              <a:cxnLst/>
              <a:rect r="r" b="b" t="t" l="l"/>
              <a:pathLst>
                <a:path h="893318" w="3738118">
                  <a:moveTo>
                    <a:pt x="0" y="148463"/>
                  </a:moveTo>
                  <a:cubicBezTo>
                    <a:pt x="0" y="66421"/>
                    <a:pt x="66421" y="0"/>
                    <a:pt x="148463" y="0"/>
                  </a:cubicBezTo>
                  <a:lnTo>
                    <a:pt x="3589655" y="0"/>
                  </a:lnTo>
                  <a:cubicBezTo>
                    <a:pt x="3671570" y="0"/>
                    <a:pt x="3738118" y="66421"/>
                    <a:pt x="3738118" y="148463"/>
                  </a:cubicBezTo>
                  <a:lnTo>
                    <a:pt x="3738118" y="744855"/>
                  </a:lnTo>
                  <a:cubicBezTo>
                    <a:pt x="3738118" y="826770"/>
                    <a:pt x="3671697" y="893318"/>
                    <a:pt x="3589655" y="893318"/>
                  </a:cubicBezTo>
                  <a:lnTo>
                    <a:pt x="148463" y="893318"/>
                  </a:lnTo>
                  <a:cubicBezTo>
                    <a:pt x="66421" y="893191"/>
                    <a:pt x="0" y="826770"/>
                    <a:pt x="0" y="744855"/>
                  </a:cubicBezTo>
                  <a:close/>
                </a:path>
              </a:pathLst>
            </a:custGeom>
            <a:solidFill>
              <a:srgbClr val="E7ECFF"/>
            </a:solidFill>
            <a:ln w="9525" cap="sq">
              <a:solidFill>
                <a:srgbClr val="E7ECFF"/>
              </a:solidFill>
              <a:prstDash val="solid"/>
              <a:miter/>
            </a:ln>
          </p:spPr>
        </p:sp>
      </p:grpSp>
      <p:grpSp>
        <p:nvGrpSpPr>
          <p:cNvPr name="Group 31" id="31"/>
          <p:cNvGrpSpPr/>
          <p:nvPr/>
        </p:nvGrpSpPr>
        <p:grpSpPr>
          <a:xfrm rot="0">
            <a:off x="4867589" y="7315200"/>
            <a:ext cx="2793997" cy="660400"/>
            <a:chOff x="0" y="0"/>
            <a:chExt cx="3725329" cy="880534"/>
          </a:xfrm>
        </p:grpSpPr>
        <p:sp>
          <p:nvSpPr>
            <p:cNvPr name="Freeform 32" id="32"/>
            <p:cNvSpPr/>
            <p:nvPr/>
          </p:nvSpPr>
          <p:spPr>
            <a:xfrm flipH="false" flipV="false" rot="0">
              <a:off x="0" y="0"/>
              <a:ext cx="3725334" cy="880539"/>
            </a:xfrm>
            <a:custGeom>
              <a:avLst/>
              <a:gdLst/>
              <a:ahLst/>
              <a:cxnLst/>
              <a:rect r="r" b="b" t="t" l="l"/>
              <a:pathLst>
                <a:path h="880539" w="3725334">
                  <a:moveTo>
                    <a:pt x="0" y="0"/>
                  </a:moveTo>
                  <a:lnTo>
                    <a:pt x="3725334" y="0"/>
                  </a:lnTo>
                  <a:lnTo>
                    <a:pt x="3725334" y="880539"/>
                  </a:lnTo>
                  <a:lnTo>
                    <a:pt x="0" y="880539"/>
                  </a:lnTo>
                  <a:close/>
                </a:path>
              </a:pathLst>
            </a:custGeom>
            <a:blipFill>
              <a:blip r:embed="rId3">
                <a:alphaModFix amt="0"/>
              </a:blip>
              <a:stretch>
                <a:fillRect l="0" t="-32436" r="0" b="-32435"/>
              </a:stretch>
            </a:blipFill>
          </p:spPr>
        </p:sp>
        <p:sp>
          <p:nvSpPr>
            <p:cNvPr name="TextBox 33" id="33"/>
            <p:cNvSpPr txBox="true"/>
            <p:nvPr/>
          </p:nvSpPr>
          <p:spPr>
            <a:xfrm>
              <a:off x="0" y="-19050"/>
              <a:ext cx="3725329" cy="899584"/>
            </a:xfrm>
            <a:prstGeom prst="rect">
              <a:avLst/>
            </a:prstGeom>
          </p:spPr>
          <p:txBody>
            <a:bodyPr anchor="ctr" rtlCol="false" tIns="0" lIns="0" bIns="0" rIns="0"/>
            <a:lstStyle/>
            <a:p>
              <a:pPr algn="ctr">
                <a:lnSpc>
                  <a:spcPts val="2070"/>
                </a:lnSpc>
              </a:pPr>
              <a:r>
                <a:rPr lang="en-US" sz="1725" b="true">
                  <a:solidFill>
                    <a:srgbClr val="111111"/>
                  </a:solidFill>
                  <a:latin typeface="Arimo Bold"/>
                  <a:ea typeface="Arimo Bold"/>
                  <a:cs typeface="Arimo Bold"/>
                  <a:sym typeface="Arimo Bold"/>
                </a:rPr>
                <a:t>place(red_block, shelf)</a:t>
              </a:r>
            </a:p>
          </p:txBody>
        </p:sp>
      </p:grpSp>
      <p:grpSp>
        <p:nvGrpSpPr>
          <p:cNvPr name="Group 34" id="34"/>
          <p:cNvGrpSpPr/>
          <p:nvPr/>
        </p:nvGrpSpPr>
        <p:grpSpPr>
          <a:xfrm rot="0">
            <a:off x="8144194" y="7454898"/>
            <a:ext cx="1524000" cy="381000"/>
            <a:chOff x="0" y="0"/>
            <a:chExt cx="2032000" cy="508000"/>
          </a:xfrm>
        </p:grpSpPr>
        <p:sp>
          <p:nvSpPr>
            <p:cNvPr name="Freeform 35" id="35"/>
            <p:cNvSpPr/>
            <p:nvPr/>
          </p:nvSpPr>
          <p:spPr>
            <a:xfrm flipH="false" flipV="false" rot="0">
              <a:off x="0" y="0"/>
              <a:ext cx="2032000" cy="508000"/>
            </a:xfrm>
            <a:custGeom>
              <a:avLst/>
              <a:gdLst/>
              <a:ahLst/>
              <a:cxnLst/>
              <a:rect r="r" b="b" t="t" l="l"/>
              <a:pathLst>
                <a:path h="508000" w="2032000">
                  <a:moveTo>
                    <a:pt x="0" y="0"/>
                  </a:moveTo>
                  <a:lnTo>
                    <a:pt x="2032000" y="0"/>
                  </a:lnTo>
                  <a:lnTo>
                    <a:pt x="2032000" y="508000"/>
                  </a:lnTo>
                  <a:lnTo>
                    <a:pt x="0" y="508000"/>
                  </a:lnTo>
                  <a:close/>
                </a:path>
              </a:pathLst>
            </a:custGeom>
            <a:blipFill>
              <a:blip r:embed="rId3">
                <a:alphaModFix amt="0"/>
              </a:blip>
              <a:stretch>
                <a:fillRect l="0" t="-27940" r="0" b="-27940"/>
              </a:stretch>
            </a:blipFill>
          </p:spPr>
        </p:sp>
        <p:sp>
          <p:nvSpPr>
            <p:cNvPr name="TextBox 36" id="36"/>
            <p:cNvSpPr txBox="true"/>
            <p:nvPr/>
          </p:nvSpPr>
          <p:spPr>
            <a:xfrm>
              <a:off x="0" y="-19050"/>
              <a:ext cx="2032000" cy="527050"/>
            </a:xfrm>
            <a:prstGeom prst="rect">
              <a:avLst/>
            </a:prstGeom>
          </p:spPr>
          <p:txBody>
            <a:bodyPr anchor="ctr" rtlCol="false" tIns="0" lIns="0" bIns="0" rIns="0"/>
            <a:lstStyle/>
            <a:p>
              <a:pPr algn="l">
                <a:lnSpc>
                  <a:spcPts val="1620"/>
                </a:lnSpc>
              </a:pPr>
              <a:r>
                <a:rPr lang="en-US" sz="1350">
                  <a:solidFill>
                    <a:srgbClr val="66645F"/>
                  </a:solidFill>
                  <a:latin typeface="Arimo"/>
                  <a:ea typeface="Arimo"/>
                  <a:cs typeface="Arimo"/>
                  <a:sym typeface="Arimo"/>
                </a:rPr>
                <a:t>LLM 계획 최대 </a:t>
              </a:r>
              <a:r>
                <a:rPr lang="en-US" sz="1350">
                  <a:solidFill>
                    <a:srgbClr val="66645F"/>
                  </a:solidFill>
                  <a:latin typeface="Arimo"/>
                  <a:ea typeface="Arimo"/>
                  <a:cs typeface="Arimo"/>
                  <a:sym typeface="Arimo"/>
                </a:rPr>
                <a:t>2단계</a:t>
              </a:r>
            </a:p>
          </p:txBody>
        </p:sp>
      </p:grpSp>
      <p:grpSp>
        <p:nvGrpSpPr>
          <p:cNvPr name="Group 37" id="37"/>
          <p:cNvGrpSpPr/>
          <p:nvPr/>
        </p:nvGrpSpPr>
        <p:grpSpPr>
          <a:xfrm rot="0">
            <a:off x="768668" y="4155438"/>
            <a:ext cx="9671047" cy="1953940"/>
            <a:chOff x="0" y="0"/>
            <a:chExt cx="12894729" cy="2605254"/>
          </a:xfrm>
        </p:grpSpPr>
        <p:sp>
          <p:nvSpPr>
            <p:cNvPr name="Freeform 38" id="38"/>
            <p:cNvSpPr/>
            <p:nvPr/>
          </p:nvSpPr>
          <p:spPr>
            <a:xfrm flipH="false" flipV="false" rot="0">
              <a:off x="0" y="0"/>
              <a:ext cx="12894818" cy="2605254"/>
            </a:xfrm>
            <a:custGeom>
              <a:avLst/>
              <a:gdLst/>
              <a:ahLst/>
              <a:cxnLst/>
              <a:rect r="r" b="b" t="t" l="l"/>
              <a:pathLst>
                <a:path h="2605254" w="12894818">
                  <a:moveTo>
                    <a:pt x="0" y="150125"/>
                  </a:moveTo>
                  <a:cubicBezTo>
                    <a:pt x="0" y="67195"/>
                    <a:pt x="66167" y="0"/>
                    <a:pt x="147828" y="0"/>
                  </a:cubicBezTo>
                  <a:lnTo>
                    <a:pt x="12746990" y="0"/>
                  </a:lnTo>
                  <a:cubicBezTo>
                    <a:pt x="12828651" y="0"/>
                    <a:pt x="12894818" y="67195"/>
                    <a:pt x="12894818" y="150125"/>
                  </a:cubicBezTo>
                  <a:lnTo>
                    <a:pt x="12894818" y="2455129"/>
                  </a:lnTo>
                  <a:cubicBezTo>
                    <a:pt x="12894818" y="2538059"/>
                    <a:pt x="12828651" y="2605254"/>
                    <a:pt x="12746990" y="2605254"/>
                  </a:cubicBezTo>
                  <a:lnTo>
                    <a:pt x="147828" y="2605254"/>
                  </a:lnTo>
                  <a:cubicBezTo>
                    <a:pt x="66167" y="2605254"/>
                    <a:pt x="0" y="2538059"/>
                    <a:pt x="0" y="2455129"/>
                  </a:cubicBezTo>
                  <a:close/>
                </a:path>
              </a:pathLst>
            </a:custGeom>
            <a:solidFill>
              <a:srgbClr val="FFFFFF"/>
            </a:solidFill>
            <a:ln w="19050" cap="sq">
              <a:solidFill>
                <a:srgbClr val="111111"/>
              </a:solidFill>
              <a:prstDash val="solid"/>
              <a:miter/>
            </a:ln>
          </p:spPr>
        </p:sp>
      </p:grpSp>
      <p:grpSp>
        <p:nvGrpSpPr>
          <p:cNvPr name="Group 39" id="39"/>
          <p:cNvGrpSpPr/>
          <p:nvPr/>
        </p:nvGrpSpPr>
        <p:grpSpPr>
          <a:xfrm rot="0">
            <a:off x="1108396" y="4330060"/>
            <a:ext cx="3174997" cy="423583"/>
            <a:chOff x="0" y="0"/>
            <a:chExt cx="4233329" cy="564778"/>
          </a:xfrm>
        </p:grpSpPr>
        <p:sp>
          <p:nvSpPr>
            <p:cNvPr name="Freeform 40" id="40"/>
            <p:cNvSpPr/>
            <p:nvPr/>
          </p:nvSpPr>
          <p:spPr>
            <a:xfrm flipH="false" flipV="false" rot="0">
              <a:off x="0" y="0"/>
              <a:ext cx="4233334" cy="564783"/>
            </a:xfrm>
            <a:custGeom>
              <a:avLst/>
              <a:gdLst/>
              <a:ahLst/>
              <a:cxnLst/>
              <a:rect r="r" b="b" t="t" l="l"/>
              <a:pathLst>
                <a:path h="564783" w="4233334">
                  <a:moveTo>
                    <a:pt x="0" y="0"/>
                  </a:moveTo>
                  <a:lnTo>
                    <a:pt x="4233334" y="0"/>
                  </a:lnTo>
                  <a:lnTo>
                    <a:pt x="4233334" y="564783"/>
                  </a:lnTo>
                  <a:lnTo>
                    <a:pt x="0" y="564783"/>
                  </a:lnTo>
                  <a:close/>
                </a:path>
              </a:pathLst>
            </a:custGeom>
            <a:solidFill>
              <a:srgbClr val="FFFFFF"/>
            </a:solidFill>
            <a:ln cap="sq">
              <a:noFill/>
              <a:prstDash val="solid"/>
              <a:miter/>
            </a:ln>
          </p:spPr>
        </p:sp>
        <p:sp>
          <p:nvSpPr>
            <p:cNvPr name="TextBox 41" id="41"/>
            <p:cNvSpPr txBox="true"/>
            <p:nvPr/>
          </p:nvSpPr>
          <p:spPr>
            <a:xfrm>
              <a:off x="0" y="-9525"/>
              <a:ext cx="4233329" cy="574303"/>
            </a:xfrm>
            <a:prstGeom prst="rect">
              <a:avLst/>
            </a:prstGeom>
          </p:spPr>
          <p:txBody>
            <a:bodyPr anchor="ctr" rtlCol="false" tIns="0" lIns="0" bIns="0" rIns="0"/>
            <a:lstStyle/>
            <a:p>
              <a:pPr algn="l">
                <a:lnSpc>
                  <a:spcPts val="2520"/>
                </a:lnSpc>
              </a:pPr>
              <a:r>
                <a:rPr lang="en-US" b="true" sz="2100">
                  <a:solidFill>
                    <a:srgbClr val="111111"/>
                  </a:solidFill>
                  <a:latin typeface="Arimo Bold"/>
                  <a:ea typeface="Arimo Bold"/>
                  <a:cs typeface="Arimo Bold"/>
                  <a:sym typeface="Arimo Bold"/>
                </a:rPr>
                <a:t>실행 전 계획 검증</a:t>
              </a:r>
            </a:p>
          </p:txBody>
        </p:sp>
      </p:grpSp>
      <p:grpSp>
        <p:nvGrpSpPr>
          <p:cNvPr name="Group 42" id="42"/>
          <p:cNvGrpSpPr/>
          <p:nvPr/>
        </p:nvGrpSpPr>
        <p:grpSpPr>
          <a:xfrm rot="0">
            <a:off x="1108396" y="4880650"/>
            <a:ext cx="4064003" cy="355600"/>
            <a:chOff x="0" y="0"/>
            <a:chExt cx="5418671" cy="474134"/>
          </a:xfrm>
        </p:grpSpPr>
        <p:sp>
          <p:nvSpPr>
            <p:cNvPr name="Freeform 43" id="43"/>
            <p:cNvSpPr/>
            <p:nvPr/>
          </p:nvSpPr>
          <p:spPr>
            <a:xfrm flipH="false" flipV="false" rot="0">
              <a:off x="0" y="0"/>
              <a:ext cx="5418666" cy="474139"/>
            </a:xfrm>
            <a:custGeom>
              <a:avLst/>
              <a:gdLst/>
              <a:ahLst/>
              <a:cxnLst/>
              <a:rect r="r" b="b" t="t" l="l"/>
              <a:pathLst>
                <a:path h="474139" w="5418666">
                  <a:moveTo>
                    <a:pt x="0" y="0"/>
                  </a:moveTo>
                  <a:lnTo>
                    <a:pt x="5418666" y="0"/>
                  </a:lnTo>
                  <a:lnTo>
                    <a:pt x="5418666" y="474139"/>
                  </a:lnTo>
                  <a:lnTo>
                    <a:pt x="0" y="474139"/>
                  </a:lnTo>
                  <a:close/>
                </a:path>
              </a:pathLst>
            </a:custGeom>
            <a:solidFill>
              <a:srgbClr val="FFFFFF"/>
            </a:solidFill>
            <a:ln cap="sq">
              <a:noFill/>
              <a:prstDash val="solid"/>
              <a:miter/>
            </a:ln>
          </p:spPr>
        </p:sp>
        <p:sp>
          <p:nvSpPr>
            <p:cNvPr name="TextBox 44" id="44"/>
            <p:cNvSpPr txBox="true"/>
            <p:nvPr/>
          </p:nvSpPr>
          <p:spPr>
            <a:xfrm>
              <a:off x="0" y="-9525"/>
              <a:ext cx="5418671" cy="483659"/>
            </a:xfrm>
            <a:prstGeom prst="rect">
              <a:avLst/>
            </a:prstGeom>
          </p:spPr>
          <p:txBody>
            <a:bodyPr anchor="ctr" rtlCol="false" tIns="0" lIns="0" bIns="0" rIns="0"/>
            <a:lstStyle/>
            <a:p>
              <a:pPr algn="l">
                <a:lnSpc>
                  <a:spcPts val="1889"/>
                </a:lnSpc>
              </a:pPr>
              <a:r>
                <a:rPr lang="en-US" sz="1575">
                  <a:solidFill>
                    <a:srgbClr val="111111"/>
                  </a:solidFill>
                  <a:latin typeface="Arimo"/>
                  <a:ea typeface="Arimo"/>
                  <a:cs typeface="Arimo"/>
                  <a:sym typeface="Arimo"/>
                </a:rPr>
                <a:t>●  JSON 형식과 필수 인자 존재 여부 확인</a:t>
              </a:r>
            </a:p>
          </p:txBody>
        </p:sp>
      </p:grpSp>
      <p:grpSp>
        <p:nvGrpSpPr>
          <p:cNvPr name="Group 45" id="45"/>
          <p:cNvGrpSpPr/>
          <p:nvPr/>
        </p:nvGrpSpPr>
        <p:grpSpPr>
          <a:xfrm rot="0">
            <a:off x="1108396" y="5388647"/>
            <a:ext cx="3527043" cy="355600"/>
            <a:chOff x="0" y="0"/>
            <a:chExt cx="4702724" cy="474134"/>
          </a:xfrm>
        </p:grpSpPr>
        <p:sp>
          <p:nvSpPr>
            <p:cNvPr name="Freeform 46" id="46"/>
            <p:cNvSpPr/>
            <p:nvPr/>
          </p:nvSpPr>
          <p:spPr>
            <a:xfrm flipH="false" flipV="false" rot="0">
              <a:off x="0" y="0"/>
              <a:ext cx="4702720" cy="474139"/>
            </a:xfrm>
            <a:custGeom>
              <a:avLst/>
              <a:gdLst/>
              <a:ahLst/>
              <a:cxnLst/>
              <a:rect r="r" b="b" t="t" l="l"/>
              <a:pathLst>
                <a:path h="474139" w="4702720">
                  <a:moveTo>
                    <a:pt x="0" y="0"/>
                  </a:moveTo>
                  <a:lnTo>
                    <a:pt x="4702720" y="0"/>
                  </a:lnTo>
                  <a:lnTo>
                    <a:pt x="4702720" y="474139"/>
                  </a:lnTo>
                  <a:lnTo>
                    <a:pt x="0" y="474139"/>
                  </a:lnTo>
                  <a:close/>
                </a:path>
              </a:pathLst>
            </a:custGeom>
            <a:solidFill>
              <a:srgbClr val="FFFFFF"/>
            </a:solidFill>
            <a:ln cap="sq">
              <a:noFill/>
              <a:prstDash val="solid"/>
              <a:miter/>
            </a:ln>
          </p:spPr>
        </p:sp>
        <p:sp>
          <p:nvSpPr>
            <p:cNvPr name="TextBox 47" id="47"/>
            <p:cNvSpPr txBox="true"/>
            <p:nvPr/>
          </p:nvSpPr>
          <p:spPr>
            <a:xfrm>
              <a:off x="0" y="-9525"/>
              <a:ext cx="4702724" cy="483659"/>
            </a:xfrm>
            <a:prstGeom prst="rect">
              <a:avLst/>
            </a:prstGeom>
          </p:spPr>
          <p:txBody>
            <a:bodyPr anchor="ctr" rtlCol="false" tIns="0" lIns="0" bIns="0" rIns="0"/>
            <a:lstStyle/>
            <a:p>
              <a:pPr algn="l">
                <a:lnSpc>
                  <a:spcPts val="1889"/>
                </a:lnSpc>
              </a:pPr>
              <a:r>
                <a:rPr lang="en-US" sz="1575">
                  <a:solidFill>
                    <a:srgbClr val="111111"/>
                  </a:solidFill>
                  <a:latin typeface="Arimo"/>
                  <a:ea typeface="Arimo"/>
                  <a:cs typeface="Arimo"/>
                  <a:sym typeface="Arimo"/>
                </a:rPr>
                <a:t>●  허용된 행동 중 하나인지 확인</a:t>
              </a:r>
            </a:p>
          </p:txBody>
        </p:sp>
      </p:grpSp>
      <p:grpSp>
        <p:nvGrpSpPr>
          <p:cNvPr name="Group 48" id="48"/>
          <p:cNvGrpSpPr/>
          <p:nvPr/>
        </p:nvGrpSpPr>
        <p:grpSpPr>
          <a:xfrm rot="0">
            <a:off x="5032696" y="4880648"/>
            <a:ext cx="4346614" cy="355600"/>
            <a:chOff x="0" y="0"/>
            <a:chExt cx="5795485" cy="474134"/>
          </a:xfrm>
        </p:grpSpPr>
        <p:sp>
          <p:nvSpPr>
            <p:cNvPr name="Freeform 49" id="49"/>
            <p:cNvSpPr/>
            <p:nvPr/>
          </p:nvSpPr>
          <p:spPr>
            <a:xfrm flipH="false" flipV="false" rot="0">
              <a:off x="0" y="0"/>
              <a:ext cx="5795480" cy="474139"/>
            </a:xfrm>
            <a:custGeom>
              <a:avLst/>
              <a:gdLst/>
              <a:ahLst/>
              <a:cxnLst/>
              <a:rect r="r" b="b" t="t" l="l"/>
              <a:pathLst>
                <a:path h="474139" w="5795480">
                  <a:moveTo>
                    <a:pt x="0" y="0"/>
                  </a:moveTo>
                  <a:lnTo>
                    <a:pt x="5795480" y="0"/>
                  </a:lnTo>
                  <a:lnTo>
                    <a:pt x="5795480" y="474139"/>
                  </a:lnTo>
                  <a:lnTo>
                    <a:pt x="0" y="474139"/>
                  </a:lnTo>
                  <a:close/>
                </a:path>
              </a:pathLst>
            </a:custGeom>
            <a:solidFill>
              <a:srgbClr val="FFFFFF"/>
            </a:solidFill>
            <a:ln cap="sq">
              <a:noFill/>
              <a:prstDash val="solid"/>
              <a:miter/>
            </a:ln>
          </p:spPr>
        </p:sp>
        <p:sp>
          <p:nvSpPr>
            <p:cNvPr name="TextBox 50" id="50"/>
            <p:cNvSpPr txBox="true"/>
            <p:nvPr/>
          </p:nvSpPr>
          <p:spPr>
            <a:xfrm>
              <a:off x="0" y="-9525"/>
              <a:ext cx="5795485" cy="483659"/>
            </a:xfrm>
            <a:prstGeom prst="rect">
              <a:avLst/>
            </a:prstGeom>
          </p:spPr>
          <p:txBody>
            <a:bodyPr anchor="ctr" rtlCol="false" tIns="0" lIns="0" bIns="0" rIns="0"/>
            <a:lstStyle/>
            <a:p>
              <a:pPr algn="l">
                <a:lnSpc>
                  <a:spcPts val="1889"/>
                </a:lnSpc>
              </a:pPr>
              <a:r>
                <a:rPr lang="en-US" sz="1575">
                  <a:solidFill>
                    <a:srgbClr val="111111"/>
                  </a:solidFill>
                  <a:latin typeface="Arimo"/>
                  <a:ea typeface="Arimo"/>
                  <a:cs typeface="Arimo"/>
                  <a:sym typeface="Arimo"/>
                </a:rPr>
                <a:t>●  카메라에 인식된 물체와 등록된 목적지 확인</a:t>
              </a:r>
            </a:p>
          </p:txBody>
        </p:sp>
      </p:grpSp>
      <p:grpSp>
        <p:nvGrpSpPr>
          <p:cNvPr name="Group 51" id="51"/>
          <p:cNvGrpSpPr/>
          <p:nvPr/>
        </p:nvGrpSpPr>
        <p:grpSpPr>
          <a:xfrm rot="0">
            <a:off x="10936919" y="2085332"/>
            <a:ext cx="6593843" cy="6184273"/>
            <a:chOff x="0" y="0"/>
            <a:chExt cx="8791791" cy="8245697"/>
          </a:xfrm>
        </p:grpSpPr>
        <p:sp>
          <p:nvSpPr>
            <p:cNvPr name="Freeform 52" id="52" descr="/Users/junsupark/Desktop/personal_project/portfolio_assets/pptx_media/multilingual_command_real_demo.gif"/>
            <p:cNvSpPr/>
            <p:nvPr/>
          </p:nvSpPr>
          <p:spPr>
            <a:xfrm flipH="false" flipV="false" rot="0">
              <a:off x="0" y="0"/>
              <a:ext cx="8791702" cy="8245600"/>
            </a:xfrm>
            <a:custGeom>
              <a:avLst/>
              <a:gdLst/>
              <a:ahLst/>
              <a:cxnLst/>
              <a:rect r="r" b="b" t="t" l="l"/>
              <a:pathLst>
                <a:path h="8245600" w="8791702">
                  <a:moveTo>
                    <a:pt x="0" y="161916"/>
                  </a:moveTo>
                  <a:cubicBezTo>
                    <a:pt x="0" y="72535"/>
                    <a:pt x="66167" y="0"/>
                    <a:pt x="147701" y="0"/>
                  </a:cubicBezTo>
                  <a:lnTo>
                    <a:pt x="8644001" y="0"/>
                  </a:lnTo>
                  <a:cubicBezTo>
                    <a:pt x="8725535" y="0"/>
                    <a:pt x="8791702" y="72535"/>
                    <a:pt x="8791702" y="161916"/>
                  </a:cubicBezTo>
                  <a:lnTo>
                    <a:pt x="8791702" y="8083684"/>
                  </a:lnTo>
                  <a:cubicBezTo>
                    <a:pt x="8791702" y="8173065"/>
                    <a:pt x="8725535" y="8245600"/>
                    <a:pt x="8644001" y="8245600"/>
                  </a:cubicBezTo>
                  <a:lnTo>
                    <a:pt x="147701" y="8245600"/>
                  </a:lnTo>
                  <a:cubicBezTo>
                    <a:pt x="66167" y="8245735"/>
                    <a:pt x="0" y="8173204"/>
                    <a:pt x="0" y="8083684"/>
                  </a:cubicBezTo>
                  <a:close/>
                </a:path>
              </a:pathLst>
            </a:custGeom>
            <a:blipFill>
              <a:blip r:embed="rId4"/>
              <a:stretch>
                <a:fillRect l="-5073" t="0" r="-5073" b="-101196"/>
              </a:stretch>
            </a:blipFill>
            <a:ln w="38100" cap="sq">
              <a:solidFill>
                <a:srgbClr val="111111"/>
              </a:solidFill>
              <a:prstDash val="solid"/>
              <a:miter/>
            </a:ln>
          </p:spPr>
        </p:sp>
      </p:grpSp>
      <p:grpSp>
        <p:nvGrpSpPr>
          <p:cNvPr name="Group 53" id="53"/>
          <p:cNvGrpSpPr/>
          <p:nvPr/>
        </p:nvGrpSpPr>
        <p:grpSpPr>
          <a:xfrm rot="0">
            <a:off x="11170232" y="2265677"/>
            <a:ext cx="1597028" cy="500068"/>
            <a:chOff x="0" y="0"/>
            <a:chExt cx="2129371" cy="666758"/>
          </a:xfrm>
        </p:grpSpPr>
        <p:grpSp>
          <p:nvGrpSpPr>
            <p:cNvPr name="Group 54" id="54"/>
            <p:cNvGrpSpPr/>
            <p:nvPr/>
          </p:nvGrpSpPr>
          <p:grpSpPr>
            <a:xfrm rot="0">
              <a:off x="0" y="10587"/>
              <a:ext cx="2129371" cy="656171"/>
              <a:chOff x="0" y="0"/>
              <a:chExt cx="2129371" cy="656171"/>
            </a:xfrm>
          </p:grpSpPr>
          <p:sp>
            <p:nvSpPr>
              <p:cNvPr name="Freeform 55" id="55"/>
              <p:cNvSpPr/>
              <p:nvPr/>
            </p:nvSpPr>
            <p:spPr>
              <a:xfrm flipH="false" flipV="false" rot="0">
                <a:off x="0" y="0"/>
                <a:ext cx="2129409" cy="656209"/>
              </a:xfrm>
              <a:custGeom>
                <a:avLst/>
                <a:gdLst/>
                <a:ahLst/>
                <a:cxnLst/>
                <a:rect r="r" b="b" t="t" l="l"/>
                <a:pathLst>
                  <a:path h="656209" w="2129409">
                    <a:moveTo>
                      <a:pt x="0" y="149225"/>
                    </a:moveTo>
                    <a:cubicBezTo>
                      <a:pt x="0" y="66802"/>
                      <a:pt x="66802" y="0"/>
                      <a:pt x="149225" y="0"/>
                    </a:cubicBezTo>
                    <a:lnTo>
                      <a:pt x="1980184" y="0"/>
                    </a:lnTo>
                    <a:cubicBezTo>
                      <a:pt x="2062607" y="0"/>
                      <a:pt x="2129409" y="66802"/>
                      <a:pt x="2129409" y="149225"/>
                    </a:cubicBezTo>
                    <a:lnTo>
                      <a:pt x="2129409" y="506984"/>
                    </a:lnTo>
                    <a:cubicBezTo>
                      <a:pt x="2129409" y="589407"/>
                      <a:pt x="2062607" y="656209"/>
                      <a:pt x="1980184" y="656209"/>
                    </a:cubicBezTo>
                    <a:lnTo>
                      <a:pt x="149225" y="656209"/>
                    </a:lnTo>
                    <a:cubicBezTo>
                      <a:pt x="66802" y="656209"/>
                      <a:pt x="0" y="589407"/>
                      <a:pt x="0" y="506984"/>
                    </a:cubicBezTo>
                    <a:close/>
                  </a:path>
                </a:pathLst>
              </a:custGeom>
              <a:solidFill>
                <a:srgbClr val="111111"/>
              </a:solidFill>
              <a:ln w="9525" cap="sq">
                <a:solidFill>
                  <a:srgbClr val="111111"/>
                </a:solidFill>
                <a:prstDash val="solid"/>
                <a:miter/>
              </a:ln>
            </p:spPr>
          </p:sp>
        </p:grpSp>
        <p:grpSp>
          <p:nvGrpSpPr>
            <p:cNvPr name="Group 56" id="56"/>
            <p:cNvGrpSpPr/>
            <p:nvPr/>
          </p:nvGrpSpPr>
          <p:grpSpPr>
            <a:xfrm rot="0">
              <a:off x="213598" y="0"/>
              <a:ext cx="1702175" cy="643466"/>
              <a:chOff x="0" y="0"/>
              <a:chExt cx="1702175" cy="643466"/>
            </a:xfrm>
          </p:grpSpPr>
          <p:sp>
            <p:nvSpPr>
              <p:cNvPr name="Freeform 57" id="57"/>
              <p:cNvSpPr/>
              <p:nvPr/>
            </p:nvSpPr>
            <p:spPr>
              <a:xfrm flipH="false" flipV="false" rot="0">
                <a:off x="0" y="0"/>
                <a:ext cx="1702171" cy="643461"/>
              </a:xfrm>
              <a:custGeom>
                <a:avLst/>
                <a:gdLst/>
                <a:ahLst/>
                <a:cxnLst/>
                <a:rect r="r" b="b" t="t" l="l"/>
                <a:pathLst>
                  <a:path h="643461" w="1702171">
                    <a:moveTo>
                      <a:pt x="0" y="0"/>
                    </a:moveTo>
                    <a:lnTo>
                      <a:pt x="1702171" y="0"/>
                    </a:lnTo>
                    <a:lnTo>
                      <a:pt x="1702171" y="643461"/>
                    </a:lnTo>
                    <a:lnTo>
                      <a:pt x="0" y="643461"/>
                    </a:lnTo>
                    <a:close/>
                  </a:path>
                </a:pathLst>
              </a:custGeom>
              <a:blipFill>
                <a:blip r:embed="rId3">
                  <a:alphaModFix amt="0"/>
                </a:blip>
                <a:stretch>
                  <a:fillRect l="0" t="-14095" r="-24351" b="-14096"/>
                </a:stretch>
              </a:blipFill>
            </p:spPr>
          </p:sp>
          <p:sp>
            <p:nvSpPr>
              <p:cNvPr name="TextBox 58" id="58"/>
              <p:cNvSpPr txBox="true"/>
              <p:nvPr/>
            </p:nvSpPr>
            <p:spPr>
              <a:xfrm>
                <a:off x="0" y="-19050"/>
                <a:ext cx="1702175" cy="662516"/>
              </a:xfrm>
              <a:prstGeom prst="rect">
                <a:avLst/>
              </a:prstGeom>
            </p:spPr>
            <p:txBody>
              <a:bodyPr anchor="ctr" rtlCol="false" tIns="0" lIns="0" bIns="0" rIns="0"/>
              <a:lstStyle/>
              <a:p>
                <a:pPr algn="ctr">
                  <a:lnSpc>
                    <a:spcPts val="1620"/>
                  </a:lnSpc>
                </a:pPr>
                <a:r>
                  <a:rPr lang="en-US" b="true" sz="1350" u="sng">
                    <a:solidFill>
                      <a:srgbClr val="FFFFFF"/>
                    </a:solidFill>
                    <a:latin typeface="Arimo Bold"/>
                    <a:ea typeface="Arimo Bold"/>
                    <a:cs typeface="Arimo Bold"/>
                    <a:sym typeface="Arimo Bold"/>
                    <a:hlinkClick r:id="rId5" tooltip="https://kdm111.github.io/assets/videos/p6_language_command.mp4"/>
                  </a:rPr>
                  <a:t>실물 실행 비디오</a:t>
                </a:r>
              </a:p>
            </p:txBody>
          </p:sp>
        </p:grpSp>
      </p:grpSp>
      <p:grpSp>
        <p:nvGrpSpPr>
          <p:cNvPr name="Group 59" id="59"/>
          <p:cNvGrpSpPr/>
          <p:nvPr/>
        </p:nvGrpSpPr>
        <p:grpSpPr>
          <a:xfrm rot="0">
            <a:off x="7890455" y="8568185"/>
            <a:ext cx="6559553" cy="1337695"/>
            <a:chOff x="0" y="0"/>
            <a:chExt cx="8746071" cy="1783593"/>
          </a:xfrm>
        </p:grpSpPr>
        <p:grpSp>
          <p:nvGrpSpPr>
            <p:cNvPr name="Group 60" id="60"/>
            <p:cNvGrpSpPr/>
            <p:nvPr/>
          </p:nvGrpSpPr>
          <p:grpSpPr>
            <a:xfrm rot="0">
              <a:off x="0" y="0"/>
              <a:ext cx="8746071" cy="1783593"/>
              <a:chOff x="0" y="0"/>
              <a:chExt cx="8746071" cy="1783593"/>
            </a:xfrm>
          </p:grpSpPr>
          <p:sp>
            <p:nvSpPr>
              <p:cNvPr name="Freeform 61" id="61"/>
              <p:cNvSpPr/>
              <p:nvPr/>
            </p:nvSpPr>
            <p:spPr>
              <a:xfrm flipH="false" flipV="false" rot="0">
                <a:off x="0" y="0"/>
                <a:ext cx="8745982" cy="1783545"/>
              </a:xfrm>
              <a:custGeom>
                <a:avLst/>
                <a:gdLst/>
                <a:ahLst/>
                <a:cxnLst/>
                <a:rect r="r" b="b" t="t" l="l"/>
                <a:pathLst>
                  <a:path h="1783545" w="8745982">
                    <a:moveTo>
                      <a:pt x="0" y="187919"/>
                    </a:moveTo>
                    <a:cubicBezTo>
                      <a:pt x="0" y="84107"/>
                      <a:pt x="66675" y="0"/>
                      <a:pt x="148971" y="0"/>
                    </a:cubicBezTo>
                    <a:lnTo>
                      <a:pt x="8597011" y="0"/>
                    </a:lnTo>
                    <a:cubicBezTo>
                      <a:pt x="8679307" y="0"/>
                      <a:pt x="8745982" y="84107"/>
                      <a:pt x="8745982" y="187919"/>
                    </a:cubicBezTo>
                    <a:lnTo>
                      <a:pt x="8745982" y="1595626"/>
                    </a:lnTo>
                    <a:cubicBezTo>
                      <a:pt x="8745982" y="1699438"/>
                      <a:pt x="8679307" y="1783545"/>
                      <a:pt x="8597011" y="1783545"/>
                    </a:cubicBezTo>
                    <a:lnTo>
                      <a:pt x="148971" y="1783545"/>
                    </a:lnTo>
                    <a:cubicBezTo>
                      <a:pt x="66675" y="1783545"/>
                      <a:pt x="0" y="1699438"/>
                      <a:pt x="0" y="1595626"/>
                    </a:cubicBezTo>
                    <a:close/>
                  </a:path>
                </a:pathLst>
              </a:custGeom>
              <a:solidFill>
                <a:srgbClr val="E9EEFF"/>
              </a:solidFill>
              <a:ln w="19050" cap="sq">
                <a:solidFill>
                  <a:srgbClr val="E9EEFF"/>
                </a:solidFill>
                <a:prstDash val="solid"/>
                <a:miter/>
              </a:ln>
            </p:spPr>
          </p:sp>
        </p:grpSp>
        <p:grpSp>
          <p:nvGrpSpPr>
            <p:cNvPr name="Group 62" id="62"/>
            <p:cNvGrpSpPr/>
            <p:nvPr/>
          </p:nvGrpSpPr>
          <p:grpSpPr>
            <a:xfrm rot="0">
              <a:off x="436029" y="229620"/>
              <a:ext cx="3725329" cy="555377"/>
              <a:chOff x="0" y="0"/>
              <a:chExt cx="3725329" cy="555377"/>
            </a:xfrm>
          </p:grpSpPr>
          <p:sp>
            <p:nvSpPr>
              <p:cNvPr name="Freeform 63" id="63"/>
              <p:cNvSpPr/>
              <p:nvPr/>
            </p:nvSpPr>
            <p:spPr>
              <a:xfrm flipH="false" flipV="false" rot="0">
                <a:off x="0" y="0"/>
                <a:ext cx="3725334" cy="555371"/>
              </a:xfrm>
              <a:custGeom>
                <a:avLst/>
                <a:gdLst/>
                <a:ahLst/>
                <a:cxnLst/>
                <a:rect r="r" b="b" t="t" l="l"/>
                <a:pathLst>
                  <a:path h="555371" w="3725334">
                    <a:moveTo>
                      <a:pt x="0" y="0"/>
                    </a:moveTo>
                    <a:lnTo>
                      <a:pt x="3725334" y="0"/>
                    </a:lnTo>
                    <a:lnTo>
                      <a:pt x="3725334" y="555371"/>
                    </a:lnTo>
                    <a:lnTo>
                      <a:pt x="0" y="555371"/>
                    </a:lnTo>
                    <a:close/>
                  </a:path>
                </a:pathLst>
              </a:custGeom>
              <a:blipFill>
                <a:blip r:embed="rId3">
                  <a:alphaModFix amt="0"/>
                </a:blip>
                <a:stretch>
                  <a:fillRect l="0" t="-91064" r="0" b="-70339"/>
                </a:stretch>
              </a:blipFill>
            </p:spPr>
          </p:sp>
          <p:sp>
            <p:nvSpPr>
              <p:cNvPr name="TextBox 64" id="64"/>
              <p:cNvSpPr txBox="true"/>
              <p:nvPr/>
            </p:nvSpPr>
            <p:spPr>
              <a:xfrm>
                <a:off x="0" y="-19050"/>
                <a:ext cx="3725329" cy="574427"/>
              </a:xfrm>
              <a:prstGeom prst="rect">
                <a:avLst/>
              </a:prstGeom>
            </p:spPr>
            <p:txBody>
              <a:bodyPr anchor="ctr" rtlCol="false" tIns="0" lIns="0" bIns="0" rIns="0"/>
              <a:lstStyle/>
              <a:p>
                <a:pPr algn="l">
                  <a:lnSpc>
                    <a:spcPts val="1620"/>
                  </a:lnSpc>
                </a:pPr>
                <a:r>
                  <a:rPr lang="en-US" b="true" sz="1350">
                    <a:solidFill>
                      <a:srgbClr val="1B2CC1"/>
                    </a:solidFill>
                    <a:latin typeface="Arimo Bold"/>
                    <a:ea typeface="Arimo Bold"/>
                    <a:cs typeface="Arimo Bold"/>
                    <a:sym typeface="Arimo Bold"/>
                  </a:rPr>
                  <a:t>10개 언어 * 각 6개의 테스트 케이스</a:t>
                </a:r>
              </a:p>
            </p:txBody>
          </p:sp>
        </p:grpSp>
        <p:grpSp>
          <p:nvGrpSpPr>
            <p:cNvPr name="Group 65" id="65"/>
            <p:cNvGrpSpPr/>
            <p:nvPr/>
          </p:nvGrpSpPr>
          <p:grpSpPr>
            <a:xfrm rot="0">
              <a:off x="436029" y="683322"/>
              <a:ext cx="4471984" cy="913362"/>
              <a:chOff x="0" y="0"/>
              <a:chExt cx="4471984" cy="913362"/>
            </a:xfrm>
          </p:grpSpPr>
          <p:sp>
            <p:nvSpPr>
              <p:cNvPr name="Freeform 66" id="66"/>
              <p:cNvSpPr/>
              <p:nvPr/>
            </p:nvSpPr>
            <p:spPr>
              <a:xfrm flipH="false" flipV="false" rot="0">
                <a:off x="0" y="0"/>
                <a:ext cx="4471989" cy="913362"/>
              </a:xfrm>
              <a:custGeom>
                <a:avLst/>
                <a:gdLst/>
                <a:ahLst/>
                <a:cxnLst/>
                <a:rect r="r" b="b" t="t" l="l"/>
                <a:pathLst>
                  <a:path h="913362" w="4471989">
                    <a:moveTo>
                      <a:pt x="0" y="0"/>
                    </a:moveTo>
                    <a:lnTo>
                      <a:pt x="4471989" y="0"/>
                    </a:lnTo>
                    <a:lnTo>
                      <a:pt x="4471989" y="913362"/>
                    </a:lnTo>
                    <a:lnTo>
                      <a:pt x="0" y="913362"/>
                    </a:lnTo>
                    <a:close/>
                  </a:path>
                </a:pathLst>
              </a:custGeom>
              <a:blipFill>
                <a:blip r:embed="rId3">
                  <a:alphaModFix amt="0"/>
                </a:blip>
                <a:stretch>
                  <a:fillRect l="0" t="-8171" r="56454" b="25085"/>
                </a:stretch>
              </a:blipFill>
            </p:spPr>
          </p:sp>
          <p:sp>
            <p:nvSpPr>
              <p:cNvPr name="TextBox 67" id="67"/>
              <p:cNvSpPr txBox="true"/>
              <p:nvPr/>
            </p:nvSpPr>
            <p:spPr>
              <a:xfrm>
                <a:off x="0" y="-19050"/>
                <a:ext cx="4471984" cy="932412"/>
              </a:xfrm>
              <a:prstGeom prst="rect">
                <a:avLst/>
              </a:prstGeom>
            </p:spPr>
            <p:txBody>
              <a:bodyPr anchor="ctr" rtlCol="false" tIns="0" lIns="0" bIns="0" rIns="0"/>
              <a:lstStyle/>
              <a:p>
                <a:pPr algn="l">
                  <a:lnSpc>
                    <a:spcPts val="3600"/>
                  </a:lnSpc>
                </a:pPr>
                <a:r>
                  <a:rPr lang="en-US" sz="3000" b="true">
                    <a:solidFill>
                      <a:srgbClr val="111111"/>
                    </a:solidFill>
                    <a:latin typeface="Arimo Bold"/>
                    <a:ea typeface="Arimo Bold"/>
                    <a:cs typeface="Arimo Bold"/>
                    <a:sym typeface="Arimo Bold"/>
                  </a:rPr>
                  <a:t>59 / 60 (98.3%)</a:t>
                </a:r>
              </a:p>
            </p:txBody>
          </p:sp>
        </p:grpSp>
      </p:grpSp>
      <p:sp>
        <p:nvSpPr>
          <p:cNvPr name="AutoShape 68" id="68"/>
          <p:cNvSpPr/>
          <p:nvPr/>
        </p:nvSpPr>
        <p:spPr>
          <a:xfrm>
            <a:off x="5604191" y="3759832"/>
            <a:ext cx="0" cy="395607"/>
          </a:xfrm>
          <a:prstGeom prst="line">
            <a:avLst/>
          </a:prstGeom>
          <a:ln cap="flat" w="28575">
            <a:solidFill>
              <a:srgbClr val="000000"/>
            </a:solidFill>
            <a:prstDash val="solid"/>
            <a:headEnd type="none" len="sm" w="sm"/>
            <a:tailEnd type="triangle" len="med" w="lg"/>
          </a:ln>
        </p:spPr>
      </p:sp>
      <p:sp>
        <p:nvSpPr>
          <p:cNvPr name="AutoShape 69" id="69"/>
          <p:cNvSpPr/>
          <p:nvPr/>
        </p:nvSpPr>
        <p:spPr>
          <a:xfrm>
            <a:off x="5604191" y="6109379"/>
            <a:ext cx="0" cy="365716"/>
          </a:xfrm>
          <a:prstGeom prst="line">
            <a:avLst/>
          </a:prstGeom>
          <a:ln cap="flat" w="28575">
            <a:solidFill>
              <a:srgbClr val="000000"/>
            </a:solidFill>
            <a:prstDash val="solid"/>
            <a:headEnd type="none" len="sm" w="sm"/>
            <a:tailEnd type="triangle" len="med" w="lg"/>
          </a:ln>
        </p:spPr>
      </p:sp>
      <p:grpSp>
        <p:nvGrpSpPr>
          <p:cNvPr name="Group 70" id="70"/>
          <p:cNvGrpSpPr/>
          <p:nvPr/>
        </p:nvGrpSpPr>
        <p:grpSpPr>
          <a:xfrm rot="0">
            <a:off x="757238" y="8549265"/>
            <a:ext cx="6559553" cy="1356615"/>
            <a:chOff x="0" y="0"/>
            <a:chExt cx="8746071" cy="1808820"/>
          </a:xfrm>
        </p:grpSpPr>
        <p:grpSp>
          <p:nvGrpSpPr>
            <p:cNvPr name="Group 71" id="71"/>
            <p:cNvGrpSpPr/>
            <p:nvPr/>
          </p:nvGrpSpPr>
          <p:grpSpPr>
            <a:xfrm rot="0">
              <a:off x="0" y="0"/>
              <a:ext cx="8746071" cy="1808820"/>
              <a:chOff x="0" y="0"/>
              <a:chExt cx="8746071" cy="1808820"/>
            </a:xfrm>
          </p:grpSpPr>
          <p:sp>
            <p:nvSpPr>
              <p:cNvPr name="Freeform 72" id="72"/>
              <p:cNvSpPr/>
              <p:nvPr/>
            </p:nvSpPr>
            <p:spPr>
              <a:xfrm flipH="false" flipV="false" rot="0">
                <a:off x="0" y="0"/>
                <a:ext cx="8745982" cy="1808771"/>
              </a:xfrm>
              <a:custGeom>
                <a:avLst/>
                <a:gdLst/>
                <a:ahLst/>
                <a:cxnLst/>
                <a:rect r="r" b="b" t="t" l="l"/>
                <a:pathLst>
                  <a:path h="1808771" w="8745982">
                    <a:moveTo>
                      <a:pt x="0" y="190576"/>
                    </a:moveTo>
                    <a:cubicBezTo>
                      <a:pt x="0" y="85296"/>
                      <a:pt x="66675" y="0"/>
                      <a:pt x="148971" y="0"/>
                    </a:cubicBezTo>
                    <a:lnTo>
                      <a:pt x="8597011" y="0"/>
                    </a:lnTo>
                    <a:cubicBezTo>
                      <a:pt x="8679307" y="0"/>
                      <a:pt x="8745982" y="85296"/>
                      <a:pt x="8745982" y="190576"/>
                    </a:cubicBezTo>
                    <a:lnTo>
                      <a:pt x="8745982" y="1618194"/>
                    </a:lnTo>
                    <a:cubicBezTo>
                      <a:pt x="8745982" y="1723474"/>
                      <a:pt x="8679307" y="1808771"/>
                      <a:pt x="8597011" y="1808771"/>
                    </a:cubicBezTo>
                    <a:lnTo>
                      <a:pt x="148971" y="1808771"/>
                    </a:lnTo>
                    <a:cubicBezTo>
                      <a:pt x="66675" y="1808771"/>
                      <a:pt x="0" y="1723474"/>
                      <a:pt x="0" y="1618194"/>
                    </a:cubicBezTo>
                    <a:close/>
                  </a:path>
                </a:pathLst>
              </a:custGeom>
              <a:solidFill>
                <a:srgbClr val="E9EEFF"/>
              </a:solidFill>
              <a:ln w="19050" cap="sq">
                <a:solidFill>
                  <a:srgbClr val="E9EEFF"/>
                </a:solidFill>
                <a:prstDash val="solid"/>
                <a:miter/>
              </a:ln>
            </p:spPr>
          </p:sp>
        </p:grpSp>
        <p:grpSp>
          <p:nvGrpSpPr>
            <p:cNvPr name="Group 73" id="73"/>
            <p:cNvGrpSpPr/>
            <p:nvPr/>
          </p:nvGrpSpPr>
          <p:grpSpPr>
            <a:xfrm rot="0">
              <a:off x="436029" y="275421"/>
              <a:ext cx="4292399" cy="440266"/>
              <a:chOff x="0" y="0"/>
              <a:chExt cx="4292399" cy="440266"/>
            </a:xfrm>
          </p:grpSpPr>
          <p:sp>
            <p:nvSpPr>
              <p:cNvPr name="Freeform 74" id="74"/>
              <p:cNvSpPr/>
              <p:nvPr/>
            </p:nvSpPr>
            <p:spPr>
              <a:xfrm flipH="false" flipV="false" rot="0">
                <a:off x="0" y="0"/>
                <a:ext cx="4292404" cy="440261"/>
              </a:xfrm>
              <a:custGeom>
                <a:avLst/>
                <a:gdLst/>
                <a:ahLst/>
                <a:cxnLst/>
                <a:rect r="r" b="b" t="t" l="l"/>
                <a:pathLst>
                  <a:path h="440261" w="4292404">
                    <a:moveTo>
                      <a:pt x="0" y="0"/>
                    </a:moveTo>
                    <a:lnTo>
                      <a:pt x="4292404" y="0"/>
                    </a:lnTo>
                    <a:lnTo>
                      <a:pt x="4292404" y="440261"/>
                    </a:lnTo>
                    <a:lnTo>
                      <a:pt x="0" y="440261"/>
                    </a:lnTo>
                    <a:close/>
                  </a:path>
                </a:pathLst>
              </a:custGeom>
              <a:blipFill>
                <a:blip r:embed="rId3">
                  <a:alphaModFix amt="0"/>
                </a:blip>
                <a:stretch>
                  <a:fillRect l="0" t="-114874" r="13211" b="-114876"/>
                </a:stretch>
              </a:blipFill>
            </p:spPr>
          </p:sp>
          <p:sp>
            <p:nvSpPr>
              <p:cNvPr name="TextBox 75" id="75"/>
              <p:cNvSpPr txBox="true"/>
              <p:nvPr/>
            </p:nvSpPr>
            <p:spPr>
              <a:xfrm>
                <a:off x="0" y="-19050"/>
                <a:ext cx="4292399" cy="459316"/>
              </a:xfrm>
              <a:prstGeom prst="rect">
                <a:avLst/>
              </a:prstGeom>
            </p:spPr>
            <p:txBody>
              <a:bodyPr anchor="ctr" rtlCol="false" tIns="0" lIns="0" bIns="0" rIns="0"/>
              <a:lstStyle/>
              <a:p>
                <a:pPr algn="l">
                  <a:lnSpc>
                    <a:spcPts val="1620"/>
                  </a:lnSpc>
                </a:pPr>
                <a:r>
                  <a:rPr lang="en-US" sz="1350" b="true">
                    <a:solidFill>
                      <a:srgbClr val="1B2CC1"/>
                    </a:solidFill>
                    <a:latin typeface="Arimo Bold"/>
                    <a:ea typeface="Arimo Bold"/>
                    <a:cs typeface="Arimo Bold"/>
                    <a:sym typeface="Arimo Bold"/>
                  </a:rPr>
                  <a:t>Gemma4 26B 계획 생성 전체 테스트 결과</a:t>
                </a:r>
              </a:p>
            </p:txBody>
          </p:sp>
        </p:grpSp>
        <p:grpSp>
          <p:nvGrpSpPr>
            <p:cNvPr name="Group 76" id="76"/>
            <p:cNvGrpSpPr/>
            <p:nvPr/>
          </p:nvGrpSpPr>
          <p:grpSpPr>
            <a:xfrm rot="0">
              <a:off x="436029" y="842937"/>
              <a:ext cx="4641551" cy="817711"/>
              <a:chOff x="0" y="0"/>
              <a:chExt cx="4641551" cy="817711"/>
            </a:xfrm>
          </p:grpSpPr>
          <p:sp>
            <p:nvSpPr>
              <p:cNvPr name="Freeform 77" id="77"/>
              <p:cNvSpPr/>
              <p:nvPr/>
            </p:nvSpPr>
            <p:spPr>
              <a:xfrm flipH="false" flipV="false" rot="0">
                <a:off x="0" y="0"/>
                <a:ext cx="4641555" cy="817711"/>
              </a:xfrm>
              <a:custGeom>
                <a:avLst/>
                <a:gdLst/>
                <a:ahLst/>
                <a:cxnLst/>
                <a:rect r="r" b="b" t="t" l="l"/>
                <a:pathLst>
                  <a:path h="817711" w="4641555">
                    <a:moveTo>
                      <a:pt x="0" y="0"/>
                    </a:moveTo>
                    <a:lnTo>
                      <a:pt x="4641555" y="0"/>
                    </a:lnTo>
                    <a:lnTo>
                      <a:pt x="4641555" y="817711"/>
                    </a:lnTo>
                    <a:lnTo>
                      <a:pt x="0" y="817711"/>
                    </a:lnTo>
                    <a:close/>
                  </a:path>
                </a:pathLst>
              </a:custGeom>
              <a:blipFill>
                <a:blip r:embed="rId3">
                  <a:alphaModFix amt="0"/>
                </a:blip>
                <a:stretch>
                  <a:fillRect l="0" t="-9127" r="58045" b="16322"/>
                </a:stretch>
              </a:blipFill>
            </p:spPr>
          </p:sp>
          <p:sp>
            <p:nvSpPr>
              <p:cNvPr name="TextBox 78" id="78"/>
              <p:cNvSpPr txBox="true"/>
              <p:nvPr/>
            </p:nvSpPr>
            <p:spPr>
              <a:xfrm>
                <a:off x="0" y="-19050"/>
                <a:ext cx="4641551" cy="836761"/>
              </a:xfrm>
              <a:prstGeom prst="rect">
                <a:avLst/>
              </a:prstGeom>
            </p:spPr>
            <p:txBody>
              <a:bodyPr anchor="ctr" rtlCol="false" tIns="0" lIns="0" bIns="0" rIns="0"/>
              <a:lstStyle/>
              <a:p>
                <a:pPr algn="l">
                  <a:lnSpc>
                    <a:spcPts val="3600"/>
                  </a:lnSpc>
                </a:pPr>
                <a:r>
                  <a:rPr lang="en-US" sz="3000" b="true">
                    <a:solidFill>
                      <a:srgbClr val="111111"/>
                    </a:solidFill>
                    <a:latin typeface="Arimo Bold"/>
                    <a:ea typeface="Arimo Bold"/>
                    <a:cs typeface="Arimo Bold"/>
                    <a:sym typeface="Arimo Bold"/>
                  </a:rPr>
                  <a:t>220 </a:t>
                </a:r>
                <a:r>
                  <a:rPr lang="en-US" sz="3000" b="true">
                    <a:solidFill>
                      <a:srgbClr val="111111"/>
                    </a:solidFill>
                    <a:latin typeface="Arimo Bold"/>
                    <a:ea typeface="Arimo Bold"/>
                    <a:cs typeface="Arimo Bold"/>
                    <a:sym typeface="Arimo Bold"/>
                  </a:rPr>
                  <a:t>/ 242 (90.9%)</a:t>
                </a:r>
              </a:p>
            </p:txBody>
          </p:sp>
        </p:grpSp>
      </p:grpSp>
      <p:sp>
        <p:nvSpPr>
          <p:cNvPr name="AutoShape 79" id="79"/>
          <p:cNvSpPr/>
          <p:nvPr/>
        </p:nvSpPr>
        <p:spPr>
          <a:xfrm>
            <a:off x="3927786" y="7645400"/>
            <a:ext cx="939803" cy="0"/>
          </a:xfrm>
          <a:prstGeom prst="line">
            <a:avLst/>
          </a:prstGeom>
          <a:ln cap="flat" w="28575">
            <a:solidFill>
              <a:srgbClr val="000000"/>
            </a:solidFill>
            <a:prstDash val="solid"/>
            <a:headEnd type="none" len="sm" w="sm"/>
            <a:tailEnd type="triangle" len="med" w="lg"/>
          </a:ln>
        </p:spPr>
      </p:sp>
      <p:sp>
        <p:nvSpPr>
          <p:cNvPr name="TextBox 80" id="80"/>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6</a:t>
            </a:r>
          </a:p>
        </p:txBody>
      </p:sp>
      <p:grpSp>
        <p:nvGrpSpPr>
          <p:cNvPr name="Group 81" id="81"/>
          <p:cNvGrpSpPr/>
          <p:nvPr/>
        </p:nvGrpSpPr>
        <p:grpSpPr>
          <a:xfrm rot="0">
            <a:off x="5038983" y="5354953"/>
            <a:ext cx="3527043" cy="355600"/>
            <a:chOff x="0" y="0"/>
            <a:chExt cx="4702724" cy="474134"/>
          </a:xfrm>
        </p:grpSpPr>
        <p:sp>
          <p:nvSpPr>
            <p:cNvPr name="Freeform 82" id="82"/>
            <p:cNvSpPr/>
            <p:nvPr/>
          </p:nvSpPr>
          <p:spPr>
            <a:xfrm flipH="false" flipV="false" rot="0">
              <a:off x="0" y="0"/>
              <a:ext cx="4702720" cy="474139"/>
            </a:xfrm>
            <a:custGeom>
              <a:avLst/>
              <a:gdLst/>
              <a:ahLst/>
              <a:cxnLst/>
              <a:rect r="r" b="b" t="t" l="l"/>
              <a:pathLst>
                <a:path h="474139" w="4702720">
                  <a:moveTo>
                    <a:pt x="0" y="0"/>
                  </a:moveTo>
                  <a:lnTo>
                    <a:pt x="4702720" y="0"/>
                  </a:lnTo>
                  <a:lnTo>
                    <a:pt x="4702720" y="474139"/>
                  </a:lnTo>
                  <a:lnTo>
                    <a:pt x="0" y="474139"/>
                  </a:lnTo>
                  <a:close/>
                </a:path>
              </a:pathLst>
            </a:custGeom>
            <a:solidFill>
              <a:srgbClr val="FFFFFF"/>
            </a:solidFill>
          </p:spPr>
        </p:sp>
        <p:sp>
          <p:nvSpPr>
            <p:cNvPr name="TextBox 83" id="83"/>
            <p:cNvSpPr txBox="true"/>
            <p:nvPr/>
          </p:nvSpPr>
          <p:spPr>
            <a:xfrm>
              <a:off x="0" y="-9525"/>
              <a:ext cx="4702724" cy="483659"/>
            </a:xfrm>
            <a:prstGeom prst="rect">
              <a:avLst/>
            </a:prstGeom>
          </p:spPr>
          <p:txBody>
            <a:bodyPr anchor="ctr" rtlCol="false" tIns="0" lIns="0" bIns="0" rIns="0"/>
            <a:lstStyle/>
            <a:p>
              <a:pPr algn="l">
                <a:lnSpc>
                  <a:spcPts val="1889"/>
                </a:lnSpc>
              </a:pPr>
              <a:r>
                <a:rPr lang="en-US" b="true" sz="1575">
                  <a:solidFill>
                    <a:srgbClr val="111111"/>
                  </a:solidFill>
                  <a:latin typeface="Arimo Bold"/>
                  <a:ea typeface="Arimo Bold"/>
                  <a:cs typeface="Arimo Bold"/>
                  <a:sym typeface="Arimo Bold"/>
                </a:rPr>
                <a:t>●  계획 실패 시 로봇에 전달하지 않고 종료</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sp>
        <p:nvSpPr>
          <p:cNvPr name="TextBox 2" id="2"/>
          <p:cNvSpPr txBox="true"/>
          <p:nvPr/>
        </p:nvSpPr>
        <p:spPr>
          <a:xfrm rot="0">
            <a:off x="768096" y="865251"/>
            <a:ext cx="16550640" cy="720014"/>
          </a:xfrm>
          <a:prstGeom prst="rect">
            <a:avLst/>
          </a:prstGeom>
        </p:spPr>
        <p:txBody>
          <a:bodyPr anchor="t" rtlCol="false" tIns="0" lIns="0" bIns="0" rIns="0">
            <a:spAutoFit/>
          </a:bodyPr>
          <a:lstStyle/>
          <a:p>
            <a:pPr algn="l">
              <a:lnSpc>
                <a:spcPts val="5745"/>
              </a:lnSpc>
            </a:pPr>
            <a:r>
              <a:rPr lang="en-US" sz="4200" b="true">
                <a:solidFill>
                  <a:srgbClr val="111111"/>
                </a:solidFill>
                <a:latin typeface="Arimo Bold"/>
                <a:ea typeface="Arimo Bold"/>
                <a:cs typeface="Arimo Bold"/>
                <a:sym typeface="Arimo Bold"/>
              </a:rPr>
              <a:t>같은 시험지로 모델을 비교하고 실패를 분류</a:t>
            </a:r>
          </a:p>
        </p:txBody>
      </p:sp>
      <p:grpSp>
        <p:nvGrpSpPr>
          <p:cNvPr name="Group 3" id="3"/>
          <p:cNvGrpSpPr/>
          <p:nvPr/>
        </p:nvGrpSpPr>
        <p:grpSpPr>
          <a:xfrm rot="0">
            <a:off x="1005840" y="2880360"/>
            <a:ext cx="10378440" cy="4599432"/>
            <a:chOff x="0" y="0"/>
            <a:chExt cx="13837920" cy="6132576"/>
          </a:xfrm>
        </p:grpSpPr>
        <p:sp>
          <p:nvSpPr>
            <p:cNvPr name="Freeform 4" id="4"/>
            <p:cNvSpPr/>
            <p:nvPr/>
          </p:nvSpPr>
          <p:spPr>
            <a:xfrm flipH="false" flipV="false" rot="0">
              <a:off x="0" y="0"/>
              <a:ext cx="13837920" cy="6132576"/>
            </a:xfrm>
            <a:custGeom>
              <a:avLst/>
              <a:gdLst/>
              <a:ahLst/>
              <a:cxnLst/>
              <a:rect r="r" b="b" t="t" l="l"/>
              <a:pathLst>
                <a:path h="6132576" w="13837920">
                  <a:moveTo>
                    <a:pt x="0" y="429260"/>
                  </a:moveTo>
                  <a:cubicBezTo>
                    <a:pt x="0" y="192151"/>
                    <a:pt x="192151" y="0"/>
                    <a:pt x="429260" y="0"/>
                  </a:cubicBezTo>
                  <a:lnTo>
                    <a:pt x="13408661" y="0"/>
                  </a:lnTo>
                  <a:cubicBezTo>
                    <a:pt x="13645769" y="0"/>
                    <a:pt x="13837920" y="192151"/>
                    <a:pt x="13837920" y="429260"/>
                  </a:cubicBezTo>
                  <a:lnTo>
                    <a:pt x="13837920" y="5703316"/>
                  </a:lnTo>
                  <a:cubicBezTo>
                    <a:pt x="13837920" y="5940425"/>
                    <a:pt x="13645769" y="6132576"/>
                    <a:pt x="13408661" y="6132576"/>
                  </a:cubicBezTo>
                  <a:lnTo>
                    <a:pt x="429260" y="6132576"/>
                  </a:lnTo>
                  <a:cubicBezTo>
                    <a:pt x="192151" y="6132576"/>
                    <a:pt x="0" y="5940425"/>
                    <a:pt x="0" y="5703316"/>
                  </a:cubicBezTo>
                  <a:close/>
                </a:path>
              </a:pathLst>
            </a:custGeom>
            <a:solidFill>
              <a:srgbClr val="FFFFFF"/>
            </a:solidFill>
            <a:ln w="38100" cap="sq">
              <a:solidFill>
                <a:srgbClr val="000000"/>
              </a:solidFill>
              <a:prstDash val="solid"/>
              <a:miter/>
            </a:ln>
          </p:spPr>
        </p:sp>
      </p:grpSp>
      <p:sp>
        <p:nvSpPr>
          <p:cNvPr name="TextBox 5" id="5"/>
          <p:cNvSpPr txBox="true"/>
          <p:nvPr/>
        </p:nvSpPr>
        <p:spPr>
          <a:xfrm rot="0">
            <a:off x="1325880" y="3116580"/>
            <a:ext cx="3108960" cy="367284"/>
          </a:xfrm>
          <a:prstGeom prst="rect">
            <a:avLst/>
          </a:prstGeom>
        </p:spPr>
        <p:txBody>
          <a:bodyPr anchor="t" rtlCol="false" tIns="0" lIns="0" bIns="0" rIns="0">
            <a:spAutoFit/>
          </a:bodyPr>
          <a:lstStyle/>
          <a:p>
            <a:pPr algn="l">
              <a:lnSpc>
                <a:spcPts val="2188"/>
              </a:lnSpc>
            </a:pPr>
            <a:r>
              <a:rPr lang="en-US" sz="1599" b="true">
                <a:solidFill>
                  <a:srgbClr val="66645F"/>
                </a:solidFill>
                <a:latin typeface="Arimo Bold"/>
                <a:ea typeface="Arimo Bold"/>
                <a:cs typeface="Arimo Bold"/>
                <a:sym typeface="Arimo Bold"/>
              </a:rPr>
              <a:t>모델</a:t>
            </a:r>
          </a:p>
        </p:txBody>
      </p:sp>
      <p:sp>
        <p:nvSpPr>
          <p:cNvPr name="TextBox 6" id="6"/>
          <p:cNvSpPr txBox="true"/>
          <p:nvPr/>
        </p:nvSpPr>
        <p:spPr>
          <a:xfrm rot="0">
            <a:off x="4572000" y="3116580"/>
            <a:ext cx="3566160" cy="367284"/>
          </a:xfrm>
          <a:prstGeom prst="rect">
            <a:avLst/>
          </a:prstGeom>
        </p:spPr>
        <p:txBody>
          <a:bodyPr anchor="t" rtlCol="false" tIns="0" lIns="0" bIns="0" rIns="0">
            <a:spAutoFit/>
          </a:bodyPr>
          <a:lstStyle/>
          <a:p>
            <a:pPr algn="l">
              <a:lnSpc>
                <a:spcPts val="2188"/>
              </a:lnSpc>
            </a:pPr>
            <a:r>
              <a:rPr lang="en-US" sz="1599" b="true">
                <a:solidFill>
                  <a:srgbClr val="66645F"/>
                </a:solidFill>
                <a:latin typeface="Arimo Bold"/>
                <a:ea typeface="Arimo Bold"/>
                <a:cs typeface="Arimo Bold"/>
                <a:sym typeface="Arimo Bold"/>
              </a:rPr>
              <a:t>전체 통과율</a:t>
            </a:r>
          </a:p>
        </p:txBody>
      </p:sp>
      <p:sp>
        <p:nvSpPr>
          <p:cNvPr name="TextBox 7" id="7"/>
          <p:cNvSpPr txBox="true"/>
          <p:nvPr/>
        </p:nvSpPr>
        <p:spPr>
          <a:xfrm rot="0">
            <a:off x="8641080" y="3116580"/>
            <a:ext cx="2286000" cy="367284"/>
          </a:xfrm>
          <a:prstGeom prst="rect">
            <a:avLst/>
          </a:prstGeom>
        </p:spPr>
        <p:txBody>
          <a:bodyPr anchor="t" rtlCol="false" tIns="0" lIns="0" bIns="0" rIns="0">
            <a:spAutoFit/>
          </a:bodyPr>
          <a:lstStyle/>
          <a:p>
            <a:pPr algn="l">
              <a:lnSpc>
                <a:spcPts val="2188"/>
              </a:lnSpc>
            </a:pPr>
            <a:r>
              <a:rPr lang="en-US" sz="1599" b="true">
                <a:solidFill>
                  <a:srgbClr val="66645F"/>
                </a:solidFill>
                <a:latin typeface="Arimo Bold"/>
                <a:ea typeface="Arimo Bold"/>
                <a:cs typeface="Arimo Bold"/>
                <a:sym typeface="Arimo Bold"/>
              </a:rPr>
              <a:t>다국어</a:t>
            </a:r>
          </a:p>
        </p:txBody>
      </p:sp>
      <p:sp>
        <p:nvSpPr>
          <p:cNvPr name="TextBox 8" id="8"/>
          <p:cNvSpPr txBox="true"/>
          <p:nvPr/>
        </p:nvSpPr>
        <p:spPr>
          <a:xfrm rot="0">
            <a:off x="1325880" y="3756660"/>
            <a:ext cx="3154680" cy="403860"/>
          </a:xfrm>
          <a:prstGeom prst="rect">
            <a:avLst/>
          </a:prstGeom>
        </p:spPr>
        <p:txBody>
          <a:bodyPr anchor="t" rtlCol="false" tIns="0" lIns="0" bIns="0" rIns="0">
            <a:spAutoFit/>
          </a:bodyPr>
          <a:lstStyle/>
          <a:p>
            <a:pPr algn="l">
              <a:lnSpc>
                <a:spcPts val="2599"/>
              </a:lnSpc>
            </a:pPr>
            <a:r>
              <a:rPr lang="en-US" sz="1899" b="true">
                <a:solidFill>
                  <a:srgbClr val="1B2CC1"/>
                </a:solidFill>
                <a:latin typeface="Arimo Bold"/>
                <a:ea typeface="Arimo Bold"/>
                <a:cs typeface="Arimo Bold"/>
                <a:sym typeface="Arimo Bold"/>
              </a:rPr>
              <a:t>gemma4:26b</a:t>
            </a:r>
          </a:p>
        </p:txBody>
      </p:sp>
      <p:grpSp>
        <p:nvGrpSpPr>
          <p:cNvPr name="Group 9" id="9"/>
          <p:cNvGrpSpPr/>
          <p:nvPr/>
        </p:nvGrpSpPr>
        <p:grpSpPr>
          <a:xfrm rot="0">
            <a:off x="4572000" y="3867912"/>
            <a:ext cx="2011680" cy="173736"/>
            <a:chOff x="0" y="0"/>
            <a:chExt cx="2682240" cy="231648"/>
          </a:xfrm>
        </p:grpSpPr>
        <p:sp>
          <p:nvSpPr>
            <p:cNvPr name="Freeform 10" id="10"/>
            <p:cNvSpPr/>
            <p:nvPr/>
          </p:nvSpPr>
          <p:spPr>
            <a:xfrm flipH="false" flipV="false" rot="0">
              <a:off x="0" y="0"/>
              <a:ext cx="2682240" cy="231648"/>
            </a:xfrm>
            <a:custGeom>
              <a:avLst/>
              <a:gdLst/>
              <a:ahLst/>
              <a:cxnLst/>
              <a:rect r="r" b="b" t="t" l="l"/>
              <a:pathLst>
                <a:path h="231648" w="2682240">
                  <a:moveTo>
                    <a:pt x="0" y="0"/>
                  </a:moveTo>
                  <a:lnTo>
                    <a:pt x="2682240" y="0"/>
                  </a:lnTo>
                  <a:lnTo>
                    <a:pt x="2682240" y="231648"/>
                  </a:lnTo>
                  <a:lnTo>
                    <a:pt x="0" y="231648"/>
                  </a:lnTo>
                  <a:close/>
                </a:path>
              </a:pathLst>
            </a:custGeom>
            <a:solidFill>
              <a:srgbClr val="E9EEFF"/>
            </a:solidFill>
          </p:spPr>
        </p:sp>
      </p:grpSp>
      <p:grpSp>
        <p:nvGrpSpPr>
          <p:cNvPr name="Group 11" id="11"/>
          <p:cNvGrpSpPr/>
          <p:nvPr/>
        </p:nvGrpSpPr>
        <p:grpSpPr>
          <a:xfrm rot="0">
            <a:off x="4572000" y="3867912"/>
            <a:ext cx="1828619" cy="173736"/>
            <a:chOff x="0" y="0"/>
            <a:chExt cx="2438159" cy="231648"/>
          </a:xfrm>
        </p:grpSpPr>
        <p:sp>
          <p:nvSpPr>
            <p:cNvPr name="Freeform 12" id="12"/>
            <p:cNvSpPr/>
            <p:nvPr/>
          </p:nvSpPr>
          <p:spPr>
            <a:xfrm flipH="false" flipV="false" rot="0">
              <a:off x="0" y="0"/>
              <a:ext cx="2438146" cy="231648"/>
            </a:xfrm>
            <a:custGeom>
              <a:avLst/>
              <a:gdLst/>
              <a:ahLst/>
              <a:cxnLst/>
              <a:rect r="r" b="b" t="t" l="l"/>
              <a:pathLst>
                <a:path h="231648" w="2438146">
                  <a:moveTo>
                    <a:pt x="0" y="0"/>
                  </a:moveTo>
                  <a:lnTo>
                    <a:pt x="2438146" y="0"/>
                  </a:lnTo>
                  <a:lnTo>
                    <a:pt x="2438146" y="231648"/>
                  </a:lnTo>
                  <a:lnTo>
                    <a:pt x="0" y="231648"/>
                  </a:lnTo>
                  <a:close/>
                </a:path>
              </a:pathLst>
            </a:custGeom>
            <a:solidFill>
              <a:srgbClr val="1B2CC1"/>
            </a:solidFill>
          </p:spPr>
        </p:sp>
      </p:grpSp>
      <p:sp>
        <p:nvSpPr>
          <p:cNvPr name="TextBox 13" id="13"/>
          <p:cNvSpPr txBox="true"/>
          <p:nvPr/>
        </p:nvSpPr>
        <p:spPr>
          <a:xfrm rot="0">
            <a:off x="6812280" y="3756660"/>
            <a:ext cx="1508760" cy="422148"/>
          </a:xfrm>
          <a:prstGeom prst="rect">
            <a:avLst/>
          </a:prstGeom>
        </p:spPr>
        <p:txBody>
          <a:bodyPr anchor="t" rtlCol="false" tIns="0" lIns="0" bIns="0" rIns="0">
            <a:spAutoFit/>
          </a:bodyPr>
          <a:lstStyle/>
          <a:p>
            <a:pPr algn="l">
              <a:lnSpc>
                <a:spcPts val="2872"/>
              </a:lnSpc>
            </a:pPr>
            <a:r>
              <a:rPr lang="en-US" sz="2100" b="true">
                <a:solidFill>
                  <a:srgbClr val="1B2CC1"/>
                </a:solidFill>
                <a:latin typeface="Arimo Bold"/>
                <a:ea typeface="Arimo Bold"/>
                <a:cs typeface="Arimo Bold"/>
                <a:sym typeface="Arimo Bold"/>
              </a:rPr>
              <a:t>90.9%</a:t>
            </a:r>
          </a:p>
        </p:txBody>
      </p:sp>
      <p:sp>
        <p:nvSpPr>
          <p:cNvPr name="TextBox 14" id="14"/>
          <p:cNvSpPr txBox="true"/>
          <p:nvPr/>
        </p:nvSpPr>
        <p:spPr>
          <a:xfrm rot="0">
            <a:off x="8641080" y="3756660"/>
            <a:ext cx="2286000" cy="422148"/>
          </a:xfrm>
          <a:prstGeom prst="rect">
            <a:avLst/>
          </a:prstGeom>
        </p:spPr>
        <p:txBody>
          <a:bodyPr anchor="t" rtlCol="false" tIns="0" lIns="0" bIns="0" rIns="0">
            <a:spAutoFit/>
          </a:bodyPr>
          <a:lstStyle/>
          <a:p>
            <a:pPr algn="l">
              <a:lnSpc>
                <a:spcPts val="2736"/>
              </a:lnSpc>
            </a:pPr>
            <a:r>
              <a:rPr lang="en-US" sz="2000">
                <a:solidFill>
                  <a:srgbClr val="111111"/>
                </a:solidFill>
                <a:latin typeface="Arimo"/>
                <a:ea typeface="Arimo"/>
                <a:cs typeface="Arimo"/>
                <a:sym typeface="Arimo"/>
              </a:rPr>
              <a:t>59 / 60</a:t>
            </a:r>
          </a:p>
        </p:txBody>
      </p:sp>
      <p:sp>
        <p:nvSpPr>
          <p:cNvPr name="TextBox 15" id="15"/>
          <p:cNvSpPr txBox="true"/>
          <p:nvPr/>
        </p:nvSpPr>
        <p:spPr>
          <a:xfrm rot="0">
            <a:off x="1325880" y="4415028"/>
            <a:ext cx="3154680" cy="403860"/>
          </a:xfrm>
          <a:prstGeom prst="rect">
            <a:avLst/>
          </a:prstGeom>
        </p:spPr>
        <p:txBody>
          <a:bodyPr anchor="t" rtlCol="false" tIns="0" lIns="0" bIns="0" rIns="0">
            <a:spAutoFit/>
          </a:bodyPr>
          <a:lstStyle/>
          <a:p>
            <a:pPr algn="l">
              <a:lnSpc>
                <a:spcPts val="2599"/>
              </a:lnSpc>
            </a:pPr>
            <a:r>
              <a:rPr lang="en-US" sz="1899">
                <a:solidFill>
                  <a:srgbClr val="111111"/>
                </a:solidFill>
                <a:latin typeface="Arimo"/>
                <a:ea typeface="Arimo"/>
                <a:cs typeface="Arimo"/>
                <a:sym typeface="Arimo"/>
              </a:rPr>
              <a:t>qwen3.5:9b</a:t>
            </a:r>
          </a:p>
        </p:txBody>
      </p:sp>
      <p:grpSp>
        <p:nvGrpSpPr>
          <p:cNvPr name="Group 16" id="16"/>
          <p:cNvGrpSpPr/>
          <p:nvPr/>
        </p:nvGrpSpPr>
        <p:grpSpPr>
          <a:xfrm rot="0">
            <a:off x="4572000" y="4526280"/>
            <a:ext cx="2011680" cy="173736"/>
            <a:chOff x="0" y="0"/>
            <a:chExt cx="2682240" cy="231648"/>
          </a:xfrm>
        </p:grpSpPr>
        <p:sp>
          <p:nvSpPr>
            <p:cNvPr name="Freeform 17" id="17"/>
            <p:cNvSpPr/>
            <p:nvPr/>
          </p:nvSpPr>
          <p:spPr>
            <a:xfrm flipH="false" flipV="false" rot="0">
              <a:off x="0" y="0"/>
              <a:ext cx="2682240" cy="231648"/>
            </a:xfrm>
            <a:custGeom>
              <a:avLst/>
              <a:gdLst/>
              <a:ahLst/>
              <a:cxnLst/>
              <a:rect r="r" b="b" t="t" l="l"/>
              <a:pathLst>
                <a:path h="231648" w="2682240">
                  <a:moveTo>
                    <a:pt x="0" y="0"/>
                  </a:moveTo>
                  <a:lnTo>
                    <a:pt x="2682240" y="0"/>
                  </a:lnTo>
                  <a:lnTo>
                    <a:pt x="2682240" y="231648"/>
                  </a:lnTo>
                  <a:lnTo>
                    <a:pt x="0" y="231648"/>
                  </a:lnTo>
                  <a:close/>
                </a:path>
              </a:pathLst>
            </a:custGeom>
            <a:solidFill>
              <a:srgbClr val="E9EEFF"/>
            </a:solidFill>
          </p:spPr>
        </p:sp>
      </p:grpSp>
      <p:grpSp>
        <p:nvGrpSpPr>
          <p:cNvPr name="Group 18" id="18"/>
          <p:cNvGrpSpPr/>
          <p:nvPr/>
        </p:nvGrpSpPr>
        <p:grpSpPr>
          <a:xfrm rot="0">
            <a:off x="4572000" y="4526280"/>
            <a:ext cx="1754181" cy="173736"/>
            <a:chOff x="0" y="0"/>
            <a:chExt cx="2338908" cy="231648"/>
          </a:xfrm>
        </p:grpSpPr>
        <p:sp>
          <p:nvSpPr>
            <p:cNvPr name="Freeform 19" id="19"/>
            <p:cNvSpPr/>
            <p:nvPr/>
          </p:nvSpPr>
          <p:spPr>
            <a:xfrm flipH="false" flipV="false" rot="0">
              <a:off x="0" y="0"/>
              <a:ext cx="2338959" cy="231648"/>
            </a:xfrm>
            <a:custGeom>
              <a:avLst/>
              <a:gdLst/>
              <a:ahLst/>
              <a:cxnLst/>
              <a:rect r="r" b="b" t="t" l="l"/>
              <a:pathLst>
                <a:path h="231648" w="2338959">
                  <a:moveTo>
                    <a:pt x="0" y="0"/>
                  </a:moveTo>
                  <a:lnTo>
                    <a:pt x="2338959" y="0"/>
                  </a:lnTo>
                  <a:lnTo>
                    <a:pt x="2338959" y="231648"/>
                  </a:lnTo>
                  <a:lnTo>
                    <a:pt x="0" y="231648"/>
                  </a:lnTo>
                  <a:close/>
                </a:path>
              </a:pathLst>
            </a:custGeom>
            <a:solidFill>
              <a:srgbClr val="9CA8E8"/>
            </a:solidFill>
          </p:spPr>
        </p:sp>
      </p:grpSp>
      <p:sp>
        <p:nvSpPr>
          <p:cNvPr name="TextBox 20" id="20"/>
          <p:cNvSpPr txBox="true"/>
          <p:nvPr/>
        </p:nvSpPr>
        <p:spPr>
          <a:xfrm rot="0">
            <a:off x="6812280" y="4415028"/>
            <a:ext cx="1508760" cy="422148"/>
          </a:xfrm>
          <a:prstGeom prst="rect">
            <a:avLst/>
          </a:prstGeom>
        </p:spPr>
        <p:txBody>
          <a:bodyPr anchor="t" rtlCol="false" tIns="0" lIns="0" bIns="0" rIns="0">
            <a:spAutoFit/>
          </a:bodyPr>
          <a:lstStyle/>
          <a:p>
            <a:pPr algn="l">
              <a:lnSpc>
                <a:spcPts val="2872"/>
              </a:lnSpc>
            </a:pPr>
            <a:r>
              <a:rPr lang="en-US" sz="2100">
                <a:solidFill>
                  <a:srgbClr val="111111"/>
                </a:solidFill>
                <a:latin typeface="Arimo"/>
                <a:ea typeface="Arimo"/>
                <a:cs typeface="Arimo"/>
                <a:sym typeface="Arimo"/>
              </a:rPr>
              <a:t>87.2%</a:t>
            </a:r>
          </a:p>
        </p:txBody>
      </p:sp>
      <p:sp>
        <p:nvSpPr>
          <p:cNvPr name="TextBox 21" id="21"/>
          <p:cNvSpPr txBox="true"/>
          <p:nvPr/>
        </p:nvSpPr>
        <p:spPr>
          <a:xfrm rot="0">
            <a:off x="8641080" y="4415028"/>
            <a:ext cx="2286000" cy="422148"/>
          </a:xfrm>
          <a:prstGeom prst="rect">
            <a:avLst/>
          </a:prstGeom>
        </p:spPr>
        <p:txBody>
          <a:bodyPr anchor="t" rtlCol="false" tIns="0" lIns="0" bIns="0" rIns="0">
            <a:spAutoFit/>
          </a:bodyPr>
          <a:lstStyle/>
          <a:p>
            <a:pPr algn="l">
              <a:lnSpc>
                <a:spcPts val="2736"/>
              </a:lnSpc>
            </a:pPr>
            <a:r>
              <a:rPr lang="en-US" sz="2000">
                <a:solidFill>
                  <a:srgbClr val="111111"/>
                </a:solidFill>
                <a:latin typeface="Arimo"/>
                <a:ea typeface="Arimo"/>
                <a:cs typeface="Arimo"/>
                <a:sym typeface="Arimo"/>
              </a:rPr>
              <a:t>56 / 60</a:t>
            </a:r>
          </a:p>
        </p:txBody>
      </p:sp>
      <p:sp>
        <p:nvSpPr>
          <p:cNvPr name="TextBox 22" id="22"/>
          <p:cNvSpPr txBox="true"/>
          <p:nvPr/>
        </p:nvSpPr>
        <p:spPr>
          <a:xfrm rot="0">
            <a:off x="1325880" y="5073396"/>
            <a:ext cx="3154680" cy="403860"/>
          </a:xfrm>
          <a:prstGeom prst="rect">
            <a:avLst/>
          </a:prstGeom>
        </p:spPr>
        <p:txBody>
          <a:bodyPr anchor="t" rtlCol="false" tIns="0" lIns="0" bIns="0" rIns="0">
            <a:spAutoFit/>
          </a:bodyPr>
          <a:lstStyle/>
          <a:p>
            <a:pPr algn="l">
              <a:lnSpc>
                <a:spcPts val="2599"/>
              </a:lnSpc>
            </a:pPr>
            <a:r>
              <a:rPr lang="en-US" sz="1899">
                <a:solidFill>
                  <a:srgbClr val="111111"/>
                </a:solidFill>
                <a:latin typeface="Arimo"/>
                <a:ea typeface="Arimo"/>
                <a:cs typeface="Arimo"/>
                <a:sym typeface="Arimo"/>
              </a:rPr>
              <a:t>gemma4:12b</a:t>
            </a:r>
          </a:p>
        </p:txBody>
      </p:sp>
      <p:grpSp>
        <p:nvGrpSpPr>
          <p:cNvPr name="Group 23" id="23"/>
          <p:cNvGrpSpPr/>
          <p:nvPr/>
        </p:nvGrpSpPr>
        <p:grpSpPr>
          <a:xfrm rot="0">
            <a:off x="4572000" y="5184648"/>
            <a:ext cx="2011680" cy="173736"/>
            <a:chOff x="0" y="0"/>
            <a:chExt cx="2682240" cy="231648"/>
          </a:xfrm>
        </p:grpSpPr>
        <p:sp>
          <p:nvSpPr>
            <p:cNvPr name="Freeform 24" id="24"/>
            <p:cNvSpPr/>
            <p:nvPr/>
          </p:nvSpPr>
          <p:spPr>
            <a:xfrm flipH="false" flipV="false" rot="0">
              <a:off x="0" y="0"/>
              <a:ext cx="2682240" cy="231648"/>
            </a:xfrm>
            <a:custGeom>
              <a:avLst/>
              <a:gdLst/>
              <a:ahLst/>
              <a:cxnLst/>
              <a:rect r="r" b="b" t="t" l="l"/>
              <a:pathLst>
                <a:path h="231648" w="2682240">
                  <a:moveTo>
                    <a:pt x="0" y="0"/>
                  </a:moveTo>
                  <a:lnTo>
                    <a:pt x="2682240" y="0"/>
                  </a:lnTo>
                  <a:lnTo>
                    <a:pt x="2682240" y="231648"/>
                  </a:lnTo>
                  <a:lnTo>
                    <a:pt x="0" y="231648"/>
                  </a:lnTo>
                  <a:close/>
                </a:path>
              </a:pathLst>
            </a:custGeom>
            <a:solidFill>
              <a:srgbClr val="E9EEFF"/>
            </a:solidFill>
          </p:spPr>
        </p:sp>
      </p:grpSp>
      <p:grpSp>
        <p:nvGrpSpPr>
          <p:cNvPr name="Group 25" id="25"/>
          <p:cNvGrpSpPr/>
          <p:nvPr/>
        </p:nvGrpSpPr>
        <p:grpSpPr>
          <a:xfrm rot="0">
            <a:off x="4572000" y="5184648"/>
            <a:ext cx="1546984" cy="173736"/>
            <a:chOff x="0" y="0"/>
            <a:chExt cx="2062645" cy="231648"/>
          </a:xfrm>
        </p:grpSpPr>
        <p:sp>
          <p:nvSpPr>
            <p:cNvPr name="Freeform 26" id="26"/>
            <p:cNvSpPr/>
            <p:nvPr/>
          </p:nvSpPr>
          <p:spPr>
            <a:xfrm flipH="false" flipV="false" rot="0">
              <a:off x="0" y="0"/>
              <a:ext cx="2062607" cy="231648"/>
            </a:xfrm>
            <a:custGeom>
              <a:avLst/>
              <a:gdLst/>
              <a:ahLst/>
              <a:cxnLst/>
              <a:rect r="r" b="b" t="t" l="l"/>
              <a:pathLst>
                <a:path h="231648" w="2062607">
                  <a:moveTo>
                    <a:pt x="0" y="0"/>
                  </a:moveTo>
                  <a:lnTo>
                    <a:pt x="2062607" y="0"/>
                  </a:lnTo>
                  <a:lnTo>
                    <a:pt x="2062607" y="231648"/>
                  </a:lnTo>
                  <a:lnTo>
                    <a:pt x="0" y="231648"/>
                  </a:lnTo>
                  <a:close/>
                </a:path>
              </a:pathLst>
            </a:custGeom>
            <a:solidFill>
              <a:srgbClr val="9CA8E8"/>
            </a:solidFill>
          </p:spPr>
        </p:sp>
      </p:grpSp>
      <p:sp>
        <p:nvSpPr>
          <p:cNvPr name="TextBox 27" id="27"/>
          <p:cNvSpPr txBox="true"/>
          <p:nvPr/>
        </p:nvSpPr>
        <p:spPr>
          <a:xfrm rot="0">
            <a:off x="6812280" y="5073396"/>
            <a:ext cx="1508760" cy="422148"/>
          </a:xfrm>
          <a:prstGeom prst="rect">
            <a:avLst/>
          </a:prstGeom>
        </p:spPr>
        <p:txBody>
          <a:bodyPr anchor="t" rtlCol="false" tIns="0" lIns="0" bIns="0" rIns="0">
            <a:spAutoFit/>
          </a:bodyPr>
          <a:lstStyle/>
          <a:p>
            <a:pPr algn="l">
              <a:lnSpc>
                <a:spcPts val="2872"/>
              </a:lnSpc>
            </a:pPr>
            <a:r>
              <a:rPr lang="en-US" sz="2100">
                <a:solidFill>
                  <a:srgbClr val="111111"/>
                </a:solidFill>
                <a:latin typeface="Arimo"/>
                <a:ea typeface="Arimo"/>
                <a:cs typeface="Arimo"/>
                <a:sym typeface="Arimo"/>
              </a:rPr>
              <a:t>76.9%</a:t>
            </a:r>
          </a:p>
        </p:txBody>
      </p:sp>
      <p:sp>
        <p:nvSpPr>
          <p:cNvPr name="TextBox 28" id="28"/>
          <p:cNvSpPr txBox="true"/>
          <p:nvPr/>
        </p:nvSpPr>
        <p:spPr>
          <a:xfrm rot="0">
            <a:off x="8641080" y="5073396"/>
            <a:ext cx="2286000" cy="422148"/>
          </a:xfrm>
          <a:prstGeom prst="rect">
            <a:avLst/>
          </a:prstGeom>
        </p:spPr>
        <p:txBody>
          <a:bodyPr anchor="t" rtlCol="false" tIns="0" lIns="0" bIns="0" rIns="0">
            <a:spAutoFit/>
          </a:bodyPr>
          <a:lstStyle/>
          <a:p>
            <a:pPr algn="l">
              <a:lnSpc>
                <a:spcPts val="2736"/>
              </a:lnSpc>
            </a:pPr>
            <a:r>
              <a:rPr lang="en-US" sz="2000">
                <a:solidFill>
                  <a:srgbClr val="111111"/>
                </a:solidFill>
                <a:latin typeface="Arimo"/>
                <a:ea typeface="Arimo"/>
                <a:cs typeface="Arimo"/>
                <a:sym typeface="Arimo"/>
              </a:rPr>
              <a:t>50 / 60</a:t>
            </a:r>
          </a:p>
        </p:txBody>
      </p:sp>
      <p:sp>
        <p:nvSpPr>
          <p:cNvPr name="TextBox 29" id="29"/>
          <p:cNvSpPr txBox="true"/>
          <p:nvPr/>
        </p:nvSpPr>
        <p:spPr>
          <a:xfrm rot="0">
            <a:off x="1325880" y="5731764"/>
            <a:ext cx="3154680" cy="403860"/>
          </a:xfrm>
          <a:prstGeom prst="rect">
            <a:avLst/>
          </a:prstGeom>
        </p:spPr>
        <p:txBody>
          <a:bodyPr anchor="t" rtlCol="false" tIns="0" lIns="0" bIns="0" rIns="0">
            <a:spAutoFit/>
          </a:bodyPr>
          <a:lstStyle/>
          <a:p>
            <a:pPr algn="l">
              <a:lnSpc>
                <a:spcPts val="2599"/>
              </a:lnSpc>
            </a:pPr>
            <a:r>
              <a:rPr lang="en-US" sz="1899">
                <a:solidFill>
                  <a:srgbClr val="111111"/>
                </a:solidFill>
                <a:latin typeface="Arimo"/>
                <a:ea typeface="Arimo"/>
                <a:cs typeface="Arimo"/>
                <a:sym typeface="Arimo"/>
              </a:rPr>
              <a:t>gemma4:e2b</a:t>
            </a:r>
          </a:p>
        </p:txBody>
      </p:sp>
      <p:grpSp>
        <p:nvGrpSpPr>
          <p:cNvPr name="Group 30" id="30"/>
          <p:cNvGrpSpPr/>
          <p:nvPr/>
        </p:nvGrpSpPr>
        <p:grpSpPr>
          <a:xfrm rot="0">
            <a:off x="4572000" y="5843016"/>
            <a:ext cx="2011680" cy="173736"/>
            <a:chOff x="0" y="0"/>
            <a:chExt cx="2682240" cy="231648"/>
          </a:xfrm>
        </p:grpSpPr>
        <p:sp>
          <p:nvSpPr>
            <p:cNvPr name="Freeform 31" id="31"/>
            <p:cNvSpPr/>
            <p:nvPr/>
          </p:nvSpPr>
          <p:spPr>
            <a:xfrm flipH="false" flipV="false" rot="0">
              <a:off x="0" y="0"/>
              <a:ext cx="2682240" cy="231648"/>
            </a:xfrm>
            <a:custGeom>
              <a:avLst/>
              <a:gdLst/>
              <a:ahLst/>
              <a:cxnLst/>
              <a:rect r="r" b="b" t="t" l="l"/>
              <a:pathLst>
                <a:path h="231648" w="2682240">
                  <a:moveTo>
                    <a:pt x="0" y="0"/>
                  </a:moveTo>
                  <a:lnTo>
                    <a:pt x="2682240" y="0"/>
                  </a:lnTo>
                  <a:lnTo>
                    <a:pt x="2682240" y="231648"/>
                  </a:lnTo>
                  <a:lnTo>
                    <a:pt x="0" y="231648"/>
                  </a:lnTo>
                  <a:close/>
                </a:path>
              </a:pathLst>
            </a:custGeom>
            <a:solidFill>
              <a:srgbClr val="E9EEFF"/>
            </a:solidFill>
          </p:spPr>
        </p:sp>
      </p:grpSp>
      <p:grpSp>
        <p:nvGrpSpPr>
          <p:cNvPr name="Group 32" id="32"/>
          <p:cNvGrpSpPr/>
          <p:nvPr/>
        </p:nvGrpSpPr>
        <p:grpSpPr>
          <a:xfrm rot="0">
            <a:off x="4572000" y="5843016"/>
            <a:ext cx="1496692" cy="173736"/>
            <a:chOff x="0" y="0"/>
            <a:chExt cx="1995589" cy="231648"/>
          </a:xfrm>
        </p:grpSpPr>
        <p:sp>
          <p:nvSpPr>
            <p:cNvPr name="Freeform 33" id="33"/>
            <p:cNvSpPr/>
            <p:nvPr/>
          </p:nvSpPr>
          <p:spPr>
            <a:xfrm flipH="false" flipV="false" rot="0">
              <a:off x="0" y="0"/>
              <a:ext cx="1995551" cy="231648"/>
            </a:xfrm>
            <a:custGeom>
              <a:avLst/>
              <a:gdLst/>
              <a:ahLst/>
              <a:cxnLst/>
              <a:rect r="r" b="b" t="t" l="l"/>
              <a:pathLst>
                <a:path h="231648" w="1995551">
                  <a:moveTo>
                    <a:pt x="0" y="0"/>
                  </a:moveTo>
                  <a:lnTo>
                    <a:pt x="1995551" y="0"/>
                  </a:lnTo>
                  <a:lnTo>
                    <a:pt x="1995551" y="231648"/>
                  </a:lnTo>
                  <a:lnTo>
                    <a:pt x="0" y="231648"/>
                  </a:lnTo>
                  <a:close/>
                </a:path>
              </a:pathLst>
            </a:custGeom>
            <a:solidFill>
              <a:srgbClr val="9CA8E8"/>
            </a:solidFill>
          </p:spPr>
        </p:sp>
      </p:grpSp>
      <p:sp>
        <p:nvSpPr>
          <p:cNvPr name="TextBox 34" id="34"/>
          <p:cNvSpPr txBox="true"/>
          <p:nvPr/>
        </p:nvSpPr>
        <p:spPr>
          <a:xfrm rot="0">
            <a:off x="6812280" y="5731764"/>
            <a:ext cx="1508760" cy="422148"/>
          </a:xfrm>
          <a:prstGeom prst="rect">
            <a:avLst/>
          </a:prstGeom>
        </p:spPr>
        <p:txBody>
          <a:bodyPr anchor="t" rtlCol="false" tIns="0" lIns="0" bIns="0" rIns="0">
            <a:spAutoFit/>
          </a:bodyPr>
          <a:lstStyle/>
          <a:p>
            <a:pPr algn="l">
              <a:lnSpc>
                <a:spcPts val="2872"/>
              </a:lnSpc>
            </a:pPr>
            <a:r>
              <a:rPr lang="en-US" sz="2100">
                <a:solidFill>
                  <a:srgbClr val="111111"/>
                </a:solidFill>
                <a:latin typeface="Arimo"/>
                <a:ea typeface="Arimo"/>
                <a:cs typeface="Arimo"/>
                <a:sym typeface="Arimo"/>
              </a:rPr>
              <a:t>74.4%</a:t>
            </a:r>
          </a:p>
        </p:txBody>
      </p:sp>
      <p:sp>
        <p:nvSpPr>
          <p:cNvPr name="TextBox 35" id="35"/>
          <p:cNvSpPr txBox="true"/>
          <p:nvPr/>
        </p:nvSpPr>
        <p:spPr>
          <a:xfrm rot="0">
            <a:off x="8641080" y="5731764"/>
            <a:ext cx="2286000" cy="422148"/>
          </a:xfrm>
          <a:prstGeom prst="rect">
            <a:avLst/>
          </a:prstGeom>
        </p:spPr>
        <p:txBody>
          <a:bodyPr anchor="t" rtlCol="false" tIns="0" lIns="0" bIns="0" rIns="0">
            <a:spAutoFit/>
          </a:bodyPr>
          <a:lstStyle/>
          <a:p>
            <a:pPr algn="l">
              <a:lnSpc>
                <a:spcPts val="2736"/>
              </a:lnSpc>
            </a:pPr>
            <a:r>
              <a:rPr lang="en-US" sz="2000">
                <a:solidFill>
                  <a:srgbClr val="111111"/>
                </a:solidFill>
                <a:latin typeface="Arimo"/>
                <a:ea typeface="Arimo"/>
                <a:cs typeface="Arimo"/>
                <a:sym typeface="Arimo"/>
              </a:rPr>
              <a:t>42 / 60</a:t>
            </a:r>
          </a:p>
        </p:txBody>
      </p:sp>
      <p:sp>
        <p:nvSpPr>
          <p:cNvPr name="TextBox 36" id="36"/>
          <p:cNvSpPr txBox="true"/>
          <p:nvPr/>
        </p:nvSpPr>
        <p:spPr>
          <a:xfrm rot="0">
            <a:off x="1325880" y="6390132"/>
            <a:ext cx="3154680" cy="403860"/>
          </a:xfrm>
          <a:prstGeom prst="rect">
            <a:avLst/>
          </a:prstGeom>
        </p:spPr>
        <p:txBody>
          <a:bodyPr anchor="t" rtlCol="false" tIns="0" lIns="0" bIns="0" rIns="0">
            <a:spAutoFit/>
          </a:bodyPr>
          <a:lstStyle/>
          <a:p>
            <a:pPr algn="l">
              <a:lnSpc>
                <a:spcPts val="2599"/>
              </a:lnSpc>
            </a:pPr>
            <a:r>
              <a:rPr lang="en-US" sz="1899">
                <a:solidFill>
                  <a:srgbClr val="111111"/>
                </a:solidFill>
                <a:latin typeface="Arimo"/>
                <a:ea typeface="Arimo"/>
                <a:cs typeface="Arimo"/>
                <a:sym typeface="Arimo"/>
              </a:rPr>
              <a:t>llama3.1:8b</a:t>
            </a:r>
          </a:p>
        </p:txBody>
      </p:sp>
      <p:grpSp>
        <p:nvGrpSpPr>
          <p:cNvPr name="Group 37" id="37"/>
          <p:cNvGrpSpPr/>
          <p:nvPr/>
        </p:nvGrpSpPr>
        <p:grpSpPr>
          <a:xfrm rot="0">
            <a:off x="4572000" y="6501384"/>
            <a:ext cx="2011680" cy="173736"/>
            <a:chOff x="0" y="0"/>
            <a:chExt cx="2682240" cy="231648"/>
          </a:xfrm>
        </p:grpSpPr>
        <p:sp>
          <p:nvSpPr>
            <p:cNvPr name="Freeform 38" id="38"/>
            <p:cNvSpPr/>
            <p:nvPr/>
          </p:nvSpPr>
          <p:spPr>
            <a:xfrm flipH="false" flipV="false" rot="0">
              <a:off x="0" y="0"/>
              <a:ext cx="2682240" cy="231648"/>
            </a:xfrm>
            <a:custGeom>
              <a:avLst/>
              <a:gdLst/>
              <a:ahLst/>
              <a:cxnLst/>
              <a:rect r="r" b="b" t="t" l="l"/>
              <a:pathLst>
                <a:path h="231648" w="2682240">
                  <a:moveTo>
                    <a:pt x="0" y="0"/>
                  </a:moveTo>
                  <a:lnTo>
                    <a:pt x="2682240" y="0"/>
                  </a:lnTo>
                  <a:lnTo>
                    <a:pt x="2682240" y="231648"/>
                  </a:lnTo>
                  <a:lnTo>
                    <a:pt x="0" y="231648"/>
                  </a:lnTo>
                  <a:close/>
                </a:path>
              </a:pathLst>
            </a:custGeom>
            <a:solidFill>
              <a:srgbClr val="E9EEFF"/>
            </a:solidFill>
          </p:spPr>
        </p:sp>
      </p:grpSp>
      <p:grpSp>
        <p:nvGrpSpPr>
          <p:cNvPr name="Group 39" id="39"/>
          <p:cNvGrpSpPr/>
          <p:nvPr/>
        </p:nvGrpSpPr>
        <p:grpSpPr>
          <a:xfrm rot="0">
            <a:off x="4572000" y="6501384"/>
            <a:ext cx="838867" cy="173736"/>
            <a:chOff x="0" y="0"/>
            <a:chExt cx="1118489" cy="231648"/>
          </a:xfrm>
        </p:grpSpPr>
        <p:sp>
          <p:nvSpPr>
            <p:cNvPr name="Freeform 40" id="40"/>
            <p:cNvSpPr/>
            <p:nvPr/>
          </p:nvSpPr>
          <p:spPr>
            <a:xfrm flipH="false" flipV="false" rot="0">
              <a:off x="0" y="0"/>
              <a:ext cx="1118489" cy="231648"/>
            </a:xfrm>
            <a:custGeom>
              <a:avLst/>
              <a:gdLst/>
              <a:ahLst/>
              <a:cxnLst/>
              <a:rect r="r" b="b" t="t" l="l"/>
              <a:pathLst>
                <a:path h="231648" w="1118489">
                  <a:moveTo>
                    <a:pt x="0" y="0"/>
                  </a:moveTo>
                  <a:lnTo>
                    <a:pt x="1118489" y="0"/>
                  </a:lnTo>
                  <a:lnTo>
                    <a:pt x="1118489" y="231648"/>
                  </a:lnTo>
                  <a:lnTo>
                    <a:pt x="0" y="231648"/>
                  </a:lnTo>
                  <a:close/>
                </a:path>
              </a:pathLst>
            </a:custGeom>
            <a:solidFill>
              <a:srgbClr val="9CA8E8"/>
            </a:solidFill>
          </p:spPr>
        </p:sp>
      </p:grpSp>
      <p:sp>
        <p:nvSpPr>
          <p:cNvPr name="TextBox 41" id="41"/>
          <p:cNvSpPr txBox="true"/>
          <p:nvPr/>
        </p:nvSpPr>
        <p:spPr>
          <a:xfrm rot="0">
            <a:off x="6812280" y="6390132"/>
            <a:ext cx="1508760" cy="422148"/>
          </a:xfrm>
          <a:prstGeom prst="rect">
            <a:avLst/>
          </a:prstGeom>
        </p:spPr>
        <p:txBody>
          <a:bodyPr anchor="t" rtlCol="false" tIns="0" lIns="0" bIns="0" rIns="0">
            <a:spAutoFit/>
          </a:bodyPr>
          <a:lstStyle/>
          <a:p>
            <a:pPr algn="l">
              <a:lnSpc>
                <a:spcPts val="2872"/>
              </a:lnSpc>
            </a:pPr>
            <a:r>
              <a:rPr lang="en-US" sz="2100">
                <a:solidFill>
                  <a:srgbClr val="111111"/>
                </a:solidFill>
                <a:latin typeface="Arimo"/>
                <a:ea typeface="Arimo"/>
                <a:cs typeface="Arimo"/>
                <a:sym typeface="Arimo"/>
              </a:rPr>
              <a:t>41.7%</a:t>
            </a:r>
          </a:p>
        </p:txBody>
      </p:sp>
      <p:sp>
        <p:nvSpPr>
          <p:cNvPr name="TextBox 42" id="42"/>
          <p:cNvSpPr txBox="true"/>
          <p:nvPr/>
        </p:nvSpPr>
        <p:spPr>
          <a:xfrm rot="0">
            <a:off x="8641080" y="6390132"/>
            <a:ext cx="2286000" cy="422148"/>
          </a:xfrm>
          <a:prstGeom prst="rect">
            <a:avLst/>
          </a:prstGeom>
        </p:spPr>
        <p:txBody>
          <a:bodyPr anchor="t" rtlCol="false" tIns="0" lIns="0" bIns="0" rIns="0">
            <a:spAutoFit/>
          </a:bodyPr>
          <a:lstStyle/>
          <a:p>
            <a:pPr algn="l">
              <a:lnSpc>
                <a:spcPts val="2736"/>
              </a:lnSpc>
            </a:pPr>
            <a:r>
              <a:rPr lang="en-US" sz="2000">
                <a:solidFill>
                  <a:srgbClr val="111111"/>
                </a:solidFill>
                <a:latin typeface="Arimo"/>
                <a:ea typeface="Arimo"/>
                <a:cs typeface="Arimo"/>
                <a:sym typeface="Arimo"/>
              </a:rPr>
              <a:t>12 / 60</a:t>
            </a:r>
          </a:p>
        </p:txBody>
      </p:sp>
      <p:grpSp>
        <p:nvGrpSpPr>
          <p:cNvPr name="Group 43" id="43"/>
          <p:cNvGrpSpPr/>
          <p:nvPr/>
        </p:nvGrpSpPr>
        <p:grpSpPr>
          <a:xfrm rot="0">
            <a:off x="11777472" y="2880360"/>
            <a:ext cx="5504688" cy="4599432"/>
            <a:chOff x="0" y="0"/>
            <a:chExt cx="7339584" cy="6132576"/>
          </a:xfrm>
        </p:grpSpPr>
        <p:sp>
          <p:nvSpPr>
            <p:cNvPr name="Freeform 44" id="44"/>
            <p:cNvSpPr/>
            <p:nvPr/>
          </p:nvSpPr>
          <p:spPr>
            <a:xfrm flipH="false" flipV="false" rot="0">
              <a:off x="0" y="0"/>
              <a:ext cx="7339584" cy="6132576"/>
            </a:xfrm>
            <a:custGeom>
              <a:avLst/>
              <a:gdLst/>
              <a:ahLst/>
              <a:cxnLst/>
              <a:rect r="r" b="b" t="t" l="l"/>
              <a:pathLst>
                <a:path h="6132576" w="7339584">
                  <a:moveTo>
                    <a:pt x="0" y="429260"/>
                  </a:moveTo>
                  <a:cubicBezTo>
                    <a:pt x="0" y="192151"/>
                    <a:pt x="192151" y="0"/>
                    <a:pt x="429260" y="0"/>
                  </a:cubicBezTo>
                  <a:lnTo>
                    <a:pt x="6910324" y="0"/>
                  </a:lnTo>
                  <a:cubicBezTo>
                    <a:pt x="7147433" y="0"/>
                    <a:pt x="7339584" y="192151"/>
                    <a:pt x="7339584" y="429260"/>
                  </a:cubicBezTo>
                  <a:lnTo>
                    <a:pt x="7339584" y="5703316"/>
                  </a:lnTo>
                  <a:cubicBezTo>
                    <a:pt x="7339584" y="5940425"/>
                    <a:pt x="7147433" y="6132576"/>
                    <a:pt x="6910324" y="6132576"/>
                  </a:cubicBezTo>
                  <a:lnTo>
                    <a:pt x="429260" y="6132576"/>
                  </a:lnTo>
                  <a:cubicBezTo>
                    <a:pt x="192151" y="6132576"/>
                    <a:pt x="0" y="5940425"/>
                    <a:pt x="0" y="5703316"/>
                  </a:cubicBezTo>
                  <a:close/>
                </a:path>
              </a:pathLst>
            </a:custGeom>
            <a:solidFill>
              <a:srgbClr val="E9EEFF"/>
            </a:solidFill>
            <a:ln w="38100" cap="sq">
              <a:solidFill>
                <a:srgbClr val="000000"/>
              </a:solidFill>
              <a:prstDash val="solid"/>
              <a:miter/>
            </a:ln>
          </p:spPr>
        </p:sp>
      </p:grpSp>
      <p:sp>
        <p:nvSpPr>
          <p:cNvPr name="TextBox 45" id="45"/>
          <p:cNvSpPr txBox="true"/>
          <p:nvPr/>
        </p:nvSpPr>
        <p:spPr>
          <a:xfrm rot="0">
            <a:off x="12106656" y="3152775"/>
            <a:ext cx="4800600" cy="477393"/>
          </a:xfrm>
          <a:prstGeom prst="rect">
            <a:avLst/>
          </a:prstGeom>
        </p:spPr>
        <p:txBody>
          <a:bodyPr anchor="t" rtlCol="false" tIns="0" lIns="0" bIns="0" rIns="0">
            <a:spAutoFit/>
          </a:bodyPr>
          <a:lstStyle/>
          <a:p>
            <a:pPr algn="l">
              <a:lnSpc>
                <a:spcPts val="3283"/>
              </a:lnSpc>
            </a:pPr>
            <a:r>
              <a:rPr lang="en-US" sz="2400" b="true">
                <a:solidFill>
                  <a:srgbClr val="1B2CC1"/>
                </a:solidFill>
                <a:latin typeface="Arimo Bold"/>
                <a:ea typeface="Arimo Bold"/>
                <a:cs typeface="Arimo Bold"/>
                <a:sym typeface="Arimo Bold"/>
              </a:rPr>
              <a:t>Gemma4:26b</a:t>
            </a:r>
          </a:p>
        </p:txBody>
      </p:sp>
      <p:sp>
        <p:nvSpPr>
          <p:cNvPr name="TextBox 46" id="46"/>
          <p:cNvSpPr txBox="true"/>
          <p:nvPr/>
        </p:nvSpPr>
        <p:spPr>
          <a:xfrm rot="0">
            <a:off x="12106656" y="3827907"/>
            <a:ext cx="4800600" cy="725805"/>
          </a:xfrm>
          <a:prstGeom prst="rect">
            <a:avLst/>
          </a:prstGeom>
        </p:spPr>
        <p:txBody>
          <a:bodyPr anchor="t" rtlCol="false" tIns="0" lIns="0" bIns="0" rIns="0">
            <a:spAutoFit/>
          </a:bodyPr>
          <a:lstStyle/>
          <a:p>
            <a:pPr algn="l">
              <a:lnSpc>
                <a:spcPts val="5061"/>
              </a:lnSpc>
            </a:pPr>
            <a:r>
              <a:rPr lang="en-US" sz="3699" b="true">
                <a:solidFill>
                  <a:srgbClr val="1B2CC1"/>
                </a:solidFill>
                <a:latin typeface="Arimo Bold"/>
                <a:ea typeface="Arimo Bold"/>
                <a:cs typeface="Arimo Bold"/>
                <a:sym typeface="Arimo Bold"/>
              </a:rPr>
              <a:t>220 / 242</a:t>
            </a:r>
          </a:p>
        </p:txBody>
      </p:sp>
      <p:sp>
        <p:nvSpPr>
          <p:cNvPr name="TextBox 47" id="47"/>
          <p:cNvSpPr txBox="true"/>
          <p:nvPr/>
        </p:nvSpPr>
        <p:spPr>
          <a:xfrm rot="0">
            <a:off x="12106656" y="5521071"/>
            <a:ext cx="4800600" cy="923620"/>
          </a:xfrm>
          <a:prstGeom prst="rect">
            <a:avLst/>
          </a:prstGeom>
        </p:spPr>
        <p:txBody>
          <a:bodyPr anchor="t" rtlCol="false" tIns="0" lIns="0" bIns="0" rIns="0">
            <a:spAutoFit/>
          </a:bodyPr>
          <a:lstStyle/>
          <a:p>
            <a:pPr algn="l">
              <a:lnSpc>
                <a:spcPts val="2462"/>
              </a:lnSpc>
            </a:pPr>
            <a:r>
              <a:rPr lang="en-US" sz="1800">
                <a:solidFill>
                  <a:srgbClr val="66645F"/>
                </a:solidFill>
                <a:latin typeface="Arimo"/>
                <a:ea typeface="Arimo"/>
                <a:cs typeface="Arimo"/>
                <a:sym typeface="Arimo"/>
              </a:rPr>
              <a:t>실패 테스트 케이스 22개 분류</a:t>
            </a:r>
          </a:p>
          <a:p>
            <a:pPr algn="l" marL="388620" indent="-194310" lvl="1">
              <a:lnSpc>
                <a:spcPts val="2462"/>
              </a:lnSpc>
              <a:buAutoNum type="arabicPeriod" startAt="1"/>
            </a:pPr>
            <a:r>
              <a:rPr lang="en-US" sz="1800">
                <a:solidFill>
                  <a:srgbClr val="66645F"/>
                </a:solidFill>
                <a:latin typeface="Arimo"/>
                <a:ea typeface="Arimo"/>
                <a:cs typeface="Arimo"/>
                <a:sym typeface="Arimo"/>
              </a:rPr>
              <a:t>단독 place 작업 : 3 / 12 통과</a:t>
            </a:r>
          </a:p>
          <a:p>
            <a:pPr algn="l" marL="388620" indent="-194310" lvl="1">
              <a:lnSpc>
                <a:spcPts val="2462"/>
              </a:lnSpc>
              <a:buAutoNum type="arabicPeriod" startAt="1"/>
            </a:pPr>
            <a:r>
              <a:rPr lang="en-US" sz="1800">
                <a:solidFill>
                  <a:srgbClr val="66645F"/>
                </a:solidFill>
                <a:latin typeface="Arimo"/>
                <a:ea typeface="Arimo"/>
                <a:cs typeface="Arimo"/>
                <a:sym typeface="Arimo"/>
              </a:rPr>
              <a:t>요청하지 않은 집기 계획 생성</a:t>
            </a:r>
          </a:p>
        </p:txBody>
      </p:sp>
      <p:grpSp>
        <p:nvGrpSpPr>
          <p:cNvPr name="Group 48" id="48"/>
          <p:cNvGrpSpPr/>
          <p:nvPr/>
        </p:nvGrpSpPr>
        <p:grpSpPr>
          <a:xfrm rot="0">
            <a:off x="1005840" y="7936992"/>
            <a:ext cx="16276320" cy="1307592"/>
            <a:chOff x="0" y="0"/>
            <a:chExt cx="21701760" cy="1743456"/>
          </a:xfrm>
        </p:grpSpPr>
        <p:sp>
          <p:nvSpPr>
            <p:cNvPr name="Freeform 49" id="49"/>
            <p:cNvSpPr/>
            <p:nvPr/>
          </p:nvSpPr>
          <p:spPr>
            <a:xfrm flipH="false" flipV="false" rot="0">
              <a:off x="0" y="0"/>
              <a:ext cx="21701759" cy="1743456"/>
            </a:xfrm>
            <a:custGeom>
              <a:avLst/>
              <a:gdLst/>
              <a:ahLst/>
              <a:cxnLst/>
              <a:rect r="r" b="b" t="t" l="l"/>
              <a:pathLst>
                <a:path h="1743456" w="21701759">
                  <a:moveTo>
                    <a:pt x="0" y="122047"/>
                  </a:moveTo>
                  <a:cubicBezTo>
                    <a:pt x="0" y="54610"/>
                    <a:pt x="54610" y="0"/>
                    <a:pt x="122047" y="0"/>
                  </a:cubicBezTo>
                  <a:lnTo>
                    <a:pt x="21579712" y="0"/>
                  </a:lnTo>
                  <a:cubicBezTo>
                    <a:pt x="21647150" y="0"/>
                    <a:pt x="21701759" y="54610"/>
                    <a:pt x="21701759" y="122047"/>
                  </a:cubicBezTo>
                  <a:lnTo>
                    <a:pt x="21701759" y="1621409"/>
                  </a:lnTo>
                  <a:cubicBezTo>
                    <a:pt x="21701759" y="1688846"/>
                    <a:pt x="21647150" y="1743456"/>
                    <a:pt x="21579712" y="1743456"/>
                  </a:cubicBezTo>
                  <a:lnTo>
                    <a:pt x="122047" y="1743456"/>
                  </a:lnTo>
                  <a:cubicBezTo>
                    <a:pt x="54610" y="1743456"/>
                    <a:pt x="0" y="1688846"/>
                    <a:pt x="0" y="1621409"/>
                  </a:cubicBezTo>
                  <a:close/>
                </a:path>
              </a:pathLst>
            </a:custGeom>
            <a:solidFill>
              <a:srgbClr val="FFFFFF"/>
            </a:solidFill>
            <a:ln w="19050" cap="sq">
              <a:solidFill>
                <a:srgbClr val="000000"/>
              </a:solidFill>
              <a:prstDash val="solid"/>
              <a:miter/>
            </a:ln>
          </p:spPr>
        </p:sp>
      </p:grpSp>
      <p:sp>
        <p:nvSpPr>
          <p:cNvPr name="TextBox 50" id="50"/>
          <p:cNvSpPr txBox="true"/>
          <p:nvPr/>
        </p:nvSpPr>
        <p:spPr>
          <a:xfrm rot="0">
            <a:off x="1252728" y="8409965"/>
            <a:ext cx="15654528" cy="314020"/>
          </a:xfrm>
          <a:prstGeom prst="rect">
            <a:avLst/>
          </a:prstGeom>
        </p:spPr>
        <p:txBody>
          <a:bodyPr anchor="t" rtlCol="false" tIns="0" lIns="0" bIns="0" rIns="0">
            <a:spAutoFit/>
          </a:bodyPr>
          <a:lstStyle/>
          <a:p>
            <a:pPr algn="l">
              <a:lnSpc>
                <a:spcPts val="2462"/>
              </a:lnSpc>
            </a:pPr>
            <a:r>
              <a:rPr lang="en-US" sz="1800" b="true">
                <a:solidFill>
                  <a:srgbClr val="1B2CC1"/>
                </a:solidFill>
                <a:latin typeface="Arimo Bold"/>
                <a:ea typeface="Arimo Bold"/>
                <a:cs typeface="Arimo Bold"/>
                <a:sym typeface="Arimo Bold"/>
              </a:rPr>
              <a:t>테스트 케이스</a:t>
            </a:r>
            <a:r>
              <a:rPr lang="en-US" sz="1800" b="true">
                <a:solidFill>
                  <a:srgbClr val="1B2CC1"/>
                </a:solidFill>
                <a:latin typeface="Arimo Bold"/>
                <a:ea typeface="Arimo Bold"/>
                <a:cs typeface="Arimo Bold"/>
                <a:sym typeface="Arimo Bold"/>
              </a:rPr>
              <a:t>  :  기존 영·한 명령 182개 + 다국어 60개(10개 언어 × 6개)</a:t>
            </a:r>
          </a:p>
        </p:txBody>
      </p:sp>
      <p:grpSp>
        <p:nvGrpSpPr>
          <p:cNvPr name="Group 51" id="51"/>
          <p:cNvGrpSpPr/>
          <p:nvPr/>
        </p:nvGrpSpPr>
        <p:grpSpPr>
          <a:xfrm rot="0">
            <a:off x="768668" y="556813"/>
            <a:ext cx="6350003" cy="355601"/>
            <a:chOff x="0" y="0"/>
            <a:chExt cx="8466671" cy="474134"/>
          </a:xfrm>
        </p:grpSpPr>
        <p:sp>
          <p:nvSpPr>
            <p:cNvPr name="Freeform 52" id="52"/>
            <p:cNvSpPr/>
            <p:nvPr/>
          </p:nvSpPr>
          <p:spPr>
            <a:xfrm flipH="false" flipV="false" rot="0">
              <a:off x="0" y="0"/>
              <a:ext cx="8466666" cy="474139"/>
            </a:xfrm>
            <a:custGeom>
              <a:avLst/>
              <a:gdLst/>
              <a:ahLst/>
              <a:cxnLst/>
              <a:rect r="r" b="b" t="t" l="l"/>
              <a:pathLst>
                <a:path h="474139" w="8466666">
                  <a:moveTo>
                    <a:pt x="0" y="0"/>
                  </a:moveTo>
                  <a:lnTo>
                    <a:pt x="8466666" y="0"/>
                  </a:lnTo>
                  <a:lnTo>
                    <a:pt x="8466666" y="474139"/>
                  </a:lnTo>
                  <a:lnTo>
                    <a:pt x="0" y="474139"/>
                  </a:lnTo>
                  <a:close/>
                </a:path>
              </a:pathLst>
            </a:custGeom>
            <a:blipFill>
              <a:blip r:embed="rId3">
                <a:alphaModFix amt="0"/>
              </a:blip>
              <a:stretch>
                <a:fillRect l="0" t="-297944" r="0" b="-297942"/>
              </a:stretch>
            </a:blipFill>
          </p:spPr>
        </p:sp>
        <p:sp>
          <p:nvSpPr>
            <p:cNvPr name="TextBox 53" id="53"/>
            <p:cNvSpPr txBox="true"/>
            <p:nvPr/>
          </p:nvSpPr>
          <p:spPr>
            <a:xfrm>
              <a:off x="0" y="-19050"/>
              <a:ext cx="8466671" cy="493184"/>
            </a:xfrm>
            <a:prstGeom prst="rect">
              <a:avLst/>
            </a:prstGeom>
          </p:spPr>
          <p:txBody>
            <a:bodyPr anchor="ctr" rtlCol="false" tIns="0" lIns="0" bIns="0" rIns="0"/>
            <a:lstStyle/>
            <a:p>
              <a:pPr algn="l">
                <a:lnSpc>
                  <a:spcPts val="1800"/>
                </a:lnSpc>
              </a:pPr>
              <a:r>
                <a:rPr lang="en-US" sz="1500" b="true">
                  <a:solidFill>
                    <a:srgbClr val="66645F"/>
                  </a:solidFill>
                  <a:latin typeface="Arimo Bold"/>
                  <a:ea typeface="Arimo Bold"/>
                  <a:cs typeface="Arimo Bold"/>
                  <a:sym typeface="Arimo Bold"/>
                </a:rPr>
                <a:t>LARO-BOT</a:t>
              </a:r>
            </a:p>
          </p:txBody>
        </p:sp>
      </p:grpSp>
      <p:sp>
        <p:nvSpPr>
          <p:cNvPr name="TextBox 54" id="54"/>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7</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8F6"/>
        </a:solidFill>
      </p:bgPr>
    </p:bg>
    <p:spTree>
      <p:nvGrpSpPr>
        <p:cNvPr id="1" name=""/>
        <p:cNvGrpSpPr/>
        <p:nvPr/>
      </p:nvGrpSpPr>
      <p:grpSpPr>
        <a:xfrm>
          <a:off x="0" y="0"/>
          <a:ext cx="0" cy="0"/>
          <a:chOff x="0" y="0"/>
          <a:chExt cx="0" cy="0"/>
        </a:xfrm>
      </p:grpSpPr>
      <p:grpSp>
        <p:nvGrpSpPr>
          <p:cNvPr name="Group 2" id="2"/>
          <p:cNvGrpSpPr/>
          <p:nvPr/>
        </p:nvGrpSpPr>
        <p:grpSpPr>
          <a:xfrm rot="0">
            <a:off x="768096" y="589788"/>
            <a:ext cx="3017520" cy="329184"/>
            <a:chOff x="0" y="0"/>
            <a:chExt cx="4023360" cy="438912"/>
          </a:xfrm>
        </p:grpSpPr>
        <p:sp>
          <p:nvSpPr>
            <p:cNvPr name="Freeform 3" id="3"/>
            <p:cNvSpPr/>
            <p:nvPr/>
          </p:nvSpPr>
          <p:spPr>
            <a:xfrm flipH="false" flipV="false" rot="0">
              <a:off x="0" y="0"/>
              <a:ext cx="4023360" cy="438912"/>
            </a:xfrm>
            <a:custGeom>
              <a:avLst/>
              <a:gdLst/>
              <a:ahLst/>
              <a:cxnLst/>
              <a:rect r="r" b="b" t="t" l="l"/>
              <a:pathLst>
                <a:path h="438912" w="4023360">
                  <a:moveTo>
                    <a:pt x="0" y="0"/>
                  </a:moveTo>
                  <a:lnTo>
                    <a:pt x="4023360" y="0"/>
                  </a:lnTo>
                  <a:lnTo>
                    <a:pt x="4023360" y="438912"/>
                  </a:lnTo>
                  <a:lnTo>
                    <a:pt x="0" y="438912"/>
                  </a:lnTo>
                  <a:close/>
                </a:path>
              </a:pathLst>
            </a:custGeom>
            <a:blipFill>
              <a:blip r:embed="rId3">
                <a:alphaModFix amt="0"/>
              </a:blip>
              <a:stretch>
                <a:fillRect l="0" t="-128612" r="0" b="-128612"/>
              </a:stretch>
            </a:blipFill>
          </p:spPr>
        </p:sp>
        <p:sp>
          <p:nvSpPr>
            <p:cNvPr name="TextBox 4" id="4"/>
            <p:cNvSpPr txBox="true"/>
            <p:nvPr/>
          </p:nvSpPr>
          <p:spPr>
            <a:xfrm>
              <a:off x="0" y="-19050"/>
              <a:ext cx="4023360" cy="457962"/>
            </a:xfrm>
            <a:prstGeom prst="rect">
              <a:avLst/>
            </a:prstGeom>
          </p:spPr>
          <p:txBody>
            <a:bodyPr anchor="ctr" rtlCol="false" tIns="0" lIns="0" bIns="0" rIns="0"/>
            <a:lstStyle/>
            <a:p>
              <a:pPr algn="l">
                <a:lnSpc>
                  <a:spcPts val="1800"/>
                </a:lnSpc>
              </a:pPr>
              <a:r>
                <a:rPr lang="en-US" sz="1500" b="true">
                  <a:solidFill>
                    <a:srgbClr val="666666"/>
                  </a:solidFill>
                  <a:latin typeface="Arimo Bold"/>
                  <a:ea typeface="Arimo Bold"/>
                  <a:cs typeface="Arimo Bold"/>
                  <a:sym typeface="Arimo Bold"/>
                </a:rPr>
                <a:t>LARO-BOT</a:t>
              </a:r>
            </a:p>
          </p:txBody>
        </p:sp>
      </p:grpSp>
      <p:grpSp>
        <p:nvGrpSpPr>
          <p:cNvPr name="Group 5" id="5"/>
          <p:cNvGrpSpPr/>
          <p:nvPr/>
        </p:nvGrpSpPr>
        <p:grpSpPr>
          <a:xfrm rot="0">
            <a:off x="768096" y="954201"/>
            <a:ext cx="11395450" cy="856692"/>
            <a:chOff x="0" y="0"/>
            <a:chExt cx="15193933" cy="1142256"/>
          </a:xfrm>
        </p:grpSpPr>
        <p:sp>
          <p:nvSpPr>
            <p:cNvPr name="Freeform 6" id="6"/>
            <p:cNvSpPr/>
            <p:nvPr/>
          </p:nvSpPr>
          <p:spPr>
            <a:xfrm flipH="false" flipV="false" rot="0">
              <a:off x="0" y="0"/>
              <a:ext cx="15193933" cy="1142256"/>
            </a:xfrm>
            <a:custGeom>
              <a:avLst/>
              <a:gdLst/>
              <a:ahLst/>
              <a:cxnLst/>
              <a:rect r="r" b="b" t="t" l="l"/>
              <a:pathLst>
                <a:path h="1142256" w="15193933">
                  <a:moveTo>
                    <a:pt x="0" y="0"/>
                  </a:moveTo>
                  <a:lnTo>
                    <a:pt x="15193933" y="0"/>
                  </a:lnTo>
                  <a:lnTo>
                    <a:pt x="15193933" y="1142256"/>
                  </a:lnTo>
                  <a:lnTo>
                    <a:pt x="0" y="1142256"/>
                  </a:lnTo>
                  <a:close/>
                </a:path>
              </a:pathLst>
            </a:custGeom>
            <a:blipFill>
              <a:blip r:embed="rId3">
                <a:alphaModFix amt="0"/>
              </a:blip>
              <a:stretch>
                <a:fillRect l="0" t="-230499" r="-5920" b="-218556"/>
              </a:stretch>
            </a:blipFill>
          </p:spPr>
        </p:sp>
        <p:sp>
          <p:nvSpPr>
            <p:cNvPr name="TextBox 7" id="7"/>
            <p:cNvSpPr txBox="true"/>
            <p:nvPr/>
          </p:nvSpPr>
          <p:spPr>
            <a:xfrm>
              <a:off x="0" y="-19050"/>
              <a:ext cx="15193933" cy="1161306"/>
            </a:xfrm>
            <a:prstGeom prst="rect">
              <a:avLst/>
            </a:prstGeom>
          </p:spPr>
          <p:txBody>
            <a:bodyPr anchor="ctr" rtlCol="false" tIns="0" lIns="0" bIns="0" rIns="0"/>
            <a:lstStyle/>
            <a:p>
              <a:pPr algn="l">
                <a:lnSpc>
                  <a:spcPts val="5040"/>
                </a:lnSpc>
              </a:pPr>
              <a:r>
                <a:rPr lang="en-US" sz="4200" b="true">
                  <a:solidFill>
                    <a:srgbClr val="111111"/>
                  </a:solidFill>
                  <a:latin typeface="Arimo Bold"/>
                  <a:ea typeface="Arimo Bold"/>
                  <a:cs typeface="Arimo Bold"/>
                  <a:sym typeface="Arimo Bold"/>
                </a:rPr>
                <a:t>카메라 인식 결과를 로봇 기준 좌표로 공유</a:t>
              </a:r>
            </a:p>
          </p:txBody>
        </p:sp>
      </p:grpSp>
      <p:grpSp>
        <p:nvGrpSpPr>
          <p:cNvPr name="Group 8" id="8"/>
          <p:cNvGrpSpPr/>
          <p:nvPr/>
        </p:nvGrpSpPr>
        <p:grpSpPr>
          <a:xfrm rot="0">
            <a:off x="7141588" y="2091628"/>
            <a:ext cx="10423722" cy="6161660"/>
            <a:chOff x="0" y="0"/>
            <a:chExt cx="13898296" cy="8215547"/>
          </a:xfrm>
        </p:grpSpPr>
        <p:sp>
          <p:nvSpPr>
            <p:cNvPr name="Freeform 9" id="9"/>
            <p:cNvSpPr/>
            <p:nvPr/>
          </p:nvSpPr>
          <p:spPr>
            <a:xfrm flipH="false" flipV="false" rot="0">
              <a:off x="0" y="0"/>
              <a:ext cx="13898156" cy="8215451"/>
            </a:xfrm>
            <a:custGeom>
              <a:avLst/>
              <a:gdLst/>
              <a:ahLst/>
              <a:cxnLst/>
              <a:rect r="r" b="b" t="t" l="l"/>
              <a:pathLst>
                <a:path h="8215451" w="13898156">
                  <a:moveTo>
                    <a:pt x="0" y="161324"/>
                  </a:moveTo>
                  <a:cubicBezTo>
                    <a:pt x="0" y="72270"/>
                    <a:pt x="104599" y="0"/>
                    <a:pt x="233490" y="0"/>
                  </a:cubicBezTo>
                  <a:lnTo>
                    <a:pt x="13664665" y="0"/>
                  </a:lnTo>
                  <a:cubicBezTo>
                    <a:pt x="13793557" y="0"/>
                    <a:pt x="13898156" y="72270"/>
                    <a:pt x="13898156" y="161324"/>
                  </a:cubicBezTo>
                  <a:lnTo>
                    <a:pt x="13898156" y="8054126"/>
                  </a:lnTo>
                  <a:cubicBezTo>
                    <a:pt x="13898156" y="8143180"/>
                    <a:pt x="13793557" y="8215450"/>
                    <a:pt x="13664665" y="8215450"/>
                  </a:cubicBezTo>
                  <a:lnTo>
                    <a:pt x="233490" y="8215450"/>
                  </a:lnTo>
                  <a:cubicBezTo>
                    <a:pt x="104599" y="8215585"/>
                    <a:pt x="0" y="8143319"/>
                    <a:pt x="0" y="8054126"/>
                  </a:cubicBezTo>
                  <a:close/>
                </a:path>
              </a:pathLst>
            </a:custGeom>
            <a:blipFill>
              <a:blip r:embed="rId4"/>
              <a:stretch>
                <a:fillRect l="-7014" t="0" r="-7014" b="0"/>
              </a:stretch>
            </a:blipFill>
            <a:ln w="38100" cap="sq">
              <a:solidFill>
                <a:srgbClr val="111111"/>
              </a:solidFill>
              <a:prstDash val="solid"/>
              <a:miter/>
            </a:ln>
          </p:spPr>
        </p:sp>
      </p:grpSp>
      <p:grpSp>
        <p:nvGrpSpPr>
          <p:cNvPr name="Group 10" id="10"/>
          <p:cNvGrpSpPr/>
          <p:nvPr/>
        </p:nvGrpSpPr>
        <p:grpSpPr>
          <a:xfrm rot="0">
            <a:off x="7400835" y="2337850"/>
            <a:ext cx="1597028" cy="500068"/>
            <a:chOff x="0" y="0"/>
            <a:chExt cx="2129371" cy="666758"/>
          </a:xfrm>
        </p:grpSpPr>
        <p:grpSp>
          <p:nvGrpSpPr>
            <p:cNvPr name="Group 11" id="11"/>
            <p:cNvGrpSpPr/>
            <p:nvPr/>
          </p:nvGrpSpPr>
          <p:grpSpPr>
            <a:xfrm rot="0">
              <a:off x="0" y="10587"/>
              <a:ext cx="2129371" cy="656171"/>
              <a:chOff x="0" y="0"/>
              <a:chExt cx="2129371" cy="656171"/>
            </a:xfrm>
          </p:grpSpPr>
          <p:sp>
            <p:nvSpPr>
              <p:cNvPr name="Freeform 12" id="12"/>
              <p:cNvSpPr/>
              <p:nvPr/>
            </p:nvSpPr>
            <p:spPr>
              <a:xfrm flipH="false" flipV="false" rot="0">
                <a:off x="0" y="0"/>
                <a:ext cx="2129409" cy="656209"/>
              </a:xfrm>
              <a:custGeom>
                <a:avLst/>
                <a:gdLst/>
                <a:ahLst/>
                <a:cxnLst/>
                <a:rect r="r" b="b" t="t" l="l"/>
                <a:pathLst>
                  <a:path h="656209" w="2129409">
                    <a:moveTo>
                      <a:pt x="0" y="149225"/>
                    </a:moveTo>
                    <a:cubicBezTo>
                      <a:pt x="0" y="66802"/>
                      <a:pt x="66802" y="0"/>
                      <a:pt x="149225" y="0"/>
                    </a:cubicBezTo>
                    <a:lnTo>
                      <a:pt x="1980184" y="0"/>
                    </a:lnTo>
                    <a:cubicBezTo>
                      <a:pt x="2062607" y="0"/>
                      <a:pt x="2129409" y="66802"/>
                      <a:pt x="2129409" y="149225"/>
                    </a:cubicBezTo>
                    <a:lnTo>
                      <a:pt x="2129409" y="506984"/>
                    </a:lnTo>
                    <a:cubicBezTo>
                      <a:pt x="2129409" y="589407"/>
                      <a:pt x="2062607" y="656209"/>
                      <a:pt x="1980184" y="656209"/>
                    </a:cubicBezTo>
                    <a:lnTo>
                      <a:pt x="149225" y="656209"/>
                    </a:lnTo>
                    <a:cubicBezTo>
                      <a:pt x="66802" y="656209"/>
                      <a:pt x="0" y="589407"/>
                      <a:pt x="0" y="506984"/>
                    </a:cubicBezTo>
                    <a:close/>
                  </a:path>
                </a:pathLst>
              </a:custGeom>
              <a:solidFill>
                <a:srgbClr val="111111"/>
              </a:solidFill>
              <a:ln w="9525" cap="sq">
                <a:solidFill>
                  <a:srgbClr val="111111"/>
                </a:solidFill>
                <a:prstDash val="solid"/>
                <a:miter/>
              </a:ln>
            </p:spPr>
          </p:sp>
        </p:grpSp>
        <p:grpSp>
          <p:nvGrpSpPr>
            <p:cNvPr name="Group 13" id="13"/>
            <p:cNvGrpSpPr/>
            <p:nvPr/>
          </p:nvGrpSpPr>
          <p:grpSpPr>
            <a:xfrm rot="0">
              <a:off x="213598" y="0"/>
              <a:ext cx="1702175" cy="643466"/>
              <a:chOff x="0" y="0"/>
              <a:chExt cx="1702175" cy="643466"/>
            </a:xfrm>
          </p:grpSpPr>
          <p:sp>
            <p:nvSpPr>
              <p:cNvPr name="Freeform 14" id="14"/>
              <p:cNvSpPr/>
              <p:nvPr/>
            </p:nvSpPr>
            <p:spPr>
              <a:xfrm flipH="false" flipV="false" rot="0">
                <a:off x="0" y="0"/>
                <a:ext cx="1702171" cy="643461"/>
              </a:xfrm>
              <a:custGeom>
                <a:avLst/>
                <a:gdLst/>
                <a:ahLst/>
                <a:cxnLst/>
                <a:rect r="r" b="b" t="t" l="l"/>
                <a:pathLst>
                  <a:path h="643461" w="1702171">
                    <a:moveTo>
                      <a:pt x="0" y="0"/>
                    </a:moveTo>
                    <a:lnTo>
                      <a:pt x="1702171" y="0"/>
                    </a:lnTo>
                    <a:lnTo>
                      <a:pt x="1702171" y="643461"/>
                    </a:lnTo>
                    <a:lnTo>
                      <a:pt x="0" y="643461"/>
                    </a:lnTo>
                    <a:close/>
                  </a:path>
                </a:pathLst>
              </a:custGeom>
              <a:blipFill>
                <a:blip r:embed="rId3">
                  <a:alphaModFix amt="0"/>
                </a:blip>
                <a:stretch>
                  <a:fillRect l="0" t="-14095" r="-24351" b="-14096"/>
                </a:stretch>
              </a:blipFill>
            </p:spPr>
          </p:sp>
          <p:sp>
            <p:nvSpPr>
              <p:cNvPr name="TextBox 15" id="15"/>
              <p:cNvSpPr txBox="true"/>
              <p:nvPr/>
            </p:nvSpPr>
            <p:spPr>
              <a:xfrm>
                <a:off x="0" y="-19050"/>
                <a:ext cx="1702175" cy="662516"/>
              </a:xfrm>
              <a:prstGeom prst="rect">
                <a:avLst/>
              </a:prstGeom>
            </p:spPr>
            <p:txBody>
              <a:bodyPr anchor="ctr" rtlCol="false" tIns="0" lIns="0" bIns="0" rIns="0"/>
              <a:lstStyle/>
              <a:p>
                <a:pPr algn="ctr">
                  <a:lnSpc>
                    <a:spcPts val="1620"/>
                  </a:lnSpc>
                </a:pPr>
                <a:r>
                  <a:rPr lang="en-US" b="true" sz="1350" u="sng">
                    <a:solidFill>
                      <a:srgbClr val="FFFFFF"/>
                    </a:solidFill>
                    <a:latin typeface="Arimo Bold"/>
                    <a:ea typeface="Arimo Bold"/>
                    <a:cs typeface="Arimo Bold"/>
                    <a:sym typeface="Arimo Bold"/>
                    <a:hlinkClick r:id="rId5" tooltip="https://kdm111.github.io/assets/videos/p7_scene_state.mp4"/>
                  </a:rPr>
                  <a:t>실물 인식 화면</a:t>
                </a:r>
              </a:p>
            </p:txBody>
          </p:sp>
        </p:grpSp>
      </p:grpSp>
      <p:grpSp>
        <p:nvGrpSpPr>
          <p:cNvPr name="Group 16" id="16"/>
          <p:cNvGrpSpPr/>
          <p:nvPr/>
        </p:nvGrpSpPr>
        <p:grpSpPr>
          <a:xfrm rot="0">
            <a:off x="768096" y="2091628"/>
            <a:ext cx="5924550" cy="6161660"/>
            <a:chOff x="0" y="0"/>
            <a:chExt cx="7899400" cy="8215547"/>
          </a:xfrm>
        </p:grpSpPr>
        <p:sp>
          <p:nvSpPr>
            <p:cNvPr name="Freeform 17" id="17"/>
            <p:cNvSpPr/>
            <p:nvPr/>
          </p:nvSpPr>
          <p:spPr>
            <a:xfrm flipH="false" flipV="false" rot="0">
              <a:off x="0" y="0"/>
              <a:ext cx="7899400" cy="8215585"/>
            </a:xfrm>
            <a:custGeom>
              <a:avLst/>
              <a:gdLst/>
              <a:ahLst/>
              <a:cxnLst/>
              <a:rect r="r" b="b" t="t" l="l"/>
              <a:pathLst>
                <a:path h="8215585" w="7899400">
                  <a:moveTo>
                    <a:pt x="0" y="160803"/>
                  </a:moveTo>
                  <a:cubicBezTo>
                    <a:pt x="0" y="71942"/>
                    <a:pt x="68580" y="0"/>
                    <a:pt x="153289" y="0"/>
                  </a:cubicBezTo>
                  <a:lnTo>
                    <a:pt x="7746111" y="0"/>
                  </a:lnTo>
                  <a:cubicBezTo>
                    <a:pt x="7830820" y="0"/>
                    <a:pt x="7899400" y="71942"/>
                    <a:pt x="7899400" y="160803"/>
                  </a:cubicBezTo>
                  <a:lnTo>
                    <a:pt x="7899400" y="8054784"/>
                  </a:lnTo>
                  <a:cubicBezTo>
                    <a:pt x="7899400" y="8143646"/>
                    <a:pt x="7830820" y="8215585"/>
                    <a:pt x="7746111" y="8215585"/>
                  </a:cubicBezTo>
                  <a:lnTo>
                    <a:pt x="153289" y="8215585"/>
                  </a:lnTo>
                  <a:cubicBezTo>
                    <a:pt x="68580" y="8215585"/>
                    <a:pt x="0" y="8143513"/>
                    <a:pt x="0" y="8054784"/>
                  </a:cubicBezTo>
                  <a:close/>
                </a:path>
              </a:pathLst>
            </a:custGeom>
            <a:solidFill>
              <a:srgbClr val="FFFFFF"/>
            </a:solidFill>
            <a:ln w="19050" cap="sq">
              <a:solidFill>
                <a:srgbClr val="111111"/>
              </a:solidFill>
              <a:prstDash val="solid"/>
              <a:miter/>
            </a:ln>
          </p:spPr>
        </p:sp>
      </p:grpSp>
      <p:sp>
        <p:nvSpPr>
          <p:cNvPr name="TextBox 18" id="18"/>
          <p:cNvSpPr txBox="true"/>
          <p:nvPr/>
        </p:nvSpPr>
        <p:spPr>
          <a:xfrm rot="0">
            <a:off x="1101471" y="2617532"/>
            <a:ext cx="5257800" cy="470916"/>
          </a:xfrm>
          <a:prstGeom prst="rect">
            <a:avLst/>
          </a:prstGeom>
        </p:spPr>
        <p:txBody>
          <a:bodyPr anchor="t" rtlCol="false" tIns="0" lIns="0" bIns="0" rIns="0">
            <a:spAutoFit/>
          </a:bodyPr>
          <a:lstStyle/>
          <a:p>
            <a:pPr algn="l">
              <a:lnSpc>
                <a:spcPts val="3110"/>
              </a:lnSpc>
            </a:pPr>
            <a:r>
              <a:rPr lang="en-US" sz="2400" b="true">
                <a:solidFill>
                  <a:srgbClr val="2734BF"/>
                </a:solidFill>
                <a:latin typeface="Arimo Bold"/>
                <a:ea typeface="Arimo Bold"/>
                <a:cs typeface="Arimo Bold"/>
                <a:sym typeface="Arimo Bold"/>
              </a:rPr>
              <a:t>인지 과정</a:t>
            </a:r>
          </a:p>
        </p:txBody>
      </p:sp>
      <p:grpSp>
        <p:nvGrpSpPr>
          <p:cNvPr name="Group 19" id="19"/>
          <p:cNvGrpSpPr/>
          <p:nvPr/>
        </p:nvGrpSpPr>
        <p:grpSpPr>
          <a:xfrm rot="0">
            <a:off x="1079249" y="3446207"/>
            <a:ext cx="565147" cy="412747"/>
            <a:chOff x="0" y="0"/>
            <a:chExt cx="753529" cy="550329"/>
          </a:xfrm>
        </p:grpSpPr>
        <p:sp>
          <p:nvSpPr>
            <p:cNvPr name="Freeform 20" id="20"/>
            <p:cNvSpPr/>
            <p:nvPr/>
          </p:nvSpPr>
          <p:spPr>
            <a:xfrm flipH="false" flipV="false" rot="0">
              <a:off x="0" y="0"/>
              <a:ext cx="753491" cy="550291"/>
            </a:xfrm>
            <a:custGeom>
              <a:avLst/>
              <a:gdLst/>
              <a:ahLst/>
              <a:cxnLst/>
              <a:rect r="r" b="b" t="t" l="l"/>
              <a:pathLst>
                <a:path h="550291" w="753491">
                  <a:moveTo>
                    <a:pt x="0" y="159766"/>
                  </a:moveTo>
                  <a:cubicBezTo>
                    <a:pt x="0" y="71501"/>
                    <a:pt x="71501" y="0"/>
                    <a:pt x="159766" y="0"/>
                  </a:cubicBezTo>
                  <a:lnTo>
                    <a:pt x="593725" y="0"/>
                  </a:lnTo>
                  <a:cubicBezTo>
                    <a:pt x="681990" y="0"/>
                    <a:pt x="753491" y="71501"/>
                    <a:pt x="753491" y="159766"/>
                  </a:cubicBezTo>
                  <a:lnTo>
                    <a:pt x="753491" y="390525"/>
                  </a:lnTo>
                  <a:cubicBezTo>
                    <a:pt x="753491" y="478790"/>
                    <a:pt x="681990" y="550291"/>
                    <a:pt x="593725" y="550291"/>
                  </a:cubicBezTo>
                  <a:lnTo>
                    <a:pt x="159766" y="550291"/>
                  </a:lnTo>
                  <a:cubicBezTo>
                    <a:pt x="71501" y="550291"/>
                    <a:pt x="0" y="478790"/>
                    <a:pt x="0" y="390525"/>
                  </a:cubicBezTo>
                  <a:close/>
                </a:path>
              </a:pathLst>
            </a:custGeom>
            <a:solidFill>
              <a:srgbClr val="E9EDFF"/>
            </a:solidFill>
          </p:spPr>
        </p:sp>
      </p:grpSp>
      <p:sp>
        <p:nvSpPr>
          <p:cNvPr name="TextBox 21" id="21"/>
          <p:cNvSpPr txBox="true"/>
          <p:nvPr/>
        </p:nvSpPr>
        <p:spPr>
          <a:xfrm rot="0">
            <a:off x="1177671" y="3503357"/>
            <a:ext cx="368303" cy="317116"/>
          </a:xfrm>
          <a:prstGeom prst="rect">
            <a:avLst/>
          </a:prstGeom>
        </p:spPr>
        <p:txBody>
          <a:bodyPr anchor="t" rtlCol="false" tIns="0" lIns="0" bIns="0" rIns="0">
            <a:spAutoFit/>
          </a:bodyPr>
          <a:lstStyle/>
          <a:p>
            <a:pPr algn="ctr">
              <a:lnSpc>
                <a:spcPts val="2074"/>
              </a:lnSpc>
            </a:pPr>
            <a:r>
              <a:rPr lang="en-US" sz="1600" b="true">
                <a:solidFill>
                  <a:srgbClr val="2734BF"/>
                </a:solidFill>
                <a:latin typeface="Arimo Bold"/>
                <a:ea typeface="Arimo Bold"/>
                <a:cs typeface="Arimo Bold"/>
                <a:sym typeface="Arimo Bold"/>
              </a:rPr>
              <a:t>01</a:t>
            </a:r>
          </a:p>
        </p:txBody>
      </p:sp>
      <p:sp>
        <p:nvSpPr>
          <p:cNvPr name="TextBox 22" id="22"/>
          <p:cNvSpPr txBox="true"/>
          <p:nvPr/>
        </p:nvSpPr>
        <p:spPr>
          <a:xfrm rot="0">
            <a:off x="1863471" y="3417632"/>
            <a:ext cx="4483103" cy="452885"/>
          </a:xfrm>
          <a:prstGeom prst="rect">
            <a:avLst/>
          </a:prstGeom>
        </p:spPr>
        <p:txBody>
          <a:bodyPr anchor="t" rtlCol="false" tIns="0" lIns="0" bIns="0" rIns="0">
            <a:spAutoFit/>
          </a:bodyPr>
          <a:lstStyle/>
          <a:p>
            <a:pPr algn="l">
              <a:lnSpc>
                <a:spcPts val="2980"/>
              </a:lnSpc>
            </a:pPr>
            <a:r>
              <a:rPr lang="en-US" sz="2299" b="true">
                <a:solidFill>
                  <a:srgbClr val="111111"/>
                </a:solidFill>
                <a:latin typeface="Arimo Bold"/>
                <a:ea typeface="Arimo Bold"/>
                <a:cs typeface="Arimo Bold"/>
                <a:sym typeface="Arimo Bold"/>
              </a:rPr>
              <a:t>HSV 색 범위로 물체 구분</a:t>
            </a:r>
          </a:p>
        </p:txBody>
      </p:sp>
      <p:sp>
        <p:nvSpPr>
          <p:cNvPr name="TextBox 23" id="23"/>
          <p:cNvSpPr txBox="true"/>
          <p:nvPr/>
        </p:nvSpPr>
        <p:spPr>
          <a:xfrm rot="0">
            <a:off x="1863471" y="3874832"/>
            <a:ext cx="4445003" cy="311429"/>
          </a:xfrm>
          <a:prstGeom prst="rect">
            <a:avLst/>
          </a:prstGeom>
        </p:spPr>
        <p:txBody>
          <a:bodyPr anchor="t" rtlCol="false" tIns="0" lIns="0" bIns="0" rIns="0">
            <a:spAutoFit/>
          </a:bodyPr>
          <a:lstStyle/>
          <a:p>
            <a:pPr algn="l">
              <a:lnSpc>
                <a:spcPts val="2332"/>
              </a:lnSpc>
            </a:pPr>
            <a:r>
              <a:rPr lang="en-US" sz="1800">
                <a:solidFill>
                  <a:srgbClr val="666666"/>
                </a:solidFill>
                <a:latin typeface="Arimo"/>
                <a:ea typeface="Arimo"/>
                <a:cs typeface="Arimo"/>
                <a:sym typeface="Arimo"/>
              </a:rPr>
              <a:t>물체별 색상 범위 사용</a:t>
            </a:r>
          </a:p>
        </p:txBody>
      </p:sp>
      <p:grpSp>
        <p:nvGrpSpPr>
          <p:cNvPr name="Group 24" id="24"/>
          <p:cNvGrpSpPr/>
          <p:nvPr/>
        </p:nvGrpSpPr>
        <p:grpSpPr>
          <a:xfrm rot="0">
            <a:off x="1079249" y="4525713"/>
            <a:ext cx="565147" cy="412747"/>
            <a:chOff x="0" y="0"/>
            <a:chExt cx="753529" cy="550329"/>
          </a:xfrm>
        </p:grpSpPr>
        <p:sp>
          <p:nvSpPr>
            <p:cNvPr name="Freeform 25" id="25"/>
            <p:cNvSpPr/>
            <p:nvPr/>
          </p:nvSpPr>
          <p:spPr>
            <a:xfrm flipH="false" flipV="false" rot="0">
              <a:off x="0" y="0"/>
              <a:ext cx="753491" cy="550291"/>
            </a:xfrm>
            <a:custGeom>
              <a:avLst/>
              <a:gdLst/>
              <a:ahLst/>
              <a:cxnLst/>
              <a:rect r="r" b="b" t="t" l="l"/>
              <a:pathLst>
                <a:path h="550291" w="753491">
                  <a:moveTo>
                    <a:pt x="0" y="159766"/>
                  </a:moveTo>
                  <a:cubicBezTo>
                    <a:pt x="0" y="71501"/>
                    <a:pt x="71501" y="0"/>
                    <a:pt x="159766" y="0"/>
                  </a:cubicBezTo>
                  <a:lnTo>
                    <a:pt x="593725" y="0"/>
                  </a:lnTo>
                  <a:cubicBezTo>
                    <a:pt x="681990" y="0"/>
                    <a:pt x="753491" y="71501"/>
                    <a:pt x="753491" y="159766"/>
                  </a:cubicBezTo>
                  <a:lnTo>
                    <a:pt x="753491" y="390525"/>
                  </a:lnTo>
                  <a:cubicBezTo>
                    <a:pt x="753491" y="478790"/>
                    <a:pt x="681990" y="550291"/>
                    <a:pt x="593725" y="550291"/>
                  </a:cubicBezTo>
                  <a:lnTo>
                    <a:pt x="159766" y="550291"/>
                  </a:lnTo>
                  <a:cubicBezTo>
                    <a:pt x="71501" y="550291"/>
                    <a:pt x="0" y="478790"/>
                    <a:pt x="0" y="390525"/>
                  </a:cubicBezTo>
                  <a:close/>
                </a:path>
              </a:pathLst>
            </a:custGeom>
            <a:solidFill>
              <a:srgbClr val="E9EDFF"/>
            </a:solidFill>
          </p:spPr>
        </p:sp>
      </p:grpSp>
      <p:sp>
        <p:nvSpPr>
          <p:cNvPr name="TextBox 26" id="26"/>
          <p:cNvSpPr txBox="true"/>
          <p:nvPr/>
        </p:nvSpPr>
        <p:spPr>
          <a:xfrm rot="0">
            <a:off x="1177671" y="4582863"/>
            <a:ext cx="368303" cy="317116"/>
          </a:xfrm>
          <a:prstGeom prst="rect">
            <a:avLst/>
          </a:prstGeom>
        </p:spPr>
        <p:txBody>
          <a:bodyPr anchor="t" rtlCol="false" tIns="0" lIns="0" bIns="0" rIns="0">
            <a:spAutoFit/>
          </a:bodyPr>
          <a:lstStyle/>
          <a:p>
            <a:pPr algn="ctr">
              <a:lnSpc>
                <a:spcPts val="2074"/>
              </a:lnSpc>
            </a:pPr>
            <a:r>
              <a:rPr lang="en-US" sz="1600" b="true">
                <a:solidFill>
                  <a:srgbClr val="2734BF"/>
                </a:solidFill>
                <a:latin typeface="Arimo Bold"/>
                <a:ea typeface="Arimo Bold"/>
                <a:cs typeface="Arimo Bold"/>
                <a:sym typeface="Arimo Bold"/>
              </a:rPr>
              <a:t>02</a:t>
            </a:r>
          </a:p>
        </p:txBody>
      </p:sp>
      <p:sp>
        <p:nvSpPr>
          <p:cNvPr name="TextBox 27" id="27"/>
          <p:cNvSpPr txBox="true"/>
          <p:nvPr/>
        </p:nvSpPr>
        <p:spPr>
          <a:xfrm rot="0">
            <a:off x="1863471" y="4497138"/>
            <a:ext cx="4483103" cy="452885"/>
          </a:xfrm>
          <a:prstGeom prst="rect">
            <a:avLst/>
          </a:prstGeom>
        </p:spPr>
        <p:txBody>
          <a:bodyPr anchor="t" rtlCol="false" tIns="0" lIns="0" bIns="0" rIns="0">
            <a:spAutoFit/>
          </a:bodyPr>
          <a:lstStyle/>
          <a:p>
            <a:pPr algn="l">
              <a:lnSpc>
                <a:spcPts val="2980"/>
              </a:lnSpc>
            </a:pPr>
            <a:r>
              <a:rPr lang="en-US" sz="2299" b="true">
                <a:solidFill>
                  <a:srgbClr val="111111"/>
                </a:solidFill>
                <a:latin typeface="Arimo Bold"/>
                <a:ea typeface="Arimo Bold"/>
                <a:cs typeface="Arimo Bold"/>
                <a:sym typeface="Arimo Bold"/>
              </a:rPr>
              <a:t>윤곽선에서 중심·방향 추출</a:t>
            </a:r>
          </a:p>
        </p:txBody>
      </p:sp>
      <p:sp>
        <p:nvSpPr>
          <p:cNvPr name="TextBox 28" id="28"/>
          <p:cNvSpPr txBox="true"/>
          <p:nvPr/>
        </p:nvSpPr>
        <p:spPr>
          <a:xfrm rot="0">
            <a:off x="1863471" y="4954338"/>
            <a:ext cx="4445003" cy="311429"/>
          </a:xfrm>
          <a:prstGeom prst="rect">
            <a:avLst/>
          </a:prstGeom>
        </p:spPr>
        <p:txBody>
          <a:bodyPr anchor="t" rtlCol="false" tIns="0" lIns="0" bIns="0" rIns="0">
            <a:spAutoFit/>
          </a:bodyPr>
          <a:lstStyle/>
          <a:p>
            <a:pPr algn="l">
              <a:lnSpc>
                <a:spcPts val="2332"/>
              </a:lnSpc>
            </a:pPr>
            <a:r>
              <a:rPr lang="en-US" sz="1800">
                <a:solidFill>
                  <a:srgbClr val="666666"/>
                </a:solidFill>
                <a:latin typeface="Arimo"/>
                <a:ea typeface="Arimo"/>
                <a:cs typeface="Arimo"/>
                <a:sym typeface="Arimo"/>
              </a:rPr>
              <a:t>중심점과 긴 축 계산</a:t>
            </a:r>
          </a:p>
        </p:txBody>
      </p:sp>
      <p:grpSp>
        <p:nvGrpSpPr>
          <p:cNvPr name="Group 29" id="29"/>
          <p:cNvGrpSpPr/>
          <p:nvPr/>
        </p:nvGrpSpPr>
        <p:grpSpPr>
          <a:xfrm rot="0">
            <a:off x="1079249" y="5605210"/>
            <a:ext cx="565147" cy="412747"/>
            <a:chOff x="0" y="0"/>
            <a:chExt cx="753529" cy="550329"/>
          </a:xfrm>
        </p:grpSpPr>
        <p:sp>
          <p:nvSpPr>
            <p:cNvPr name="Freeform 30" id="30"/>
            <p:cNvSpPr/>
            <p:nvPr/>
          </p:nvSpPr>
          <p:spPr>
            <a:xfrm flipH="false" flipV="false" rot="0">
              <a:off x="0" y="0"/>
              <a:ext cx="753491" cy="550291"/>
            </a:xfrm>
            <a:custGeom>
              <a:avLst/>
              <a:gdLst/>
              <a:ahLst/>
              <a:cxnLst/>
              <a:rect r="r" b="b" t="t" l="l"/>
              <a:pathLst>
                <a:path h="550291" w="753491">
                  <a:moveTo>
                    <a:pt x="0" y="159766"/>
                  </a:moveTo>
                  <a:cubicBezTo>
                    <a:pt x="0" y="71501"/>
                    <a:pt x="71501" y="0"/>
                    <a:pt x="159766" y="0"/>
                  </a:cubicBezTo>
                  <a:lnTo>
                    <a:pt x="593725" y="0"/>
                  </a:lnTo>
                  <a:cubicBezTo>
                    <a:pt x="681990" y="0"/>
                    <a:pt x="753491" y="71501"/>
                    <a:pt x="753491" y="159766"/>
                  </a:cubicBezTo>
                  <a:lnTo>
                    <a:pt x="753491" y="390525"/>
                  </a:lnTo>
                  <a:cubicBezTo>
                    <a:pt x="753491" y="478790"/>
                    <a:pt x="681990" y="550291"/>
                    <a:pt x="593725" y="550291"/>
                  </a:cubicBezTo>
                  <a:lnTo>
                    <a:pt x="159766" y="550291"/>
                  </a:lnTo>
                  <a:cubicBezTo>
                    <a:pt x="71501" y="550291"/>
                    <a:pt x="0" y="478790"/>
                    <a:pt x="0" y="390525"/>
                  </a:cubicBezTo>
                  <a:close/>
                </a:path>
              </a:pathLst>
            </a:custGeom>
            <a:solidFill>
              <a:srgbClr val="E9EDFF"/>
            </a:solidFill>
          </p:spPr>
        </p:sp>
      </p:grpSp>
      <p:sp>
        <p:nvSpPr>
          <p:cNvPr name="TextBox 31" id="31"/>
          <p:cNvSpPr txBox="true"/>
          <p:nvPr/>
        </p:nvSpPr>
        <p:spPr>
          <a:xfrm rot="0">
            <a:off x="1177671" y="5662360"/>
            <a:ext cx="368303" cy="317116"/>
          </a:xfrm>
          <a:prstGeom prst="rect">
            <a:avLst/>
          </a:prstGeom>
        </p:spPr>
        <p:txBody>
          <a:bodyPr anchor="t" rtlCol="false" tIns="0" lIns="0" bIns="0" rIns="0">
            <a:spAutoFit/>
          </a:bodyPr>
          <a:lstStyle/>
          <a:p>
            <a:pPr algn="ctr">
              <a:lnSpc>
                <a:spcPts val="2074"/>
              </a:lnSpc>
            </a:pPr>
            <a:r>
              <a:rPr lang="en-US" sz="1600" b="true">
                <a:solidFill>
                  <a:srgbClr val="2734BF"/>
                </a:solidFill>
                <a:latin typeface="Arimo Bold"/>
                <a:ea typeface="Arimo Bold"/>
                <a:cs typeface="Arimo Bold"/>
                <a:sym typeface="Arimo Bold"/>
              </a:rPr>
              <a:t>03</a:t>
            </a:r>
          </a:p>
        </p:txBody>
      </p:sp>
      <p:sp>
        <p:nvSpPr>
          <p:cNvPr name="TextBox 32" id="32"/>
          <p:cNvSpPr txBox="true"/>
          <p:nvPr/>
        </p:nvSpPr>
        <p:spPr>
          <a:xfrm rot="0">
            <a:off x="1863471" y="5601764"/>
            <a:ext cx="4483103" cy="381539"/>
          </a:xfrm>
          <a:prstGeom prst="rect">
            <a:avLst/>
          </a:prstGeom>
        </p:spPr>
        <p:txBody>
          <a:bodyPr anchor="t" rtlCol="false" tIns="0" lIns="0" bIns="0" rIns="0">
            <a:spAutoFit/>
          </a:bodyPr>
          <a:lstStyle/>
          <a:p>
            <a:pPr algn="l">
              <a:lnSpc>
                <a:spcPts val="2980"/>
              </a:lnSpc>
            </a:pPr>
            <a:r>
              <a:rPr lang="en-US" sz="2299" b="true">
                <a:solidFill>
                  <a:srgbClr val="111111"/>
                </a:solidFill>
                <a:latin typeface="Arimo Bold"/>
                <a:ea typeface="Arimo Bold"/>
                <a:cs typeface="Arimo Bold"/>
                <a:sym typeface="Arimo Bold"/>
              </a:rPr>
              <a:t>픽셀 좌표를 로봇 기준 좌표로 변경</a:t>
            </a:r>
          </a:p>
        </p:txBody>
      </p:sp>
      <p:grpSp>
        <p:nvGrpSpPr>
          <p:cNvPr name="Group 33" id="33"/>
          <p:cNvGrpSpPr/>
          <p:nvPr/>
        </p:nvGrpSpPr>
        <p:grpSpPr>
          <a:xfrm rot="0">
            <a:off x="1079249" y="6684707"/>
            <a:ext cx="565147" cy="412747"/>
            <a:chOff x="0" y="0"/>
            <a:chExt cx="753529" cy="550329"/>
          </a:xfrm>
        </p:grpSpPr>
        <p:sp>
          <p:nvSpPr>
            <p:cNvPr name="Freeform 34" id="34"/>
            <p:cNvSpPr/>
            <p:nvPr/>
          </p:nvSpPr>
          <p:spPr>
            <a:xfrm flipH="false" flipV="false" rot="0">
              <a:off x="0" y="0"/>
              <a:ext cx="753491" cy="550291"/>
            </a:xfrm>
            <a:custGeom>
              <a:avLst/>
              <a:gdLst/>
              <a:ahLst/>
              <a:cxnLst/>
              <a:rect r="r" b="b" t="t" l="l"/>
              <a:pathLst>
                <a:path h="550291" w="753491">
                  <a:moveTo>
                    <a:pt x="0" y="159766"/>
                  </a:moveTo>
                  <a:cubicBezTo>
                    <a:pt x="0" y="71501"/>
                    <a:pt x="71501" y="0"/>
                    <a:pt x="159766" y="0"/>
                  </a:cubicBezTo>
                  <a:lnTo>
                    <a:pt x="593725" y="0"/>
                  </a:lnTo>
                  <a:cubicBezTo>
                    <a:pt x="681990" y="0"/>
                    <a:pt x="753491" y="71501"/>
                    <a:pt x="753491" y="159766"/>
                  </a:cubicBezTo>
                  <a:lnTo>
                    <a:pt x="753491" y="390525"/>
                  </a:lnTo>
                  <a:cubicBezTo>
                    <a:pt x="753491" y="478790"/>
                    <a:pt x="681990" y="550291"/>
                    <a:pt x="593725" y="550291"/>
                  </a:cubicBezTo>
                  <a:lnTo>
                    <a:pt x="159766" y="550291"/>
                  </a:lnTo>
                  <a:cubicBezTo>
                    <a:pt x="71501" y="550291"/>
                    <a:pt x="0" y="478790"/>
                    <a:pt x="0" y="390525"/>
                  </a:cubicBezTo>
                  <a:close/>
                </a:path>
              </a:pathLst>
            </a:custGeom>
            <a:solidFill>
              <a:srgbClr val="E9EDFF"/>
            </a:solidFill>
          </p:spPr>
        </p:sp>
      </p:grpSp>
      <p:sp>
        <p:nvSpPr>
          <p:cNvPr name="TextBox 35" id="35"/>
          <p:cNvSpPr txBox="true"/>
          <p:nvPr/>
        </p:nvSpPr>
        <p:spPr>
          <a:xfrm rot="0">
            <a:off x="1177671" y="6741857"/>
            <a:ext cx="368303" cy="317116"/>
          </a:xfrm>
          <a:prstGeom prst="rect">
            <a:avLst/>
          </a:prstGeom>
        </p:spPr>
        <p:txBody>
          <a:bodyPr anchor="t" rtlCol="false" tIns="0" lIns="0" bIns="0" rIns="0">
            <a:spAutoFit/>
          </a:bodyPr>
          <a:lstStyle/>
          <a:p>
            <a:pPr algn="ctr">
              <a:lnSpc>
                <a:spcPts val="2074"/>
              </a:lnSpc>
            </a:pPr>
            <a:r>
              <a:rPr lang="en-US" sz="1600" b="true">
                <a:solidFill>
                  <a:srgbClr val="2734BF"/>
                </a:solidFill>
                <a:latin typeface="Arimo Bold"/>
                <a:ea typeface="Arimo Bold"/>
                <a:cs typeface="Arimo Bold"/>
                <a:sym typeface="Arimo Bold"/>
              </a:rPr>
              <a:t>04</a:t>
            </a:r>
          </a:p>
        </p:txBody>
      </p:sp>
      <p:sp>
        <p:nvSpPr>
          <p:cNvPr name="TextBox 36" id="36"/>
          <p:cNvSpPr txBox="true"/>
          <p:nvPr/>
        </p:nvSpPr>
        <p:spPr>
          <a:xfrm rot="0">
            <a:off x="1863471" y="6656132"/>
            <a:ext cx="4483103" cy="452885"/>
          </a:xfrm>
          <a:prstGeom prst="rect">
            <a:avLst/>
          </a:prstGeom>
        </p:spPr>
        <p:txBody>
          <a:bodyPr anchor="t" rtlCol="false" tIns="0" lIns="0" bIns="0" rIns="0">
            <a:spAutoFit/>
          </a:bodyPr>
          <a:lstStyle/>
          <a:p>
            <a:pPr algn="l">
              <a:lnSpc>
                <a:spcPts val="2980"/>
              </a:lnSpc>
            </a:pPr>
            <a:r>
              <a:rPr lang="en-US" sz="2299" b="true">
                <a:solidFill>
                  <a:srgbClr val="111111"/>
                </a:solidFill>
                <a:latin typeface="Arimo Bold"/>
                <a:ea typeface="Arimo Bold"/>
                <a:cs typeface="Arimo Bold"/>
                <a:sym typeface="Arimo Bold"/>
              </a:rPr>
              <a:t>/scene_state로 정보 공유</a:t>
            </a:r>
          </a:p>
        </p:txBody>
      </p:sp>
      <p:sp>
        <p:nvSpPr>
          <p:cNvPr name="TextBox 37" id="37"/>
          <p:cNvSpPr txBox="true"/>
          <p:nvPr/>
        </p:nvSpPr>
        <p:spPr>
          <a:xfrm rot="0">
            <a:off x="1863471" y="7113332"/>
            <a:ext cx="4445003" cy="311429"/>
          </a:xfrm>
          <a:prstGeom prst="rect">
            <a:avLst/>
          </a:prstGeom>
        </p:spPr>
        <p:txBody>
          <a:bodyPr anchor="t" rtlCol="false" tIns="0" lIns="0" bIns="0" rIns="0">
            <a:spAutoFit/>
          </a:bodyPr>
          <a:lstStyle/>
          <a:p>
            <a:pPr algn="l">
              <a:lnSpc>
                <a:spcPts val="2332"/>
              </a:lnSpc>
            </a:pPr>
            <a:r>
              <a:rPr lang="en-US" sz="1800">
                <a:solidFill>
                  <a:srgbClr val="666666"/>
                </a:solidFill>
                <a:latin typeface="Arimo"/>
                <a:ea typeface="Arimo"/>
                <a:cs typeface="Arimo"/>
                <a:sym typeface="Arimo"/>
              </a:rPr>
              <a:t>물체 ID, 위치, 방향</a:t>
            </a:r>
          </a:p>
        </p:txBody>
      </p:sp>
      <p:sp>
        <p:nvSpPr>
          <p:cNvPr name="TextBox 38" id="38"/>
          <p:cNvSpPr txBox="true"/>
          <p:nvPr/>
        </p:nvSpPr>
        <p:spPr>
          <a:xfrm rot="0">
            <a:off x="1882521" y="5983303"/>
            <a:ext cx="4445003" cy="311429"/>
          </a:xfrm>
          <a:prstGeom prst="rect">
            <a:avLst/>
          </a:prstGeom>
        </p:spPr>
        <p:txBody>
          <a:bodyPr anchor="t" rtlCol="false" tIns="0" lIns="0" bIns="0" rIns="0">
            <a:spAutoFit/>
          </a:bodyPr>
          <a:lstStyle/>
          <a:p>
            <a:pPr algn="l">
              <a:lnSpc>
                <a:spcPts val="2332"/>
              </a:lnSpc>
            </a:pPr>
            <a:r>
              <a:rPr lang="en-US" sz="1800">
                <a:solidFill>
                  <a:srgbClr val="666666"/>
                </a:solidFill>
                <a:latin typeface="Arimo"/>
                <a:ea typeface="Arimo"/>
                <a:cs typeface="Arimo"/>
                <a:sym typeface="Arimo"/>
              </a:rPr>
              <a:t>로봇의 위치를 0,0으로 하는 좌표로 변환</a:t>
            </a:r>
          </a:p>
        </p:txBody>
      </p:sp>
      <p:sp>
        <p:nvSpPr>
          <p:cNvPr name="TextBox 39" id="39"/>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8</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grpSp>
        <p:nvGrpSpPr>
          <p:cNvPr name="Group 2" id="2"/>
          <p:cNvGrpSpPr/>
          <p:nvPr/>
        </p:nvGrpSpPr>
        <p:grpSpPr>
          <a:xfrm rot="0">
            <a:off x="762000" y="609600"/>
            <a:ext cx="6350003" cy="355601"/>
            <a:chOff x="0" y="0"/>
            <a:chExt cx="8466671" cy="474134"/>
          </a:xfrm>
        </p:grpSpPr>
        <p:sp>
          <p:nvSpPr>
            <p:cNvPr name="Freeform 3" id="3"/>
            <p:cNvSpPr/>
            <p:nvPr/>
          </p:nvSpPr>
          <p:spPr>
            <a:xfrm flipH="false" flipV="false" rot="0">
              <a:off x="0" y="0"/>
              <a:ext cx="8466666" cy="474139"/>
            </a:xfrm>
            <a:custGeom>
              <a:avLst/>
              <a:gdLst/>
              <a:ahLst/>
              <a:cxnLst/>
              <a:rect r="r" b="b" t="t" l="l"/>
              <a:pathLst>
                <a:path h="474139" w="8466666">
                  <a:moveTo>
                    <a:pt x="0" y="0"/>
                  </a:moveTo>
                  <a:lnTo>
                    <a:pt x="8466666" y="0"/>
                  </a:lnTo>
                  <a:lnTo>
                    <a:pt x="8466666" y="474139"/>
                  </a:lnTo>
                  <a:lnTo>
                    <a:pt x="0" y="474139"/>
                  </a:lnTo>
                  <a:close/>
                </a:path>
              </a:pathLst>
            </a:custGeom>
            <a:blipFill>
              <a:blip r:embed="rId3">
                <a:alphaModFix amt="0"/>
              </a:blip>
              <a:stretch>
                <a:fillRect l="0" t="-297944" r="0" b="-297942"/>
              </a:stretch>
            </a:blipFill>
          </p:spPr>
        </p:sp>
        <p:sp>
          <p:nvSpPr>
            <p:cNvPr name="TextBox 4" id="4"/>
            <p:cNvSpPr txBox="true"/>
            <p:nvPr/>
          </p:nvSpPr>
          <p:spPr>
            <a:xfrm>
              <a:off x="0" y="-19050"/>
              <a:ext cx="8466671" cy="493184"/>
            </a:xfrm>
            <a:prstGeom prst="rect">
              <a:avLst/>
            </a:prstGeom>
          </p:spPr>
          <p:txBody>
            <a:bodyPr anchor="ctr" rtlCol="false" tIns="0" lIns="0" bIns="0" rIns="0"/>
            <a:lstStyle/>
            <a:p>
              <a:pPr algn="l">
                <a:lnSpc>
                  <a:spcPts val="1800"/>
                </a:lnSpc>
              </a:pPr>
              <a:r>
                <a:rPr lang="en-US" sz="1500" b="true">
                  <a:solidFill>
                    <a:srgbClr val="66645F"/>
                  </a:solidFill>
                  <a:latin typeface="Arimo Bold"/>
                  <a:ea typeface="Arimo Bold"/>
                  <a:cs typeface="Arimo Bold"/>
                  <a:sym typeface="Arimo Bold"/>
                </a:rPr>
                <a:t>LARO-BOT</a:t>
              </a:r>
            </a:p>
          </p:txBody>
        </p:sp>
      </p:grpSp>
      <p:grpSp>
        <p:nvGrpSpPr>
          <p:cNvPr name="Group 5" id="5"/>
          <p:cNvGrpSpPr/>
          <p:nvPr/>
        </p:nvGrpSpPr>
        <p:grpSpPr>
          <a:xfrm rot="0">
            <a:off x="762000" y="965197"/>
            <a:ext cx="16256003" cy="856692"/>
            <a:chOff x="0" y="0"/>
            <a:chExt cx="21674671" cy="1142256"/>
          </a:xfrm>
        </p:grpSpPr>
        <p:sp>
          <p:nvSpPr>
            <p:cNvPr name="Freeform 6" id="6"/>
            <p:cNvSpPr/>
            <p:nvPr/>
          </p:nvSpPr>
          <p:spPr>
            <a:xfrm flipH="false" flipV="false" rot="0">
              <a:off x="0" y="0"/>
              <a:ext cx="21674666" cy="1142261"/>
            </a:xfrm>
            <a:custGeom>
              <a:avLst/>
              <a:gdLst/>
              <a:ahLst/>
              <a:cxnLst/>
              <a:rect r="r" b="b" t="t" l="l"/>
              <a:pathLst>
                <a:path h="1142261" w="21674666">
                  <a:moveTo>
                    <a:pt x="0" y="0"/>
                  </a:moveTo>
                  <a:lnTo>
                    <a:pt x="21674666" y="0"/>
                  </a:lnTo>
                  <a:lnTo>
                    <a:pt x="21674666" y="1142261"/>
                  </a:lnTo>
                  <a:lnTo>
                    <a:pt x="0" y="1142261"/>
                  </a:lnTo>
                  <a:close/>
                </a:path>
              </a:pathLst>
            </a:custGeom>
            <a:blipFill>
              <a:blip r:embed="rId3">
                <a:alphaModFix amt="0"/>
              </a:blip>
              <a:stretch>
                <a:fillRect l="0" t="-328966" r="0" b="-310500"/>
              </a:stretch>
            </a:blipFill>
          </p:spPr>
        </p:sp>
        <p:sp>
          <p:nvSpPr>
            <p:cNvPr name="TextBox 7" id="7"/>
            <p:cNvSpPr txBox="true"/>
            <p:nvPr/>
          </p:nvSpPr>
          <p:spPr>
            <a:xfrm>
              <a:off x="0" y="-19050"/>
              <a:ext cx="21674671" cy="1161306"/>
            </a:xfrm>
            <a:prstGeom prst="rect">
              <a:avLst/>
            </a:prstGeom>
          </p:spPr>
          <p:txBody>
            <a:bodyPr anchor="ctr" rtlCol="false" tIns="0" lIns="0" bIns="0" rIns="0"/>
            <a:lstStyle/>
            <a:p>
              <a:pPr algn="l">
                <a:lnSpc>
                  <a:spcPts val="5040"/>
                </a:lnSpc>
              </a:pPr>
              <a:r>
                <a:rPr lang="en-US" sz="4200" b="true">
                  <a:solidFill>
                    <a:srgbClr val="111111"/>
                  </a:solidFill>
                  <a:latin typeface="Arimo Bold"/>
                  <a:ea typeface="Arimo Bold"/>
                  <a:cs typeface="Arimo Bold"/>
                  <a:sym typeface="Arimo Bold"/>
                </a:rPr>
                <a:t>목표 좌표를 실제 로봇 움직임으로 연결</a:t>
              </a:r>
            </a:p>
          </p:txBody>
        </p:sp>
      </p:grpSp>
      <p:grpSp>
        <p:nvGrpSpPr>
          <p:cNvPr name="Group 8" id="8"/>
          <p:cNvGrpSpPr/>
          <p:nvPr/>
        </p:nvGrpSpPr>
        <p:grpSpPr>
          <a:xfrm rot="0">
            <a:off x="7334250" y="2284666"/>
            <a:ext cx="10657837" cy="6161660"/>
            <a:chOff x="0" y="0"/>
            <a:chExt cx="14210449" cy="8215547"/>
          </a:xfrm>
        </p:grpSpPr>
        <p:grpSp>
          <p:nvGrpSpPr>
            <p:cNvPr name="Group 9" id="9"/>
            <p:cNvGrpSpPr/>
            <p:nvPr/>
          </p:nvGrpSpPr>
          <p:grpSpPr>
            <a:xfrm rot="0">
              <a:off x="0" y="0"/>
              <a:ext cx="14210449" cy="8215547"/>
              <a:chOff x="0" y="0"/>
              <a:chExt cx="14210449" cy="8215547"/>
            </a:xfrm>
          </p:grpSpPr>
          <p:sp>
            <p:nvSpPr>
              <p:cNvPr name="Freeform 10" id="10"/>
              <p:cNvSpPr/>
              <p:nvPr/>
            </p:nvSpPr>
            <p:spPr>
              <a:xfrm flipH="false" flipV="false" rot="0">
                <a:off x="0" y="0"/>
                <a:ext cx="14210539" cy="8215637"/>
              </a:xfrm>
              <a:custGeom>
                <a:avLst/>
                <a:gdLst/>
                <a:ahLst/>
                <a:cxnLst/>
                <a:rect r="r" b="b" t="t" l="l"/>
                <a:pathLst>
                  <a:path h="8215637" w="14210539">
                    <a:moveTo>
                      <a:pt x="0" y="150483"/>
                    </a:moveTo>
                    <a:cubicBezTo>
                      <a:pt x="0" y="67284"/>
                      <a:pt x="66040" y="0"/>
                      <a:pt x="147701" y="0"/>
                    </a:cubicBezTo>
                    <a:lnTo>
                      <a:pt x="14062838" y="0"/>
                    </a:lnTo>
                    <a:cubicBezTo>
                      <a:pt x="14144372" y="0"/>
                      <a:pt x="14210539" y="67284"/>
                      <a:pt x="14210539" y="150483"/>
                    </a:cubicBezTo>
                    <a:lnTo>
                      <a:pt x="14210539" y="8065154"/>
                    </a:lnTo>
                    <a:cubicBezTo>
                      <a:pt x="14210539" y="8148224"/>
                      <a:pt x="14144499" y="8215637"/>
                      <a:pt x="14062838" y="8215637"/>
                    </a:cubicBezTo>
                    <a:lnTo>
                      <a:pt x="147701" y="8215637"/>
                    </a:lnTo>
                    <a:cubicBezTo>
                      <a:pt x="66040" y="8215509"/>
                      <a:pt x="0" y="8148224"/>
                      <a:pt x="0" y="8065154"/>
                    </a:cubicBezTo>
                    <a:close/>
                  </a:path>
                </a:pathLst>
              </a:custGeom>
              <a:blipFill>
                <a:blip r:embed="rId4"/>
                <a:stretch>
                  <a:fillRect l="-1389" t="0" r="-1389" b="0"/>
                </a:stretch>
              </a:blipFill>
              <a:ln w="53340" cap="sq">
                <a:solidFill>
                  <a:srgbClr val="111111"/>
                </a:solidFill>
                <a:prstDash val="solid"/>
                <a:miter/>
              </a:ln>
            </p:spPr>
          </p:sp>
        </p:grpSp>
        <p:grpSp>
          <p:nvGrpSpPr>
            <p:cNvPr name="Group 11" id="11"/>
            <p:cNvGrpSpPr/>
            <p:nvPr/>
          </p:nvGrpSpPr>
          <p:grpSpPr>
            <a:xfrm rot="0">
              <a:off x="401752" y="334010"/>
              <a:ext cx="3314700" cy="656171"/>
              <a:chOff x="0" y="0"/>
              <a:chExt cx="3314700" cy="656171"/>
            </a:xfrm>
          </p:grpSpPr>
          <p:sp>
            <p:nvSpPr>
              <p:cNvPr name="Freeform 12" id="12"/>
              <p:cNvSpPr/>
              <p:nvPr/>
            </p:nvSpPr>
            <p:spPr>
              <a:xfrm flipH="false" flipV="false" rot="0">
                <a:off x="0" y="0"/>
                <a:ext cx="3314700" cy="656209"/>
              </a:xfrm>
              <a:custGeom>
                <a:avLst/>
                <a:gdLst/>
                <a:ahLst/>
                <a:cxnLst/>
                <a:rect r="r" b="b" t="t" l="l"/>
                <a:pathLst>
                  <a:path h="656209" w="3314700">
                    <a:moveTo>
                      <a:pt x="0" y="149225"/>
                    </a:moveTo>
                    <a:cubicBezTo>
                      <a:pt x="0" y="66802"/>
                      <a:pt x="66802" y="0"/>
                      <a:pt x="149225" y="0"/>
                    </a:cubicBezTo>
                    <a:lnTo>
                      <a:pt x="3165475" y="0"/>
                    </a:lnTo>
                    <a:cubicBezTo>
                      <a:pt x="3247898" y="0"/>
                      <a:pt x="3314700" y="66802"/>
                      <a:pt x="3314700" y="149225"/>
                    </a:cubicBezTo>
                    <a:lnTo>
                      <a:pt x="3314700" y="506984"/>
                    </a:lnTo>
                    <a:cubicBezTo>
                      <a:pt x="3314700" y="589407"/>
                      <a:pt x="3247898" y="656209"/>
                      <a:pt x="3165475" y="656209"/>
                    </a:cubicBezTo>
                    <a:lnTo>
                      <a:pt x="149225" y="656209"/>
                    </a:lnTo>
                    <a:cubicBezTo>
                      <a:pt x="66802" y="656209"/>
                      <a:pt x="0" y="589407"/>
                      <a:pt x="0" y="506984"/>
                    </a:cubicBezTo>
                    <a:close/>
                  </a:path>
                </a:pathLst>
              </a:custGeom>
              <a:solidFill>
                <a:srgbClr val="111111"/>
              </a:solidFill>
              <a:ln w="9525" cap="sq">
                <a:solidFill>
                  <a:srgbClr val="111111"/>
                </a:solidFill>
                <a:prstDash val="solid"/>
                <a:miter/>
              </a:ln>
            </p:spPr>
          </p:sp>
        </p:grpSp>
        <p:grpSp>
          <p:nvGrpSpPr>
            <p:cNvPr name="Group 13" id="13"/>
            <p:cNvGrpSpPr/>
            <p:nvPr/>
          </p:nvGrpSpPr>
          <p:grpSpPr>
            <a:xfrm rot="0">
              <a:off x="408102" y="340360"/>
              <a:ext cx="3302000" cy="643466"/>
              <a:chOff x="0" y="0"/>
              <a:chExt cx="3302000" cy="643466"/>
            </a:xfrm>
          </p:grpSpPr>
          <p:sp>
            <p:nvSpPr>
              <p:cNvPr name="Freeform 14" id="14"/>
              <p:cNvSpPr/>
              <p:nvPr/>
            </p:nvSpPr>
            <p:spPr>
              <a:xfrm flipH="false" flipV="false" rot="0">
                <a:off x="0" y="0"/>
                <a:ext cx="3302000" cy="643461"/>
              </a:xfrm>
              <a:custGeom>
                <a:avLst/>
                <a:gdLst/>
                <a:ahLst/>
                <a:cxnLst/>
                <a:rect r="r" b="b" t="t" l="l"/>
                <a:pathLst>
                  <a:path h="643461" w="3302000">
                    <a:moveTo>
                      <a:pt x="0" y="0"/>
                    </a:moveTo>
                    <a:lnTo>
                      <a:pt x="3302000" y="0"/>
                    </a:lnTo>
                    <a:lnTo>
                      <a:pt x="3302000" y="643461"/>
                    </a:lnTo>
                    <a:lnTo>
                      <a:pt x="0" y="643461"/>
                    </a:lnTo>
                    <a:close/>
                  </a:path>
                </a:pathLst>
              </a:custGeom>
              <a:blipFill>
                <a:blip r:embed="rId3">
                  <a:alphaModFix amt="0"/>
                </a:blip>
                <a:stretch>
                  <a:fillRect l="0" t="-49989" r="0" b="-49990"/>
                </a:stretch>
              </a:blipFill>
            </p:spPr>
          </p:sp>
          <p:sp>
            <p:nvSpPr>
              <p:cNvPr name="TextBox 15" id="15"/>
              <p:cNvSpPr txBox="true"/>
              <p:nvPr/>
            </p:nvSpPr>
            <p:spPr>
              <a:xfrm>
                <a:off x="0" y="-19050"/>
                <a:ext cx="3302000" cy="662516"/>
              </a:xfrm>
              <a:prstGeom prst="rect">
                <a:avLst/>
              </a:prstGeom>
            </p:spPr>
            <p:txBody>
              <a:bodyPr anchor="ctr" rtlCol="false" tIns="0" lIns="0" bIns="0" rIns="0"/>
              <a:lstStyle/>
              <a:p>
                <a:pPr algn="ctr">
                  <a:lnSpc>
                    <a:spcPts val="1620"/>
                  </a:lnSpc>
                </a:pPr>
                <a:r>
                  <a:rPr lang="en-US" b="true" sz="1350" u="sng">
                    <a:solidFill>
                      <a:srgbClr val="FFFFFF"/>
                    </a:solidFill>
                    <a:latin typeface="Arimo Bold"/>
                    <a:ea typeface="Arimo Bold"/>
                    <a:cs typeface="Arimo Bold"/>
                    <a:sym typeface="Arimo Bold"/>
                    <a:hlinkClick r:id="rId5" tooltip="https://kdm111.github.io/assets/videos/p8_ik_rviz.mp4"/>
                  </a:rPr>
                  <a:t>실물 로봇 동작 </a:t>
                </a:r>
                <a:r>
                  <a:rPr lang="en-US" b="true" sz="1350" u="sng">
                    <a:solidFill>
                      <a:srgbClr val="FFFFFF"/>
                    </a:solidFill>
                    <a:latin typeface="Arimo Bold"/>
                    <a:ea typeface="Arimo Bold"/>
                    <a:cs typeface="Arimo Bold"/>
                    <a:sym typeface="Arimo Bold"/>
                    <a:hlinkClick r:id="rId6" tooltip="https://kdm111.github.io/assets/videos/p8_ik_rviz.mp4"/>
                  </a:rPr>
                  <a:t>+ 경로 시각화</a:t>
                </a:r>
              </a:p>
            </p:txBody>
          </p:sp>
        </p:grpSp>
      </p:grpSp>
      <p:grpSp>
        <p:nvGrpSpPr>
          <p:cNvPr name="Group 16" id="16"/>
          <p:cNvGrpSpPr/>
          <p:nvPr/>
        </p:nvGrpSpPr>
        <p:grpSpPr>
          <a:xfrm rot="0">
            <a:off x="762000" y="2284666"/>
            <a:ext cx="6350003" cy="6161660"/>
            <a:chOff x="0" y="0"/>
            <a:chExt cx="8466671" cy="8215547"/>
          </a:xfrm>
        </p:grpSpPr>
        <p:sp>
          <p:nvSpPr>
            <p:cNvPr name="Freeform 17" id="17"/>
            <p:cNvSpPr/>
            <p:nvPr/>
          </p:nvSpPr>
          <p:spPr>
            <a:xfrm flipH="false" flipV="false" rot="0">
              <a:off x="0" y="0"/>
              <a:ext cx="8466671" cy="8215547"/>
            </a:xfrm>
            <a:custGeom>
              <a:avLst/>
              <a:gdLst/>
              <a:ahLst/>
              <a:cxnLst/>
              <a:rect r="r" b="b" t="t" l="l"/>
              <a:pathLst>
                <a:path h="8215547" w="8466671">
                  <a:moveTo>
                    <a:pt x="0" y="155297"/>
                  </a:moveTo>
                  <a:cubicBezTo>
                    <a:pt x="0" y="69536"/>
                    <a:pt x="69483" y="0"/>
                    <a:pt x="155179" y="0"/>
                  </a:cubicBezTo>
                  <a:lnTo>
                    <a:pt x="8311492" y="0"/>
                  </a:lnTo>
                  <a:cubicBezTo>
                    <a:pt x="8397187" y="0"/>
                    <a:pt x="8466671" y="69536"/>
                    <a:pt x="8466671" y="155297"/>
                  </a:cubicBezTo>
                  <a:lnTo>
                    <a:pt x="8466671" y="8060251"/>
                  </a:lnTo>
                  <a:cubicBezTo>
                    <a:pt x="8466671" y="8146011"/>
                    <a:pt x="8397187" y="8215547"/>
                    <a:pt x="8311492" y="8215547"/>
                  </a:cubicBezTo>
                  <a:lnTo>
                    <a:pt x="155179" y="8215547"/>
                  </a:lnTo>
                  <a:cubicBezTo>
                    <a:pt x="69483" y="8215547"/>
                    <a:pt x="0" y="8146011"/>
                    <a:pt x="0" y="8060251"/>
                  </a:cubicBezTo>
                  <a:close/>
                </a:path>
              </a:pathLst>
            </a:custGeom>
            <a:solidFill>
              <a:srgbClr val="FFFFFF"/>
            </a:solidFill>
            <a:ln w="19050" cap="sq">
              <a:solidFill>
                <a:srgbClr val="111111"/>
              </a:solidFill>
              <a:prstDash val="solid"/>
              <a:miter/>
            </a:ln>
          </p:spPr>
        </p:sp>
      </p:grpSp>
      <p:sp>
        <p:nvSpPr>
          <p:cNvPr name="TextBox 18" id="18"/>
          <p:cNvSpPr txBox="true"/>
          <p:nvPr/>
        </p:nvSpPr>
        <p:spPr>
          <a:xfrm rot="0">
            <a:off x="1074038" y="2592638"/>
            <a:ext cx="5725937" cy="399364"/>
          </a:xfrm>
          <a:prstGeom prst="rect">
            <a:avLst/>
          </a:prstGeom>
        </p:spPr>
        <p:txBody>
          <a:bodyPr anchor="t" rtlCol="false" tIns="0" lIns="0" bIns="0" rIns="0">
            <a:spAutoFit/>
          </a:bodyPr>
          <a:lstStyle/>
          <a:p>
            <a:pPr algn="l">
              <a:lnSpc>
                <a:spcPts val="3110"/>
              </a:lnSpc>
            </a:pPr>
            <a:r>
              <a:rPr lang="en-US" sz="2400" b="true">
                <a:solidFill>
                  <a:srgbClr val="2734BF"/>
                </a:solidFill>
                <a:latin typeface="Arimo Bold"/>
                <a:ea typeface="Arimo Bold"/>
                <a:cs typeface="Arimo Bold"/>
                <a:sym typeface="Arimo Bold"/>
              </a:rPr>
              <a:t>관절값 계산 및 경로 실행</a:t>
            </a:r>
          </a:p>
        </p:txBody>
      </p:sp>
      <p:grpSp>
        <p:nvGrpSpPr>
          <p:cNvPr name="Group 19" id="19"/>
          <p:cNvGrpSpPr/>
          <p:nvPr/>
        </p:nvGrpSpPr>
        <p:grpSpPr>
          <a:xfrm rot="0">
            <a:off x="1064388" y="3421313"/>
            <a:ext cx="572591" cy="412747"/>
            <a:chOff x="0" y="0"/>
            <a:chExt cx="763454" cy="550329"/>
          </a:xfrm>
        </p:grpSpPr>
        <p:sp>
          <p:nvSpPr>
            <p:cNvPr name="Freeform 20" id="20"/>
            <p:cNvSpPr/>
            <p:nvPr/>
          </p:nvSpPr>
          <p:spPr>
            <a:xfrm flipH="false" flipV="false" rot="0">
              <a:off x="0" y="0"/>
              <a:ext cx="763416" cy="550291"/>
            </a:xfrm>
            <a:custGeom>
              <a:avLst/>
              <a:gdLst/>
              <a:ahLst/>
              <a:cxnLst/>
              <a:rect r="r" b="b" t="t" l="l"/>
              <a:pathLst>
                <a:path h="550291" w="763416">
                  <a:moveTo>
                    <a:pt x="0" y="159766"/>
                  </a:moveTo>
                  <a:cubicBezTo>
                    <a:pt x="0" y="71501"/>
                    <a:pt x="72443" y="0"/>
                    <a:pt x="161870" y="0"/>
                  </a:cubicBezTo>
                  <a:lnTo>
                    <a:pt x="601545" y="0"/>
                  </a:lnTo>
                  <a:cubicBezTo>
                    <a:pt x="690973" y="0"/>
                    <a:pt x="763416" y="71501"/>
                    <a:pt x="763416" y="159766"/>
                  </a:cubicBezTo>
                  <a:lnTo>
                    <a:pt x="763416" y="390525"/>
                  </a:lnTo>
                  <a:cubicBezTo>
                    <a:pt x="763416" y="478790"/>
                    <a:pt x="690973" y="550291"/>
                    <a:pt x="601545" y="550291"/>
                  </a:cubicBezTo>
                  <a:lnTo>
                    <a:pt x="161870" y="550291"/>
                  </a:lnTo>
                  <a:cubicBezTo>
                    <a:pt x="72443" y="550291"/>
                    <a:pt x="0" y="478790"/>
                    <a:pt x="0" y="390525"/>
                  </a:cubicBezTo>
                  <a:close/>
                </a:path>
              </a:pathLst>
            </a:custGeom>
            <a:solidFill>
              <a:srgbClr val="E9EDFF"/>
            </a:solidFill>
          </p:spPr>
        </p:sp>
      </p:grpSp>
      <p:sp>
        <p:nvSpPr>
          <p:cNvPr name="TextBox 21" id="21"/>
          <p:cNvSpPr txBox="true"/>
          <p:nvPr/>
        </p:nvSpPr>
        <p:spPr>
          <a:xfrm rot="0">
            <a:off x="1164106" y="3478463"/>
            <a:ext cx="373154" cy="266237"/>
          </a:xfrm>
          <a:prstGeom prst="rect">
            <a:avLst/>
          </a:prstGeom>
        </p:spPr>
        <p:txBody>
          <a:bodyPr anchor="t" rtlCol="false" tIns="0" lIns="0" bIns="0" rIns="0">
            <a:spAutoFit/>
          </a:bodyPr>
          <a:lstStyle/>
          <a:p>
            <a:pPr algn="ctr">
              <a:lnSpc>
                <a:spcPts val="2074"/>
              </a:lnSpc>
            </a:pPr>
            <a:r>
              <a:rPr lang="en-US" sz="1600" b="true">
                <a:solidFill>
                  <a:srgbClr val="2734BF"/>
                </a:solidFill>
                <a:latin typeface="Arimo Bold"/>
                <a:ea typeface="Arimo Bold"/>
                <a:cs typeface="Arimo Bold"/>
                <a:sym typeface="Arimo Bold"/>
              </a:rPr>
              <a:t>01</a:t>
            </a:r>
          </a:p>
        </p:txBody>
      </p:sp>
      <p:sp>
        <p:nvSpPr>
          <p:cNvPr name="TextBox 22" id="22"/>
          <p:cNvSpPr txBox="true"/>
          <p:nvPr/>
        </p:nvSpPr>
        <p:spPr>
          <a:xfrm rot="0">
            <a:off x="1846075" y="3392738"/>
            <a:ext cx="4915298" cy="381539"/>
          </a:xfrm>
          <a:prstGeom prst="rect">
            <a:avLst/>
          </a:prstGeom>
        </p:spPr>
        <p:txBody>
          <a:bodyPr anchor="t" rtlCol="false" tIns="0" lIns="0" bIns="0" rIns="0">
            <a:spAutoFit/>
          </a:bodyPr>
          <a:lstStyle/>
          <a:p>
            <a:pPr algn="l">
              <a:lnSpc>
                <a:spcPts val="2980"/>
              </a:lnSpc>
            </a:pPr>
            <a:r>
              <a:rPr lang="en-US" sz="2299" b="true">
                <a:solidFill>
                  <a:srgbClr val="111111"/>
                </a:solidFill>
                <a:latin typeface="Arimo Bold"/>
                <a:ea typeface="Arimo Bold"/>
                <a:cs typeface="Arimo Bold"/>
                <a:sym typeface="Arimo Bold"/>
              </a:rPr>
              <a:t>목표 위치와 방향 </a:t>
            </a:r>
            <a:r>
              <a:rPr lang="en-US" sz="2299" b="true">
                <a:solidFill>
                  <a:srgbClr val="111111"/>
                </a:solidFill>
                <a:latin typeface="Arimo Bold"/>
                <a:ea typeface="Arimo Bold"/>
                <a:cs typeface="Arimo Bold"/>
                <a:sym typeface="Arimo Bold"/>
              </a:rPr>
              <a:t>입력</a:t>
            </a:r>
          </a:p>
        </p:txBody>
      </p:sp>
      <p:sp>
        <p:nvSpPr>
          <p:cNvPr name="TextBox 23" id="23"/>
          <p:cNvSpPr txBox="true"/>
          <p:nvPr/>
        </p:nvSpPr>
        <p:spPr>
          <a:xfrm rot="0">
            <a:off x="1846075" y="3872169"/>
            <a:ext cx="4915298" cy="310204"/>
          </a:xfrm>
          <a:prstGeom prst="rect">
            <a:avLst/>
          </a:prstGeom>
        </p:spPr>
        <p:txBody>
          <a:bodyPr anchor="t" rtlCol="false" tIns="0" lIns="0" bIns="0" rIns="0">
            <a:spAutoFit/>
          </a:bodyPr>
          <a:lstStyle/>
          <a:p>
            <a:pPr algn="l">
              <a:lnSpc>
                <a:spcPts val="2463"/>
              </a:lnSpc>
            </a:pPr>
            <a:r>
              <a:rPr lang="en-US" sz="1900">
                <a:solidFill>
                  <a:srgbClr val="666666"/>
                </a:solidFill>
                <a:latin typeface="Arimo"/>
                <a:ea typeface="Arimo"/>
                <a:cs typeface="Arimo"/>
                <a:sym typeface="Arimo"/>
              </a:rPr>
              <a:t>카메라 인지 결과로 받은 좌표와 물체의 방향</a:t>
            </a:r>
          </a:p>
        </p:txBody>
      </p:sp>
      <p:grpSp>
        <p:nvGrpSpPr>
          <p:cNvPr name="Group 24" id="24"/>
          <p:cNvGrpSpPr/>
          <p:nvPr/>
        </p:nvGrpSpPr>
        <p:grpSpPr>
          <a:xfrm rot="0">
            <a:off x="1064388" y="4526213"/>
            <a:ext cx="572591" cy="412747"/>
            <a:chOff x="0" y="0"/>
            <a:chExt cx="763454" cy="550329"/>
          </a:xfrm>
        </p:grpSpPr>
        <p:sp>
          <p:nvSpPr>
            <p:cNvPr name="Freeform 25" id="25"/>
            <p:cNvSpPr/>
            <p:nvPr/>
          </p:nvSpPr>
          <p:spPr>
            <a:xfrm flipH="false" flipV="false" rot="0">
              <a:off x="0" y="0"/>
              <a:ext cx="763416" cy="550291"/>
            </a:xfrm>
            <a:custGeom>
              <a:avLst/>
              <a:gdLst/>
              <a:ahLst/>
              <a:cxnLst/>
              <a:rect r="r" b="b" t="t" l="l"/>
              <a:pathLst>
                <a:path h="550291" w="763416">
                  <a:moveTo>
                    <a:pt x="0" y="159766"/>
                  </a:moveTo>
                  <a:cubicBezTo>
                    <a:pt x="0" y="71501"/>
                    <a:pt x="72443" y="0"/>
                    <a:pt x="161870" y="0"/>
                  </a:cubicBezTo>
                  <a:lnTo>
                    <a:pt x="601545" y="0"/>
                  </a:lnTo>
                  <a:cubicBezTo>
                    <a:pt x="690973" y="0"/>
                    <a:pt x="763416" y="71501"/>
                    <a:pt x="763416" y="159766"/>
                  </a:cubicBezTo>
                  <a:lnTo>
                    <a:pt x="763416" y="390525"/>
                  </a:lnTo>
                  <a:cubicBezTo>
                    <a:pt x="763416" y="478790"/>
                    <a:pt x="690973" y="550291"/>
                    <a:pt x="601545" y="550291"/>
                  </a:cubicBezTo>
                  <a:lnTo>
                    <a:pt x="161870" y="550291"/>
                  </a:lnTo>
                  <a:cubicBezTo>
                    <a:pt x="72443" y="550291"/>
                    <a:pt x="0" y="478790"/>
                    <a:pt x="0" y="390525"/>
                  </a:cubicBezTo>
                  <a:close/>
                </a:path>
              </a:pathLst>
            </a:custGeom>
            <a:solidFill>
              <a:srgbClr val="E9EDFF"/>
            </a:solidFill>
          </p:spPr>
        </p:sp>
      </p:grpSp>
      <p:sp>
        <p:nvSpPr>
          <p:cNvPr name="TextBox 26" id="26"/>
          <p:cNvSpPr txBox="true"/>
          <p:nvPr/>
        </p:nvSpPr>
        <p:spPr>
          <a:xfrm rot="0">
            <a:off x="1164106" y="4583363"/>
            <a:ext cx="373154" cy="266237"/>
          </a:xfrm>
          <a:prstGeom prst="rect">
            <a:avLst/>
          </a:prstGeom>
        </p:spPr>
        <p:txBody>
          <a:bodyPr anchor="t" rtlCol="false" tIns="0" lIns="0" bIns="0" rIns="0">
            <a:spAutoFit/>
          </a:bodyPr>
          <a:lstStyle/>
          <a:p>
            <a:pPr algn="ctr">
              <a:lnSpc>
                <a:spcPts val="2074"/>
              </a:lnSpc>
            </a:pPr>
            <a:r>
              <a:rPr lang="en-US" sz="1600" b="true">
                <a:solidFill>
                  <a:srgbClr val="2734BF"/>
                </a:solidFill>
                <a:latin typeface="Arimo Bold"/>
                <a:ea typeface="Arimo Bold"/>
                <a:cs typeface="Arimo Bold"/>
                <a:sym typeface="Arimo Bold"/>
              </a:rPr>
              <a:t>02</a:t>
            </a:r>
          </a:p>
        </p:txBody>
      </p:sp>
      <p:sp>
        <p:nvSpPr>
          <p:cNvPr name="TextBox 27" id="27"/>
          <p:cNvSpPr txBox="true"/>
          <p:nvPr/>
        </p:nvSpPr>
        <p:spPr>
          <a:xfrm rot="0">
            <a:off x="1846075" y="4497638"/>
            <a:ext cx="4915298" cy="381539"/>
          </a:xfrm>
          <a:prstGeom prst="rect">
            <a:avLst/>
          </a:prstGeom>
        </p:spPr>
        <p:txBody>
          <a:bodyPr anchor="t" rtlCol="false" tIns="0" lIns="0" bIns="0" rIns="0">
            <a:spAutoFit/>
          </a:bodyPr>
          <a:lstStyle/>
          <a:p>
            <a:pPr algn="l">
              <a:lnSpc>
                <a:spcPts val="2980"/>
              </a:lnSpc>
            </a:pPr>
            <a:r>
              <a:rPr lang="en-US" sz="2299" b="true">
                <a:solidFill>
                  <a:srgbClr val="111111"/>
                </a:solidFill>
                <a:latin typeface="Arimo Bold"/>
                <a:ea typeface="Arimo Bold"/>
                <a:cs typeface="Arimo Bold"/>
                <a:sym typeface="Arimo Bold"/>
              </a:rPr>
              <a:t>관절</a:t>
            </a:r>
            <a:r>
              <a:rPr lang="en-US" sz="2299" b="true">
                <a:solidFill>
                  <a:srgbClr val="111111"/>
                </a:solidFill>
                <a:latin typeface="Arimo Bold"/>
                <a:ea typeface="Arimo Bold"/>
                <a:cs typeface="Arimo Bold"/>
                <a:sym typeface="Arimo Bold"/>
              </a:rPr>
              <a:t> 목표값 후보 계산</a:t>
            </a:r>
          </a:p>
        </p:txBody>
      </p:sp>
      <p:sp>
        <p:nvSpPr>
          <p:cNvPr name="TextBox 28" id="28"/>
          <p:cNvSpPr txBox="true"/>
          <p:nvPr/>
        </p:nvSpPr>
        <p:spPr>
          <a:xfrm rot="0">
            <a:off x="1846075" y="4977069"/>
            <a:ext cx="4915298" cy="310204"/>
          </a:xfrm>
          <a:prstGeom prst="rect">
            <a:avLst/>
          </a:prstGeom>
        </p:spPr>
        <p:txBody>
          <a:bodyPr anchor="t" rtlCol="false" tIns="0" lIns="0" bIns="0" rIns="0">
            <a:spAutoFit/>
          </a:bodyPr>
          <a:lstStyle/>
          <a:p>
            <a:pPr algn="l">
              <a:lnSpc>
                <a:spcPts val="2463"/>
              </a:lnSpc>
            </a:pPr>
            <a:r>
              <a:rPr lang="en-US" sz="1900">
                <a:solidFill>
                  <a:srgbClr val="666666"/>
                </a:solidFill>
                <a:latin typeface="Arimo"/>
                <a:ea typeface="Arimo"/>
                <a:cs typeface="Arimo"/>
                <a:sym typeface="Arimo"/>
              </a:rPr>
              <a:t>위, 아래 자세의</a:t>
            </a:r>
            <a:r>
              <a:rPr lang="en-US" sz="1900">
                <a:solidFill>
                  <a:srgbClr val="666666"/>
                </a:solidFill>
                <a:latin typeface="Arimo"/>
                <a:ea typeface="Arimo"/>
                <a:cs typeface="Arimo"/>
                <a:sym typeface="Arimo"/>
              </a:rPr>
              <a:t> 관절값을 계산하여 후보값 도출</a:t>
            </a:r>
          </a:p>
        </p:txBody>
      </p:sp>
      <p:grpSp>
        <p:nvGrpSpPr>
          <p:cNvPr name="Group 29" id="29"/>
          <p:cNvGrpSpPr/>
          <p:nvPr/>
        </p:nvGrpSpPr>
        <p:grpSpPr>
          <a:xfrm rot="0">
            <a:off x="1064388" y="5631113"/>
            <a:ext cx="572591" cy="412747"/>
            <a:chOff x="0" y="0"/>
            <a:chExt cx="763454" cy="550329"/>
          </a:xfrm>
        </p:grpSpPr>
        <p:sp>
          <p:nvSpPr>
            <p:cNvPr name="Freeform 30" id="30"/>
            <p:cNvSpPr/>
            <p:nvPr/>
          </p:nvSpPr>
          <p:spPr>
            <a:xfrm flipH="false" flipV="false" rot="0">
              <a:off x="0" y="0"/>
              <a:ext cx="763416" cy="550291"/>
            </a:xfrm>
            <a:custGeom>
              <a:avLst/>
              <a:gdLst/>
              <a:ahLst/>
              <a:cxnLst/>
              <a:rect r="r" b="b" t="t" l="l"/>
              <a:pathLst>
                <a:path h="550291" w="763416">
                  <a:moveTo>
                    <a:pt x="0" y="159766"/>
                  </a:moveTo>
                  <a:cubicBezTo>
                    <a:pt x="0" y="71501"/>
                    <a:pt x="72443" y="0"/>
                    <a:pt x="161870" y="0"/>
                  </a:cubicBezTo>
                  <a:lnTo>
                    <a:pt x="601545" y="0"/>
                  </a:lnTo>
                  <a:cubicBezTo>
                    <a:pt x="690973" y="0"/>
                    <a:pt x="763416" y="71501"/>
                    <a:pt x="763416" y="159766"/>
                  </a:cubicBezTo>
                  <a:lnTo>
                    <a:pt x="763416" y="390525"/>
                  </a:lnTo>
                  <a:cubicBezTo>
                    <a:pt x="763416" y="478790"/>
                    <a:pt x="690973" y="550291"/>
                    <a:pt x="601545" y="550291"/>
                  </a:cubicBezTo>
                  <a:lnTo>
                    <a:pt x="161870" y="550291"/>
                  </a:lnTo>
                  <a:cubicBezTo>
                    <a:pt x="72443" y="550291"/>
                    <a:pt x="0" y="478790"/>
                    <a:pt x="0" y="390525"/>
                  </a:cubicBezTo>
                  <a:close/>
                </a:path>
              </a:pathLst>
            </a:custGeom>
            <a:solidFill>
              <a:srgbClr val="E9EDFF"/>
            </a:solidFill>
          </p:spPr>
        </p:sp>
      </p:grpSp>
      <p:sp>
        <p:nvSpPr>
          <p:cNvPr name="TextBox 31" id="31"/>
          <p:cNvSpPr txBox="true"/>
          <p:nvPr/>
        </p:nvSpPr>
        <p:spPr>
          <a:xfrm rot="0">
            <a:off x="1164106" y="5688263"/>
            <a:ext cx="373154" cy="266237"/>
          </a:xfrm>
          <a:prstGeom prst="rect">
            <a:avLst/>
          </a:prstGeom>
        </p:spPr>
        <p:txBody>
          <a:bodyPr anchor="t" rtlCol="false" tIns="0" lIns="0" bIns="0" rIns="0">
            <a:spAutoFit/>
          </a:bodyPr>
          <a:lstStyle/>
          <a:p>
            <a:pPr algn="ctr">
              <a:lnSpc>
                <a:spcPts val="2074"/>
              </a:lnSpc>
            </a:pPr>
            <a:r>
              <a:rPr lang="en-US" sz="1600" b="true">
                <a:solidFill>
                  <a:srgbClr val="2734BF"/>
                </a:solidFill>
                <a:latin typeface="Arimo Bold"/>
                <a:ea typeface="Arimo Bold"/>
                <a:cs typeface="Arimo Bold"/>
                <a:sym typeface="Arimo Bold"/>
              </a:rPr>
              <a:t>03</a:t>
            </a:r>
          </a:p>
        </p:txBody>
      </p:sp>
      <p:sp>
        <p:nvSpPr>
          <p:cNvPr name="TextBox 32" id="32"/>
          <p:cNvSpPr txBox="true"/>
          <p:nvPr/>
        </p:nvSpPr>
        <p:spPr>
          <a:xfrm rot="0">
            <a:off x="1846075" y="5602538"/>
            <a:ext cx="4915298" cy="381539"/>
          </a:xfrm>
          <a:prstGeom prst="rect">
            <a:avLst/>
          </a:prstGeom>
        </p:spPr>
        <p:txBody>
          <a:bodyPr anchor="t" rtlCol="false" tIns="0" lIns="0" bIns="0" rIns="0">
            <a:spAutoFit/>
          </a:bodyPr>
          <a:lstStyle/>
          <a:p>
            <a:pPr algn="l">
              <a:lnSpc>
                <a:spcPts val="2980"/>
              </a:lnSpc>
            </a:pPr>
            <a:r>
              <a:rPr lang="en-US" sz="2299" b="true">
                <a:solidFill>
                  <a:srgbClr val="111111"/>
                </a:solidFill>
                <a:latin typeface="Arimo Bold"/>
                <a:ea typeface="Arimo Bold"/>
                <a:cs typeface="Arimo Bold"/>
                <a:sym typeface="Arimo Bold"/>
              </a:rPr>
              <a:t>실행 가능한 자세 선택</a:t>
            </a:r>
          </a:p>
        </p:txBody>
      </p:sp>
      <p:sp>
        <p:nvSpPr>
          <p:cNvPr name="TextBox 33" id="33"/>
          <p:cNvSpPr txBox="true"/>
          <p:nvPr/>
        </p:nvSpPr>
        <p:spPr>
          <a:xfrm rot="0">
            <a:off x="1846075" y="6081969"/>
            <a:ext cx="4915298" cy="310204"/>
          </a:xfrm>
          <a:prstGeom prst="rect">
            <a:avLst/>
          </a:prstGeom>
        </p:spPr>
        <p:txBody>
          <a:bodyPr anchor="t" rtlCol="false" tIns="0" lIns="0" bIns="0" rIns="0">
            <a:spAutoFit/>
          </a:bodyPr>
          <a:lstStyle/>
          <a:p>
            <a:pPr algn="l">
              <a:lnSpc>
                <a:spcPts val="2463"/>
              </a:lnSpc>
            </a:pPr>
            <a:r>
              <a:rPr lang="en-US" sz="1900" spc="-47">
                <a:solidFill>
                  <a:srgbClr val="666666"/>
                </a:solidFill>
                <a:latin typeface="Arimo"/>
                <a:ea typeface="Arimo"/>
                <a:cs typeface="Arimo"/>
                <a:sym typeface="Arimo"/>
              </a:rPr>
              <a:t>관절 한계 확인 후 현재 자세와 가까운 후보값 선택</a:t>
            </a:r>
          </a:p>
        </p:txBody>
      </p:sp>
      <p:grpSp>
        <p:nvGrpSpPr>
          <p:cNvPr name="Group 34" id="34"/>
          <p:cNvGrpSpPr/>
          <p:nvPr/>
        </p:nvGrpSpPr>
        <p:grpSpPr>
          <a:xfrm rot="0">
            <a:off x="1064388" y="6736013"/>
            <a:ext cx="572591" cy="412747"/>
            <a:chOff x="0" y="0"/>
            <a:chExt cx="763454" cy="550329"/>
          </a:xfrm>
        </p:grpSpPr>
        <p:sp>
          <p:nvSpPr>
            <p:cNvPr name="Freeform 35" id="35"/>
            <p:cNvSpPr/>
            <p:nvPr/>
          </p:nvSpPr>
          <p:spPr>
            <a:xfrm flipH="false" flipV="false" rot="0">
              <a:off x="0" y="0"/>
              <a:ext cx="763416" cy="550291"/>
            </a:xfrm>
            <a:custGeom>
              <a:avLst/>
              <a:gdLst/>
              <a:ahLst/>
              <a:cxnLst/>
              <a:rect r="r" b="b" t="t" l="l"/>
              <a:pathLst>
                <a:path h="550291" w="763416">
                  <a:moveTo>
                    <a:pt x="0" y="159766"/>
                  </a:moveTo>
                  <a:cubicBezTo>
                    <a:pt x="0" y="71501"/>
                    <a:pt x="72443" y="0"/>
                    <a:pt x="161870" y="0"/>
                  </a:cubicBezTo>
                  <a:lnTo>
                    <a:pt x="601545" y="0"/>
                  </a:lnTo>
                  <a:cubicBezTo>
                    <a:pt x="690973" y="0"/>
                    <a:pt x="763416" y="71501"/>
                    <a:pt x="763416" y="159766"/>
                  </a:cubicBezTo>
                  <a:lnTo>
                    <a:pt x="763416" y="390525"/>
                  </a:lnTo>
                  <a:cubicBezTo>
                    <a:pt x="763416" y="478790"/>
                    <a:pt x="690973" y="550291"/>
                    <a:pt x="601545" y="550291"/>
                  </a:cubicBezTo>
                  <a:lnTo>
                    <a:pt x="161870" y="550291"/>
                  </a:lnTo>
                  <a:cubicBezTo>
                    <a:pt x="72443" y="550291"/>
                    <a:pt x="0" y="478790"/>
                    <a:pt x="0" y="390525"/>
                  </a:cubicBezTo>
                  <a:close/>
                </a:path>
              </a:pathLst>
            </a:custGeom>
            <a:solidFill>
              <a:srgbClr val="E9EDFF"/>
            </a:solidFill>
          </p:spPr>
        </p:sp>
      </p:grpSp>
      <p:sp>
        <p:nvSpPr>
          <p:cNvPr name="TextBox 36" id="36"/>
          <p:cNvSpPr txBox="true"/>
          <p:nvPr/>
        </p:nvSpPr>
        <p:spPr>
          <a:xfrm rot="0">
            <a:off x="1164106" y="6793163"/>
            <a:ext cx="373154" cy="266237"/>
          </a:xfrm>
          <a:prstGeom prst="rect">
            <a:avLst/>
          </a:prstGeom>
        </p:spPr>
        <p:txBody>
          <a:bodyPr anchor="t" rtlCol="false" tIns="0" lIns="0" bIns="0" rIns="0">
            <a:spAutoFit/>
          </a:bodyPr>
          <a:lstStyle/>
          <a:p>
            <a:pPr algn="ctr">
              <a:lnSpc>
                <a:spcPts val="2074"/>
              </a:lnSpc>
            </a:pPr>
            <a:r>
              <a:rPr lang="en-US" sz="1600" b="true">
                <a:solidFill>
                  <a:srgbClr val="2734BF"/>
                </a:solidFill>
                <a:latin typeface="Arimo Bold"/>
                <a:ea typeface="Arimo Bold"/>
                <a:cs typeface="Arimo Bold"/>
                <a:sym typeface="Arimo Bold"/>
              </a:rPr>
              <a:t>04</a:t>
            </a:r>
          </a:p>
        </p:txBody>
      </p:sp>
      <p:sp>
        <p:nvSpPr>
          <p:cNvPr name="TextBox 37" id="37"/>
          <p:cNvSpPr txBox="true"/>
          <p:nvPr/>
        </p:nvSpPr>
        <p:spPr>
          <a:xfrm rot="0">
            <a:off x="1846075" y="6707438"/>
            <a:ext cx="4915298" cy="381539"/>
          </a:xfrm>
          <a:prstGeom prst="rect">
            <a:avLst/>
          </a:prstGeom>
        </p:spPr>
        <p:txBody>
          <a:bodyPr anchor="t" rtlCol="false" tIns="0" lIns="0" bIns="0" rIns="0">
            <a:spAutoFit/>
          </a:bodyPr>
          <a:lstStyle/>
          <a:p>
            <a:pPr algn="l">
              <a:lnSpc>
                <a:spcPts val="2980"/>
              </a:lnSpc>
            </a:pPr>
            <a:r>
              <a:rPr lang="en-US" sz="2299" b="true">
                <a:solidFill>
                  <a:srgbClr val="111111"/>
                </a:solidFill>
                <a:latin typeface="Arimo Bold"/>
                <a:ea typeface="Arimo Bold"/>
                <a:cs typeface="Arimo Bold"/>
                <a:sym typeface="Arimo Bold"/>
              </a:rPr>
              <a:t>팔 </a:t>
            </a:r>
            <a:r>
              <a:rPr lang="en-US" sz="2299" b="true">
                <a:solidFill>
                  <a:srgbClr val="111111"/>
                </a:solidFill>
                <a:latin typeface="Arimo Bold"/>
                <a:ea typeface="Arimo Bold"/>
                <a:cs typeface="Arimo Bold"/>
                <a:sym typeface="Arimo Bold"/>
              </a:rPr>
              <a:t>경로 계획 및 실행</a:t>
            </a:r>
          </a:p>
        </p:txBody>
      </p:sp>
      <p:sp>
        <p:nvSpPr>
          <p:cNvPr name="TextBox 38" id="38"/>
          <p:cNvSpPr txBox="true"/>
          <p:nvPr/>
        </p:nvSpPr>
        <p:spPr>
          <a:xfrm rot="0">
            <a:off x="1846075" y="7186869"/>
            <a:ext cx="4915298" cy="310204"/>
          </a:xfrm>
          <a:prstGeom prst="rect">
            <a:avLst/>
          </a:prstGeom>
        </p:spPr>
        <p:txBody>
          <a:bodyPr anchor="t" rtlCol="false" tIns="0" lIns="0" bIns="0" rIns="0">
            <a:spAutoFit/>
          </a:bodyPr>
          <a:lstStyle/>
          <a:p>
            <a:pPr algn="l">
              <a:lnSpc>
                <a:spcPts val="2463"/>
              </a:lnSpc>
            </a:pPr>
            <a:r>
              <a:rPr lang="en-US" sz="1900">
                <a:solidFill>
                  <a:srgbClr val="666666"/>
                </a:solidFill>
                <a:latin typeface="Arimo"/>
                <a:ea typeface="Arimo"/>
                <a:cs typeface="Arimo"/>
                <a:sym typeface="Arimo"/>
              </a:rPr>
              <a:t>선택한 관절값을 컨트롤러로 전달</a:t>
            </a:r>
          </a:p>
        </p:txBody>
      </p:sp>
      <p:sp>
        <p:nvSpPr>
          <p:cNvPr name="TextBox 39" id="39"/>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9</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grpSp>
        <p:nvGrpSpPr>
          <p:cNvPr name="Group 2" id="2"/>
          <p:cNvGrpSpPr/>
          <p:nvPr/>
        </p:nvGrpSpPr>
        <p:grpSpPr>
          <a:xfrm rot="0">
            <a:off x="868042" y="2471287"/>
            <a:ext cx="5248913" cy="3036068"/>
            <a:chOff x="0" y="0"/>
            <a:chExt cx="6998551" cy="4048091"/>
          </a:xfrm>
        </p:grpSpPr>
        <p:sp>
          <p:nvSpPr>
            <p:cNvPr name="Freeform 3" id="3"/>
            <p:cNvSpPr/>
            <p:nvPr/>
          </p:nvSpPr>
          <p:spPr>
            <a:xfrm flipH="false" flipV="false" rot="0">
              <a:off x="0" y="0"/>
              <a:ext cx="6998589" cy="4048091"/>
            </a:xfrm>
            <a:custGeom>
              <a:avLst/>
              <a:gdLst/>
              <a:ahLst/>
              <a:cxnLst/>
              <a:rect r="r" b="b" t="t" l="l"/>
              <a:pathLst>
                <a:path h="4048091" w="6998589">
                  <a:moveTo>
                    <a:pt x="0" y="166535"/>
                  </a:moveTo>
                  <a:cubicBezTo>
                    <a:pt x="0" y="74585"/>
                    <a:pt x="66548" y="0"/>
                    <a:pt x="148590" y="0"/>
                  </a:cubicBezTo>
                  <a:lnTo>
                    <a:pt x="6849999" y="0"/>
                  </a:lnTo>
                  <a:cubicBezTo>
                    <a:pt x="6932041" y="0"/>
                    <a:pt x="6998589" y="74585"/>
                    <a:pt x="6998589" y="166535"/>
                  </a:cubicBezTo>
                  <a:lnTo>
                    <a:pt x="6998589" y="3881556"/>
                  </a:lnTo>
                  <a:cubicBezTo>
                    <a:pt x="6998589" y="3973506"/>
                    <a:pt x="6932041" y="4048091"/>
                    <a:pt x="6849999" y="4048091"/>
                  </a:cubicBezTo>
                  <a:lnTo>
                    <a:pt x="148590" y="4048091"/>
                  </a:lnTo>
                  <a:cubicBezTo>
                    <a:pt x="66548" y="4048091"/>
                    <a:pt x="0" y="3973506"/>
                    <a:pt x="0" y="3881556"/>
                  </a:cubicBezTo>
                  <a:close/>
                </a:path>
              </a:pathLst>
            </a:custGeom>
            <a:solidFill>
              <a:srgbClr val="FFFFFF"/>
            </a:solidFill>
            <a:ln w="19050" cap="sq">
              <a:solidFill>
                <a:srgbClr val="101010"/>
              </a:solidFill>
              <a:prstDash val="solid"/>
              <a:miter/>
            </a:ln>
          </p:spPr>
        </p:sp>
      </p:grpSp>
      <p:grpSp>
        <p:nvGrpSpPr>
          <p:cNvPr name="Group 4" id="4"/>
          <p:cNvGrpSpPr/>
          <p:nvPr/>
        </p:nvGrpSpPr>
        <p:grpSpPr>
          <a:xfrm rot="0">
            <a:off x="1244603" y="2711444"/>
            <a:ext cx="3174997" cy="355597"/>
            <a:chOff x="0" y="0"/>
            <a:chExt cx="4233329" cy="474129"/>
          </a:xfrm>
        </p:grpSpPr>
        <p:sp>
          <p:nvSpPr>
            <p:cNvPr name="Freeform 5" id="5"/>
            <p:cNvSpPr/>
            <p:nvPr/>
          </p:nvSpPr>
          <p:spPr>
            <a:xfrm flipH="false" flipV="false" rot="0">
              <a:off x="0" y="0"/>
              <a:ext cx="4233334" cy="474134"/>
            </a:xfrm>
            <a:custGeom>
              <a:avLst/>
              <a:gdLst/>
              <a:ahLst/>
              <a:cxnLst/>
              <a:rect r="r" b="b" t="t" l="l"/>
              <a:pathLst>
                <a:path h="474134" w="4233334">
                  <a:moveTo>
                    <a:pt x="0" y="0"/>
                  </a:moveTo>
                  <a:lnTo>
                    <a:pt x="4233334" y="0"/>
                  </a:lnTo>
                  <a:lnTo>
                    <a:pt x="4233334" y="474134"/>
                  </a:lnTo>
                  <a:lnTo>
                    <a:pt x="0" y="474134"/>
                  </a:lnTo>
                  <a:close/>
                </a:path>
              </a:pathLst>
            </a:custGeom>
            <a:blipFill>
              <a:blip r:embed="rId3">
                <a:alphaModFix amt="0"/>
              </a:blip>
              <a:stretch>
                <a:fillRect l="0" t="-123973" r="0" b="-123972"/>
              </a:stretch>
            </a:blipFill>
          </p:spPr>
        </p:sp>
        <p:sp>
          <p:nvSpPr>
            <p:cNvPr name="TextBox 6" id="6"/>
            <p:cNvSpPr txBox="true"/>
            <p:nvPr/>
          </p:nvSpPr>
          <p:spPr>
            <a:xfrm>
              <a:off x="0" y="-19050"/>
              <a:ext cx="4233329" cy="493179"/>
            </a:xfrm>
            <a:prstGeom prst="rect">
              <a:avLst/>
            </a:prstGeom>
          </p:spPr>
          <p:txBody>
            <a:bodyPr anchor="ctr" rtlCol="false" tIns="0" lIns="0" bIns="0" rIns="0"/>
            <a:lstStyle/>
            <a:p>
              <a:pPr algn="l">
                <a:lnSpc>
                  <a:spcPts val="2070"/>
                </a:lnSpc>
              </a:pPr>
              <a:r>
                <a:rPr lang="en-US" sz="1725" b="true">
                  <a:solidFill>
                    <a:srgbClr val="1B2CC1"/>
                  </a:solidFill>
                  <a:latin typeface="Arimo Bold"/>
                  <a:ea typeface="Arimo Bold"/>
                  <a:cs typeface="Arimo Bold"/>
                  <a:sym typeface="Arimo Bold"/>
                </a:rPr>
                <a:t>Pick.action</a:t>
              </a:r>
            </a:p>
          </p:txBody>
        </p:sp>
      </p:grpSp>
      <p:grpSp>
        <p:nvGrpSpPr>
          <p:cNvPr name="Group 7" id="7"/>
          <p:cNvGrpSpPr/>
          <p:nvPr/>
        </p:nvGrpSpPr>
        <p:grpSpPr>
          <a:xfrm rot="0">
            <a:off x="1244603" y="3117847"/>
            <a:ext cx="3810000" cy="571500"/>
            <a:chOff x="0" y="0"/>
            <a:chExt cx="5080000" cy="762000"/>
          </a:xfrm>
        </p:grpSpPr>
        <p:sp>
          <p:nvSpPr>
            <p:cNvPr name="Freeform 8" id="8"/>
            <p:cNvSpPr/>
            <p:nvPr/>
          </p:nvSpPr>
          <p:spPr>
            <a:xfrm flipH="false" flipV="false" rot="0">
              <a:off x="0" y="0"/>
              <a:ext cx="5080000" cy="762000"/>
            </a:xfrm>
            <a:custGeom>
              <a:avLst/>
              <a:gdLst/>
              <a:ahLst/>
              <a:cxnLst/>
              <a:rect r="r" b="b" t="t" l="l"/>
              <a:pathLst>
                <a:path h="762000" w="5080000">
                  <a:moveTo>
                    <a:pt x="0" y="0"/>
                  </a:moveTo>
                  <a:lnTo>
                    <a:pt x="5080000" y="0"/>
                  </a:lnTo>
                  <a:lnTo>
                    <a:pt x="5080000" y="762000"/>
                  </a:lnTo>
                  <a:lnTo>
                    <a:pt x="0" y="762000"/>
                  </a:lnTo>
                  <a:close/>
                </a:path>
              </a:pathLst>
            </a:custGeom>
            <a:blipFill>
              <a:blip r:embed="rId3">
                <a:alphaModFix amt="0"/>
              </a:blip>
              <a:stretch>
                <a:fillRect l="0" t="-79900" r="0" b="-79900"/>
              </a:stretch>
            </a:blipFill>
          </p:spPr>
        </p:sp>
        <p:sp>
          <p:nvSpPr>
            <p:cNvPr name="TextBox 9" id="9"/>
            <p:cNvSpPr txBox="true"/>
            <p:nvPr/>
          </p:nvSpPr>
          <p:spPr>
            <a:xfrm>
              <a:off x="0" y="-28575"/>
              <a:ext cx="5080000" cy="790575"/>
            </a:xfrm>
            <a:prstGeom prst="rect">
              <a:avLst/>
            </a:prstGeom>
          </p:spPr>
          <p:txBody>
            <a:bodyPr anchor="ctr" rtlCol="false" tIns="0" lIns="0" bIns="0" rIns="0"/>
            <a:lstStyle/>
            <a:p>
              <a:pPr algn="l">
                <a:lnSpc>
                  <a:spcPts val="4320"/>
                </a:lnSpc>
              </a:pPr>
              <a:r>
                <a:rPr lang="en-US" sz="3600" b="true">
                  <a:solidFill>
                    <a:srgbClr val="101010"/>
                  </a:solidFill>
                  <a:latin typeface="Arimo Bold"/>
                  <a:ea typeface="Arimo Bold"/>
                  <a:cs typeface="Arimo Bold"/>
                  <a:sym typeface="Arimo Bold"/>
                </a:rPr>
                <a:t>Pick</a:t>
              </a:r>
            </a:p>
          </p:txBody>
        </p:sp>
      </p:grpSp>
      <p:grpSp>
        <p:nvGrpSpPr>
          <p:cNvPr name="Group 10" id="10"/>
          <p:cNvGrpSpPr/>
          <p:nvPr/>
        </p:nvGrpSpPr>
        <p:grpSpPr>
          <a:xfrm rot="0">
            <a:off x="1244603" y="4064003"/>
            <a:ext cx="4445003" cy="393700"/>
            <a:chOff x="0" y="0"/>
            <a:chExt cx="5926671" cy="524934"/>
          </a:xfrm>
        </p:grpSpPr>
        <p:sp>
          <p:nvSpPr>
            <p:cNvPr name="Freeform 11" id="11"/>
            <p:cNvSpPr/>
            <p:nvPr/>
          </p:nvSpPr>
          <p:spPr>
            <a:xfrm flipH="false" flipV="false" rot="0">
              <a:off x="0" y="0"/>
              <a:ext cx="5926666" cy="524939"/>
            </a:xfrm>
            <a:custGeom>
              <a:avLst/>
              <a:gdLst/>
              <a:ahLst/>
              <a:cxnLst/>
              <a:rect r="r" b="b" t="t" l="l"/>
              <a:pathLst>
                <a:path h="524939" w="5926666">
                  <a:moveTo>
                    <a:pt x="0" y="0"/>
                  </a:moveTo>
                  <a:lnTo>
                    <a:pt x="5926666" y="0"/>
                  </a:lnTo>
                  <a:lnTo>
                    <a:pt x="5926666" y="524939"/>
                  </a:lnTo>
                  <a:lnTo>
                    <a:pt x="0" y="524939"/>
                  </a:lnTo>
                  <a:close/>
                </a:path>
              </a:pathLst>
            </a:custGeom>
            <a:blipFill>
              <a:blip r:embed="rId3">
                <a:alphaModFix amt="0"/>
              </a:blip>
              <a:stretch>
                <a:fillRect l="0" t="-169991" r="0" b="-169989"/>
              </a:stretch>
            </a:blipFill>
          </p:spPr>
        </p:sp>
        <p:sp>
          <p:nvSpPr>
            <p:cNvPr name="TextBox 12" id="12"/>
            <p:cNvSpPr txBox="true"/>
            <p:nvPr/>
          </p:nvSpPr>
          <p:spPr>
            <a:xfrm>
              <a:off x="0" y="-19050"/>
              <a:ext cx="5926671" cy="543984"/>
            </a:xfrm>
            <a:prstGeom prst="rect">
              <a:avLst/>
            </a:prstGeom>
          </p:spPr>
          <p:txBody>
            <a:bodyPr anchor="ctr" rtlCol="false" tIns="0" lIns="0" bIns="0" rIns="0"/>
            <a:lstStyle/>
            <a:p>
              <a:pPr algn="l">
                <a:lnSpc>
                  <a:spcPts val="1907"/>
                </a:lnSpc>
              </a:pPr>
              <a:r>
                <a:rPr lang="en-US" sz="1589" b="true">
                  <a:solidFill>
                    <a:srgbClr val="777772"/>
                  </a:solidFill>
                  <a:latin typeface="Arimo Bold"/>
                  <a:ea typeface="Arimo Bold"/>
                  <a:cs typeface="Arimo Bold"/>
                  <a:sym typeface="Arimo Bold"/>
                </a:rPr>
                <a:t>물체 ID / 물체별 다른 접근 높이</a:t>
              </a:r>
            </a:p>
          </p:txBody>
        </p:sp>
      </p:grpSp>
      <p:sp>
        <p:nvSpPr>
          <p:cNvPr name="AutoShape 13" id="13"/>
          <p:cNvSpPr/>
          <p:nvPr/>
        </p:nvSpPr>
        <p:spPr>
          <a:xfrm>
            <a:off x="1233174" y="4560564"/>
            <a:ext cx="4518659" cy="22871"/>
          </a:xfrm>
          <a:prstGeom prst="line">
            <a:avLst/>
          </a:prstGeom>
          <a:ln cap="rnd" w="9525">
            <a:solidFill>
              <a:srgbClr val="E1E0DC"/>
            </a:solidFill>
            <a:prstDash val="solid"/>
            <a:headEnd type="none" len="sm" w="sm"/>
            <a:tailEnd type="none" len="sm" w="sm"/>
          </a:ln>
        </p:spPr>
      </p:sp>
      <p:grpSp>
        <p:nvGrpSpPr>
          <p:cNvPr name="Group 14" id="14"/>
          <p:cNvGrpSpPr/>
          <p:nvPr/>
        </p:nvGrpSpPr>
        <p:grpSpPr>
          <a:xfrm rot="0">
            <a:off x="6519548" y="2471287"/>
            <a:ext cx="5248913" cy="3036068"/>
            <a:chOff x="0" y="0"/>
            <a:chExt cx="6998551" cy="4048091"/>
          </a:xfrm>
        </p:grpSpPr>
        <p:sp>
          <p:nvSpPr>
            <p:cNvPr name="Freeform 15" id="15"/>
            <p:cNvSpPr/>
            <p:nvPr/>
          </p:nvSpPr>
          <p:spPr>
            <a:xfrm flipH="false" flipV="false" rot="0">
              <a:off x="0" y="0"/>
              <a:ext cx="6998589" cy="4048091"/>
            </a:xfrm>
            <a:custGeom>
              <a:avLst/>
              <a:gdLst/>
              <a:ahLst/>
              <a:cxnLst/>
              <a:rect r="r" b="b" t="t" l="l"/>
              <a:pathLst>
                <a:path h="4048091" w="6998589">
                  <a:moveTo>
                    <a:pt x="0" y="166535"/>
                  </a:moveTo>
                  <a:cubicBezTo>
                    <a:pt x="0" y="74585"/>
                    <a:pt x="66548" y="0"/>
                    <a:pt x="148590" y="0"/>
                  </a:cubicBezTo>
                  <a:lnTo>
                    <a:pt x="6849999" y="0"/>
                  </a:lnTo>
                  <a:cubicBezTo>
                    <a:pt x="6932041" y="0"/>
                    <a:pt x="6998589" y="74585"/>
                    <a:pt x="6998589" y="166535"/>
                  </a:cubicBezTo>
                  <a:lnTo>
                    <a:pt x="6998589" y="3881556"/>
                  </a:lnTo>
                  <a:cubicBezTo>
                    <a:pt x="6998589" y="3973506"/>
                    <a:pt x="6932041" y="4048091"/>
                    <a:pt x="6849999" y="4048091"/>
                  </a:cubicBezTo>
                  <a:lnTo>
                    <a:pt x="148590" y="4048091"/>
                  </a:lnTo>
                  <a:cubicBezTo>
                    <a:pt x="66548" y="4048091"/>
                    <a:pt x="0" y="3973506"/>
                    <a:pt x="0" y="3881556"/>
                  </a:cubicBezTo>
                  <a:close/>
                </a:path>
              </a:pathLst>
            </a:custGeom>
            <a:solidFill>
              <a:srgbClr val="FFFFFF"/>
            </a:solidFill>
            <a:ln w="19050" cap="sq">
              <a:solidFill>
                <a:srgbClr val="101010"/>
              </a:solidFill>
              <a:prstDash val="solid"/>
              <a:miter/>
            </a:ln>
          </p:spPr>
        </p:sp>
      </p:grpSp>
      <p:grpSp>
        <p:nvGrpSpPr>
          <p:cNvPr name="Group 16" id="16"/>
          <p:cNvGrpSpPr/>
          <p:nvPr/>
        </p:nvGrpSpPr>
        <p:grpSpPr>
          <a:xfrm rot="0">
            <a:off x="6896100" y="2711444"/>
            <a:ext cx="3174997" cy="355597"/>
            <a:chOff x="0" y="0"/>
            <a:chExt cx="4233329" cy="474129"/>
          </a:xfrm>
        </p:grpSpPr>
        <p:sp>
          <p:nvSpPr>
            <p:cNvPr name="Freeform 17" id="17"/>
            <p:cNvSpPr/>
            <p:nvPr/>
          </p:nvSpPr>
          <p:spPr>
            <a:xfrm flipH="false" flipV="false" rot="0">
              <a:off x="0" y="0"/>
              <a:ext cx="4233334" cy="474134"/>
            </a:xfrm>
            <a:custGeom>
              <a:avLst/>
              <a:gdLst/>
              <a:ahLst/>
              <a:cxnLst/>
              <a:rect r="r" b="b" t="t" l="l"/>
              <a:pathLst>
                <a:path h="474134" w="4233334">
                  <a:moveTo>
                    <a:pt x="0" y="0"/>
                  </a:moveTo>
                  <a:lnTo>
                    <a:pt x="4233334" y="0"/>
                  </a:lnTo>
                  <a:lnTo>
                    <a:pt x="4233334" y="474134"/>
                  </a:lnTo>
                  <a:lnTo>
                    <a:pt x="0" y="474134"/>
                  </a:lnTo>
                  <a:close/>
                </a:path>
              </a:pathLst>
            </a:custGeom>
            <a:blipFill>
              <a:blip r:embed="rId3">
                <a:alphaModFix amt="0"/>
              </a:blip>
              <a:stretch>
                <a:fillRect l="0" t="-123973" r="0" b="-123972"/>
              </a:stretch>
            </a:blipFill>
          </p:spPr>
        </p:sp>
        <p:sp>
          <p:nvSpPr>
            <p:cNvPr name="TextBox 18" id="18"/>
            <p:cNvSpPr txBox="true"/>
            <p:nvPr/>
          </p:nvSpPr>
          <p:spPr>
            <a:xfrm>
              <a:off x="0" y="-19050"/>
              <a:ext cx="4233329" cy="493179"/>
            </a:xfrm>
            <a:prstGeom prst="rect">
              <a:avLst/>
            </a:prstGeom>
          </p:spPr>
          <p:txBody>
            <a:bodyPr anchor="ctr" rtlCol="false" tIns="0" lIns="0" bIns="0" rIns="0"/>
            <a:lstStyle/>
            <a:p>
              <a:pPr algn="l">
                <a:lnSpc>
                  <a:spcPts val="2070"/>
                </a:lnSpc>
              </a:pPr>
              <a:r>
                <a:rPr lang="en-US" sz="1725" b="true">
                  <a:solidFill>
                    <a:srgbClr val="1B2CC1"/>
                  </a:solidFill>
                  <a:latin typeface="Arimo Bold"/>
                  <a:ea typeface="Arimo Bold"/>
                  <a:cs typeface="Arimo Bold"/>
                  <a:sym typeface="Arimo Bold"/>
                </a:rPr>
                <a:t>Place.action</a:t>
              </a:r>
            </a:p>
          </p:txBody>
        </p:sp>
      </p:grpSp>
      <p:grpSp>
        <p:nvGrpSpPr>
          <p:cNvPr name="Group 19" id="19"/>
          <p:cNvGrpSpPr/>
          <p:nvPr/>
        </p:nvGrpSpPr>
        <p:grpSpPr>
          <a:xfrm rot="0">
            <a:off x="6896100" y="3117847"/>
            <a:ext cx="3810000" cy="571500"/>
            <a:chOff x="0" y="0"/>
            <a:chExt cx="5080000" cy="762000"/>
          </a:xfrm>
        </p:grpSpPr>
        <p:sp>
          <p:nvSpPr>
            <p:cNvPr name="Freeform 20" id="20"/>
            <p:cNvSpPr/>
            <p:nvPr/>
          </p:nvSpPr>
          <p:spPr>
            <a:xfrm flipH="false" flipV="false" rot="0">
              <a:off x="0" y="0"/>
              <a:ext cx="5080000" cy="762000"/>
            </a:xfrm>
            <a:custGeom>
              <a:avLst/>
              <a:gdLst/>
              <a:ahLst/>
              <a:cxnLst/>
              <a:rect r="r" b="b" t="t" l="l"/>
              <a:pathLst>
                <a:path h="762000" w="5080000">
                  <a:moveTo>
                    <a:pt x="0" y="0"/>
                  </a:moveTo>
                  <a:lnTo>
                    <a:pt x="5080000" y="0"/>
                  </a:lnTo>
                  <a:lnTo>
                    <a:pt x="5080000" y="762000"/>
                  </a:lnTo>
                  <a:lnTo>
                    <a:pt x="0" y="762000"/>
                  </a:lnTo>
                  <a:close/>
                </a:path>
              </a:pathLst>
            </a:custGeom>
            <a:blipFill>
              <a:blip r:embed="rId3">
                <a:alphaModFix amt="0"/>
              </a:blip>
              <a:stretch>
                <a:fillRect l="0" t="-79900" r="0" b="-79900"/>
              </a:stretch>
            </a:blipFill>
          </p:spPr>
        </p:sp>
        <p:sp>
          <p:nvSpPr>
            <p:cNvPr name="TextBox 21" id="21"/>
            <p:cNvSpPr txBox="true"/>
            <p:nvPr/>
          </p:nvSpPr>
          <p:spPr>
            <a:xfrm>
              <a:off x="0" y="-28575"/>
              <a:ext cx="5080000" cy="790575"/>
            </a:xfrm>
            <a:prstGeom prst="rect">
              <a:avLst/>
            </a:prstGeom>
          </p:spPr>
          <p:txBody>
            <a:bodyPr anchor="ctr" rtlCol="false" tIns="0" lIns="0" bIns="0" rIns="0"/>
            <a:lstStyle/>
            <a:p>
              <a:pPr algn="l">
                <a:lnSpc>
                  <a:spcPts val="4320"/>
                </a:lnSpc>
              </a:pPr>
              <a:r>
                <a:rPr lang="en-US" sz="3600" b="true">
                  <a:solidFill>
                    <a:srgbClr val="101010"/>
                  </a:solidFill>
                  <a:latin typeface="Arimo Bold"/>
                  <a:ea typeface="Arimo Bold"/>
                  <a:cs typeface="Arimo Bold"/>
                  <a:sym typeface="Arimo Bold"/>
                </a:rPr>
                <a:t>Place</a:t>
              </a:r>
            </a:p>
          </p:txBody>
        </p:sp>
      </p:grpSp>
      <p:grpSp>
        <p:nvGrpSpPr>
          <p:cNvPr name="Group 22" id="22"/>
          <p:cNvGrpSpPr/>
          <p:nvPr/>
        </p:nvGrpSpPr>
        <p:grpSpPr>
          <a:xfrm rot="0">
            <a:off x="6896100" y="4064003"/>
            <a:ext cx="4445003" cy="393700"/>
            <a:chOff x="0" y="0"/>
            <a:chExt cx="5926671" cy="524934"/>
          </a:xfrm>
        </p:grpSpPr>
        <p:sp>
          <p:nvSpPr>
            <p:cNvPr name="Freeform 23" id="23"/>
            <p:cNvSpPr/>
            <p:nvPr/>
          </p:nvSpPr>
          <p:spPr>
            <a:xfrm flipH="false" flipV="false" rot="0">
              <a:off x="0" y="0"/>
              <a:ext cx="5926666" cy="524939"/>
            </a:xfrm>
            <a:custGeom>
              <a:avLst/>
              <a:gdLst/>
              <a:ahLst/>
              <a:cxnLst/>
              <a:rect r="r" b="b" t="t" l="l"/>
              <a:pathLst>
                <a:path h="524939" w="5926666">
                  <a:moveTo>
                    <a:pt x="0" y="0"/>
                  </a:moveTo>
                  <a:lnTo>
                    <a:pt x="5926666" y="0"/>
                  </a:lnTo>
                  <a:lnTo>
                    <a:pt x="5926666" y="524939"/>
                  </a:lnTo>
                  <a:lnTo>
                    <a:pt x="0" y="524939"/>
                  </a:lnTo>
                  <a:close/>
                </a:path>
              </a:pathLst>
            </a:custGeom>
            <a:blipFill>
              <a:blip r:embed="rId3">
                <a:alphaModFix amt="0"/>
              </a:blip>
              <a:stretch>
                <a:fillRect l="0" t="-169991" r="0" b="-169989"/>
              </a:stretch>
            </a:blipFill>
          </p:spPr>
        </p:sp>
        <p:sp>
          <p:nvSpPr>
            <p:cNvPr name="TextBox 24" id="24"/>
            <p:cNvSpPr txBox="true"/>
            <p:nvPr/>
          </p:nvSpPr>
          <p:spPr>
            <a:xfrm>
              <a:off x="0" y="-19050"/>
              <a:ext cx="5926671" cy="543984"/>
            </a:xfrm>
            <a:prstGeom prst="rect">
              <a:avLst/>
            </a:prstGeom>
          </p:spPr>
          <p:txBody>
            <a:bodyPr anchor="ctr" rtlCol="false" tIns="0" lIns="0" bIns="0" rIns="0"/>
            <a:lstStyle/>
            <a:p>
              <a:pPr algn="l">
                <a:lnSpc>
                  <a:spcPts val="1907"/>
                </a:lnSpc>
              </a:pPr>
              <a:r>
                <a:rPr lang="en-US" sz="1589" b="true">
                  <a:solidFill>
                    <a:srgbClr val="777772"/>
                  </a:solidFill>
                  <a:latin typeface="Arimo Bold"/>
                  <a:ea typeface="Arimo Bold"/>
                  <a:cs typeface="Arimo Bold"/>
                  <a:sym typeface="Arimo Bold"/>
                </a:rPr>
                <a:t>집은 물체</a:t>
              </a:r>
              <a:r>
                <a:rPr lang="en-US" sz="1589" b="true">
                  <a:solidFill>
                    <a:srgbClr val="777772"/>
                  </a:solidFill>
                  <a:latin typeface="Arimo Bold"/>
                  <a:ea typeface="Arimo Bold"/>
                  <a:cs typeface="Arimo Bold"/>
                  <a:sym typeface="Arimo Bold"/>
                </a:rPr>
                <a:t> / 목적 구역</a:t>
              </a:r>
            </a:p>
          </p:txBody>
        </p:sp>
      </p:grpSp>
      <p:sp>
        <p:nvSpPr>
          <p:cNvPr name="AutoShape 25" id="25"/>
          <p:cNvSpPr/>
          <p:nvPr/>
        </p:nvSpPr>
        <p:spPr>
          <a:xfrm rot="17400">
            <a:off x="6884641" y="4567238"/>
            <a:ext cx="4518717" cy="0"/>
          </a:xfrm>
          <a:prstGeom prst="line">
            <a:avLst/>
          </a:prstGeom>
          <a:ln cap="rnd" w="9525">
            <a:solidFill>
              <a:srgbClr val="E1E0DC"/>
            </a:solidFill>
            <a:prstDash val="solid"/>
            <a:headEnd type="none" len="sm" w="sm"/>
            <a:tailEnd type="none" len="sm" w="sm"/>
          </a:ln>
        </p:spPr>
      </p:sp>
      <p:grpSp>
        <p:nvGrpSpPr>
          <p:cNvPr name="Group 26" id="26"/>
          <p:cNvGrpSpPr/>
          <p:nvPr/>
        </p:nvGrpSpPr>
        <p:grpSpPr>
          <a:xfrm rot="0">
            <a:off x="12171045" y="2471287"/>
            <a:ext cx="5248913" cy="3036068"/>
            <a:chOff x="0" y="0"/>
            <a:chExt cx="6998551" cy="4048091"/>
          </a:xfrm>
        </p:grpSpPr>
        <p:sp>
          <p:nvSpPr>
            <p:cNvPr name="Freeform 27" id="27"/>
            <p:cNvSpPr/>
            <p:nvPr/>
          </p:nvSpPr>
          <p:spPr>
            <a:xfrm flipH="false" flipV="false" rot="0">
              <a:off x="0" y="0"/>
              <a:ext cx="6998589" cy="4048091"/>
            </a:xfrm>
            <a:custGeom>
              <a:avLst/>
              <a:gdLst/>
              <a:ahLst/>
              <a:cxnLst/>
              <a:rect r="r" b="b" t="t" l="l"/>
              <a:pathLst>
                <a:path h="4048091" w="6998589">
                  <a:moveTo>
                    <a:pt x="0" y="166535"/>
                  </a:moveTo>
                  <a:cubicBezTo>
                    <a:pt x="0" y="74585"/>
                    <a:pt x="66548" y="0"/>
                    <a:pt x="148590" y="0"/>
                  </a:cubicBezTo>
                  <a:lnTo>
                    <a:pt x="6849999" y="0"/>
                  </a:lnTo>
                  <a:cubicBezTo>
                    <a:pt x="6932041" y="0"/>
                    <a:pt x="6998589" y="74585"/>
                    <a:pt x="6998589" y="166535"/>
                  </a:cubicBezTo>
                  <a:lnTo>
                    <a:pt x="6998589" y="3881556"/>
                  </a:lnTo>
                  <a:cubicBezTo>
                    <a:pt x="6998589" y="3973506"/>
                    <a:pt x="6932041" y="4048091"/>
                    <a:pt x="6849999" y="4048091"/>
                  </a:cubicBezTo>
                  <a:lnTo>
                    <a:pt x="148590" y="4048091"/>
                  </a:lnTo>
                  <a:cubicBezTo>
                    <a:pt x="66548" y="4048091"/>
                    <a:pt x="0" y="3973506"/>
                    <a:pt x="0" y="3881556"/>
                  </a:cubicBezTo>
                  <a:close/>
                </a:path>
              </a:pathLst>
            </a:custGeom>
            <a:solidFill>
              <a:srgbClr val="FFFFFF"/>
            </a:solidFill>
            <a:ln w="19050" cap="sq">
              <a:solidFill>
                <a:srgbClr val="101010"/>
              </a:solidFill>
              <a:prstDash val="solid"/>
              <a:miter/>
            </a:ln>
          </p:spPr>
        </p:sp>
      </p:grpSp>
      <p:grpSp>
        <p:nvGrpSpPr>
          <p:cNvPr name="Group 28" id="28"/>
          <p:cNvGrpSpPr/>
          <p:nvPr/>
        </p:nvGrpSpPr>
        <p:grpSpPr>
          <a:xfrm rot="0">
            <a:off x="12536167" y="2711444"/>
            <a:ext cx="3174997" cy="355597"/>
            <a:chOff x="0" y="0"/>
            <a:chExt cx="4233329" cy="474129"/>
          </a:xfrm>
        </p:grpSpPr>
        <p:sp>
          <p:nvSpPr>
            <p:cNvPr name="Freeform 29" id="29"/>
            <p:cNvSpPr/>
            <p:nvPr/>
          </p:nvSpPr>
          <p:spPr>
            <a:xfrm flipH="false" flipV="false" rot="0">
              <a:off x="0" y="0"/>
              <a:ext cx="4233334" cy="474134"/>
            </a:xfrm>
            <a:custGeom>
              <a:avLst/>
              <a:gdLst/>
              <a:ahLst/>
              <a:cxnLst/>
              <a:rect r="r" b="b" t="t" l="l"/>
              <a:pathLst>
                <a:path h="474134" w="4233334">
                  <a:moveTo>
                    <a:pt x="0" y="0"/>
                  </a:moveTo>
                  <a:lnTo>
                    <a:pt x="4233334" y="0"/>
                  </a:lnTo>
                  <a:lnTo>
                    <a:pt x="4233334" y="474134"/>
                  </a:lnTo>
                  <a:lnTo>
                    <a:pt x="0" y="474134"/>
                  </a:lnTo>
                  <a:close/>
                </a:path>
              </a:pathLst>
            </a:custGeom>
            <a:blipFill>
              <a:blip r:embed="rId3">
                <a:alphaModFix amt="0"/>
              </a:blip>
              <a:stretch>
                <a:fillRect l="0" t="-123973" r="0" b="-123972"/>
              </a:stretch>
            </a:blipFill>
          </p:spPr>
        </p:sp>
        <p:sp>
          <p:nvSpPr>
            <p:cNvPr name="TextBox 30" id="30"/>
            <p:cNvSpPr txBox="true"/>
            <p:nvPr/>
          </p:nvSpPr>
          <p:spPr>
            <a:xfrm>
              <a:off x="0" y="-19050"/>
              <a:ext cx="4233329" cy="493179"/>
            </a:xfrm>
            <a:prstGeom prst="rect">
              <a:avLst/>
            </a:prstGeom>
          </p:spPr>
          <p:txBody>
            <a:bodyPr anchor="ctr" rtlCol="false" tIns="0" lIns="0" bIns="0" rIns="0"/>
            <a:lstStyle/>
            <a:p>
              <a:pPr algn="l">
                <a:lnSpc>
                  <a:spcPts val="2070"/>
                </a:lnSpc>
              </a:pPr>
              <a:r>
                <a:rPr lang="en-US" sz="1725" b="true">
                  <a:solidFill>
                    <a:srgbClr val="1B2CC1"/>
                  </a:solidFill>
                  <a:latin typeface="Arimo Bold"/>
                  <a:ea typeface="Arimo Bold"/>
                  <a:cs typeface="Arimo Bold"/>
                  <a:sym typeface="Arimo Bold"/>
                </a:rPr>
                <a:t>MoveTo.action</a:t>
              </a:r>
            </a:p>
          </p:txBody>
        </p:sp>
      </p:grpSp>
      <p:grpSp>
        <p:nvGrpSpPr>
          <p:cNvPr name="Group 31" id="31"/>
          <p:cNvGrpSpPr/>
          <p:nvPr/>
        </p:nvGrpSpPr>
        <p:grpSpPr>
          <a:xfrm rot="0">
            <a:off x="12536167" y="3117847"/>
            <a:ext cx="3810000" cy="571500"/>
            <a:chOff x="0" y="0"/>
            <a:chExt cx="5080000" cy="762000"/>
          </a:xfrm>
        </p:grpSpPr>
        <p:sp>
          <p:nvSpPr>
            <p:cNvPr name="Freeform 32" id="32"/>
            <p:cNvSpPr/>
            <p:nvPr/>
          </p:nvSpPr>
          <p:spPr>
            <a:xfrm flipH="false" flipV="false" rot="0">
              <a:off x="0" y="0"/>
              <a:ext cx="5080000" cy="762000"/>
            </a:xfrm>
            <a:custGeom>
              <a:avLst/>
              <a:gdLst/>
              <a:ahLst/>
              <a:cxnLst/>
              <a:rect r="r" b="b" t="t" l="l"/>
              <a:pathLst>
                <a:path h="762000" w="5080000">
                  <a:moveTo>
                    <a:pt x="0" y="0"/>
                  </a:moveTo>
                  <a:lnTo>
                    <a:pt x="5080000" y="0"/>
                  </a:lnTo>
                  <a:lnTo>
                    <a:pt x="5080000" y="762000"/>
                  </a:lnTo>
                  <a:lnTo>
                    <a:pt x="0" y="762000"/>
                  </a:lnTo>
                  <a:close/>
                </a:path>
              </a:pathLst>
            </a:custGeom>
            <a:blipFill>
              <a:blip r:embed="rId3">
                <a:alphaModFix amt="0"/>
              </a:blip>
              <a:stretch>
                <a:fillRect l="0" t="-79900" r="0" b="-79900"/>
              </a:stretch>
            </a:blipFill>
          </p:spPr>
        </p:sp>
        <p:sp>
          <p:nvSpPr>
            <p:cNvPr name="TextBox 33" id="33"/>
            <p:cNvSpPr txBox="true"/>
            <p:nvPr/>
          </p:nvSpPr>
          <p:spPr>
            <a:xfrm>
              <a:off x="0" y="-28575"/>
              <a:ext cx="5080000" cy="790575"/>
            </a:xfrm>
            <a:prstGeom prst="rect">
              <a:avLst/>
            </a:prstGeom>
          </p:spPr>
          <p:txBody>
            <a:bodyPr anchor="ctr" rtlCol="false" tIns="0" lIns="0" bIns="0" rIns="0"/>
            <a:lstStyle/>
            <a:p>
              <a:pPr algn="l">
                <a:lnSpc>
                  <a:spcPts val="4320"/>
                </a:lnSpc>
              </a:pPr>
              <a:r>
                <a:rPr lang="en-US" sz="3600" b="true">
                  <a:solidFill>
                    <a:srgbClr val="101010"/>
                  </a:solidFill>
                  <a:latin typeface="Arimo Bold"/>
                  <a:ea typeface="Arimo Bold"/>
                  <a:cs typeface="Arimo Bold"/>
                  <a:sym typeface="Arimo Bold"/>
                </a:rPr>
                <a:t>MoveTo</a:t>
              </a:r>
            </a:p>
          </p:txBody>
        </p:sp>
      </p:grpSp>
      <p:grpSp>
        <p:nvGrpSpPr>
          <p:cNvPr name="Group 34" id="34"/>
          <p:cNvGrpSpPr/>
          <p:nvPr/>
        </p:nvGrpSpPr>
        <p:grpSpPr>
          <a:xfrm rot="0">
            <a:off x="12547597" y="4064003"/>
            <a:ext cx="4445003" cy="393700"/>
            <a:chOff x="0" y="0"/>
            <a:chExt cx="5926671" cy="524934"/>
          </a:xfrm>
        </p:grpSpPr>
        <p:sp>
          <p:nvSpPr>
            <p:cNvPr name="Freeform 35" id="35"/>
            <p:cNvSpPr/>
            <p:nvPr/>
          </p:nvSpPr>
          <p:spPr>
            <a:xfrm flipH="false" flipV="false" rot="0">
              <a:off x="0" y="0"/>
              <a:ext cx="5926666" cy="524939"/>
            </a:xfrm>
            <a:custGeom>
              <a:avLst/>
              <a:gdLst/>
              <a:ahLst/>
              <a:cxnLst/>
              <a:rect r="r" b="b" t="t" l="l"/>
              <a:pathLst>
                <a:path h="524939" w="5926666">
                  <a:moveTo>
                    <a:pt x="0" y="0"/>
                  </a:moveTo>
                  <a:lnTo>
                    <a:pt x="5926666" y="0"/>
                  </a:lnTo>
                  <a:lnTo>
                    <a:pt x="5926666" y="524939"/>
                  </a:lnTo>
                  <a:lnTo>
                    <a:pt x="0" y="524939"/>
                  </a:lnTo>
                  <a:close/>
                </a:path>
              </a:pathLst>
            </a:custGeom>
            <a:blipFill>
              <a:blip r:embed="rId3">
                <a:alphaModFix amt="0"/>
              </a:blip>
              <a:stretch>
                <a:fillRect l="0" t="-169991" r="0" b="-169989"/>
              </a:stretch>
            </a:blipFill>
          </p:spPr>
        </p:sp>
        <p:sp>
          <p:nvSpPr>
            <p:cNvPr name="TextBox 36" id="36"/>
            <p:cNvSpPr txBox="true"/>
            <p:nvPr/>
          </p:nvSpPr>
          <p:spPr>
            <a:xfrm>
              <a:off x="0" y="-19050"/>
              <a:ext cx="5926671" cy="543984"/>
            </a:xfrm>
            <a:prstGeom prst="rect">
              <a:avLst/>
            </a:prstGeom>
          </p:spPr>
          <p:txBody>
            <a:bodyPr anchor="ctr" rtlCol="false" tIns="0" lIns="0" bIns="0" rIns="0"/>
            <a:lstStyle/>
            <a:p>
              <a:pPr algn="l">
                <a:lnSpc>
                  <a:spcPts val="1907"/>
                </a:lnSpc>
              </a:pPr>
              <a:r>
                <a:rPr lang="en-US" sz="1589" b="true">
                  <a:solidFill>
                    <a:srgbClr val="777772"/>
                  </a:solidFill>
                  <a:latin typeface="Arimo Bold"/>
                  <a:ea typeface="Arimo Bold"/>
                  <a:cs typeface="Arimo Bold"/>
                  <a:sym typeface="Arimo Bold"/>
                </a:rPr>
                <a:t>사전 정의된 </a:t>
              </a:r>
              <a:r>
                <a:rPr lang="en-US" sz="1589" b="true">
                  <a:solidFill>
                    <a:srgbClr val="777772"/>
                  </a:solidFill>
                  <a:latin typeface="Arimo Bold"/>
                  <a:ea typeface="Arimo Bold"/>
                  <a:cs typeface="Arimo Bold"/>
                  <a:sym typeface="Arimo Bold"/>
                </a:rPr>
                <a:t>자세</a:t>
              </a:r>
            </a:p>
          </p:txBody>
        </p:sp>
      </p:grpSp>
      <p:sp>
        <p:nvSpPr>
          <p:cNvPr name="AutoShape 37" id="37"/>
          <p:cNvSpPr/>
          <p:nvPr/>
        </p:nvSpPr>
        <p:spPr>
          <a:xfrm rot="17400">
            <a:off x="12536138" y="4567238"/>
            <a:ext cx="4518717" cy="0"/>
          </a:xfrm>
          <a:prstGeom prst="line">
            <a:avLst/>
          </a:prstGeom>
          <a:ln cap="rnd" w="9525">
            <a:solidFill>
              <a:srgbClr val="E1E0DC"/>
            </a:solidFill>
            <a:prstDash val="solid"/>
            <a:headEnd type="none" len="sm" w="sm"/>
            <a:tailEnd type="none" len="sm" w="sm"/>
          </a:ln>
        </p:spPr>
      </p:sp>
      <p:grpSp>
        <p:nvGrpSpPr>
          <p:cNvPr name="Group 38" id="38"/>
          <p:cNvGrpSpPr/>
          <p:nvPr/>
        </p:nvGrpSpPr>
        <p:grpSpPr>
          <a:xfrm rot="0">
            <a:off x="12547597" y="4724400"/>
            <a:ext cx="1006700" cy="495300"/>
            <a:chOff x="0" y="0"/>
            <a:chExt cx="1342267" cy="660400"/>
          </a:xfrm>
        </p:grpSpPr>
        <p:sp>
          <p:nvSpPr>
            <p:cNvPr name="Freeform 39" id="39"/>
            <p:cNvSpPr/>
            <p:nvPr/>
          </p:nvSpPr>
          <p:spPr>
            <a:xfrm flipH="false" flipV="false" rot="0">
              <a:off x="0" y="0"/>
              <a:ext cx="1342267" cy="660400"/>
            </a:xfrm>
            <a:custGeom>
              <a:avLst/>
              <a:gdLst/>
              <a:ahLst/>
              <a:cxnLst/>
              <a:rect r="r" b="b" t="t" l="l"/>
              <a:pathLst>
                <a:path h="660400" w="1342267">
                  <a:moveTo>
                    <a:pt x="0" y="0"/>
                  </a:moveTo>
                  <a:lnTo>
                    <a:pt x="1342267" y="0"/>
                  </a:lnTo>
                  <a:lnTo>
                    <a:pt x="1342267" y="660400"/>
                  </a:lnTo>
                  <a:lnTo>
                    <a:pt x="0" y="660400"/>
                  </a:lnTo>
                  <a:close/>
                </a:path>
              </a:pathLst>
            </a:custGeom>
            <a:blipFill>
              <a:blip r:embed="rId3">
                <a:alphaModFix amt="0"/>
              </a:blip>
              <a:stretch>
                <a:fillRect l="0" t="-126864" r="-346587" b="-126864"/>
              </a:stretch>
            </a:blipFill>
          </p:spPr>
        </p:sp>
        <p:sp>
          <p:nvSpPr>
            <p:cNvPr name="TextBox 40" id="40"/>
            <p:cNvSpPr txBox="true"/>
            <p:nvPr/>
          </p:nvSpPr>
          <p:spPr>
            <a:xfrm>
              <a:off x="0" y="-19050"/>
              <a:ext cx="1342267" cy="679450"/>
            </a:xfrm>
            <a:prstGeom prst="rect">
              <a:avLst/>
            </a:prstGeom>
          </p:spPr>
          <p:txBody>
            <a:bodyPr anchor="ctr" rtlCol="false" tIns="0" lIns="0" bIns="0" rIns="0"/>
            <a:lstStyle/>
            <a:p>
              <a:pPr algn="l">
                <a:lnSpc>
                  <a:spcPts val="2177"/>
                </a:lnSpc>
              </a:pPr>
              <a:r>
                <a:rPr lang="en-US" sz="1814" b="true">
                  <a:solidFill>
                    <a:srgbClr val="101010"/>
                  </a:solidFill>
                  <a:latin typeface="Arimo Bold"/>
                  <a:ea typeface="Arimo Bold"/>
                  <a:cs typeface="Arimo Bold"/>
                  <a:sym typeface="Arimo Bold"/>
                </a:rPr>
                <a:t>현재 자세</a:t>
              </a:r>
            </a:p>
          </p:txBody>
        </p:sp>
      </p:grpSp>
      <p:grpSp>
        <p:nvGrpSpPr>
          <p:cNvPr name="Group 41" id="41"/>
          <p:cNvGrpSpPr/>
          <p:nvPr/>
        </p:nvGrpSpPr>
        <p:grpSpPr>
          <a:xfrm rot="0">
            <a:off x="868042" y="5795648"/>
            <a:ext cx="5248913" cy="2975610"/>
            <a:chOff x="0" y="0"/>
            <a:chExt cx="6998551" cy="3967480"/>
          </a:xfrm>
        </p:grpSpPr>
        <p:sp>
          <p:nvSpPr>
            <p:cNvPr name="Freeform 42" id="42"/>
            <p:cNvSpPr/>
            <p:nvPr/>
          </p:nvSpPr>
          <p:spPr>
            <a:xfrm flipH="false" flipV="false" rot="0">
              <a:off x="0" y="0"/>
              <a:ext cx="6998462" cy="3967480"/>
            </a:xfrm>
            <a:custGeom>
              <a:avLst/>
              <a:gdLst/>
              <a:ahLst/>
              <a:cxnLst/>
              <a:rect r="r" b="b" t="t" l="l"/>
              <a:pathLst>
                <a:path h="3967480" w="6998462">
                  <a:moveTo>
                    <a:pt x="0" y="148336"/>
                  </a:moveTo>
                  <a:cubicBezTo>
                    <a:pt x="0" y="66421"/>
                    <a:pt x="66421" y="0"/>
                    <a:pt x="148336" y="0"/>
                  </a:cubicBezTo>
                  <a:lnTo>
                    <a:pt x="6850126" y="0"/>
                  </a:lnTo>
                  <a:cubicBezTo>
                    <a:pt x="6932041" y="0"/>
                    <a:pt x="6998462" y="66421"/>
                    <a:pt x="6998462" y="148336"/>
                  </a:cubicBezTo>
                  <a:lnTo>
                    <a:pt x="6998462" y="3819144"/>
                  </a:lnTo>
                  <a:cubicBezTo>
                    <a:pt x="6998462" y="3901059"/>
                    <a:pt x="6932041" y="3967480"/>
                    <a:pt x="6850126" y="3967480"/>
                  </a:cubicBezTo>
                  <a:lnTo>
                    <a:pt x="148336" y="3967480"/>
                  </a:lnTo>
                  <a:cubicBezTo>
                    <a:pt x="66421" y="3967480"/>
                    <a:pt x="0" y="3901059"/>
                    <a:pt x="0" y="3819144"/>
                  </a:cubicBezTo>
                  <a:close/>
                </a:path>
              </a:pathLst>
            </a:custGeom>
            <a:solidFill>
              <a:srgbClr val="FFFFFF"/>
            </a:solidFill>
            <a:ln w="38100" cap="sq">
              <a:solidFill>
                <a:srgbClr val="101010"/>
              </a:solidFill>
              <a:prstDash val="solid"/>
              <a:miter/>
            </a:ln>
          </p:spPr>
        </p:sp>
      </p:grpSp>
      <p:pic>
        <p:nvPicPr>
          <p:cNvPr name="Picture 43" id="43" descr="Pick 실물 실행 화면">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495" r="0" b="495"/>
          <a:stretch>
            <a:fillRect/>
          </a:stretch>
        </p:blipFill>
        <p:spPr>
          <a:xfrm flipH="false" flipV="false" rot="0">
            <a:off x="927097" y="5854703"/>
            <a:ext cx="5130803" cy="2857500"/>
          </a:xfrm>
          <a:prstGeom prst="rect">
            <a:avLst/>
          </a:prstGeom>
        </p:spPr>
      </p:pic>
      <p:grpSp>
        <p:nvGrpSpPr>
          <p:cNvPr name="Group 44" id="44"/>
          <p:cNvGrpSpPr/>
          <p:nvPr/>
        </p:nvGrpSpPr>
        <p:grpSpPr>
          <a:xfrm rot="0">
            <a:off x="1108072" y="6035678"/>
            <a:ext cx="1339853" cy="476250"/>
            <a:chOff x="0" y="0"/>
            <a:chExt cx="1786471" cy="635000"/>
          </a:xfrm>
        </p:grpSpPr>
        <p:sp>
          <p:nvSpPr>
            <p:cNvPr name="Freeform 45" id="45"/>
            <p:cNvSpPr/>
            <p:nvPr/>
          </p:nvSpPr>
          <p:spPr>
            <a:xfrm flipH="false" flipV="false" rot="0">
              <a:off x="0" y="0"/>
              <a:ext cx="1786509" cy="635000"/>
            </a:xfrm>
            <a:custGeom>
              <a:avLst/>
              <a:gdLst/>
              <a:ahLst/>
              <a:cxnLst/>
              <a:rect r="r" b="b" t="t" l="l"/>
              <a:pathLst>
                <a:path h="635000" w="1786509">
                  <a:moveTo>
                    <a:pt x="0" y="114300"/>
                  </a:moveTo>
                  <a:cubicBezTo>
                    <a:pt x="0" y="51181"/>
                    <a:pt x="51181" y="0"/>
                    <a:pt x="114300" y="0"/>
                  </a:cubicBezTo>
                  <a:lnTo>
                    <a:pt x="1672209" y="0"/>
                  </a:lnTo>
                  <a:cubicBezTo>
                    <a:pt x="1735328" y="0"/>
                    <a:pt x="1786509" y="51181"/>
                    <a:pt x="1786509" y="114300"/>
                  </a:cubicBezTo>
                  <a:lnTo>
                    <a:pt x="1786509" y="520700"/>
                  </a:lnTo>
                  <a:cubicBezTo>
                    <a:pt x="1786509" y="583819"/>
                    <a:pt x="1735328" y="635000"/>
                    <a:pt x="1672209" y="635000"/>
                  </a:cubicBezTo>
                  <a:lnTo>
                    <a:pt x="114300" y="635000"/>
                  </a:lnTo>
                  <a:cubicBezTo>
                    <a:pt x="51181" y="635000"/>
                    <a:pt x="0" y="583819"/>
                    <a:pt x="0" y="520700"/>
                  </a:cubicBezTo>
                  <a:close/>
                </a:path>
              </a:pathLst>
            </a:custGeom>
            <a:solidFill>
              <a:srgbClr val="101010"/>
            </a:solidFill>
          </p:spPr>
        </p:sp>
      </p:grpSp>
      <p:grpSp>
        <p:nvGrpSpPr>
          <p:cNvPr name="Group 46" id="46"/>
          <p:cNvGrpSpPr/>
          <p:nvPr/>
        </p:nvGrpSpPr>
        <p:grpSpPr>
          <a:xfrm rot="0">
            <a:off x="1117597" y="6070597"/>
            <a:ext cx="1320803" cy="393700"/>
            <a:chOff x="0" y="0"/>
            <a:chExt cx="1761071" cy="524934"/>
          </a:xfrm>
        </p:grpSpPr>
        <p:sp>
          <p:nvSpPr>
            <p:cNvPr name="Freeform 47" id="47"/>
            <p:cNvSpPr/>
            <p:nvPr/>
          </p:nvSpPr>
          <p:spPr>
            <a:xfrm flipH="false" flipV="false" rot="0">
              <a:off x="0" y="0"/>
              <a:ext cx="1761066" cy="524939"/>
            </a:xfrm>
            <a:custGeom>
              <a:avLst/>
              <a:gdLst/>
              <a:ahLst/>
              <a:cxnLst/>
              <a:rect r="r" b="b" t="t" l="l"/>
              <a:pathLst>
                <a:path h="524939" w="1761066">
                  <a:moveTo>
                    <a:pt x="0" y="0"/>
                  </a:moveTo>
                  <a:lnTo>
                    <a:pt x="1761066" y="0"/>
                  </a:lnTo>
                  <a:lnTo>
                    <a:pt x="1761066" y="524939"/>
                  </a:lnTo>
                  <a:lnTo>
                    <a:pt x="0" y="524939"/>
                  </a:lnTo>
                  <a:close/>
                </a:path>
              </a:pathLst>
            </a:custGeom>
            <a:blipFill>
              <a:blip r:embed="rId3">
                <a:alphaModFix amt="0"/>
              </a:blip>
              <a:stretch>
                <a:fillRect l="0" t="-15369" r="0" b="-15367"/>
              </a:stretch>
            </a:blipFill>
          </p:spPr>
        </p:sp>
        <p:sp>
          <p:nvSpPr>
            <p:cNvPr name="TextBox 48" id="48"/>
            <p:cNvSpPr txBox="true"/>
            <p:nvPr/>
          </p:nvSpPr>
          <p:spPr>
            <a:xfrm>
              <a:off x="0" y="-9525"/>
              <a:ext cx="1761071" cy="534459"/>
            </a:xfrm>
            <a:prstGeom prst="rect">
              <a:avLst/>
            </a:prstGeom>
          </p:spPr>
          <p:txBody>
            <a:bodyPr anchor="ctr" rtlCol="false" tIns="0" lIns="0" bIns="0" rIns="0"/>
            <a:lstStyle/>
            <a:p>
              <a:pPr algn="ctr">
                <a:lnSpc>
                  <a:spcPts val="1889"/>
                </a:lnSpc>
              </a:pPr>
              <a:r>
                <a:rPr lang="en-US" b="true" sz="1575" u="sng">
                  <a:solidFill>
                    <a:srgbClr val="FFFFFF"/>
                  </a:solidFill>
                  <a:latin typeface="Arimo Bold"/>
                  <a:ea typeface="Arimo Bold"/>
                  <a:cs typeface="Arimo Bold"/>
                  <a:sym typeface="Arimo Bold"/>
                  <a:hlinkClick r:id="rId7" tooltip="https://kdm111.github.io/assets/videos/p9_pick.mp4"/>
                </a:rPr>
                <a:t>Pick 실행</a:t>
              </a:r>
            </a:p>
          </p:txBody>
        </p:sp>
      </p:grpSp>
      <p:grpSp>
        <p:nvGrpSpPr>
          <p:cNvPr name="Group 49" id="49"/>
          <p:cNvGrpSpPr/>
          <p:nvPr/>
        </p:nvGrpSpPr>
        <p:grpSpPr>
          <a:xfrm rot="0">
            <a:off x="6519548" y="5795648"/>
            <a:ext cx="5248913" cy="2975610"/>
            <a:chOff x="0" y="0"/>
            <a:chExt cx="6998551" cy="3967480"/>
          </a:xfrm>
        </p:grpSpPr>
        <p:sp>
          <p:nvSpPr>
            <p:cNvPr name="Freeform 50" id="50"/>
            <p:cNvSpPr/>
            <p:nvPr/>
          </p:nvSpPr>
          <p:spPr>
            <a:xfrm flipH="false" flipV="false" rot="0">
              <a:off x="0" y="0"/>
              <a:ext cx="6998462" cy="3967480"/>
            </a:xfrm>
            <a:custGeom>
              <a:avLst/>
              <a:gdLst/>
              <a:ahLst/>
              <a:cxnLst/>
              <a:rect r="r" b="b" t="t" l="l"/>
              <a:pathLst>
                <a:path h="3967480" w="6998462">
                  <a:moveTo>
                    <a:pt x="0" y="148336"/>
                  </a:moveTo>
                  <a:cubicBezTo>
                    <a:pt x="0" y="66421"/>
                    <a:pt x="66421" y="0"/>
                    <a:pt x="148336" y="0"/>
                  </a:cubicBezTo>
                  <a:lnTo>
                    <a:pt x="6850126" y="0"/>
                  </a:lnTo>
                  <a:cubicBezTo>
                    <a:pt x="6932041" y="0"/>
                    <a:pt x="6998462" y="66421"/>
                    <a:pt x="6998462" y="148336"/>
                  </a:cubicBezTo>
                  <a:lnTo>
                    <a:pt x="6998462" y="3819144"/>
                  </a:lnTo>
                  <a:cubicBezTo>
                    <a:pt x="6998462" y="3901059"/>
                    <a:pt x="6932041" y="3967480"/>
                    <a:pt x="6850126" y="3967480"/>
                  </a:cubicBezTo>
                  <a:lnTo>
                    <a:pt x="148336" y="3967480"/>
                  </a:lnTo>
                  <a:cubicBezTo>
                    <a:pt x="66421" y="3967480"/>
                    <a:pt x="0" y="3901059"/>
                    <a:pt x="0" y="3819144"/>
                  </a:cubicBezTo>
                  <a:close/>
                </a:path>
              </a:pathLst>
            </a:custGeom>
            <a:solidFill>
              <a:srgbClr val="FFFFFF"/>
            </a:solidFill>
            <a:ln w="38100" cap="sq">
              <a:solidFill>
                <a:srgbClr val="101010"/>
              </a:solidFill>
              <a:prstDash val="solid"/>
              <a:miter/>
            </a:ln>
          </p:spPr>
        </p:sp>
      </p:grpSp>
      <p:pic>
        <p:nvPicPr>
          <p:cNvPr name="Picture 51" id="51" descr="Place 실물 실행 화면">
            <a:hlinkClick action="ppaction://media"/>
          </p:cNvPr>
          <p:cNvPicPr>
            <a:picLocks noChangeAspect="true"/>
          </p:cNvPicPr>
          <p:nvPr>
            <a:videoFile r:link="rId9"/>
            <p:extLst>
              <p:ext uri="{DAA4B4D4-6D71-4841-9C94-3DE7FCFB9230}">
                <p14:media xmlns:p14="http://schemas.microsoft.com/office/powerpoint/2010/main" r:embed="rId10"/>
              </p:ext>
            </p:extLst>
          </p:nvPr>
        </p:nvPicPr>
        <p:blipFill>
          <a:blip r:embed="rId8"/>
          <a:srcRect l="0" t="495" r="0" b="495"/>
          <a:stretch>
            <a:fillRect/>
          </a:stretch>
        </p:blipFill>
        <p:spPr>
          <a:xfrm flipH="false" flipV="false" rot="0">
            <a:off x="6578603" y="5854703"/>
            <a:ext cx="5130803" cy="2857500"/>
          </a:xfrm>
          <a:prstGeom prst="rect">
            <a:avLst/>
          </a:prstGeom>
        </p:spPr>
      </p:pic>
      <p:grpSp>
        <p:nvGrpSpPr>
          <p:cNvPr name="Group 52" id="52"/>
          <p:cNvGrpSpPr/>
          <p:nvPr/>
        </p:nvGrpSpPr>
        <p:grpSpPr>
          <a:xfrm rot="0">
            <a:off x="6759578" y="6035678"/>
            <a:ext cx="1441447" cy="476250"/>
            <a:chOff x="0" y="0"/>
            <a:chExt cx="1921929" cy="635000"/>
          </a:xfrm>
        </p:grpSpPr>
        <p:sp>
          <p:nvSpPr>
            <p:cNvPr name="Freeform 53" id="53"/>
            <p:cNvSpPr/>
            <p:nvPr/>
          </p:nvSpPr>
          <p:spPr>
            <a:xfrm flipH="false" flipV="false" rot="0">
              <a:off x="0" y="0"/>
              <a:ext cx="1921891" cy="635000"/>
            </a:xfrm>
            <a:custGeom>
              <a:avLst/>
              <a:gdLst/>
              <a:ahLst/>
              <a:cxnLst/>
              <a:rect r="r" b="b" t="t" l="l"/>
              <a:pathLst>
                <a:path h="635000" w="1921891">
                  <a:moveTo>
                    <a:pt x="0" y="114300"/>
                  </a:moveTo>
                  <a:cubicBezTo>
                    <a:pt x="0" y="51181"/>
                    <a:pt x="51181" y="0"/>
                    <a:pt x="114300" y="0"/>
                  </a:cubicBezTo>
                  <a:lnTo>
                    <a:pt x="1807591" y="0"/>
                  </a:lnTo>
                  <a:cubicBezTo>
                    <a:pt x="1870710" y="0"/>
                    <a:pt x="1921891" y="51181"/>
                    <a:pt x="1921891" y="114300"/>
                  </a:cubicBezTo>
                  <a:lnTo>
                    <a:pt x="1921891" y="520700"/>
                  </a:lnTo>
                  <a:cubicBezTo>
                    <a:pt x="1921891" y="583819"/>
                    <a:pt x="1870710" y="635000"/>
                    <a:pt x="1807591" y="635000"/>
                  </a:cubicBezTo>
                  <a:lnTo>
                    <a:pt x="114300" y="635000"/>
                  </a:lnTo>
                  <a:cubicBezTo>
                    <a:pt x="51181" y="635000"/>
                    <a:pt x="0" y="583819"/>
                    <a:pt x="0" y="520700"/>
                  </a:cubicBezTo>
                  <a:close/>
                </a:path>
              </a:pathLst>
            </a:custGeom>
            <a:solidFill>
              <a:srgbClr val="101010"/>
            </a:solidFill>
          </p:spPr>
        </p:sp>
      </p:grpSp>
      <p:grpSp>
        <p:nvGrpSpPr>
          <p:cNvPr name="Group 54" id="54"/>
          <p:cNvGrpSpPr/>
          <p:nvPr/>
        </p:nvGrpSpPr>
        <p:grpSpPr>
          <a:xfrm rot="0">
            <a:off x="6769103" y="6076955"/>
            <a:ext cx="1422397" cy="393700"/>
            <a:chOff x="0" y="0"/>
            <a:chExt cx="1896529" cy="524934"/>
          </a:xfrm>
        </p:grpSpPr>
        <p:sp>
          <p:nvSpPr>
            <p:cNvPr name="Freeform 55" id="55"/>
            <p:cNvSpPr/>
            <p:nvPr/>
          </p:nvSpPr>
          <p:spPr>
            <a:xfrm flipH="false" flipV="false" rot="0">
              <a:off x="0" y="0"/>
              <a:ext cx="1896534" cy="524939"/>
            </a:xfrm>
            <a:custGeom>
              <a:avLst/>
              <a:gdLst/>
              <a:ahLst/>
              <a:cxnLst/>
              <a:rect r="r" b="b" t="t" l="l"/>
              <a:pathLst>
                <a:path h="524939" w="1896534">
                  <a:moveTo>
                    <a:pt x="0" y="0"/>
                  </a:moveTo>
                  <a:lnTo>
                    <a:pt x="1896534" y="0"/>
                  </a:lnTo>
                  <a:lnTo>
                    <a:pt x="1896534" y="524939"/>
                  </a:lnTo>
                  <a:lnTo>
                    <a:pt x="0" y="524939"/>
                  </a:lnTo>
                  <a:close/>
                </a:path>
              </a:pathLst>
            </a:custGeom>
            <a:blipFill>
              <a:blip r:embed="rId3">
                <a:alphaModFix amt="0"/>
              </a:blip>
              <a:stretch>
                <a:fillRect l="0" t="-20397" r="0" b="-20395"/>
              </a:stretch>
            </a:blipFill>
          </p:spPr>
        </p:sp>
        <p:sp>
          <p:nvSpPr>
            <p:cNvPr name="TextBox 56" id="56"/>
            <p:cNvSpPr txBox="true"/>
            <p:nvPr/>
          </p:nvSpPr>
          <p:spPr>
            <a:xfrm>
              <a:off x="0" y="-9525"/>
              <a:ext cx="1896529" cy="534459"/>
            </a:xfrm>
            <a:prstGeom prst="rect">
              <a:avLst/>
            </a:prstGeom>
          </p:spPr>
          <p:txBody>
            <a:bodyPr anchor="ctr" rtlCol="false" tIns="0" lIns="0" bIns="0" rIns="0"/>
            <a:lstStyle/>
            <a:p>
              <a:pPr algn="ctr">
                <a:lnSpc>
                  <a:spcPts val="1889"/>
                </a:lnSpc>
              </a:pPr>
              <a:r>
                <a:rPr lang="en-US" b="true" sz="1575" u="sng">
                  <a:solidFill>
                    <a:srgbClr val="FFFFFF"/>
                  </a:solidFill>
                  <a:latin typeface="Arimo Bold"/>
                  <a:ea typeface="Arimo Bold"/>
                  <a:cs typeface="Arimo Bold"/>
                  <a:sym typeface="Arimo Bold"/>
                  <a:hlinkClick r:id="rId11" tooltip="https://kdm111.github.io/assets/videos/p9_place.mp4"/>
                </a:rPr>
                <a:t>Place 실행</a:t>
              </a:r>
            </a:p>
          </p:txBody>
        </p:sp>
      </p:grpSp>
      <p:grpSp>
        <p:nvGrpSpPr>
          <p:cNvPr name="Group 57" id="57"/>
          <p:cNvGrpSpPr/>
          <p:nvPr/>
        </p:nvGrpSpPr>
        <p:grpSpPr>
          <a:xfrm rot="0">
            <a:off x="12171045" y="5795648"/>
            <a:ext cx="5248913" cy="2975610"/>
            <a:chOff x="0" y="0"/>
            <a:chExt cx="6998551" cy="3967480"/>
          </a:xfrm>
        </p:grpSpPr>
        <p:sp>
          <p:nvSpPr>
            <p:cNvPr name="Freeform 58" id="58"/>
            <p:cNvSpPr/>
            <p:nvPr/>
          </p:nvSpPr>
          <p:spPr>
            <a:xfrm flipH="false" flipV="false" rot="0">
              <a:off x="0" y="0"/>
              <a:ext cx="6998462" cy="3967480"/>
            </a:xfrm>
            <a:custGeom>
              <a:avLst/>
              <a:gdLst/>
              <a:ahLst/>
              <a:cxnLst/>
              <a:rect r="r" b="b" t="t" l="l"/>
              <a:pathLst>
                <a:path h="3967480" w="6998462">
                  <a:moveTo>
                    <a:pt x="0" y="148336"/>
                  </a:moveTo>
                  <a:cubicBezTo>
                    <a:pt x="0" y="66421"/>
                    <a:pt x="66421" y="0"/>
                    <a:pt x="148336" y="0"/>
                  </a:cubicBezTo>
                  <a:lnTo>
                    <a:pt x="6850126" y="0"/>
                  </a:lnTo>
                  <a:cubicBezTo>
                    <a:pt x="6932041" y="0"/>
                    <a:pt x="6998462" y="66421"/>
                    <a:pt x="6998462" y="148336"/>
                  </a:cubicBezTo>
                  <a:lnTo>
                    <a:pt x="6998462" y="3819144"/>
                  </a:lnTo>
                  <a:cubicBezTo>
                    <a:pt x="6998462" y="3901059"/>
                    <a:pt x="6932041" y="3967480"/>
                    <a:pt x="6850126" y="3967480"/>
                  </a:cubicBezTo>
                  <a:lnTo>
                    <a:pt x="148336" y="3967480"/>
                  </a:lnTo>
                  <a:cubicBezTo>
                    <a:pt x="66421" y="3967480"/>
                    <a:pt x="0" y="3901059"/>
                    <a:pt x="0" y="3819144"/>
                  </a:cubicBezTo>
                  <a:close/>
                </a:path>
              </a:pathLst>
            </a:custGeom>
            <a:solidFill>
              <a:srgbClr val="FFFFFF"/>
            </a:solidFill>
            <a:ln w="41910" cap="sq">
              <a:solidFill>
                <a:srgbClr val="101010"/>
              </a:solidFill>
              <a:prstDash val="solid"/>
              <a:miter/>
            </a:ln>
          </p:spPr>
        </p:sp>
      </p:grpSp>
      <p:pic>
        <p:nvPicPr>
          <p:cNvPr name="Picture 59" id="59" descr="MoveTo 실물 실행 화면">
            <a:hlinkClick action="ppaction://media"/>
          </p:cNvPr>
          <p:cNvPicPr>
            <a:picLocks noChangeAspect="true"/>
          </p:cNvPicPr>
          <p:nvPr>
            <a:videoFile r:link="rId13"/>
            <p:extLst>
              <p:ext uri="{DAA4B4D4-6D71-4841-9C94-3DE7FCFB9230}">
                <p14:media xmlns:p14="http://schemas.microsoft.com/office/powerpoint/2010/main" r:embed="rId14"/>
              </p:ext>
            </p:extLst>
          </p:nvPr>
        </p:nvPicPr>
        <p:blipFill>
          <a:blip r:embed="rId12"/>
          <a:srcRect l="0" t="495" r="0" b="495"/>
          <a:stretch>
            <a:fillRect/>
          </a:stretch>
        </p:blipFill>
        <p:spPr>
          <a:xfrm flipH="false" flipV="false" rot="0">
            <a:off x="12230100" y="5854703"/>
            <a:ext cx="5130803" cy="2857500"/>
          </a:xfrm>
          <a:prstGeom prst="rect">
            <a:avLst/>
          </a:prstGeom>
          <a:ln w="38100" cap="sq">
            <a:solidFill>
              <a:srgbClr val="000000"/>
            </a:solidFill>
            <a:prstDash val="solid"/>
          </a:ln>
        </p:spPr>
      </p:pic>
      <p:grpSp>
        <p:nvGrpSpPr>
          <p:cNvPr name="Group 60" id="60"/>
          <p:cNvGrpSpPr/>
          <p:nvPr/>
        </p:nvGrpSpPr>
        <p:grpSpPr>
          <a:xfrm rot="0">
            <a:off x="12411075" y="6035678"/>
            <a:ext cx="1619250" cy="476250"/>
            <a:chOff x="0" y="0"/>
            <a:chExt cx="2159000" cy="635000"/>
          </a:xfrm>
        </p:grpSpPr>
        <p:sp>
          <p:nvSpPr>
            <p:cNvPr name="Freeform 61" id="61"/>
            <p:cNvSpPr/>
            <p:nvPr/>
          </p:nvSpPr>
          <p:spPr>
            <a:xfrm flipH="false" flipV="false" rot="0">
              <a:off x="0" y="0"/>
              <a:ext cx="2159000" cy="635000"/>
            </a:xfrm>
            <a:custGeom>
              <a:avLst/>
              <a:gdLst/>
              <a:ahLst/>
              <a:cxnLst/>
              <a:rect r="r" b="b" t="t" l="l"/>
              <a:pathLst>
                <a:path h="635000" w="2159000">
                  <a:moveTo>
                    <a:pt x="0" y="114300"/>
                  </a:moveTo>
                  <a:cubicBezTo>
                    <a:pt x="0" y="51181"/>
                    <a:pt x="51181" y="0"/>
                    <a:pt x="114300" y="0"/>
                  </a:cubicBezTo>
                  <a:lnTo>
                    <a:pt x="2044700" y="0"/>
                  </a:lnTo>
                  <a:cubicBezTo>
                    <a:pt x="2107819" y="0"/>
                    <a:pt x="2159000" y="51181"/>
                    <a:pt x="2159000" y="114300"/>
                  </a:cubicBezTo>
                  <a:lnTo>
                    <a:pt x="2159000" y="520700"/>
                  </a:lnTo>
                  <a:cubicBezTo>
                    <a:pt x="2159000" y="583819"/>
                    <a:pt x="2107819" y="635000"/>
                    <a:pt x="2044700" y="635000"/>
                  </a:cubicBezTo>
                  <a:lnTo>
                    <a:pt x="114300" y="635000"/>
                  </a:lnTo>
                  <a:cubicBezTo>
                    <a:pt x="51181" y="635000"/>
                    <a:pt x="0" y="583819"/>
                    <a:pt x="0" y="520700"/>
                  </a:cubicBezTo>
                  <a:close/>
                </a:path>
              </a:pathLst>
            </a:custGeom>
            <a:solidFill>
              <a:srgbClr val="101010"/>
            </a:solidFill>
          </p:spPr>
        </p:sp>
      </p:grpSp>
      <p:grpSp>
        <p:nvGrpSpPr>
          <p:cNvPr name="Group 62" id="62"/>
          <p:cNvGrpSpPr/>
          <p:nvPr/>
        </p:nvGrpSpPr>
        <p:grpSpPr>
          <a:xfrm rot="0">
            <a:off x="12420600" y="6070597"/>
            <a:ext cx="1609725" cy="393700"/>
            <a:chOff x="0" y="0"/>
            <a:chExt cx="2146300" cy="524934"/>
          </a:xfrm>
        </p:grpSpPr>
        <p:sp>
          <p:nvSpPr>
            <p:cNvPr name="Freeform 63" id="63"/>
            <p:cNvSpPr/>
            <p:nvPr/>
          </p:nvSpPr>
          <p:spPr>
            <a:xfrm flipH="false" flipV="false" rot="0">
              <a:off x="0" y="0"/>
              <a:ext cx="2146300" cy="524939"/>
            </a:xfrm>
            <a:custGeom>
              <a:avLst/>
              <a:gdLst/>
              <a:ahLst/>
              <a:cxnLst/>
              <a:rect r="r" b="b" t="t" l="l"/>
              <a:pathLst>
                <a:path h="524939" w="2146300">
                  <a:moveTo>
                    <a:pt x="0" y="0"/>
                  </a:moveTo>
                  <a:lnTo>
                    <a:pt x="2146300" y="0"/>
                  </a:lnTo>
                  <a:lnTo>
                    <a:pt x="2146300" y="524939"/>
                  </a:lnTo>
                  <a:lnTo>
                    <a:pt x="0" y="524939"/>
                  </a:lnTo>
                  <a:close/>
                </a:path>
              </a:pathLst>
            </a:custGeom>
            <a:blipFill>
              <a:blip r:embed="rId3">
                <a:alphaModFix amt="0"/>
              </a:blip>
              <a:stretch>
                <a:fillRect l="0" t="-29197" r="591" b="-29195"/>
              </a:stretch>
            </a:blipFill>
          </p:spPr>
        </p:sp>
        <p:sp>
          <p:nvSpPr>
            <p:cNvPr name="TextBox 64" id="64"/>
            <p:cNvSpPr txBox="true"/>
            <p:nvPr/>
          </p:nvSpPr>
          <p:spPr>
            <a:xfrm>
              <a:off x="0" y="-9525"/>
              <a:ext cx="2146300" cy="534459"/>
            </a:xfrm>
            <a:prstGeom prst="rect">
              <a:avLst/>
            </a:prstGeom>
          </p:spPr>
          <p:txBody>
            <a:bodyPr anchor="ctr" rtlCol="false" tIns="0" lIns="0" bIns="0" rIns="0"/>
            <a:lstStyle/>
            <a:p>
              <a:pPr algn="ctr">
                <a:lnSpc>
                  <a:spcPts val="1889"/>
                </a:lnSpc>
              </a:pPr>
              <a:r>
                <a:rPr lang="en-US" b="true" sz="1575" u="sng">
                  <a:solidFill>
                    <a:srgbClr val="FFFFFF"/>
                  </a:solidFill>
                  <a:latin typeface="Arimo Bold"/>
                  <a:ea typeface="Arimo Bold"/>
                  <a:cs typeface="Arimo Bold"/>
                  <a:sym typeface="Arimo Bold"/>
                  <a:hlinkClick r:id="rId15" tooltip="https://kdm111.github.io/assets/videos/p9_moveto.mp4"/>
                </a:rPr>
                <a:t>MoveTo 실행</a:t>
              </a:r>
            </a:p>
          </p:txBody>
        </p:sp>
      </p:grpSp>
      <p:grpSp>
        <p:nvGrpSpPr>
          <p:cNvPr name="Group 65" id="65"/>
          <p:cNvGrpSpPr/>
          <p:nvPr/>
        </p:nvGrpSpPr>
        <p:grpSpPr>
          <a:xfrm rot="0">
            <a:off x="6896100" y="4724400"/>
            <a:ext cx="459472" cy="495300"/>
            <a:chOff x="0" y="0"/>
            <a:chExt cx="612629" cy="660400"/>
          </a:xfrm>
        </p:grpSpPr>
        <p:sp>
          <p:nvSpPr>
            <p:cNvPr name="Freeform 66" id="66"/>
            <p:cNvSpPr/>
            <p:nvPr/>
          </p:nvSpPr>
          <p:spPr>
            <a:xfrm flipH="false" flipV="false" rot="0">
              <a:off x="0" y="0"/>
              <a:ext cx="612629" cy="660400"/>
            </a:xfrm>
            <a:custGeom>
              <a:avLst/>
              <a:gdLst/>
              <a:ahLst/>
              <a:cxnLst/>
              <a:rect r="r" b="b" t="t" l="l"/>
              <a:pathLst>
                <a:path h="660400" w="612629">
                  <a:moveTo>
                    <a:pt x="0" y="0"/>
                  </a:moveTo>
                  <a:lnTo>
                    <a:pt x="612629" y="0"/>
                  </a:lnTo>
                  <a:lnTo>
                    <a:pt x="612629" y="660400"/>
                  </a:lnTo>
                  <a:lnTo>
                    <a:pt x="0" y="660400"/>
                  </a:lnTo>
                  <a:close/>
                </a:path>
              </a:pathLst>
            </a:custGeom>
            <a:blipFill>
              <a:blip r:embed="rId3">
                <a:alphaModFix amt="0"/>
              </a:blip>
              <a:stretch>
                <a:fillRect l="0" t="-126864" r="-878471" b="-126864"/>
              </a:stretch>
            </a:blipFill>
          </p:spPr>
        </p:sp>
        <p:sp>
          <p:nvSpPr>
            <p:cNvPr name="TextBox 67" id="67"/>
            <p:cNvSpPr txBox="true"/>
            <p:nvPr/>
          </p:nvSpPr>
          <p:spPr>
            <a:xfrm>
              <a:off x="0" y="-19050"/>
              <a:ext cx="612629" cy="679450"/>
            </a:xfrm>
            <a:prstGeom prst="rect">
              <a:avLst/>
            </a:prstGeom>
          </p:spPr>
          <p:txBody>
            <a:bodyPr anchor="ctr" rtlCol="false" tIns="0" lIns="0" bIns="0" rIns="0"/>
            <a:lstStyle/>
            <a:p>
              <a:pPr algn="ctr">
                <a:lnSpc>
                  <a:spcPts val="2088"/>
                </a:lnSpc>
              </a:pPr>
              <a:r>
                <a:rPr lang="en-US" sz="1739" b="true">
                  <a:solidFill>
                    <a:srgbClr val="101010"/>
                  </a:solidFill>
                  <a:latin typeface="Arimo Bold"/>
                  <a:ea typeface="Arimo Bold"/>
                  <a:cs typeface="Arimo Bold"/>
                  <a:sym typeface="Arimo Bold"/>
                </a:rPr>
                <a:t>이동 </a:t>
              </a:r>
            </a:p>
          </p:txBody>
        </p:sp>
      </p:grpSp>
      <p:grpSp>
        <p:nvGrpSpPr>
          <p:cNvPr name="Group 68" id="68"/>
          <p:cNvGrpSpPr/>
          <p:nvPr/>
        </p:nvGrpSpPr>
        <p:grpSpPr>
          <a:xfrm rot="0">
            <a:off x="7698472" y="4724400"/>
            <a:ext cx="936610" cy="495300"/>
            <a:chOff x="0" y="0"/>
            <a:chExt cx="1248813" cy="660400"/>
          </a:xfrm>
        </p:grpSpPr>
        <p:sp>
          <p:nvSpPr>
            <p:cNvPr name="Freeform 69" id="69"/>
            <p:cNvSpPr/>
            <p:nvPr/>
          </p:nvSpPr>
          <p:spPr>
            <a:xfrm flipH="false" flipV="false" rot="0">
              <a:off x="0" y="0"/>
              <a:ext cx="1248813" cy="660400"/>
            </a:xfrm>
            <a:custGeom>
              <a:avLst/>
              <a:gdLst/>
              <a:ahLst/>
              <a:cxnLst/>
              <a:rect r="r" b="b" t="t" l="l"/>
              <a:pathLst>
                <a:path h="660400" w="1248813">
                  <a:moveTo>
                    <a:pt x="0" y="0"/>
                  </a:moveTo>
                  <a:lnTo>
                    <a:pt x="1248813" y="0"/>
                  </a:lnTo>
                  <a:lnTo>
                    <a:pt x="1248813" y="660400"/>
                  </a:lnTo>
                  <a:lnTo>
                    <a:pt x="0" y="660400"/>
                  </a:lnTo>
                  <a:close/>
                </a:path>
              </a:pathLst>
            </a:custGeom>
            <a:blipFill>
              <a:blip r:embed="rId3">
                <a:alphaModFix amt="0"/>
              </a:blip>
              <a:stretch>
                <a:fillRect l="0" t="-126864" r="-380007" b="-126864"/>
              </a:stretch>
            </a:blipFill>
          </p:spPr>
        </p:sp>
        <p:sp>
          <p:nvSpPr>
            <p:cNvPr name="TextBox 70" id="70"/>
            <p:cNvSpPr txBox="true"/>
            <p:nvPr/>
          </p:nvSpPr>
          <p:spPr>
            <a:xfrm>
              <a:off x="0" y="-19050"/>
              <a:ext cx="1248813" cy="679450"/>
            </a:xfrm>
            <a:prstGeom prst="rect">
              <a:avLst/>
            </a:prstGeom>
          </p:spPr>
          <p:txBody>
            <a:bodyPr anchor="ctr" rtlCol="false" tIns="0" lIns="0" bIns="0" rIns="0"/>
            <a:lstStyle/>
            <a:p>
              <a:pPr algn="ctr">
                <a:lnSpc>
                  <a:spcPts val="2088"/>
                </a:lnSpc>
              </a:pPr>
              <a:r>
                <a:rPr lang="en-US" sz="1739" b="true">
                  <a:solidFill>
                    <a:srgbClr val="101010"/>
                  </a:solidFill>
                  <a:latin typeface="Arimo Bold"/>
                  <a:ea typeface="Arimo Bold"/>
                  <a:cs typeface="Arimo Bold"/>
                  <a:sym typeface="Arimo Bold"/>
                </a:rPr>
                <a:t>낙하 확인</a:t>
              </a:r>
            </a:p>
          </p:txBody>
        </p:sp>
      </p:grpSp>
      <p:grpSp>
        <p:nvGrpSpPr>
          <p:cNvPr name="Group 71" id="71"/>
          <p:cNvGrpSpPr/>
          <p:nvPr/>
        </p:nvGrpSpPr>
        <p:grpSpPr>
          <a:xfrm rot="0">
            <a:off x="8977982" y="4724400"/>
            <a:ext cx="468305" cy="495300"/>
            <a:chOff x="0" y="0"/>
            <a:chExt cx="624406" cy="660400"/>
          </a:xfrm>
        </p:grpSpPr>
        <p:sp>
          <p:nvSpPr>
            <p:cNvPr name="Freeform 72" id="72"/>
            <p:cNvSpPr/>
            <p:nvPr/>
          </p:nvSpPr>
          <p:spPr>
            <a:xfrm flipH="false" flipV="false" rot="0">
              <a:off x="0" y="0"/>
              <a:ext cx="624406" cy="660400"/>
            </a:xfrm>
            <a:custGeom>
              <a:avLst/>
              <a:gdLst/>
              <a:ahLst/>
              <a:cxnLst/>
              <a:rect r="r" b="b" t="t" l="l"/>
              <a:pathLst>
                <a:path h="660400" w="624406">
                  <a:moveTo>
                    <a:pt x="0" y="0"/>
                  </a:moveTo>
                  <a:lnTo>
                    <a:pt x="624406" y="0"/>
                  </a:lnTo>
                  <a:lnTo>
                    <a:pt x="624406" y="660400"/>
                  </a:lnTo>
                  <a:lnTo>
                    <a:pt x="0" y="660400"/>
                  </a:lnTo>
                  <a:close/>
                </a:path>
              </a:pathLst>
            </a:custGeom>
            <a:blipFill>
              <a:blip r:embed="rId3">
                <a:alphaModFix amt="0"/>
              </a:blip>
              <a:stretch>
                <a:fillRect l="0" t="-126864" r="-860015" b="-126864"/>
              </a:stretch>
            </a:blipFill>
          </p:spPr>
        </p:sp>
        <p:sp>
          <p:nvSpPr>
            <p:cNvPr name="TextBox 73" id="73"/>
            <p:cNvSpPr txBox="true"/>
            <p:nvPr/>
          </p:nvSpPr>
          <p:spPr>
            <a:xfrm>
              <a:off x="0" y="-19050"/>
              <a:ext cx="624406" cy="679450"/>
            </a:xfrm>
            <a:prstGeom prst="rect">
              <a:avLst/>
            </a:prstGeom>
          </p:spPr>
          <p:txBody>
            <a:bodyPr anchor="ctr" rtlCol="false" tIns="0" lIns="0" bIns="0" rIns="0"/>
            <a:lstStyle/>
            <a:p>
              <a:pPr algn="ctr">
                <a:lnSpc>
                  <a:spcPts val="2088"/>
                </a:lnSpc>
              </a:pPr>
              <a:r>
                <a:rPr lang="en-US" sz="1739" b="true">
                  <a:solidFill>
                    <a:srgbClr val="101010"/>
                  </a:solidFill>
                  <a:latin typeface="Arimo Bold"/>
                  <a:ea typeface="Arimo Bold"/>
                  <a:cs typeface="Arimo Bold"/>
                  <a:sym typeface="Arimo Bold"/>
                </a:rPr>
                <a:t>하강</a:t>
              </a:r>
              <a:r>
                <a:rPr lang="en-US" sz="1739" b="true">
                  <a:solidFill>
                    <a:srgbClr val="101010"/>
                  </a:solidFill>
                  <a:latin typeface="Arimo Bold"/>
                  <a:ea typeface="Arimo Bold"/>
                  <a:cs typeface="Arimo Bold"/>
                  <a:sym typeface="Arimo Bold"/>
                </a:rPr>
                <a:t> </a:t>
              </a:r>
            </a:p>
          </p:txBody>
        </p:sp>
      </p:grpSp>
      <p:grpSp>
        <p:nvGrpSpPr>
          <p:cNvPr name="Group 74" id="74"/>
          <p:cNvGrpSpPr/>
          <p:nvPr/>
        </p:nvGrpSpPr>
        <p:grpSpPr>
          <a:xfrm rot="0">
            <a:off x="9789186" y="4724400"/>
            <a:ext cx="468305" cy="495300"/>
            <a:chOff x="0" y="0"/>
            <a:chExt cx="624406" cy="660400"/>
          </a:xfrm>
        </p:grpSpPr>
        <p:sp>
          <p:nvSpPr>
            <p:cNvPr name="Freeform 75" id="75"/>
            <p:cNvSpPr/>
            <p:nvPr/>
          </p:nvSpPr>
          <p:spPr>
            <a:xfrm flipH="false" flipV="false" rot="0">
              <a:off x="0" y="0"/>
              <a:ext cx="624406" cy="660400"/>
            </a:xfrm>
            <a:custGeom>
              <a:avLst/>
              <a:gdLst/>
              <a:ahLst/>
              <a:cxnLst/>
              <a:rect r="r" b="b" t="t" l="l"/>
              <a:pathLst>
                <a:path h="660400" w="624406">
                  <a:moveTo>
                    <a:pt x="0" y="0"/>
                  </a:moveTo>
                  <a:lnTo>
                    <a:pt x="624406" y="0"/>
                  </a:lnTo>
                  <a:lnTo>
                    <a:pt x="624406" y="660400"/>
                  </a:lnTo>
                  <a:lnTo>
                    <a:pt x="0" y="660400"/>
                  </a:lnTo>
                  <a:close/>
                </a:path>
              </a:pathLst>
            </a:custGeom>
            <a:blipFill>
              <a:blip r:embed="rId3">
                <a:alphaModFix amt="0"/>
              </a:blip>
              <a:stretch>
                <a:fillRect l="0" t="-126864" r="-860015" b="-126864"/>
              </a:stretch>
            </a:blipFill>
          </p:spPr>
        </p:sp>
        <p:sp>
          <p:nvSpPr>
            <p:cNvPr name="TextBox 76" id="76"/>
            <p:cNvSpPr txBox="true"/>
            <p:nvPr/>
          </p:nvSpPr>
          <p:spPr>
            <a:xfrm>
              <a:off x="0" y="-19050"/>
              <a:ext cx="624406" cy="679450"/>
            </a:xfrm>
            <a:prstGeom prst="rect">
              <a:avLst/>
            </a:prstGeom>
          </p:spPr>
          <p:txBody>
            <a:bodyPr anchor="ctr" rtlCol="false" tIns="0" lIns="0" bIns="0" rIns="0"/>
            <a:lstStyle/>
            <a:p>
              <a:pPr algn="ctr">
                <a:lnSpc>
                  <a:spcPts val="2088"/>
                </a:lnSpc>
              </a:pPr>
              <a:r>
                <a:rPr lang="en-US" sz="1739" b="true">
                  <a:solidFill>
                    <a:srgbClr val="101010"/>
                  </a:solidFill>
                  <a:latin typeface="Arimo Bold"/>
                  <a:ea typeface="Arimo Bold"/>
                  <a:cs typeface="Arimo Bold"/>
                  <a:sym typeface="Arimo Bold"/>
                </a:rPr>
                <a:t>놓기</a:t>
              </a:r>
              <a:r>
                <a:rPr lang="en-US" sz="1739" b="true">
                  <a:solidFill>
                    <a:srgbClr val="101010"/>
                  </a:solidFill>
                  <a:latin typeface="Arimo Bold"/>
                  <a:ea typeface="Arimo Bold"/>
                  <a:cs typeface="Arimo Bold"/>
                  <a:sym typeface="Arimo Bold"/>
                </a:rPr>
                <a:t> </a:t>
              </a:r>
            </a:p>
          </p:txBody>
        </p:sp>
      </p:grpSp>
      <p:grpSp>
        <p:nvGrpSpPr>
          <p:cNvPr name="Group 77" id="77"/>
          <p:cNvGrpSpPr/>
          <p:nvPr/>
        </p:nvGrpSpPr>
        <p:grpSpPr>
          <a:xfrm rot="0">
            <a:off x="10600391" y="4724400"/>
            <a:ext cx="468305" cy="495300"/>
            <a:chOff x="0" y="0"/>
            <a:chExt cx="624406" cy="660400"/>
          </a:xfrm>
        </p:grpSpPr>
        <p:sp>
          <p:nvSpPr>
            <p:cNvPr name="Freeform 78" id="78"/>
            <p:cNvSpPr/>
            <p:nvPr/>
          </p:nvSpPr>
          <p:spPr>
            <a:xfrm flipH="false" flipV="false" rot="0">
              <a:off x="0" y="0"/>
              <a:ext cx="624406" cy="660400"/>
            </a:xfrm>
            <a:custGeom>
              <a:avLst/>
              <a:gdLst/>
              <a:ahLst/>
              <a:cxnLst/>
              <a:rect r="r" b="b" t="t" l="l"/>
              <a:pathLst>
                <a:path h="660400" w="624406">
                  <a:moveTo>
                    <a:pt x="0" y="0"/>
                  </a:moveTo>
                  <a:lnTo>
                    <a:pt x="624406" y="0"/>
                  </a:lnTo>
                  <a:lnTo>
                    <a:pt x="624406" y="660400"/>
                  </a:lnTo>
                  <a:lnTo>
                    <a:pt x="0" y="660400"/>
                  </a:lnTo>
                  <a:close/>
                </a:path>
              </a:pathLst>
            </a:custGeom>
            <a:blipFill>
              <a:blip r:embed="rId3">
                <a:alphaModFix amt="0"/>
              </a:blip>
              <a:stretch>
                <a:fillRect l="0" t="-126864" r="-860015" b="-126864"/>
              </a:stretch>
            </a:blipFill>
          </p:spPr>
        </p:sp>
        <p:sp>
          <p:nvSpPr>
            <p:cNvPr name="TextBox 79" id="79"/>
            <p:cNvSpPr txBox="true"/>
            <p:nvPr/>
          </p:nvSpPr>
          <p:spPr>
            <a:xfrm>
              <a:off x="0" y="-19050"/>
              <a:ext cx="624406" cy="679450"/>
            </a:xfrm>
            <a:prstGeom prst="rect">
              <a:avLst/>
            </a:prstGeom>
          </p:spPr>
          <p:txBody>
            <a:bodyPr anchor="ctr" rtlCol="false" tIns="0" lIns="0" bIns="0" rIns="0"/>
            <a:lstStyle/>
            <a:p>
              <a:pPr algn="ctr">
                <a:lnSpc>
                  <a:spcPts val="2088"/>
                </a:lnSpc>
              </a:pPr>
              <a:r>
                <a:rPr lang="en-US" sz="1739" b="true">
                  <a:solidFill>
                    <a:srgbClr val="101010"/>
                  </a:solidFill>
                  <a:latin typeface="Arimo Bold"/>
                  <a:ea typeface="Arimo Bold"/>
                  <a:cs typeface="Arimo Bold"/>
                  <a:sym typeface="Arimo Bold"/>
                </a:rPr>
                <a:t>후퇴</a:t>
              </a:r>
              <a:r>
                <a:rPr lang="en-US" sz="1739" b="true">
                  <a:solidFill>
                    <a:srgbClr val="101010"/>
                  </a:solidFill>
                  <a:latin typeface="Arimo Bold"/>
                  <a:ea typeface="Arimo Bold"/>
                  <a:cs typeface="Arimo Bold"/>
                  <a:sym typeface="Arimo Bold"/>
                </a:rPr>
                <a:t> </a:t>
              </a:r>
            </a:p>
          </p:txBody>
        </p:sp>
      </p:grpSp>
      <p:sp>
        <p:nvSpPr>
          <p:cNvPr name="AutoShape 80" id="80"/>
          <p:cNvSpPr/>
          <p:nvPr/>
        </p:nvSpPr>
        <p:spPr>
          <a:xfrm>
            <a:off x="7355572" y="4972050"/>
            <a:ext cx="342900" cy="0"/>
          </a:xfrm>
          <a:prstGeom prst="line">
            <a:avLst/>
          </a:prstGeom>
          <a:ln cap="flat" w="19050">
            <a:solidFill>
              <a:srgbClr val="000000"/>
            </a:solidFill>
            <a:prstDash val="solid"/>
            <a:headEnd type="none" len="sm" w="sm"/>
            <a:tailEnd type="triangle" len="med" w="lg"/>
          </a:ln>
        </p:spPr>
      </p:sp>
      <p:sp>
        <p:nvSpPr>
          <p:cNvPr name="AutoShape 81" id="81"/>
          <p:cNvSpPr/>
          <p:nvPr/>
        </p:nvSpPr>
        <p:spPr>
          <a:xfrm>
            <a:off x="8635082" y="4972050"/>
            <a:ext cx="342900" cy="0"/>
          </a:xfrm>
          <a:prstGeom prst="line">
            <a:avLst/>
          </a:prstGeom>
          <a:ln cap="flat" w="19050">
            <a:solidFill>
              <a:srgbClr val="000000"/>
            </a:solidFill>
            <a:prstDash val="solid"/>
            <a:headEnd type="none" len="sm" w="sm"/>
            <a:tailEnd type="triangle" len="med" w="lg"/>
          </a:ln>
        </p:spPr>
      </p:sp>
      <p:sp>
        <p:nvSpPr>
          <p:cNvPr name="AutoShape 82" id="82"/>
          <p:cNvSpPr/>
          <p:nvPr/>
        </p:nvSpPr>
        <p:spPr>
          <a:xfrm>
            <a:off x="9446286" y="4972050"/>
            <a:ext cx="342900" cy="0"/>
          </a:xfrm>
          <a:prstGeom prst="line">
            <a:avLst/>
          </a:prstGeom>
          <a:ln cap="flat" w="19050">
            <a:solidFill>
              <a:srgbClr val="000000"/>
            </a:solidFill>
            <a:prstDash val="solid"/>
            <a:headEnd type="none" len="sm" w="sm"/>
            <a:tailEnd type="triangle" len="med" w="lg"/>
          </a:ln>
        </p:spPr>
      </p:sp>
      <p:sp>
        <p:nvSpPr>
          <p:cNvPr name="AutoShape 83" id="83"/>
          <p:cNvSpPr/>
          <p:nvPr/>
        </p:nvSpPr>
        <p:spPr>
          <a:xfrm>
            <a:off x="10257491" y="4972050"/>
            <a:ext cx="342900" cy="0"/>
          </a:xfrm>
          <a:prstGeom prst="line">
            <a:avLst/>
          </a:prstGeom>
          <a:ln cap="flat" w="19050">
            <a:solidFill>
              <a:srgbClr val="000000"/>
            </a:solidFill>
            <a:prstDash val="solid"/>
            <a:headEnd type="none" len="sm" w="sm"/>
            <a:tailEnd type="triangle" len="med" w="lg"/>
          </a:ln>
        </p:spPr>
      </p:sp>
      <p:grpSp>
        <p:nvGrpSpPr>
          <p:cNvPr name="Group 84" id="84"/>
          <p:cNvGrpSpPr/>
          <p:nvPr/>
        </p:nvGrpSpPr>
        <p:grpSpPr>
          <a:xfrm rot="0">
            <a:off x="1233174" y="4724400"/>
            <a:ext cx="3682563" cy="495300"/>
            <a:chOff x="0" y="0"/>
            <a:chExt cx="4910083" cy="660400"/>
          </a:xfrm>
        </p:grpSpPr>
        <p:grpSp>
          <p:nvGrpSpPr>
            <p:cNvPr name="Group 85" id="85"/>
            <p:cNvGrpSpPr/>
            <p:nvPr/>
          </p:nvGrpSpPr>
          <p:grpSpPr>
            <a:xfrm rot="0">
              <a:off x="0" y="0"/>
              <a:ext cx="653859" cy="660400"/>
              <a:chOff x="0" y="0"/>
              <a:chExt cx="653859" cy="660400"/>
            </a:xfrm>
          </p:grpSpPr>
          <p:sp>
            <p:nvSpPr>
              <p:cNvPr name="Freeform 86" id="86"/>
              <p:cNvSpPr/>
              <p:nvPr/>
            </p:nvSpPr>
            <p:spPr>
              <a:xfrm flipH="false" flipV="false" rot="0">
                <a:off x="0" y="0"/>
                <a:ext cx="653859" cy="660400"/>
              </a:xfrm>
              <a:custGeom>
                <a:avLst/>
                <a:gdLst/>
                <a:ahLst/>
                <a:cxnLst/>
                <a:rect r="r" b="b" t="t" l="l"/>
                <a:pathLst>
                  <a:path h="660400" w="653859">
                    <a:moveTo>
                      <a:pt x="0" y="0"/>
                    </a:moveTo>
                    <a:lnTo>
                      <a:pt x="653859" y="0"/>
                    </a:lnTo>
                    <a:lnTo>
                      <a:pt x="653859" y="660400"/>
                    </a:lnTo>
                    <a:lnTo>
                      <a:pt x="0" y="660400"/>
                    </a:lnTo>
                    <a:close/>
                  </a:path>
                </a:pathLst>
              </a:custGeom>
              <a:blipFill>
                <a:blip r:embed="rId3">
                  <a:alphaModFix amt="0"/>
                </a:blip>
                <a:stretch>
                  <a:fillRect l="0" t="-126864" r="-816772" b="-126864"/>
                </a:stretch>
              </a:blipFill>
            </p:spPr>
          </p:sp>
          <p:sp>
            <p:nvSpPr>
              <p:cNvPr name="TextBox 87" id="87"/>
              <p:cNvSpPr txBox="true"/>
              <p:nvPr/>
            </p:nvSpPr>
            <p:spPr>
              <a:xfrm>
                <a:off x="0" y="-19050"/>
                <a:ext cx="653859" cy="679450"/>
              </a:xfrm>
              <a:prstGeom prst="rect">
                <a:avLst/>
              </a:prstGeom>
            </p:spPr>
            <p:txBody>
              <a:bodyPr anchor="ctr" rtlCol="false" tIns="0" lIns="0" bIns="0" rIns="0"/>
              <a:lstStyle/>
              <a:p>
                <a:pPr algn="ctr">
                  <a:lnSpc>
                    <a:spcPts val="2088"/>
                  </a:lnSpc>
                </a:pPr>
                <a:r>
                  <a:rPr lang="en-US" sz="1739" b="true">
                    <a:solidFill>
                      <a:srgbClr val="101010"/>
                    </a:solidFill>
                    <a:latin typeface="Arimo Bold"/>
                    <a:ea typeface="Arimo Bold"/>
                    <a:cs typeface="Arimo Bold"/>
                    <a:sym typeface="Arimo Bold"/>
                  </a:rPr>
                  <a:t> 이동</a:t>
                </a:r>
                <a:r>
                  <a:rPr lang="en-US" sz="1739" b="true">
                    <a:solidFill>
                      <a:srgbClr val="101010"/>
                    </a:solidFill>
                    <a:latin typeface="Arimo Bold"/>
                    <a:ea typeface="Arimo Bold"/>
                    <a:cs typeface="Arimo Bold"/>
                    <a:sym typeface="Arimo Bold"/>
                  </a:rPr>
                  <a:t> </a:t>
                </a:r>
              </a:p>
            </p:txBody>
          </p:sp>
        </p:grpSp>
        <p:grpSp>
          <p:nvGrpSpPr>
            <p:cNvPr name="Group 88" id="88"/>
            <p:cNvGrpSpPr/>
            <p:nvPr/>
          </p:nvGrpSpPr>
          <p:grpSpPr>
            <a:xfrm rot="0">
              <a:off x="1121412" y="0"/>
              <a:ext cx="574930" cy="660400"/>
              <a:chOff x="0" y="0"/>
              <a:chExt cx="574930" cy="660400"/>
            </a:xfrm>
          </p:grpSpPr>
          <p:sp>
            <p:nvSpPr>
              <p:cNvPr name="Freeform 89" id="89"/>
              <p:cNvSpPr/>
              <p:nvPr/>
            </p:nvSpPr>
            <p:spPr>
              <a:xfrm flipH="false" flipV="false" rot="0">
                <a:off x="0" y="0"/>
                <a:ext cx="574930" cy="660400"/>
              </a:xfrm>
              <a:custGeom>
                <a:avLst/>
                <a:gdLst/>
                <a:ahLst/>
                <a:cxnLst/>
                <a:rect r="r" b="b" t="t" l="l"/>
                <a:pathLst>
                  <a:path h="660400" w="574930">
                    <a:moveTo>
                      <a:pt x="0" y="0"/>
                    </a:moveTo>
                    <a:lnTo>
                      <a:pt x="574930" y="0"/>
                    </a:lnTo>
                    <a:lnTo>
                      <a:pt x="574930" y="660400"/>
                    </a:lnTo>
                    <a:lnTo>
                      <a:pt x="0" y="660400"/>
                    </a:lnTo>
                    <a:close/>
                  </a:path>
                </a:pathLst>
              </a:custGeom>
              <a:blipFill>
                <a:blip r:embed="rId3">
                  <a:alphaModFix amt="0"/>
                </a:blip>
                <a:stretch>
                  <a:fillRect l="0" t="-126864" r="-942630" b="-126864"/>
                </a:stretch>
              </a:blipFill>
            </p:spPr>
          </p:sp>
          <p:sp>
            <p:nvSpPr>
              <p:cNvPr name="TextBox 90" id="90"/>
              <p:cNvSpPr txBox="true"/>
              <p:nvPr/>
            </p:nvSpPr>
            <p:spPr>
              <a:xfrm>
                <a:off x="0" y="-19050"/>
                <a:ext cx="574930" cy="679450"/>
              </a:xfrm>
              <a:prstGeom prst="rect">
                <a:avLst/>
              </a:prstGeom>
            </p:spPr>
            <p:txBody>
              <a:bodyPr anchor="ctr" rtlCol="false" tIns="0" lIns="0" bIns="0" rIns="0"/>
              <a:lstStyle/>
              <a:p>
                <a:pPr algn="ctr">
                  <a:lnSpc>
                    <a:spcPts val="2088"/>
                  </a:lnSpc>
                </a:pPr>
                <a:r>
                  <a:rPr lang="en-US" sz="1739" b="true">
                    <a:solidFill>
                      <a:srgbClr val="101010"/>
                    </a:solidFill>
                    <a:latin typeface="Arimo Bold"/>
                    <a:ea typeface="Arimo Bold"/>
                    <a:cs typeface="Arimo Bold"/>
                    <a:sym typeface="Arimo Bold"/>
                  </a:rPr>
                  <a:t>하강</a:t>
                </a:r>
                <a:r>
                  <a:rPr lang="en-US" sz="1739" b="true">
                    <a:solidFill>
                      <a:srgbClr val="101010"/>
                    </a:solidFill>
                    <a:latin typeface="Arimo Bold"/>
                    <a:ea typeface="Arimo Bold"/>
                    <a:cs typeface="Arimo Bold"/>
                    <a:sym typeface="Arimo Bold"/>
                  </a:rPr>
                  <a:t> </a:t>
                </a:r>
              </a:p>
            </p:txBody>
          </p:sp>
        </p:grpSp>
        <p:grpSp>
          <p:nvGrpSpPr>
            <p:cNvPr name="Group 91" id="91"/>
            <p:cNvGrpSpPr/>
            <p:nvPr/>
          </p:nvGrpSpPr>
          <p:grpSpPr>
            <a:xfrm rot="0">
              <a:off x="2166242" y="0"/>
              <a:ext cx="615017" cy="660400"/>
              <a:chOff x="0" y="0"/>
              <a:chExt cx="615017" cy="660400"/>
            </a:xfrm>
          </p:grpSpPr>
          <p:sp>
            <p:nvSpPr>
              <p:cNvPr name="Freeform 92" id="92"/>
              <p:cNvSpPr/>
              <p:nvPr/>
            </p:nvSpPr>
            <p:spPr>
              <a:xfrm flipH="false" flipV="false" rot="0">
                <a:off x="0" y="0"/>
                <a:ext cx="615017" cy="660400"/>
              </a:xfrm>
              <a:custGeom>
                <a:avLst/>
                <a:gdLst/>
                <a:ahLst/>
                <a:cxnLst/>
                <a:rect r="r" b="b" t="t" l="l"/>
                <a:pathLst>
                  <a:path h="660400" w="615017">
                    <a:moveTo>
                      <a:pt x="0" y="0"/>
                    </a:moveTo>
                    <a:lnTo>
                      <a:pt x="615017" y="0"/>
                    </a:lnTo>
                    <a:lnTo>
                      <a:pt x="615017" y="660400"/>
                    </a:lnTo>
                    <a:lnTo>
                      <a:pt x="0" y="660400"/>
                    </a:lnTo>
                    <a:close/>
                  </a:path>
                </a:pathLst>
              </a:custGeom>
              <a:blipFill>
                <a:blip r:embed="rId3">
                  <a:alphaModFix amt="0"/>
                </a:blip>
                <a:stretch>
                  <a:fillRect l="0" t="-126864" r="-874672" b="-126864"/>
                </a:stretch>
              </a:blipFill>
            </p:spPr>
          </p:sp>
          <p:sp>
            <p:nvSpPr>
              <p:cNvPr name="TextBox 93" id="93"/>
              <p:cNvSpPr txBox="true"/>
              <p:nvPr/>
            </p:nvSpPr>
            <p:spPr>
              <a:xfrm>
                <a:off x="0" y="-19050"/>
                <a:ext cx="615017" cy="679450"/>
              </a:xfrm>
              <a:prstGeom prst="rect">
                <a:avLst/>
              </a:prstGeom>
            </p:spPr>
            <p:txBody>
              <a:bodyPr anchor="ctr" rtlCol="false" tIns="0" lIns="0" bIns="0" rIns="0"/>
              <a:lstStyle/>
              <a:p>
                <a:pPr algn="ctr">
                  <a:lnSpc>
                    <a:spcPts val="2088"/>
                  </a:lnSpc>
                </a:pPr>
                <a:r>
                  <a:rPr lang="en-US" sz="1739" b="true">
                    <a:solidFill>
                      <a:srgbClr val="101010"/>
                    </a:solidFill>
                    <a:latin typeface="Arimo Bold"/>
                    <a:ea typeface="Arimo Bold"/>
                    <a:cs typeface="Arimo Bold"/>
                    <a:sym typeface="Arimo Bold"/>
                  </a:rPr>
                  <a:t>접근</a:t>
                </a:r>
                <a:r>
                  <a:rPr lang="en-US" sz="1739" b="true">
                    <a:solidFill>
                      <a:srgbClr val="101010"/>
                    </a:solidFill>
                    <a:latin typeface="Arimo Bold"/>
                    <a:ea typeface="Arimo Bold"/>
                    <a:cs typeface="Arimo Bold"/>
                    <a:sym typeface="Arimo Bold"/>
                  </a:rPr>
                  <a:t> </a:t>
                </a:r>
              </a:p>
            </p:txBody>
          </p:sp>
        </p:grpSp>
        <p:grpSp>
          <p:nvGrpSpPr>
            <p:cNvPr name="Group 94" id="94"/>
            <p:cNvGrpSpPr/>
            <p:nvPr/>
          </p:nvGrpSpPr>
          <p:grpSpPr>
            <a:xfrm rot="0">
              <a:off x="3251159" y="0"/>
              <a:ext cx="594512" cy="660400"/>
              <a:chOff x="0" y="0"/>
              <a:chExt cx="594512" cy="660400"/>
            </a:xfrm>
          </p:grpSpPr>
          <p:sp>
            <p:nvSpPr>
              <p:cNvPr name="Freeform 95" id="95"/>
              <p:cNvSpPr/>
              <p:nvPr/>
            </p:nvSpPr>
            <p:spPr>
              <a:xfrm flipH="false" flipV="false" rot="0">
                <a:off x="0" y="0"/>
                <a:ext cx="594512" cy="660400"/>
              </a:xfrm>
              <a:custGeom>
                <a:avLst/>
                <a:gdLst/>
                <a:ahLst/>
                <a:cxnLst/>
                <a:rect r="r" b="b" t="t" l="l"/>
                <a:pathLst>
                  <a:path h="660400" w="594512">
                    <a:moveTo>
                      <a:pt x="0" y="0"/>
                    </a:moveTo>
                    <a:lnTo>
                      <a:pt x="594512" y="0"/>
                    </a:lnTo>
                    <a:lnTo>
                      <a:pt x="594512" y="660400"/>
                    </a:lnTo>
                    <a:lnTo>
                      <a:pt x="0" y="660400"/>
                    </a:lnTo>
                    <a:close/>
                  </a:path>
                </a:pathLst>
              </a:custGeom>
              <a:blipFill>
                <a:blip r:embed="rId3">
                  <a:alphaModFix amt="0"/>
                </a:blip>
                <a:stretch>
                  <a:fillRect l="0" t="-126864" r="-908288" b="-126864"/>
                </a:stretch>
              </a:blipFill>
            </p:spPr>
          </p:sp>
          <p:sp>
            <p:nvSpPr>
              <p:cNvPr name="TextBox 96" id="96"/>
              <p:cNvSpPr txBox="true"/>
              <p:nvPr/>
            </p:nvSpPr>
            <p:spPr>
              <a:xfrm>
                <a:off x="0" y="-19050"/>
                <a:ext cx="594512" cy="679450"/>
              </a:xfrm>
              <a:prstGeom prst="rect">
                <a:avLst/>
              </a:prstGeom>
            </p:spPr>
            <p:txBody>
              <a:bodyPr anchor="ctr" rtlCol="false" tIns="0" lIns="0" bIns="0" rIns="0"/>
              <a:lstStyle/>
              <a:p>
                <a:pPr algn="ctr">
                  <a:lnSpc>
                    <a:spcPts val="2088"/>
                  </a:lnSpc>
                </a:pPr>
                <a:r>
                  <a:rPr lang="en-US" sz="1739" b="true">
                    <a:solidFill>
                      <a:srgbClr val="101010"/>
                    </a:solidFill>
                    <a:latin typeface="Arimo Bold"/>
                    <a:ea typeface="Arimo Bold"/>
                    <a:cs typeface="Arimo Bold"/>
                    <a:sym typeface="Arimo Bold"/>
                  </a:rPr>
                  <a:t>집기</a:t>
                </a:r>
                <a:r>
                  <a:rPr lang="en-US" sz="1739" b="true">
                    <a:solidFill>
                      <a:srgbClr val="101010"/>
                    </a:solidFill>
                    <a:latin typeface="Arimo Bold"/>
                    <a:ea typeface="Arimo Bold"/>
                    <a:cs typeface="Arimo Bold"/>
                    <a:sym typeface="Arimo Bold"/>
                  </a:rPr>
                  <a:t> </a:t>
                </a:r>
              </a:p>
            </p:txBody>
          </p:sp>
        </p:grpSp>
        <p:grpSp>
          <p:nvGrpSpPr>
            <p:cNvPr name="Group 97" id="97"/>
            <p:cNvGrpSpPr/>
            <p:nvPr/>
          </p:nvGrpSpPr>
          <p:grpSpPr>
            <a:xfrm rot="0">
              <a:off x="4315571" y="0"/>
              <a:ext cx="594512" cy="660400"/>
              <a:chOff x="0" y="0"/>
              <a:chExt cx="594512" cy="660400"/>
            </a:xfrm>
          </p:grpSpPr>
          <p:sp>
            <p:nvSpPr>
              <p:cNvPr name="Freeform 98" id="98"/>
              <p:cNvSpPr/>
              <p:nvPr/>
            </p:nvSpPr>
            <p:spPr>
              <a:xfrm flipH="false" flipV="false" rot="0">
                <a:off x="0" y="0"/>
                <a:ext cx="594512" cy="660400"/>
              </a:xfrm>
              <a:custGeom>
                <a:avLst/>
                <a:gdLst/>
                <a:ahLst/>
                <a:cxnLst/>
                <a:rect r="r" b="b" t="t" l="l"/>
                <a:pathLst>
                  <a:path h="660400" w="594512">
                    <a:moveTo>
                      <a:pt x="0" y="0"/>
                    </a:moveTo>
                    <a:lnTo>
                      <a:pt x="594512" y="0"/>
                    </a:lnTo>
                    <a:lnTo>
                      <a:pt x="594512" y="660400"/>
                    </a:lnTo>
                    <a:lnTo>
                      <a:pt x="0" y="660400"/>
                    </a:lnTo>
                    <a:close/>
                  </a:path>
                </a:pathLst>
              </a:custGeom>
              <a:blipFill>
                <a:blip r:embed="rId3">
                  <a:alphaModFix amt="0"/>
                </a:blip>
                <a:stretch>
                  <a:fillRect l="0" t="-126864" r="-908288" b="-126864"/>
                </a:stretch>
              </a:blipFill>
            </p:spPr>
          </p:sp>
          <p:sp>
            <p:nvSpPr>
              <p:cNvPr name="TextBox 99" id="99"/>
              <p:cNvSpPr txBox="true"/>
              <p:nvPr/>
            </p:nvSpPr>
            <p:spPr>
              <a:xfrm>
                <a:off x="0" y="-19050"/>
                <a:ext cx="594512" cy="679450"/>
              </a:xfrm>
              <a:prstGeom prst="rect">
                <a:avLst/>
              </a:prstGeom>
            </p:spPr>
            <p:txBody>
              <a:bodyPr anchor="ctr" rtlCol="false" tIns="0" lIns="0" bIns="0" rIns="0"/>
              <a:lstStyle/>
              <a:p>
                <a:pPr algn="ctr">
                  <a:lnSpc>
                    <a:spcPts val="2088"/>
                  </a:lnSpc>
                </a:pPr>
                <a:r>
                  <a:rPr lang="en-US" sz="1739" b="true">
                    <a:solidFill>
                      <a:srgbClr val="101010"/>
                    </a:solidFill>
                    <a:latin typeface="Arimo Bold"/>
                    <a:ea typeface="Arimo Bold"/>
                    <a:cs typeface="Arimo Bold"/>
                    <a:sym typeface="Arimo Bold"/>
                  </a:rPr>
                  <a:t>상승</a:t>
                </a:r>
                <a:r>
                  <a:rPr lang="en-US" sz="1739" b="true">
                    <a:solidFill>
                      <a:srgbClr val="101010"/>
                    </a:solidFill>
                    <a:latin typeface="Arimo Bold"/>
                    <a:ea typeface="Arimo Bold"/>
                    <a:cs typeface="Arimo Bold"/>
                    <a:sym typeface="Arimo Bold"/>
                  </a:rPr>
                  <a:t> </a:t>
                </a:r>
              </a:p>
            </p:txBody>
          </p:sp>
        </p:grpSp>
        <p:sp>
          <p:nvSpPr>
            <p:cNvPr name="AutoShape 100" id="100"/>
            <p:cNvSpPr/>
            <p:nvPr/>
          </p:nvSpPr>
          <p:spPr>
            <a:xfrm>
              <a:off x="653859" y="330200"/>
              <a:ext cx="467553" cy="0"/>
            </a:xfrm>
            <a:prstGeom prst="line">
              <a:avLst/>
            </a:prstGeom>
            <a:ln cap="flat" w="25400">
              <a:solidFill>
                <a:srgbClr val="000000"/>
              </a:solidFill>
              <a:prstDash val="solid"/>
              <a:headEnd type="none" len="sm" w="sm"/>
              <a:tailEnd type="triangle" len="med" w="lg"/>
            </a:ln>
          </p:spPr>
        </p:sp>
        <p:sp>
          <p:nvSpPr>
            <p:cNvPr name="AutoShape 101" id="101"/>
            <p:cNvSpPr/>
            <p:nvPr/>
          </p:nvSpPr>
          <p:spPr>
            <a:xfrm>
              <a:off x="1696342" y="330200"/>
              <a:ext cx="469900" cy="0"/>
            </a:xfrm>
            <a:prstGeom prst="line">
              <a:avLst/>
            </a:prstGeom>
            <a:ln cap="flat" w="25400">
              <a:solidFill>
                <a:srgbClr val="000000"/>
              </a:solidFill>
              <a:prstDash val="solid"/>
              <a:headEnd type="none" len="sm" w="sm"/>
              <a:tailEnd type="triangle" len="med" w="lg"/>
            </a:ln>
          </p:spPr>
        </p:sp>
        <p:sp>
          <p:nvSpPr>
            <p:cNvPr name="AutoShape 102" id="102"/>
            <p:cNvSpPr/>
            <p:nvPr/>
          </p:nvSpPr>
          <p:spPr>
            <a:xfrm>
              <a:off x="2781259" y="330200"/>
              <a:ext cx="469900" cy="0"/>
            </a:xfrm>
            <a:prstGeom prst="line">
              <a:avLst/>
            </a:prstGeom>
            <a:ln cap="flat" w="25400">
              <a:solidFill>
                <a:srgbClr val="000000"/>
              </a:solidFill>
              <a:prstDash val="solid"/>
              <a:headEnd type="none" len="sm" w="sm"/>
              <a:tailEnd type="triangle" len="med" w="lg"/>
            </a:ln>
          </p:spPr>
        </p:sp>
        <p:sp>
          <p:nvSpPr>
            <p:cNvPr name="AutoShape 103" id="103"/>
            <p:cNvSpPr/>
            <p:nvPr/>
          </p:nvSpPr>
          <p:spPr>
            <a:xfrm>
              <a:off x="3845671" y="330200"/>
              <a:ext cx="469900" cy="0"/>
            </a:xfrm>
            <a:prstGeom prst="line">
              <a:avLst/>
            </a:prstGeom>
            <a:ln cap="flat" w="25400">
              <a:solidFill>
                <a:srgbClr val="000000"/>
              </a:solidFill>
              <a:prstDash val="solid"/>
              <a:headEnd type="none" len="sm" w="sm"/>
              <a:tailEnd type="triangle" len="med" w="lg"/>
            </a:ln>
          </p:spPr>
        </p:sp>
      </p:grpSp>
      <p:grpSp>
        <p:nvGrpSpPr>
          <p:cNvPr name="Group 104" id="104"/>
          <p:cNvGrpSpPr/>
          <p:nvPr/>
        </p:nvGrpSpPr>
        <p:grpSpPr>
          <a:xfrm rot="0">
            <a:off x="1245870" y="3698870"/>
            <a:ext cx="4445003" cy="393700"/>
            <a:chOff x="0" y="0"/>
            <a:chExt cx="5926671" cy="524934"/>
          </a:xfrm>
        </p:grpSpPr>
        <p:sp>
          <p:nvSpPr>
            <p:cNvPr name="Freeform 105" id="105"/>
            <p:cNvSpPr/>
            <p:nvPr/>
          </p:nvSpPr>
          <p:spPr>
            <a:xfrm flipH="false" flipV="false" rot="0">
              <a:off x="0" y="0"/>
              <a:ext cx="5926666" cy="524939"/>
            </a:xfrm>
            <a:custGeom>
              <a:avLst/>
              <a:gdLst/>
              <a:ahLst/>
              <a:cxnLst/>
              <a:rect r="r" b="b" t="t" l="l"/>
              <a:pathLst>
                <a:path h="524939" w="5926666">
                  <a:moveTo>
                    <a:pt x="0" y="0"/>
                  </a:moveTo>
                  <a:lnTo>
                    <a:pt x="5926666" y="0"/>
                  </a:lnTo>
                  <a:lnTo>
                    <a:pt x="5926666" y="524939"/>
                  </a:lnTo>
                  <a:lnTo>
                    <a:pt x="0" y="524939"/>
                  </a:lnTo>
                  <a:close/>
                </a:path>
              </a:pathLst>
            </a:custGeom>
            <a:blipFill>
              <a:blip r:embed="rId3">
                <a:alphaModFix amt="0"/>
              </a:blip>
              <a:stretch>
                <a:fillRect l="0" t="-169991" r="0" b="-169989"/>
              </a:stretch>
            </a:blipFill>
          </p:spPr>
        </p:sp>
        <p:sp>
          <p:nvSpPr>
            <p:cNvPr name="TextBox 106" id="106"/>
            <p:cNvSpPr txBox="true"/>
            <p:nvPr/>
          </p:nvSpPr>
          <p:spPr>
            <a:xfrm>
              <a:off x="0" y="-19050"/>
              <a:ext cx="5926671" cy="543984"/>
            </a:xfrm>
            <a:prstGeom prst="rect">
              <a:avLst/>
            </a:prstGeom>
          </p:spPr>
          <p:txBody>
            <a:bodyPr anchor="ctr" rtlCol="false" tIns="0" lIns="0" bIns="0" rIns="0"/>
            <a:lstStyle/>
            <a:p>
              <a:pPr algn="l">
                <a:lnSpc>
                  <a:spcPts val="1907"/>
                </a:lnSpc>
              </a:pPr>
              <a:r>
                <a:rPr lang="en-US" sz="1589" b="true">
                  <a:solidFill>
                    <a:srgbClr val="777772"/>
                  </a:solidFill>
                  <a:latin typeface="Arimo Bold"/>
                  <a:ea typeface="Arimo Bold"/>
                  <a:cs typeface="Arimo Bold"/>
                  <a:sym typeface="Arimo Bold"/>
                </a:rPr>
                <a:t>물체를 집어 들어 올리기</a:t>
              </a:r>
            </a:p>
          </p:txBody>
        </p:sp>
      </p:grpSp>
      <p:grpSp>
        <p:nvGrpSpPr>
          <p:cNvPr name="Group 107" id="107"/>
          <p:cNvGrpSpPr/>
          <p:nvPr/>
        </p:nvGrpSpPr>
        <p:grpSpPr>
          <a:xfrm rot="0">
            <a:off x="6884670" y="3670303"/>
            <a:ext cx="4445003" cy="393700"/>
            <a:chOff x="0" y="0"/>
            <a:chExt cx="5926671" cy="524934"/>
          </a:xfrm>
        </p:grpSpPr>
        <p:sp>
          <p:nvSpPr>
            <p:cNvPr name="Freeform 108" id="108"/>
            <p:cNvSpPr/>
            <p:nvPr/>
          </p:nvSpPr>
          <p:spPr>
            <a:xfrm flipH="false" flipV="false" rot="0">
              <a:off x="0" y="0"/>
              <a:ext cx="5926666" cy="524939"/>
            </a:xfrm>
            <a:custGeom>
              <a:avLst/>
              <a:gdLst/>
              <a:ahLst/>
              <a:cxnLst/>
              <a:rect r="r" b="b" t="t" l="l"/>
              <a:pathLst>
                <a:path h="524939" w="5926666">
                  <a:moveTo>
                    <a:pt x="0" y="0"/>
                  </a:moveTo>
                  <a:lnTo>
                    <a:pt x="5926666" y="0"/>
                  </a:lnTo>
                  <a:lnTo>
                    <a:pt x="5926666" y="524939"/>
                  </a:lnTo>
                  <a:lnTo>
                    <a:pt x="0" y="524939"/>
                  </a:lnTo>
                  <a:close/>
                </a:path>
              </a:pathLst>
            </a:custGeom>
            <a:blipFill>
              <a:blip r:embed="rId3">
                <a:alphaModFix amt="0"/>
              </a:blip>
              <a:stretch>
                <a:fillRect l="0" t="-169991" r="0" b="-169989"/>
              </a:stretch>
            </a:blipFill>
          </p:spPr>
        </p:sp>
        <p:sp>
          <p:nvSpPr>
            <p:cNvPr name="TextBox 109" id="109"/>
            <p:cNvSpPr txBox="true"/>
            <p:nvPr/>
          </p:nvSpPr>
          <p:spPr>
            <a:xfrm>
              <a:off x="0" y="-19050"/>
              <a:ext cx="5926671" cy="543984"/>
            </a:xfrm>
            <a:prstGeom prst="rect">
              <a:avLst/>
            </a:prstGeom>
          </p:spPr>
          <p:txBody>
            <a:bodyPr anchor="ctr" rtlCol="false" tIns="0" lIns="0" bIns="0" rIns="0"/>
            <a:lstStyle/>
            <a:p>
              <a:pPr algn="l">
                <a:lnSpc>
                  <a:spcPts val="1907"/>
                </a:lnSpc>
              </a:pPr>
              <a:r>
                <a:rPr lang="en-US" sz="1589" b="true">
                  <a:solidFill>
                    <a:srgbClr val="777772"/>
                  </a:solidFill>
                  <a:latin typeface="Arimo Bold"/>
                  <a:ea typeface="Arimo Bold"/>
                  <a:cs typeface="Arimo Bold"/>
                  <a:sym typeface="Arimo Bold"/>
                </a:rPr>
                <a:t>지정한 구역에 내려놓기</a:t>
              </a:r>
            </a:p>
          </p:txBody>
        </p:sp>
      </p:grpSp>
      <p:grpSp>
        <p:nvGrpSpPr>
          <p:cNvPr name="Group 110" id="110"/>
          <p:cNvGrpSpPr/>
          <p:nvPr/>
        </p:nvGrpSpPr>
        <p:grpSpPr>
          <a:xfrm rot="0">
            <a:off x="12536167" y="3698870"/>
            <a:ext cx="4445003" cy="393700"/>
            <a:chOff x="0" y="0"/>
            <a:chExt cx="5926671" cy="524934"/>
          </a:xfrm>
        </p:grpSpPr>
        <p:sp>
          <p:nvSpPr>
            <p:cNvPr name="Freeform 111" id="111"/>
            <p:cNvSpPr/>
            <p:nvPr/>
          </p:nvSpPr>
          <p:spPr>
            <a:xfrm flipH="false" flipV="false" rot="0">
              <a:off x="0" y="0"/>
              <a:ext cx="5926666" cy="524939"/>
            </a:xfrm>
            <a:custGeom>
              <a:avLst/>
              <a:gdLst/>
              <a:ahLst/>
              <a:cxnLst/>
              <a:rect r="r" b="b" t="t" l="l"/>
              <a:pathLst>
                <a:path h="524939" w="5926666">
                  <a:moveTo>
                    <a:pt x="0" y="0"/>
                  </a:moveTo>
                  <a:lnTo>
                    <a:pt x="5926666" y="0"/>
                  </a:lnTo>
                  <a:lnTo>
                    <a:pt x="5926666" y="524939"/>
                  </a:lnTo>
                  <a:lnTo>
                    <a:pt x="0" y="524939"/>
                  </a:lnTo>
                  <a:close/>
                </a:path>
              </a:pathLst>
            </a:custGeom>
            <a:blipFill>
              <a:blip r:embed="rId3">
                <a:alphaModFix amt="0"/>
              </a:blip>
              <a:stretch>
                <a:fillRect l="0" t="-169991" r="0" b="-169989"/>
              </a:stretch>
            </a:blipFill>
          </p:spPr>
        </p:sp>
        <p:sp>
          <p:nvSpPr>
            <p:cNvPr name="TextBox 112" id="112"/>
            <p:cNvSpPr txBox="true"/>
            <p:nvPr/>
          </p:nvSpPr>
          <p:spPr>
            <a:xfrm>
              <a:off x="0" y="-19050"/>
              <a:ext cx="5926671" cy="543984"/>
            </a:xfrm>
            <a:prstGeom prst="rect">
              <a:avLst/>
            </a:prstGeom>
          </p:spPr>
          <p:txBody>
            <a:bodyPr anchor="ctr" rtlCol="false" tIns="0" lIns="0" bIns="0" rIns="0"/>
            <a:lstStyle/>
            <a:p>
              <a:pPr algn="l">
                <a:lnSpc>
                  <a:spcPts val="1907"/>
                </a:lnSpc>
              </a:pPr>
              <a:r>
                <a:rPr lang="en-US" sz="1589" b="true">
                  <a:solidFill>
                    <a:srgbClr val="777772"/>
                  </a:solidFill>
                  <a:latin typeface="Arimo Bold"/>
                  <a:ea typeface="Arimo Bold"/>
                  <a:cs typeface="Arimo Bold"/>
                  <a:sym typeface="Arimo Bold"/>
                </a:rPr>
                <a:t>지정된 자세로 이동</a:t>
              </a:r>
            </a:p>
          </p:txBody>
        </p:sp>
      </p:grpSp>
      <p:sp>
        <p:nvSpPr>
          <p:cNvPr name="TextBox 113" id="113"/>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10</a:t>
            </a:r>
          </a:p>
        </p:txBody>
      </p:sp>
      <p:grpSp>
        <p:nvGrpSpPr>
          <p:cNvPr name="Group 114" id="114"/>
          <p:cNvGrpSpPr/>
          <p:nvPr/>
        </p:nvGrpSpPr>
        <p:grpSpPr>
          <a:xfrm rot="0">
            <a:off x="768096" y="589788"/>
            <a:ext cx="3017520" cy="329184"/>
            <a:chOff x="0" y="0"/>
            <a:chExt cx="4023360" cy="438912"/>
          </a:xfrm>
        </p:grpSpPr>
        <p:sp>
          <p:nvSpPr>
            <p:cNvPr name="Freeform 115" id="115"/>
            <p:cNvSpPr/>
            <p:nvPr/>
          </p:nvSpPr>
          <p:spPr>
            <a:xfrm flipH="false" flipV="false" rot="0">
              <a:off x="0" y="0"/>
              <a:ext cx="4023360" cy="438912"/>
            </a:xfrm>
            <a:custGeom>
              <a:avLst/>
              <a:gdLst/>
              <a:ahLst/>
              <a:cxnLst/>
              <a:rect r="r" b="b" t="t" l="l"/>
              <a:pathLst>
                <a:path h="438912" w="4023360">
                  <a:moveTo>
                    <a:pt x="0" y="0"/>
                  </a:moveTo>
                  <a:lnTo>
                    <a:pt x="4023360" y="0"/>
                  </a:lnTo>
                  <a:lnTo>
                    <a:pt x="4023360" y="438912"/>
                  </a:lnTo>
                  <a:lnTo>
                    <a:pt x="0" y="438912"/>
                  </a:lnTo>
                  <a:close/>
                </a:path>
              </a:pathLst>
            </a:custGeom>
            <a:blipFill>
              <a:blip r:embed="rId3">
                <a:alphaModFix amt="0"/>
              </a:blip>
              <a:stretch>
                <a:fillRect l="0" t="-128612" r="0" b="-128612"/>
              </a:stretch>
            </a:blipFill>
          </p:spPr>
        </p:sp>
        <p:sp>
          <p:nvSpPr>
            <p:cNvPr name="TextBox 116" id="116"/>
            <p:cNvSpPr txBox="true"/>
            <p:nvPr/>
          </p:nvSpPr>
          <p:spPr>
            <a:xfrm>
              <a:off x="0" y="-19050"/>
              <a:ext cx="4023360" cy="457962"/>
            </a:xfrm>
            <a:prstGeom prst="rect">
              <a:avLst/>
            </a:prstGeom>
          </p:spPr>
          <p:txBody>
            <a:bodyPr anchor="ctr" rtlCol="false" tIns="0" lIns="0" bIns="0" rIns="0"/>
            <a:lstStyle/>
            <a:p>
              <a:pPr algn="l">
                <a:lnSpc>
                  <a:spcPts val="1800"/>
                </a:lnSpc>
              </a:pPr>
              <a:r>
                <a:rPr lang="en-US" sz="1500" b="true">
                  <a:solidFill>
                    <a:srgbClr val="666666"/>
                  </a:solidFill>
                  <a:latin typeface="Arimo Bold"/>
                  <a:ea typeface="Arimo Bold"/>
                  <a:cs typeface="Arimo Bold"/>
                  <a:sym typeface="Arimo Bold"/>
                </a:rPr>
                <a:t>LARO-BOT</a:t>
              </a:r>
            </a:p>
          </p:txBody>
        </p:sp>
      </p:grpSp>
      <p:grpSp>
        <p:nvGrpSpPr>
          <p:cNvPr name="Group 117" id="117"/>
          <p:cNvGrpSpPr/>
          <p:nvPr/>
        </p:nvGrpSpPr>
        <p:grpSpPr>
          <a:xfrm rot="0">
            <a:off x="768096" y="954201"/>
            <a:ext cx="11395450" cy="856692"/>
            <a:chOff x="0" y="0"/>
            <a:chExt cx="15193933" cy="1142256"/>
          </a:xfrm>
        </p:grpSpPr>
        <p:sp>
          <p:nvSpPr>
            <p:cNvPr name="Freeform 118" id="118"/>
            <p:cNvSpPr/>
            <p:nvPr/>
          </p:nvSpPr>
          <p:spPr>
            <a:xfrm flipH="false" flipV="false" rot="0">
              <a:off x="0" y="0"/>
              <a:ext cx="15193933" cy="1142256"/>
            </a:xfrm>
            <a:custGeom>
              <a:avLst/>
              <a:gdLst/>
              <a:ahLst/>
              <a:cxnLst/>
              <a:rect r="r" b="b" t="t" l="l"/>
              <a:pathLst>
                <a:path h="1142256" w="15193933">
                  <a:moveTo>
                    <a:pt x="0" y="0"/>
                  </a:moveTo>
                  <a:lnTo>
                    <a:pt x="15193933" y="0"/>
                  </a:lnTo>
                  <a:lnTo>
                    <a:pt x="15193933" y="1142256"/>
                  </a:lnTo>
                  <a:lnTo>
                    <a:pt x="0" y="1142256"/>
                  </a:lnTo>
                  <a:close/>
                </a:path>
              </a:pathLst>
            </a:custGeom>
            <a:blipFill>
              <a:blip r:embed="rId3">
                <a:alphaModFix amt="0"/>
              </a:blip>
              <a:stretch>
                <a:fillRect l="0" t="-230499" r="-5920" b="-218556"/>
              </a:stretch>
            </a:blipFill>
          </p:spPr>
        </p:sp>
        <p:sp>
          <p:nvSpPr>
            <p:cNvPr name="TextBox 119" id="119"/>
            <p:cNvSpPr txBox="true"/>
            <p:nvPr/>
          </p:nvSpPr>
          <p:spPr>
            <a:xfrm>
              <a:off x="0" y="-19050"/>
              <a:ext cx="15193933" cy="1161306"/>
            </a:xfrm>
            <a:prstGeom prst="rect">
              <a:avLst/>
            </a:prstGeom>
          </p:spPr>
          <p:txBody>
            <a:bodyPr anchor="ctr" rtlCol="false" tIns="0" lIns="0" bIns="0" rIns="0"/>
            <a:lstStyle/>
            <a:p>
              <a:pPr algn="l">
                <a:lnSpc>
                  <a:spcPts val="5040"/>
                </a:lnSpc>
              </a:pPr>
              <a:r>
                <a:rPr lang="en-US" sz="4200" b="true">
                  <a:solidFill>
                    <a:srgbClr val="111111"/>
                  </a:solidFill>
                  <a:latin typeface="Arimo Bold"/>
                  <a:ea typeface="Arimo Bold"/>
                  <a:cs typeface="Arimo Bold"/>
                  <a:sym typeface="Arimo Bold"/>
                </a:rPr>
                <a:t>로봇이 수행 가능한 세 가지 행동</a:t>
              </a:r>
            </a:p>
          </p:txBody>
        </p:sp>
      </p:grpSp>
      <p:grpSp>
        <p:nvGrpSpPr>
          <p:cNvPr name="Group 120" id="120"/>
          <p:cNvGrpSpPr/>
          <p:nvPr/>
        </p:nvGrpSpPr>
        <p:grpSpPr>
          <a:xfrm rot="0">
            <a:off x="14030325" y="4724400"/>
            <a:ext cx="1302823" cy="495300"/>
            <a:chOff x="0" y="0"/>
            <a:chExt cx="1737098" cy="660400"/>
          </a:xfrm>
        </p:grpSpPr>
        <p:sp>
          <p:nvSpPr>
            <p:cNvPr name="Freeform 121" id="121"/>
            <p:cNvSpPr/>
            <p:nvPr/>
          </p:nvSpPr>
          <p:spPr>
            <a:xfrm flipH="false" flipV="false" rot="0">
              <a:off x="0" y="0"/>
              <a:ext cx="1737098" cy="660400"/>
            </a:xfrm>
            <a:custGeom>
              <a:avLst/>
              <a:gdLst/>
              <a:ahLst/>
              <a:cxnLst/>
              <a:rect r="r" b="b" t="t" l="l"/>
              <a:pathLst>
                <a:path h="660400" w="1737098">
                  <a:moveTo>
                    <a:pt x="0" y="0"/>
                  </a:moveTo>
                  <a:lnTo>
                    <a:pt x="1737098" y="0"/>
                  </a:lnTo>
                  <a:lnTo>
                    <a:pt x="1737098" y="660400"/>
                  </a:lnTo>
                  <a:lnTo>
                    <a:pt x="0" y="660400"/>
                  </a:lnTo>
                  <a:close/>
                </a:path>
              </a:pathLst>
            </a:custGeom>
            <a:blipFill>
              <a:blip r:embed="rId3">
                <a:alphaModFix amt="0"/>
              </a:blip>
              <a:stretch>
                <a:fillRect l="0" t="-126864" r="-245081" b="-126864"/>
              </a:stretch>
            </a:blipFill>
          </p:spPr>
        </p:sp>
        <p:sp>
          <p:nvSpPr>
            <p:cNvPr name="TextBox 122" id="122"/>
            <p:cNvSpPr txBox="true"/>
            <p:nvPr/>
          </p:nvSpPr>
          <p:spPr>
            <a:xfrm>
              <a:off x="0" y="-19050"/>
              <a:ext cx="1737098" cy="679450"/>
            </a:xfrm>
            <a:prstGeom prst="rect">
              <a:avLst/>
            </a:prstGeom>
          </p:spPr>
          <p:txBody>
            <a:bodyPr anchor="ctr" rtlCol="false" tIns="0" lIns="0" bIns="0" rIns="0"/>
            <a:lstStyle/>
            <a:p>
              <a:pPr algn="l">
                <a:lnSpc>
                  <a:spcPts val="2177"/>
                </a:lnSpc>
              </a:pPr>
              <a:r>
                <a:rPr lang="en-US" sz="1814" b="true">
                  <a:solidFill>
                    <a:srgbClr val="101010"/>
                  </a:solidFill>
                  <a:latin typeface="Arimo Bold"/>
                  <a:ea typeface="Arimo Bold"/>
                  <a:cs typeface="Arimo Bold"/>
                  <a:sym typeface="Arimo Bold"/>
                </a:rPr>
                <a:t>지정된 자세</a:t>
              </a:r>
            </a:p>
          </p:txBody>
        </p:sp>
      </p:grpSp>
      <p:sp>
        <p:nvSpPr>
          <p:cNvPr name="AutoShape 123" id="123"/>
          <p:cNvSpPr/>
          <p:nvPr/>
        </p:nvSpPr>
        <p:spPr>
          <a:xfrm>
            <a:off x="13554297" y="4972050"/>
            <a:ext cx="365721" cy="0"/>
          </a:xfrm>
          <a:prstGeom prst="line">
            <a:avLst/>
          </a:prstGeom>
          <a:ln cap="flat" w="19050">
            <a:solidFill>
              <a:srgbClr val="000000"/>
            </a:solidFill>
            <a:prstDash val="solid"/>
            <a:headEnd type="none" len="sm" w="sm"/>
            <a:tailEnd type="triangle" len="med" w="lg"/>
          </a:ln>
        </p:spPr>
      </p:sp>
    </p:spTree>
  </p:cSld>
  <p:clrMapOvr>
    <a:masterClrMapping/>
  </p:clrMapOvr>
  <p:timing>
    <p:tnLst>
      <p:par>
        <p:cTn dur="indefinite" restart="never" nodeType="tmRoot">
          <p:childTnLst>
            <p:video>
              <p:cMediaNode vol="100000">
                <p:cTn fill="hold" display="false">
                  <p:stCondLst>
                    <p:cond delay="indefinite"/>
                  </p:stCondLst>
                </p:cTn>
                <p:tgtEl>
                  <p:spTgt spid="43"/>
                </p:tgtEl>
              </p:cMediaNode>
            </p:video>
            <p:video>
              <p:cMediaNode vol="100000">
                <p:cTn fill="hold" display="false">
                  <p:stCondLst>
                    <p:cond delay="indefinite"/>
                  </p:stCondLst>
                </p:cTn>
                <p:tgtEl>
                  <p:spTgt spid="51"/>
                </p:tgtEl>
              </p:cMediaNode>
            </p:video>
            <p:video>
              <p:cMediaNode vol="100000">
                <p:cTn fill="hold" display="false">
                  <p:stCondLst>
                    <p:cond delay="indefinite"/>
                  </p:stCondLst>
                </p:cTn>
                <p:tgtEl>
                  <p:spTgt spid="59"/>
                </p:tgtEl>
              </p:cMediaNode>
            </p:video>
          </p:childTnLst>
        </p:cTn>
      </p:par>
    </p:tnLst>
  </p:timing>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grpSp>
        <p:nvGrpSpPr>
          <p:cNvPr name="Group 2" id="2"/>
          <p:cNvGrpSpPr/>
          <p:nvPr/>
        </p:nvGrpSpPr>
        <p:grpSpPr>
          <a:xfrm rot="0">
            <a:off x="7870736" y="2562225"/>
            <a:ext cx="9655264" cy="6038850"/>
            <a:chOff x="0" y="0"/>
            <a:chExt cx="12873685" cy="8051800"/>
          </a:xfrm>
        </p:grpSpPr>
        <p:sp>
          <p:nvSpPr>
            <p:cNvPr name="Freeform 3" id="3" descr="자가정리: 빨간 블록 이동, 최종 구역 판정은 별도"/>
            <p:cNvSpPr/>
            <p:nvPr/>
          </p:nvSpPr>
          <p:spPr>
            <a:xfrm flipH="false" flipV="false" rot="0">
              <a:off x="0" y="0"/>
              <a:ext cx="12873685" cy="8051800"/>
            </a:xfrm>
            <a:custGeom>
              <a:avLst/>
              <a:gdLst/>
              <a:ahLst/>
              <a:cxnLst/>
              <a:rect r="r" b="b" t="t" l="l"/>
              <a:pathLst>
                <a:path h="8051800" w="12873685">
                  <a:moveTo>
                    <a:pt x="0" y="153289"/>
                  </a:moveTo>
                  <a:cubicBezTo>
                    <a:pt x="0" y="68580"/>
                    <a:pt x="83757" y="0"/>
                    <a:pt x="187211" y="0"/>
                  </a:cubicBezTo>
                  <a:lnTo>
                    <a:pt x="12686474" y="0"/>
                  </a:lnTo>
                  <a:cubicBezTo>
                    <a:pt x="12789928" y="0"/>
                    <a:pt x="12873685" y="68580"/>
                    <a:pt x="12873685" y="153289"/>
                  </a:cubicBezTo>
                  <a:lnTo>
                    <a:pt x="12873685" y="7898511"/>
                  </a:lnTo>
                  <a:cubicBezTo>
                    <a:pt x="12873685" y="7983093"/>
                    <a:pt x="12789928" y="8051800"/>
                    <a:pt x="12686474" y="8051800"/>
                  </a:cubicBezTo>
                  <a:lnTo>
                    <a:pt x="187211" y="8051800"/>
                  </a:lnTo>
                  <a:cubicBezTo>
                    <a:pt x="83757" y="8051800"/>
                    <a:pt x="0" y="7983220"/>
                    <a:pt x="0" y="7898511"/>
                  </a:cubicBezTo>
                  <a:close/>
                </a:path>
              </a:pathLst>
            </a:custGeom>
            <a:blipFill>
              <a:blip r:embed="rId3"/>
              <a:stretch>
                <a:fillRect l="0" t="-10078" r="0" b="-10078"/>
              </a:stretch>
            </a:blipFill>
            <a:ln w="38100" cap="sq">
              <a:solidFill>
                <a:srgbClr val="111111"/>
              </a:solidFill>
              <a:prstDash val="solid"/>
              <a:miter/>
            </a:ln>
          </p:spPr>
        </p:sp>
      </p:grpSp>
      <p:grpSp>
        <p:nvGrpSpPr>
          <p:cNvPr name="Group 4" id="4"/>
          <p:cNvGrpSpPr/>
          <p:nvPr/>
        </p:nvGrpSpPr>
        <p:grpSpPr>
          <a:xfrm rot="0">
            <a:off x="768096" y="2562225"/>
            <a:ext cx="6364887" cy="6038850"/>
            <a:chOff x="0" y="0"/>
            <a:chExt cx="8486517" cy="8051800"/>
          </a:xfrm>
        </p:grpSpPr>
        <p:sp>
          <p:nvSpPr>
            <p:cNvPr name="Freeform 5" id="5"/>
            <p:cNvSpPr/>
            <p:nvPr/>
          </p:nvSpPr>
          <p:spPr>
            <a:xfrm flipH="false" flipV="false" rot="0">
              <a:off x="0" y="0"/>
              <a:ext cx="8486554" cy="8051800"/>
            </a:xfrm>
            <a:custGeom>
              <a:avLst/>
              <a:gdLst/>
              <a:ahLst/>
              <a:cxnLst/>
              <a:rect r="r" b="b" t="t" l="l"/>
              <a:pathLst>
                <a:path h="8051800" w="8486554">
                  <a:moveTo>
                    <a:pt x="0" y="153289"/>
                  </a:moveTo>
                  <a:cubicBezTo>
                    <a:pt x="0" y="68580"/>
                    <a:pt x="51108" y="0"/>
                    <a:pt x="114237" y="0"/>
                  </a:cubicBezTo>
                  <a:lnTo>
                    <a:pt x="8372308" y="0"/>
                  </a:lnTo>
                  <a:cubicBezTo>
                    <a:pt x="8435342" y="0"/>
                    <a:pt x="8486554" y="68580"/>
                    <a:pt x="8486554" y="153289"/>
                  </a:cubicBezTo>
                  <a:lnTo>
                    <a:pt x="8486554" y="7898511"/>
                  </a:lnTo>
                  <a:cubicBezTo>
                    <a:pt x="8486554" y="7983093"/>
                    <a:pt x="8435436" y="8051800"/>
                    <a:pt x="8372308" y="8051800"/>
                  </a:cubicBezTo>
                  <a:lnTo>
                    <a:pt x="114237" y="8051800"/>
                  </a:lnTo>
                  <a:cubicBezTo>
                    <a:pt x="51108" y="8051800"/>
                    <a:pt x="0" y="7983220"/>
                    <a:pt x="0" y="7898511"/>
                  </a:cubicBezTo>
                  <a:close/>
                </a:path>
              </a:pathLst>
            </a:custGeom>
            <a:solidFill>
              <a:srgbClr val="FFFFFF"/>
            </a:solidFill>
            <a:ln w="19050" cap="sq">
              <a:solidFill>
                <a:srgbClr val="111111"/>
              </a:solidFill>
              <a:prstDash val="solid"/>
              <a:miter/>
            </a:ln>
          </p:spPr>
        </p:sp>
      </p:grpSp>
      <p:grpSp>
        <p:nvGrpSpPr>
          <p:cNvPr name="Group 6" id="6"/>
          <p:cNvGrpSpPr/>
          <p:nvPr/>
        </p:nvGrpSpPr>
        <p:grpSpPr>
          <a:xfrm rot="0">
            <a:off x="999979" y="2924175"/>
            <a:ext cx="5901122" cy="1060447"/>
            <a:chOff x="0" y="0"/>
            <a:chExt cx="7868162" cy="1413929"/>
          </a:xfrm>
        </p:grpSpPr>
        <p:sp>
          <p:nvSpPr>
            <p:cNvPr name="Freeform 7" id="7"/>
            <p:cNvSpPr/>
            <p:nvPr/>
          </p:nvSpPr>
          <p:spPr>
            <a:xfrm flipH="false" flipV="false" rot="0">
              <a:off x="0" y="0"/>
              <a:ext cx="7868133" cy="1413891"/>
            </a:xfrm>
            <a:custGeom>
              <a:avLst/>
              <a:gdLst/>
              <a:ahLst/>
              <a:cxnLst/>
              <a:rect r="r" b="b" t="t" l="l"/>
              <a:pathLst>
                <a:path h="1413891" w="7868133">
                  <a:moveTo>
                    <a:pt x="0" y="155194"/>
                  </a:moveTo>
                  <a:cubicBezTo>
                    <a:pt x="0" y="69469"/>
                    <a:pt x="51771" y="0"/>
                    <a:pt x="115656" y="0"/>
                  </a:cubicBezTo>
                  <a:lnTo>
                    <a:pt x="7752477" y="0"/>
                  </a:lnTo>
                  <a:cubicBezTo>
                    <a:pt x="7816362" y="0"/>
                    <a:pt x="7868133" y="69469"/>
                    <a:pt x="7868133" y="155194"/>
                  </a:cubicBezTo>
                  <a:lnTo>
                    <a:pt x="7868133" y="1258697"/>
                  </a:lnTo>
                  <a:cubicBezTo>
                    <a:pt x="7868133" y="1344422"/>
                    <a:pt x="7816362" y="1413891"/>
                    <a:pt x="7752477" y="1413891"/>
                  </a:cubicBezTo>
                  <a:lnTo>
                    <a:pt x="115656" y="1413891"/>
                  </a:lnTo>
                  <a:cubicBezTo>
                    <a:pt x="51771" y="1413891"/>
                    <a:pt x="0" y="1344422"/>
                    <a:pt x="0" y="1258697"/>
                  </a:cubicBezTo>
                  <a:close/>
                </a:path>
              </a:pathLst>
            </a:custGeom>
            <a:solidFill>
              <a:srgbClr val="E9EDFF"/>
            </a:solidFill>
          </p:spPr>
        </p:sp>
      </p:grpSp>
      <p:sp>
        <p:nvSpPr>
          <p:cNvPr name="TextBox 8" id="8"/>
          <p:cNvSpPr txBox="true"/>
          <p:nvPr/>
        </p:nvSpPr>
        <p:spPr>
          <a:xfrm rot="0">
            <a:off x="1177439" y="3073403"/>
            <a:ext cx="5546202" cy="381539"/>
          </a:xfrm>
          <a:prstGeom prst="rect">
            <a:avLst/>
          </a:prstGeom>
        </p:spPr>
        <p:txBody>
          <a:bodyPr anchor="t" rtlCol="false" tIns="0" lIns="0" bIns="0" rIns="0">
            <a:spAutoFit/>
          </a:bodyPr>
          <a:lstStyle/>
          <a:p>
            <a:pPr algn="l">
              <a:lnSpc>
                <a:spcPts val="2980"/>
              </a:lnSpc>
            </a:pPr>
            <a:r>
              <a:rPr lang="en-US" sz="2299" b="true">
                <a:solidFill>
                  <a:srgbClr val="111111"/>
                </a:solidFill>
                <a:latin typeface="Arimo Bold"/>
                <a:ea typeface="Arimo Bold"/>
                <a:cs typeface="Arimo Bold"/>
                <a:sym typeface="Arimo Bold"/>
              </a:rPr>
              <a:t>대기 상태에서 2초 이상 관찰</a:t>
            </a:r>
          </a:p>
        </p:txBody>
      </p:sp>
      <p:sp>
        <p:nvSpPr>
          <p:cNvPr name="TextBox 9" id="9"/>
          <p:cNvSpPr txBox="true"/>
          <p:nvPr/>
        </p:nvSpPr>
        <p:spPr>
          <a:xfrm rot="0">
            <a:off x="1177439" y="3543300"/>
            <a:ext cx="5546202" cy="311429"/>
          </a:xfrm>
          <a:prstGeom prst="rect">
            <a:avLst/>
          </a:prstGeom>
        </p:spPr>
        <p:txBody>
          <a:bodyPr anchor="t" rtlCol="false" tIns="0" lIns="0" bIns="0" rIns="0">
            <a:spAutoFit/>
          </a:bodyPr>
          <a:lstStyle/>
          <a:p>
            <a:pPr algn="l">
              <a:lnSpc>
                <a:spcPts val="2332"/>
              </a:lnSpc>
            </a:pPr>
            <a:r>
              <a:rPr lang="en-US" sz="1800">
                <a:solidFill>
                  <a:srgbClr val="666666"/>
                </a:solidFill>
                <a:latin typeface="Arimo"/>
                <a:ea typeface="Arimo"/>
                <a:cs typeface="Arimo"/>
                <a:sym typeface="Arimo"/>
              </a:rPr>
              <a:t>work 구역에 머무는 물체를 정리 대상으로 선택</a:t>
            </a:r>
          </a:p>
        </p:txBody>
      </p:sp>
      <p:grpSp>
        <p:nvGrpSpPr>
          <p:cNvPr name="Group 10" id="10"/>
          <p:cNvGrpSpPr/>
          <p:nvPr/>
        </p:nvGrpSpPr>
        <p:grpSpPr>
          <a:xfrm rot="0">
            <a:off x="999979" y="4283078"/>
            <a:ext cx="5901122" cy="1060447"/>
            <a:chOff x="0" y="0"/>
            <a:chExt cx="7868162" cy="1413929"/>
          </a:xfrm>
        </p:grpSpPr>
        <p:sp>
          <p:nvSpPr>
            <p:cNvPr name="Freeform 11" id="11"/>
            <p:cNvSpPr/>
            <p:nvPr/>
          </p:nvSpPr>
          <p:spPr>
            <a:xfrm flipH="false" flipV="false" rot="0">
              <a:off x="0" y="0"/>
              <a:ext cx="7868133" cy="1413891"/>
            </a:xfrm>
            <a:custGeom>
              <a:avLst/>
              <a:gdLst/>
              <a:ahLst/>
              <a:cxnLst/>
              <a:rect r="r" b="b" t="t" l="l"/>
              <a:pathLst>
                <a:path h="1413891" w="7868133">
                  <a:moveTo>
                    <a:pt x="0" y="155194"/>
                  </a:moveTo>
                  <a:cubicBezTo>
                    <a:pt x="0" y="69469"/>
                    <a:pt x="51771" y="0"/>
                    <a:pt x="115656" y="0"/>
                  </a:cubicBezTo>
                  <a:lnTo>
                    <a:pt x="7752477" y="0"/>
                  </a:lnTo>
                  <a:cubicBezTo>
                    <a:pt x="7816362" y="0"/>
                    <a:pt x="7868133" y="69469"/>
                    <a:pt x="7868133" y="155194"/>
                  </a:cubicBezTo>
                  <a:lnTo>
                    <a:pt x="7868133" y="1258697"/>
                  </a:lnTo>
                  <a:cubicBezTo>
                    <a:pt x="7868133" y="1344422"/>
                    <a:pt x="7816362" y="1413891"/>
                    <a:pt x="7752477" y="1413891"/>
                  </a:cubicBezTo>
                  <a:lnTo>
                    <a:pt x="115656" y="1413891"/>
                  </a:lnTo>
                  <a:cubicBezTo>
                    <a:pt x="51771" y="1413891"/>
                    <a:pt x="0" y="1344422"/>
                    <a:pt x="0" y="1258697"/>
                  </a:cubicBezTo>
                  <a:close/>
                </a:path>
              </a:pathLst>
            </a:custGeom>
            <a:solidFill>
              <a:srgbClr val="E9EDFF"/>
            </a:solidFill>
          </p:spPr>
        </p:sp>
      </p:grpSp>
      <p:sp>
        <p:nvSpPr>
          <p:cNvPr name="TextBox 12" id="12"/>
          <p:cNvSpPr txBox="true"/>
          <p:nvPr/>
        </p:nvSpPr>
        <p:spPr>
          <a:xfrm rot="0">
            <a:off x="1177439" y="4432297"/>
            <a:ext cx="5546202" cy="381539"/>
          </a:xfrm>
          <a:prstGeom prst="rect">
            <a:avLst/>
          </a:prstGeom>
        </p:spPr>
        <p:txBody>
          <a:bodyPr anchor="t" rtlCol="false" tIns="0" lIns="0" bIns="0" rIns="0">
            <a:spAutoFit/>
          </a:bodyPr>
          <a:lstStyle/>
          <a:p>
            <a:pPr algn="l">
              <a:lnSpc>
                <a:spcPts val="2980"/>
              </a:lnSpc>
            </a:pPr>
            <a:r>
              <a:rPr lang="en-US" sz="2299" b="true">
                <a:solidFill>
                  <a:srgbClr val="111111"/>
                </a:solidFill>
                <a:latin typeface="Arimo Bold"/>
                <a:ea typeface="Arimo Bold"/>
                <a:cs typeface="Arimo Bold"/>
                <a:sym typeface="Arimo Bold"/>
              </a:rPr>
              <a:t>물체별 정리 목적지 지정</a:t>
            </a:r>
          </a:p>
        </p:txBody>
      </p:sp>
      <p:sp>
        <p:nvSpPr>
          <p:cNvPr name="TextBox 13" id="13"/>
          <p:cNvSpPr txBox="true"/>
          <p:nvPr/>
        </p:nvSpPr>
        <p:spPr>
          <a:xfrm rot="0">
            <a:off x="1177439" y="4902203"/>
            <a:ext cx="5546202" cy="311429"/>
          </a:xfrm>
          <a:prstGeom prst="rect">
            <a:avLst/>
          </a:prstGeom>
        </p:spPr>
        <p:txBody>
          <a:bodyPr anchor="t" rtlCol="false" tIns="0" lIns="0" bIns="0" rIns="0">
            <a:spAutoFit/>
          </a:bodyPr>
          <a:lstStyle/>
          <a:p>
            <a:pPr algn="l">
              <a:lnSpc>
                <a:spcPts val="2332"/>
              </a:lnSpc>
            </a:pPr>
            <a:r>
              <a:rPr lang="en-US" sz="1800">
                <a:solidFill>
                  <a:srgbClr val="666666"/>
                </a:solidFill>
                <a:latin typeface="Arimo"/>
                <a:ea typeface="Arimo"/>
                <a:cs typeface="Arimo"/>
                <a:sym typeface="Arimo"/>
              </a:rPr>
              <a:t>red_block → shelf / green_block → bin</a:t>
            </a:r>
          </a:p>
        </p:txBody>
      </p:sp>
      <p:grpSp>
        <p:nvGrpSpPr>
          <p:cNvPr name="Group 14" id="14"/>
          <p:cNvGrpSpPr/>
          <p:nvPr/>
        </p:nvGrpSpPr>
        <p:grpSpPr>
          <a:xfrm rot="0">
            <a:off x="999979" y="5641972"/>
            <a:ext cx="5901122" cy="1060447"/>
            <a:chOff x="0" y="0"/>
            <a:chExt cx="7868162" cy="1413929"/>
          </a:xfrm>
        </p:grpSpPr>
        <p:sp>
          <p:nvSpPr>
            <p:cNvPr name="Freeform 15" id="15"/>
            <p:cNvSpPr/>
            <p:nvPr/>
          </p:nvSpPr>
          <p:spPr>
            <a:xfrm flipH="false" flipV="false" rot="0">
              <a:off x="0" y="0"/>
              <a:ext cx="7868133" cy="1413891"/>
            </a:xfrm>
            <a:custGeom>
              <a:avLst/>
              <a:gdLst/>
              <a:ahLst/>
              <a:cxnLst/>
              <a:rect r="r" b="b" t="t" l="l"/>
              <a:pathLst>
                <a:path h="1413891" w="7868133">
                  <a:moveTo>
                    <a:pt x="0" y="155194"/>
                  </a:moveTo>
                  <a:cubicBezTo>
                    <a:pt x="0" y="69469"/>
                    <a:pt x="51771" y="0"/>
                    <a:pt x="115656" y="0"/>
                  </a:cubicBezTo>
                  <a:lnTo>
                    <a:pt x="7752477" y="0"/>
                  </a:lnTo>
                  <a:cubicBezTo>
                    <a:pt x="7816362" y="0"/>
                    <a:pt x="7868133" y="69469"/>
                    <a:pt x="7868133" y="155194"/>
                  </a:cubicBezTo>
                  <a:lnTo>
                    <a:pt x="7868133" y="1258697"/>
                  </a:lnTo>
                  <a:cubicBezTo>
                    <a:pt x="7868133" y="1344422"/>
                    <a:pt x="7816362" y="1413891"/>
                    <a:pt x="7752477" y="1413891"/>
                  </a:cubicBezTo>
                  <a:lnTo>
                    <a:pt x="115656" y="1413891"/>
                  </a:lnTo>
                  <a:cubicBezTo>
                    <a:pt x="51771" y="1413891"/>
                    <a:pt x="0" y="1344422"/>
                    <a:pt x="0" y="1258697"/>
                  </a:cubicBezTo>
                  <a:close/>
                </a:path>
              </a:pathLst>
            </a:custGeom>
            <a:solidFill>
              <a:srgbClr val="E9EDFF"/>
            </a:solidFill>
          </p:spPr>
        </p:sp>
      </p:grpSp>
      <p:sp>
        <p:nvSpPr>
          <p:cNvPr name="TextBox 16" id="16"/>
          <p:cNvSpPr txBox="true"/>
          <p:nvPr/>
        </p:nvSpPr>
        <p:spPr>
          <a:xfrm rot="0">
            <a:off x="1177439" y="5791200"/>
            <a:ext cx="5546202" cy="381539"/>
          </a:xfrm>
          <a:prstGeom prst="rect">
            <a:avLst/>
          </a:prstGeom>
        </p:spPr>
        <p:txBody>
          <a:bodyPr anchor="t" rtlCol="false" tIns="0" lIns="0" bIns="0" rIns="0">
            <a:spAutoFit/>
          </a:bodyPr>
          <a:lstStyle/>
          <a:p>
            <a:pPr algn="l">
              <a:lnSpc>
                <a:spcPts val="2980"/>
              </a:lnSpc>
            </a:pPr>
            <a:r>
              <a:rPr lang="en-US" sz="2299" b="true">
                <a:solidFill>
                  <a:srgbClr val="111111"/>
                </a:solidFill>
                <a:latin typeface="Arimo Bold"/>
                <a:ea typeface="Arimo Bold"/>
                <a:cs typeface="Arimo Bold"/>
                <a:sym typeface="Arimo Bold"/>
              </a:rPr>
              <a:t>기존 행동 시퀀스 재사용</a:t>
            </a:r>
          </a:p>
        </p:txBody>
      </p:sp>
      <p:sp>
        <p:nvSpPr>
          <p:cNvPr name="TextBox 17" id="17"/>
          <p:cNvSpPr txBox="true"/>
          <p:nvPr/>
        </p:nvSpPr>
        <p:spPr>
          <a:xfrm rot="0">
            <a:off x="1177439" y="6261097"/>
            <a:ext cx="5546202" cy="311429"/>
          </a:xfrm>
          <a:prstGeom prst="rect">
            <a:avLst/>
          </a:prstGeom>
        </p:spPr>
        <p:txBody>
          <a:bodyPr anchor="t" rtlCol="false" tIns="0" lIns="0" bIns="0" rIns="0">
            <a:spAutoFit/>
          </a:bodyPr>
          <a:lstStyle/>
          <a:p>
            <a:pPr algn="l">
              <a:lnSpc>
                <a:spcPts val="2332"/>
              </a:lnSpc>
            </a:pPr>
            <a:r>
              <a:rPr lang="en-US" sz="1800">
                <a:solidFill>
                  <a:srgbClr val="666666"/>
                </a:solidFill>
                <a:latin typeface="Arimo"/>
                <a:ea typeface="Arimo"/>
                <a:cs typeface="Arimo"/>
                <a:sym typeface="Arimo"/>
              </a:rPr>
              <a:t>Pick → Place → MoveTo(home)</a:t>
            </a:r>
          </a:p>
        </p:txBody>
      </p:sp>
      <p:grpSp>
        <p:nvGrpSpPr>
          <p:cNvPr name="Group 18" id="18"/>
          <p:cNvGrpSpPr/>
          <p:nvPr/>
        </p:nvGrpSpPr>
        <p:grpSpPr>
          <a:xfrm rot="0">
            <a:off x="999979" y="7000875"/>
            <a:ext cx="5901122" cy="1060447"/>
            <a:chOff x="0" y="0"/>
            <a:chExt cx="7868162" cy="1413929"/>
          </a:xfrm>
        </p:grpSpPr>
        <p:sp>
          <p:nvSpPr>
            <p:cNvPr name="Freeform 19" id="19"/>
            <p:cNvSpPr/>
            <p:nvPr/>
          </p:nvSpPr>
          <p:spPr>
            <a:xfrm flipH="false" flipV="false" rot="0">
              <a:off x="0" y="0"/>
              <a:ext cx="7868133" cy="1413891"/>
            </a:xfrm>
            <a:custGeom>
              <a:avLst/>
              <a:gdLst/>
              <a:ahLst/>
              <a:cxnLst/>
              <a:rect r="r" b="b" t="t" l="l"/>
              <a:pathLst>
                <a:path h="1413891" w="7868133">
                  <a:moveTo>
                    <a:pt x="0" y="155194"/>
                  </a:moveTo>
                  <a:cubicBezTo>
                    <a:pt x="0" y="69469"/>
                    <a:pt x="51771" y="0"/>
                    <a:pt x="115656" y="0"/>
                  </a:cubicBezTo>
                  <a:lnTo>
                    <a:pt x="7752477" y="0"/>
                  </a:lnTo>
                  <a:cubicBezTo>
                    <a:pt x="7816362" y="0"/>
                    <a:pt x="7868133" y="69469"/>
                    <a:pt x="7868133" y="155194"/>
                  </a:cubicBezTo>
                  <a:lnTo>
                    <a:pt x="7868133" y="1258697"/>
                  </a:lnTo>
                  <a:cubicBezTo>
                    <a:pt x="7868133" y="1344422"/>
                    <a:pt x="7816362" y="1413891"/>
                    <a:pt x="7752477" y="1413891"/>
                  </a:cubicBezTo>
                  <a:lnTo>
                    <a:pt x="115656" y="1413891"/>
                  </a:lnTo>
                  <a:cubicBezTo>
                    <a:pt x="51771" y="1413891"/>
                    <a:pt x="0" y="1344422"/>
                    <a:pt x="0" y="1258697"/>
                  </a:cubicBezTo>
                  <a:close/>
                </a:path>
              </a:pathLst>
            </a:custGeom>
            <a:solidFill>
              <a:srgbClr val="DFE5FF"/>
            </a:solidFill>
          </p:spPr>
        </p:sp>
      </p:grpSp>
      <p:sp>
        <p:nvSpPr>
          <p:cNvPr name="TextBox 20" id="20"/>
          <p:cNvSpPr txBox="true"/>
          <p:nvPr/>
        </p:nvSpPr>
        <p:spPr>
          <a:xfrm rot="0">
            <a:off x="1177439" y="7150103"/>
            <a:ext cx="5546202" cy="381539"/>
          </a:xfrm>
          <a:prstGeom prst="rect">
            <a:avLst/>
          </a:prstGeom>
        </p:spPr>
        <p:txBody>
          <a:bodyPr anchor="t" rtlCol="false" tIns="0" lIns="0" bIns="0" rIns="0">
            <a:spAutoFit/>
          </a:bodyPr>
          <a:lstStyle/>
          <a:p>
            <a:pPr algn="l">
              <a:lnSpc>
                <a:spcPts val="2980"/>
              </a:lnSpc>
            </a:pPr>
            <a:r>
              <a:rPr lang="en-US" sz="2299" b="true">
                <a:solidFill>
                  <a:srgbClr val="111111"/>
                </a:solidFill>
                <a:latin typeface="Arimo Bold"/>
                <a:ea typeface="Arimo Bold"/>
                <a:cs typeface="Arimo Bold"/>
                <a:sym typeface="Arimo Bold"/>
              </a:rPr>
              <a:t>동작 후 최종 배치 확인</a:t>
            </a:r>
          </a:p>
        </p:txBody>
      </p:sp>
      <p:sp>
        <p:nvSpPr>
          <p:cNvPr name="TextBox 21" id="21"/>
          <p:cNvSpPr txBox="true"/>
          <p:nvPr/>
        </p:nvSpPr>
        <p:spPr>
          <a:xfrm rot="0">
            <a:off x="1177439" y="7620000"/>
            <a:ext cx="5546202" cy="311429"/>
          </a:xfrm>
          <a:prstGeom prst="rect">
            <a:avLst/>
          </a:prstGeom>
        </p:spPr>
        <p:txBody>
          <a:bodyPr anchor="t" rtlCol="false" tIns="0" lIns="0" bIns="0" rIns="0">
            <a:spAutoFit/>
          </a:bodyPr>
          <a:lstStyle/>
          <a:p>
            <a:pPr algn="l">
              <a:lnSpc>
                <a:spcPts val="2332"/>
              </a:lnSpc>
            </a:pPr>
            <a:r>
              <a:rPr lang="en-US" sz="1800">
                <a:solidFill>
                  <a:srgbClr val="666666"/>
                </a:solidFill>
                <a:latin typeface="Arimo"/>
                <a:ea typeface="Arimo"/>
                <a:cs typeface="Arimo"/>
                <a:sym typeface="Arimo"/>
              </a:rPr>
              <a:t>마지막 인식 결과로 배치 여부 확인</a:t>
            </a:r>
          </a:p>
        </p:txBody>
      </p:sp>
      <p:sp>
        <p:nvSpPr>
          <p:cNvPr name="TextBox 22" id="22"/>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11</a:t>
            </a:r>
          </a:p>
        </p:txBody>
      </p:sp>
      <p:grpSp>
        <p:nvGrpSpPr>
          <p:cNvPr name="Group 23" id="23"/>
          <p:cNvGrpSpPr/>
          <p:nvPr/>
        </p:nvGrpSpPr>
        <p:grpSpPr>
          <a:xfrm rot="0">
            <a:off x="768096" y="589788"/>
            <a:ext cx="3017520" cy="329184"/>
            <a:chOff x="0" y="0"/>
            <a:chExt cx="4023360" cy="438912"/>
          </a:xfrm>
        </p:grpSpPr>
        <p:sp>
          <p:nvSpPr>
            <p:cNvPr name="Freeform 24" id="24"/>
            <p:cNvSpPr/>
            <p:nvPr/>
          </p:nvSpPr>
          <p:spPr>
            <a:xfrm flipH="false" flipV="false" rot="0">
              <a:off x="0" y="0"/>
              <a:ext cx="4023360" cy="438912"/>
            </a:xfrm>
            <a:custGeom>
              <a:avLst/>
              <a:gdLst/>
              <a:ahLst/>
              <a:cxnLst/>
              <a:rect r="r" b="b" t="t" l="l"/>
              <a:pathLst>
                <a:path h="438912" w="4023360">
                  <a:moveTo>
                    <a:pt x="0" y="0"/>
                  </a:moveTo>
                  <a:lnTo>
                    <a:pt x="4023360" y="0"/>
                  </a:lnTo>
                  <a:lnTo>
                    <a:pt x="4023360" y="438912"/>
                  </a:lnTo>
                  <a:lnTo>
                    <a:pt x="0" y="438912"/>
                  </a:lnTo>
                  <a:close/>
                </a:path>
              </a:pathLst>
            </a:custGeom>
            <a:blipFill>
              <a:blip r:embed="rId4">
                <a:alphaModFix amt="0"/>
              </a:blip>
              <a:stretch>
                <a:fillRect l="0" t="-128612" r="0" b="-128612"/>
              </a:stretch>
            </a:blipFill>
          </p:spPr>
        </p:sp>
        <p:sp>
          <p:nvSpPr>
            <p:cNvPr name="TextBox 25" id="25"/>
            <p:cNvSpPr txBox="true"/>
            <p:nvPr/>
          </p:nvSpPr>
          <p:spPr>
            <a:xfrm>
              <a:off x="0" y="-19050"/>
              <a:ext cx="4023360" cy="457962"/>
            </a:xfrm>
            <a:prstGeom prst="rect">
              <a:avLst/>
            </a:prstGeom>
          </p:spPr>
          <p:txBody>
            <a:bodyPr anchor="ctr" rtlCol="false" tIns="0" lIns="0" bIns="0" rIns="0"/>
            <a:lstStyle/>
            <a:p>
              <a:pPr algn="l">
                <a:lnSpc>
                  <a:spcPts val="1800"/>
                </a:lnSpc>
              </a:pPr>
              <a:r>
                <a:rPr lang="en-US" sz="1500" b="true">
                  <a:solidFill>
                    <a:srgbClr val="666666"/>
                  </a:solidFill>
                  <a:latin typeface="Arimo Bold"/>
                  <a:ea typeface="Arimo Bold"/>
                  <a:cs typeface="Arimo Bold"/>
                  <a:sym typeface="Arimo Bold"/>
                </a:rPr>
                <a:t>LARO-BOT</a:t>
              </a:r>
            </a:p>
          </p:txBody>
        </p:sp>
      </p:grpSp>
      <p:grpSp>
        <p:nvGrpSpPr>
          <p:cNvPr name="Group 26" id="26"/>
          <p:cNvGrpSpPr/>
          <p:nvPr/>
        </p:nvGrpSpPr>
        <p:grpSpPr>
          <a:xfrm rot="0">
            <a:off x="768096" y="953058"/>
            <a:ext cx="13149822" cy="856692"/>
            <a:chOff x="0" y="0"/>
            <a:chExt cx="17533096" cy="1142256"/>
          </a:xfrm>
        </p:grpSpPr>
        <p:sp>
          <p:nvSpPr>
            <p:cNvPr name="Freeform 27" id="27"/>
            <p:cNvSpPr/>
            <p:nvPr/>
          </p:nvSpPr>
          <p:spPr>
            <a:xfrm flipH="false" flipV="false" rot="0">
              <a:off x="0" y="0"/>
              <a:ext cx="17533096" cy="1142256"/>
            </a:xfrm>
            <a:custGeom>
              <a:avLst/>
              <a:gdLst/>
              <a:ahLst/>
              <a:cxnLst/>
              <a:rect r="r" b="b" t="t" l="l"/>
              <a:pathLst>
                <a:path h="1142256" w="17533096">
                  <a:moveTo>
                    <a:pt x="0" y="0"/>
                  </a:moveTo>
                  <a:lnTo>
                    <a:pt x="17533096" y="0"/>
                  </a:lnTo>
                  <a:lnTo>
                    <a:pt x="17533096" y="1142256"/>
                  </a:lnTo>
                  <a:lnTo>
                    <a:pt x="0" y="1142256"/>
                  </a:lnTo>
                  <a:close/>
                </a:path>
              </a:pathLst>
            </a:custGeom>
            <a:blipFill>
              <a:blip r:embed="rId4">
                <a:alphaModFix amt="0"/>
              </a:blip>
              <a:stretch>
                <a:fillRect l="0" t="-230499" r="8211" b="-218556"/>
              </a:stretch>
            </a:blipFill>
          </p:spPr>
        </p:sp>
        <p:sp>
          <p:nvSpPr>
            <p:cNvPr name="TextBox 28" id="28"/>
            <p:cNvSpPr txBox="true"/>
            <p:nvPr/>
          </p:nvSpPr>
          <p:spPr>
            <a:xfrm>
              <a:off x="0" y="-19050"/>
              <a:ext cx="17533096" cy="1161306"/>
            </a:xfrm>
            <a:prstGeom prst="rect">
              <a:avLst/>
            </a:prstGeom>
          </p:spPr>
          <p:txBody>
            <a:bodyPr anchor="ctr" rtlCol="false" tIns="0" lIns="0" bIns="0" rIns="0"/>
            <a:lstStyle/>
            <a:p>
              <a:pPr algn="l">
                <a:lnSpc>
                  <a:spcPts val="5040"/>
                </a:lnSpc>
              </a:pPr>
              <a:r>
                <a:rPr lang="en-US" sz="4200" b="true">
                  <a:solidFill>
                    <a:srgbClr val="111111"/>
                  </a:solidFill>
                  <a:latin typeface="Arimo Bold"/>
                  <a:ea typeface="Arimo Bold"/>
                  <a:cs typeface="Arimo Bold"/>
                  <a:sym typeface="Arimo Bold"/>
                </a:rPr>
                <a:t>로봇 자율 행동 : 작업 구역에 남긴 물건을 스스로 정리</a:t>
              </a:r>
            </a:p>
          </p:txBody>
        </p:sp>
      </p:grpSp>
      <p:grpSp>
        <p:nvGrpSpPr>
          <p:cNvPr name="Group 29" id="29"/>
          <p:cNvGrpSpPr/>
          <p:nvPr/>
        </p:nvGrpSpPr>
        <p:grpSpPr>
          <a:xfrm rot="0">
            <a:off x="8201673" y="2796297"/>
            <a:ext cx="1760434" cy="476250"/>
            <a:chOff x="0" y="0"/>
            <a:chExt cx="2347245" cy="635000"/>
          </a:xfrm>
        </p:grpSpPr>
        <p:grpSp>
          <p:nvGrpSpPr>
            <p:cNvPr name="Group 30" id="30"/>
            <p:cNvGrpSpPr/>
            <p:nvPr/>
          </p:nvGrpSpPr>
          <p:grpSpPr>
            <a:xfrm rot="0">
              <a:off x="0" y="0"/>
              <a:ext cx="2347245" cy="635000"/>
              <a:chOff x="0" y="0"/>
              <a:chExt cx="2347245" cy="635000"/>
            </a:xfrm>
          </p:grpSpPr>
          <p:sp>
            <p:nvSpPr>
              <p:cNvPr name="Freeform 31" id="31"/>
              <p:cNvSpPr/>
              <p:nvPr/>
            </p:nvSpPr>
            <p:spPr>
              <a:xfrm flipH="false" flipV="false" rot="0">
                <a:off x="0" y="0"/>
                <a:ext cx="2347199" cy="635000"/>
              </a:xfrm>
              <a:custGeom>
                <a:avLst/>
                <a:gdLst/>
                <a:ahLst/>
                <a:cxnLst/>
                <a:rect r="r" b="b" t="t" l="l"/>
                <a:pathLst>
                  <a:path h="635000" w="2347199">
                    <a:moveTo>
                      <a:pt x="0" y="114300"/>
                    </a:moveTo>
                    <a:cubicBezTo>
                      <a:pt x="0" y="51181"/>
                      <a:pt x="62507" y="0"/>
                      <a:pt x="139594" y="0"/>
                    </a:cubicBezTo>
                    <a:lnTo>
                      <a:pt x="2207604" y="0"/>
                    </a:lnTo>
                    <a:cubicBezTo>
                      <a:pt x="2284691" y="0"/>
                      <a:pt x="2347199" y="51181"/>
                      <a:pt x="2347199" y="114300"/>
                    </a:cubicBezTo>
                    <a:lnTo>
                      <a:pt x="2347199" y="520700"/>
                    </a:lnTo>
                    <a:cubicBezTo>
                      <a:pt x="2347199" y="583819"/>
                      <a:pt x="2284691" y="635000"/>
                      <a:pt x="2207604" y="635000"/>
                    </a:cubicBezTo>
                    <a:lnTo>
                      <a:pt x="139594" y="635000"/>
                    </a:lnTo>
                    <a:cubicBezTo>
                      <a:pt x="62507" y="635000"/>
                      <a:pt x="0" y="583819"/>
                      <a:pt x="0" y="520700"/>
                    </a:cubicBezTo>
                    <a:close/>
                  </a:path>
                </a:pathLst>
              </a:custGeom>
              <a:solidFill>
                <a:srgbClr val="101010"/>
              </a:solidFill>
            </p:spPr>
          </p:sp>
        </p:grpSp>
        <p:grpSp>
          <p:nvGrpSpPr>
            <p:cNvPr name="Group 32" id="32"/>
            <p:cNvGrpSpPr/>
            <p:nvPr/>
          </p:nvGrpSpPr>
          <p:grpSpPr>
            <a:xfrm rot="0">
              <a:off x="147927" y="55033"/>
              <a:ext cx="2051391" cy="524934"/>
              <a:chOff x="0" y="0"/>
              <a:chExt cx="2051391" cy="524934"/>
            </a:xfrm>
          </p:grpSpPr>
          <p:sp>
            <p:nvSpPr>
              <p:cNvPr name="Freeform 33" id="33"/>
              <p:cNvSpPr/>
              <p:nvPr/>
            </p:nvSpPr>
            <p:spPr>
              <a:xfrm flipH="false" flipV="false" rot="0">
                <a:off x="0" y="0"/>
                <a:ext cx="2051396" cy="524939"/>
              </a:xfrm>
              <a:custGeom>
                <a:avLst/>
                <a:gdLst/>
                <a:ahLst/>
                <a:cxnLst/>
                <a:rect r="r" b="b" t="t" l="l"/>
                <a:pathLst>
                  <a:path h="524939" w="2051396">
                    <a:moveTo>
                      <a:pt x="0" y="0"/>
                    </a:moveTo>
                    <a:lnTo>
                      <a:pt x="2051396" y="0"/>
                    </a:lnTo>
                    <a:lnTo>
                      <a:pt x="2051396" y="524939"/>
                    </a:lnTo>
                    <a:lnTo>
                      <a:pt x="0" y="524939"/>
                    </a:lnTo>
                    <a:close/>
                  </a:path>
                </a:pathLst>
              </a:custGeom>
              <a:blipFill>
                <a:blip r:embed="rId4">
                  <a:alphaModFix amt="0"/>
                </a:blip>
                <a:stretch>
                  <a:fillRect l="0" t="-20397" r="7549" b="-20395"/>
                </a:stretch>
              </a:blipFill>
            </p:spPr>
          </p:sp>
          <p:sp>
            <p:nvSpPr>
              <p:cNvPr name="TextBox 34" id="34"/>
              <p:cNvSpPr txBox="true"/>
              <p:nvPr/>
            </p:nvSpPr>
            <p:spPr>
              <a:xfrm>
                <a:off x="0" y="-9525"/>
                <a:ext cx="2051391" cy="534459"/>
              </a:xfrm>
              <a:prstGeom prst="rect">
                <a:avLst/>
              </a:prstGeom>
            </p:spPr>
            <p:txBody>
              <a:bodyPr anchor="ctr" rtlCol="false" tIns="0" lIns="0" bIns="0" rIns="0"/>
              <a:lstStyle/>
              <a:p>
                <a:pPr algn="ctr">
                  <a:lnSpc>
                    <a:spcPts val="1889"/>
                  </a:lnSpc>
                </a:pPr>
                <a:r>
                  <a:rPr lang="en-US" b="true" sz="1575" u="sng">
                    <a:solidFill>
                      <a:srgbClr val="FFFFFF"/>
                    </a:solidFill>
                    <a:latin typeface="Arimo Bold"/>
                    <a:ea typeface="Arimo Bold"/>
                    <a:cs typeface="Arimo Bold"/>
                    <a:sym typeface="Arimo Bold"/>
                    <a:hlinkClick r:id="rId5" tooltip="https://kdm111.github.io/assets/videos/p10_auto_cleanup.mp4"/>
                  </a:rPr>
                  <a:t>실물 자가 정리</a:t>
                </a:r>
              </a:p>
            </p:txBody>
          </p:sp>
        </p:gr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grpSp>
        <p:nvGrpSpPr>
          <p:cNvPr name="Group 2" id="2"/>
          <p:cNvGrpSpPr/>
          <p:nvPr/>
        </p:nvGrpSpPr>
        <p:grpSpPr>
          <a:xfrm rot="0">
            <a:off x="762000" y="609600"/>
            <a:ext cx="6350003" cy="355601"/>
            <a:chOff x="0" y="0"/>
            <a:chExt cx="8466671" cy="474134"/>
          </a:xfrm>
        </p:grpSpPr>
        <p:sp>
          <p:nvSpPr>
            <p:cNvPr name="Freeform 3" id="3"/>
            <p:cNvSpPr/>
            <p:nvPr/>
          </p:nvSpPr>
          <p:spPr>
            <a:xfrm flipH="false" flipV="false" rot="0">
              <a:off x="0" y="0"/>
              <a:ext cx="8466666" cy="474139"/>
            </a:xfrm>
            <a:custGeom>
              <a:avLst/>
              <a:gdLst/>
              <a:ahLst/>
              <a:cxnLst/>
              <a:rect r="r" b="b" t="t" l="l"/>
              <a:pathLst>
                <a:path h="474139" w="8466666">
                  <a:moveTo>
                    <a:pt x="0" y="0"/>
                  </a:moveTo>
                  <a:lnTo>
                    <a:pt x="8466666" y="0"/>
                  </a:lnTo>
                  <a:lnTo>
                    <a:pt x="8466666" y="474139"/>
                  </a:lnTo>
                  <a:lnTo>
                    <a:pt x="0" y="474139"/>
                  </a:lnTo>
                  <a:close/>
                </a:path>
              </a:pathLst>
            </a:custGeom>
            <a:blipFill>
              <a:blip r:embed="rId3">
                <a:alphaModFix amt="0"/>
              </a:blip>
              <a:stretch>
                <a:fillRect l="0" t="-297944" r="0" b="-297942"/>
              </a:stretch>
            </a:blipFill>
          </p:spPr>
        </p:sp>
        <p:sp>
          <p:nvSpPr>
            <p:cNvPr name="TextBox 4" id="4"/>
            <p:cNvSpPr txBox="true"/>
            <p:nvPr/>
          </p:nvSpPr>
          <p:spPr>
            <a:xfrm>
              <a:off x="0" y="-19050"/>
              <a:ext cx="8466671" cy="493184"/>
            </a:xfrm>
            <a:prstGeom prst="rect">
              <a:avLst/>
            </a:prstGeom>
          </p:spPr>
          <p:txBody>
            <a:bodyPr anchor="ctr" rtlCol="false" tIns="0" lIns="0" bIns="0" rIns="0"/>
            <a:lstStyle/>
            <a:p>
              <a:pPr algn="l">
                <a:lnSpc>
                  <a:spcPts val="1800"/>
                </a:lnSpc>
              </a:pPr>
              <a:r>
                <a:rPr lang="en-US" sz="1500" b="true">
                  <a:solidFill>
                    <a:srgbClr val="66645F"/>
                  </a:solidFill>
                  <a:latin typeface="Arimo Bold"/>
                  <a:ea typeface="Arimo Bold"/>
                  <a:cs typeface="Arimo Bold"/>
                  <a:sym typeface="Arimo Bold"/>
                </a:rPr>
                <a:t>LARO-BOT</a:t>
              </a:r>
            </a:p>
          </p:txBody>
        </p:sp>
      </p:grpSp>
      <p:grpSp>
        <p:nvGrpSpPr>
          <p:cNvPr name="Group 5" id="5"/>
          <p:cNvGrpSpPr/>
          <p:nvPr/>
        </p:nvGrpSpPr>
        <p:grpSpPr>
          <a:xfrm rot="0">
            <a:off x="762000" y="916863"/>
            <a:ext cx="16256003" cy="856692"/>
            <a:chOff x="0" y="0"/>
            <a:chExt cx="21674671" cy="1142256"/>
          </a:xfrm>
        </p:grpSpPr>
        <p:sp>
          <p:nvSpPr>
            <p:cNvPr name="Freeform 6" id="6"/>
            <p:cNvSpPr/>
            <p:nvPr/>
          </p:nvSpPr>
          <p:spPr>
            <a:xfrm flipH="false" flipV="false" rot="0">
              <a:off x="0" y="0"/>
              <a:ext cx="21674666" cy="1142261"/>
            </a:xfrm>
            <a:custGeom>
              <a:avLst/>
              <a:gdLst/>
              <a:ahLst/>
              <a:cxnLst/>
              <a:rect r="r" b="b" t="t" l="l"/>
              <a:pathLst>
                <a:path h="1142261" w="21674666">
                  <a:moveTo>
                    <a:pt x="0" y="0"/>
                  </a:moveTo>
                  <a:lnTo>
                    <a:pt x="21674666" y="0"/>
                  </a:lnTo>
                  <a:lnTo>
                    <a:pt x="21674666" y="1142261"/>
                  </a:lnTo>
                  <a:lnTo>
                    <a:pt x="0" y="1142261"/>
                  </a:lnTo>
                  <a:close/>
                </a:path>
              </a:pathLst>
            </a:custGeom>
            <a:blipFill>
              <a:blip r:embed="rId3">
                <a:alphaModFix amt="0"/>
              </a:blip>
              <a:stretch>
                <a:fillRect l="0" t="-328966" r="0" b="-310500"/>
              </a:stretch>
            </a:blipFill>
          </p:spPr>
        </p:sp>
        <p:sp>
          <p:nvSpPr>
            <p:cNvPr name="TextBox 7" id="7"/>
            <p:cNvSpPr txBox="true"/>
            <p:nvPr/>
          </p:nvSpPr>
          <p:spPr>
            <a:xfrm>
              <a:off x="0" y="-19050"/>
              <a:ext cx="21674671" cy="1161306"/>
            </a:xfrm>
            <a:prstGeom prst="rect">
              <a:avLst/>
            </a:prstGeom>
          </p:spPr>
          <p:txBody>
            <a:bodyPr anchor="ctr" rtlCol="false" tIns="0" lIns="0" bIns="0" rIns="0"/>
            <a:lstStyle/>
            <a:p>
              <a:pPr algn="l">
                <a:lnSpc>
                  <a:spcPts val="5040"/>
                </a:lnSpc>
              </a:pPr>
              <a:r>
                <a:rPr lang="en-US" sz="4200" b="true">
                  <a:solidFill>
                    <a:srgbClr val="111111"/>
                  </a:solidFill>
                  <a:latin typeface="Arimo Bold"/>
                  <a:ea typeface="Arimo Bold"/>
                  <a:cs typeface="Arimo Bold"/>
                  <a:sym typeface="Arimo Bold"/>
                </a:rPr>
                <a:t>실패 원인에 맞춰 다시 시도하거나 중단</a:t>
              </a:r>
            </a:p>
          </p:txBody>
        </p:sp>
      </p:grpSp>
      <p:grpSp>
        <p:nvGrpSpPr>
          <p:cNvPr name="Group 8" id="8"/>
          <p:cNvGrpSpPr/>
          <p:nvPr/>
        </p:nvGrpSpPr>
        <p:grpSpPr>
          <a:xfrm rot="0">
            <a:off x="738187" y="2363791"/>
            <a:ext cx="8302628" cy="6209976"/>
            <a:chOff x="0" y="0"/>
            <a:chExt cx="11070171" cy="8279968"/>
          </a:xfrm>
        </p:grpSpPr>
        <p:sp>
          <p:nvSpPr>
            <p:cNvPr name="Freeform 9" id="9"/>
            <p:cNvSpPr/>
            <p:nvPr/>
          </p:nvSpPr>
          <p:spPr>
            <a:xfrm flipH="false" flipV="false" rot="0">
              <a:off x="0" y="0"/>
              <a:ext cx="11070209" cy="8279968"/>
            </a:xfrm>
            <a:custGeom>
              <a:avLst/>
              <a:gdLst/>
              <a:ahLst/>
              <a:cxnLst/>
              <a:rect r="r" b="b" t="t" l="l"/>
              <a:pathLst>
                <a:path h="8279968" w="11070209">
                  <a:moveTo>
                    <a:pt x="0" y="149039"/>
                  </a:moveTo>
                  <a:cubicBezTo>
                    <a:pt x="0" y="66753"/>
                    <a:pt x="66040" y="0"/>
                    <a:pt x="147447" y="0"/>
                  </a:cubicBezTo>
                  <a:lnTo>
                    <a:pt x="10922762" y="0"/>
                  </a:lnTo>
                  <a:cubicBezTo>
                    <a:pt x="11004169" y="0"/>
                    <a:pt x="11070209" y="66753"/>
                    <a:pt x="11070209" y="149039"/>
                  </a:cubicBezTo>
                  <a:lnTo>
                    <a:pt x="11070209" y="8130929"/>
                  </a:lnTo>
                  <a:cubicBezTo>
                    <a:pt x="11070209" y="8213215"/>
                    <a:pt x="11004169" y="8279968"/>
                    <a:pt x="10922762" y="8279968"/>
                  </a:cubicBezTo>
                  <a:lnTo>
                    <a:pt x="147447" y="8279968"/>
                  </a:lnTo>
                  <a:cubicBezTo>
                    <a:pt x="66040" y="8279968"/>
                    <a:pt x="0" y="8213215"/>
                    <a:pt x="0" y="8130929"/>
                  </a:cubicBezTo>
                  <a:close/>
                </a:path>
              </a:pathLst>
            </a:custGeom>
            <a:solidFill>
              <a:srgbClr val="FFFFFF"/>
            </a:solidFill>
            <a:ln w="19050" cap="sq">
              <a:solidFill>
                <a:srgbClr val="111111"/>
              </a:solidFill>
              <a:prstDash val="solid"/>
              <a:miter/>
            </a:ln>
          </p:spPr>
        </p:sp>
      </p:grpSp>
      <p:grpSp>
        <p:nvGrpSpPr>
          <p:cNvPr name="Group 10" id="10"/>
          <p:cNvGrpSpPr/>
          <p:nvPr/>
        </p:nvGrpSpPr>
        <p:grpSpPr>
          <a:xfrm rot="0">
            <a:off x="1143000" y="2590800"/>
            <a:ext cx="3048000" cy="368300"/>
            <a:chOff x="0" y="0"/>
            <a:chExt cx="4064000" cy="491066"/>
          </a:xfrm>
        </p:grpSpPr>
        <p:sp>
          <p:nvSpPr>
            <p:cNvPr name="Freeform 11" id="11"/>
            <p:cNvSpPr/>
            <p:nvPr/>
          </p:nvSpPr>
          <p:spPr>
            <a:xfrm flipH="false" flipV="false" rot="0">
              <a:off x="0" y="0"/>
              <a:ext cx="4064000" cy="491061"/>
            </a:xfrm>
            <a:custGeom>
              <a:avLst/>
              <a:gdLst/>
              <a:ahLst/>
              <a:cxnLst/>
              <a:rect r="r" b="b" t="t" l="l"/>
              <a:pathLst>
                <a:path h="491061" w="4064000">
                  <a:moveTo>
                    <a:pt x="0" y="0"/>
                  </a:moveTo>
                  <a:lnTo>
                    <a:pt x="4064000" y="0"/>
                  </a:lnTo>
                  <a:lnTo>
                    <a:pt x="4064000" y="491061"/>
                  </a:lnTo>
                  <a:lnTo>
                    <a:pt x="0" y="491061"/>
                  </a:lnTo>
                  <a:close/>
                </a:path>
              </a:pathLst>
            </a:custGeom>
            <a:blipFill>
              <a:blip r:embed="rId3">
                <a:alphaModFix amt="0"/>
              </a:blip>
              <a:stretch>
                <a:fillRect l="0" t="-111256" r="0" b="-111258"/>
              </a:stretch>
            </a:blipFill>
          </p:spPr>
        </p:sp>
        <p:sp>
          <p:nvSpPr>
            <p:cNvPr name="TextBox 12" id="12"/>
            <p:cNvSpPr txBox="true"/>
            <p:nvPr/>
          </p:nvSpPr>
          <p:spPr>
            <a:xfrm>
              <a:off x="0" y="-19050"/>
              <a:ext cx="4064000" cy="510116"/>
            </a:xfrm>
            <a:prstGeom prst="rect">
              <a:avLst/>
            </a:prstGeom>
          </p:spPr>
          <p:txBody>
            <a:bodyPr anchor="ctr" rtlCol="false" tIns="0" lIns="0" bIns="0" rIns="0"/>
            <a:lstStyle/>
            <a:p>
              <a:pPr algn="l">
                <a:lnSpc>
                  <a:spcPts val="1530"/>
                </a:lnSpc>
              </a:pPr>
              <a:r>
                <a:rPr lang="en-US" sz="1275" b="true">
                  <a:solidFill>
                    <a:srgbClr val="1B2CC1"/>
                  </a:solidFill>
                  <a:latin typeface="Arimo Bold"/>
                  <a:ea typeface="Arimo Bold"/>
                  <a:cs typeface="Arimo Bold"/>
                  <a:sym typeface="Arimo Bold"/>
                </a:rPr>
                <a:t>오류별 기본 </a:t>
              </a:r>
              <a:r>
                <a:rPr lang="en-US" sz="1275" b="true">
                  <a:solidFill>
                    <a:srgbClr val="1B2CC1"/>
                  </a:solidFill>
                  <a:latin typeface="Arimo Bold"/>
                  <a:ea typeface="Arimo Bold"/>
                  <a:cs typeface="Arimo Bold"/>
                  <a:sym typeface="Arimo Bold"/>
                </a:rPr>
                <a:t>복구 원칙</a:t>
              </a:r>
            </a:p>
          </p:txBody>
        </p:sp>
      </p:grpSp>
      <p:grpSp>
        <p:nvGrpSpPr>
          <p:cNvPr name="Group 13" id="13"/>
          <p:cNvGrpSpPr/>
          <p:nvPr/>
        </p:nvGrpSpPr>
        <p:grpSpPr>
          <a:xfrm rot="0">
            <a:off x="1138238" y="3221041"/>
            <a:ext cx="2613022" cy="949328"/>
            <a:chOff x="0" y="0"/>
            <a:chExt cx="3484029" cy="1265771"/>
          </a:xfrm>
        </p:grpSpPr>
        <p:sp>
          <p:nvSpPr>
            <p:cNvPr name="Freeform 14" id="14"/>
            <p:cNvSpPr/>
            <p:nvPr/>
          </p:nvSpPr>
          <p:spPr>
            <a:xfrm flipH="false" flipV="false" rot="0">
              <a:off x="0" y="0"/>
              <a:ext cx="3484118" cy="1265809"/>
            </a:xfrm>
            <a:custGeom>
              <a:avLst/>
              <a:gdLst/>
              <a:ahLst/>
              <a:cxnLst/>
              <a:rect r="r" b="b" t="t" l="l"/>
              <a:pathLst>
                <a:path h="1265809" w="3484118">
                  <a:moveTo>
                    <a:pt x="0" y="147828"/>
                  </a:moveTo>
                  <a:cubicBezTo>
                    <a:pt x="0" y="66167"/>
                    <a:pt x="66167" y="0"/>
                    <a:pt x="147828" y="0"/>
                  </a:cubicBezTo>
                  <a:lnTo>
                    <a:pt x="3336290" y="0"/>
                  </a:lnTo>
                  <a:cubicBezTo>
                    <a:pt x="3417951" y="0"/>
                    <a:pt x="3484118" y="66167"/>
                    <a:pt x="3484118" y="147828"/>
                  </a:cubicBezTo>
                  <a:lnTo>
                    <a:pt x="3484118" y="1117981"/>
                  </a:lnTo>
                  <a:cubicBezTo>
                    <a:pt x="3484118" y="1199642"/>
                    <a:pt x="3417951" y="1265809"/>
                    <a:pt x="3336290" y="1265809"/>
                  </a:cubicBezTo>
                  <a:lnTo>
                    <a:pt x="147828" y="1265809"/>
                  </a:lnTo>
                  <a:cubicBezTo>
                    <a:pt x="66167" y="1265809"/>
                    <a:pt x="0" y="1199642"/>
                    <a:pt x="0" y="1117981"/>
                  </a:cubicBezTo>
                  <a:close/>
                </a:path>
              </a:pathLst>
            </a:custGeom>
            <a:solidFill>
              <a:srgbClr val="E9EEFF"/>
            </a:solidFill>
            <a:ln w="9525" cap="sq">
              <a:solidFill>
                <a:srgbClr val="E9EEFF"/>
              </a:solidFill>
              <a:prstDash val="solid"/>
              <a:miter/>
            </a:ln>
          </p:spPr>
        </p:sp>
      </p:grpSp>
      <p:grpSp>
        <p:nvGrpSpPr>
          <p:cNvPr name="Group 15" id="15"/>
          <p:cNvGrpSpPr/>
          <p:nvPr/>
        </p:nvGrpSpPr>
        <p:grpSpPr>
          <a:xfrm rot="0">
            <a:off x="1344606" y="3762375"/>
            <a:ext cx="2159003" cy="254003"/>
            <a:chOff x="0" y="0"/>
            <a:chExt cx="2878671" cy="338671"/>
          </a:xfrm>
        </p:grpSpPr>
        <p:sp>
          <p:nvSpPr>
            <p:cNvPr name="Freeform 16" id="16"/>
            <p:cNvSpPr/>
            <p:nvPr/>
          </p:nvSpPr>
          <p:spPr>
            <a:xfrm flipH="false" flipV="false" rot="0">
              <a:off x="0" y="0"/>
              <a:ext cx="2878666" cy="338666"/>
            </a:xfrm>
            <a:custGeom>
              <a:avLst/>
              <a:gdLst/>
              <a:ahLst/>
              <a:cxnLst/>
              <a:rect r="r" b="b" t="t" l="l"/>
              <a:pathLst>
                <a:path h="338666" w="2878666">
                  <a:moveTo>
                    <a:pt x="0" y="0"/>
                  </a:moveTo>
                  <a:lnTo>
                    <a:pt x="2878666" y="0"/>
                  </a:lnTo>
                  <a:lnTo>
                    <a:pt x="2878666" y="338666"/>
                  </a:lnTo>
                  <a:lnTo>
                    <a:pt x="0" y="338666"/>
                  </a:lnTo>
                  <a:close/>
                </a:path>
              </a:pathLst>
            </a:custGeom>
            <a:blipFill>
              <a:blip r:embed="rId3">
                <a:alphaModFix amt="0"/>
              </a:blip>
              <a:stretch>
                <a:fillRect l="0" t="-115622" r="0" b="-115624"/>
              </a:stretch>
            </a:blipFill>
          </p:spPr>
        </p:sp>
        <p:sp>
          <p:nvSpPr>
            <p:cNvPr name="TextBox 17" id="17"/>
            <p:cNvSpPr txBox="true"/>
            <p:nvPr/>
          </p:nvSpPr>
          <p:spPr>
            <a:xfrm>
              <a:off x="0" y="-19050"/>
              <a:ext cx="2878671" cy="357721"/>
            </a:xfrm>
            <a:prstGeom prst="rect">
              <a:avLst/>
            </a:prstGeom>
          </p:spPr>
          <p:txBody>
            <a:bodyPr anchor="ctr" rtlCol="false" tIns="0" lIns="0" bIns="0" rIns="0"/>
            <a:lstStyle/>
            <a:p>
              <a:pPr algn="l">
                <a:lnSpc>
                  <a:spcPts val="1439"/>
                </a:lnSpc>
              </a:pPr>
              <a:r>
                <a:rPr lang="en-US" sz="1200">
                  <a:solidFill>
                    <a:srgbClr val="66645F"/>
                  </a:solidFill>
                  <a:latin typeface="Arimo"/>
                  <a:ea typeface="Arimo"/>
                  <a:cs typeface="Arimo"/>
                  <a:sym typeface="Arimo"/>
                </a:rPr>
                <a:t>물체가 보이지 않음</a:t>
              </a:r>
            </a:p>
          </p:txBody>
        </p:sp>
      </p:grpSp>
      <p:grpSp>
        <p:nvGrpSpPr>
          <p:cNvPr name="Group 18" id="18"/>
          <p:cNvGrpSpPr/>
          <p:nvPr/>
        </p:nvGrpSpPr>
        <p:grpSpPr>
          <a:xfrm rot="0">
            <a:off x="1344606" y="3298827"/>
            <a:ext cx="2159003" cy="495300"/>
            <a:chOff x="0" y="0"/>
            <a:chExt cx="2878671" cy="660400"/>
          </a:xfrm>
        </p:grpSpPr>
        <p:sp>
          <p:nvSpPr>
            <p:cNvPr name="Freeform 19" id="19"/>
            <p:cNvSpPr/>
            <p:nvPr/>
          </p:nvSpPr>
          <p:spPr>
            <a:xfrm flipH="false" flipV="false" rot="0">
              <a:off x="0" y="0"/>
              <a:ext cx="2878666" cy="660400"/>
            </a:xfrm>
            <a:custGeom>
              <a:avLst/>
              <a:gdLst/>
              <a:ahLst/>
              <a:cxnLst/>
              <a:rect r="r" b="b" t="t" l="l"/>
              <a:pathLst>
                <a:path h="660400" w="2878666">
                  <a:moveTo>
                    <a:pt x="0" y="0"/>
                  </a:moveTo>
                  <a:lnTo>
                    <a:pt x="2878666" y="0"/>
                  </a:lnTo>
                  <a:lnTo>
                    <a:pt x="2878666" y="660400"/>
                  </a:lnTo>
                  <a:lnTo>
                    <a:pt x="0" y="660400"/>
                  </a:lnTo>
                  <a:close/>
                </a:path>
              </a:pathLst>
            </a:custGeom>
            <a:blipFill>
              <a:blip r:embed="rId3">
                <a:alphaModFix amt="0"/>
              </a:blip>
              <a:stretch>
                <a:fillRect l="0" t="-34934" r="0" b="-34934"/>
              </a:stretch>
            </a:blipFill>
          </p:spPr>
        </p:sp>
        <p:sp>
          <p:nvSpPr>
            <p:cNvPr name="TextBox 20" id="20"/>
            <p:cNvSpPr txBox="true"/>
            <p:nvPr/>
          </p:nvSpPr>
          <p:spPr>
            <a:xfrm>
              <a:off x="0" y="-19050"/>
              <a:ext cx="2878671" cy="679450"/>
            </a:xfrm>
            <a:prstGeom prst="rect">
              <a:avLst/>
            </a:prstGeom>
          </p:spPr>
          <p:txBody>
            <a:bodyPr anchor="ctr" rtlCol="false" tIns="0" lIns="0" bIns="0" rIns="0"/>
            <a:lstStyle/>
            <a:p>
              <a:pPr algn="l">
                <a:lnSpc>
                  <a:spcPts val="2160"/>
                </a:lnSpc>
              </a:pPr>
              <a:r>
                <a:rPr lang="en-US" b="true" sz="1800" spc="-167">
                  <a:solidFill>
                    <a:srgbClr val="111111"/>
                  </a:solidFill>
                  <a:latin typeface="Arimo Bold"/>
                  <a:ea typeface="Arimo Bold"/>
                  <a:cs typeface="Arimo Bold"/>
                  <a:sym typeface="Arimo Bold"/>
                </a:rPr>
                <a:t>OBJECT_NOT_FOUND</a:t>
              </a:r>
            </a:p>
          </p:txBody>
        </p:sp>
      </p:grpSp>
      <p:grpSp>
        <p:nvGrpSpPr>
          <p:cNvPr name="Group 21" id="21"/>
          <p:cNvGrpSpPr/>
          <p:nvPr/>
        </p:nvGrpSpPr>
        <p:grpSpPr>
          <a:xfrm rot="0">
            <a:off x="4567238" y="3221041"/>
            <a:ext cx="4010025" cy="949328"/>
            <a:chOff x="0" y="0"/>
            <a:chExt cx="5346700" cy="1265771"/>
          </a:xfrm>
        </p:grpSpPr>
        <p:sp>
          <p:nvSpPr>
            <p:cNvPr name="Freeform 22" id="22"/>
            <p:cNvSpPr/>
            <p:nvPr/>
          </p:nvSpPr>
          <p:spPr>
            <a:xfrm flipH="false" flipV="false" rot="0">
              <a:off x="0" y="0"/>
              <a:ext cx="5346700" cy="1265809"/>
            </a:xfrm>
            <a:custGeom>
              <a:avLst/>
              <a:gdLst/>
              <a:ahLst/>
              <a:cxnLst/>
              <a:rect r="r" b="b" t="t" l="l"/>
              <a:pathLst>
                <a:path h="1265809" w="5346700">
                  <a:moveTo>
                    <a:pt x="0" y="147828"/>
                  </a:moveTo>
                  <a:cubicBezTo>
                    <a:pt x="0" y="66167"/>
                    <a:pt x="66167" y="0"/>
                    <a:pt x="147828" y="0"/>
                  </a:cubicBezTo>
                  <a:lnTo>
                    <a:pt x="5198872" y="0"/>
                  </a:lnTo>
                  <a:cubicBezTo>
                    <a:pt x="5280533" y="0"/>
                    <a:pt x="5346700" y="66167"/>
                    <a:pt x="5346700" y="147828"/>
                  </a:cubicBezTo>
                  <a:lnTo>
                    <a:pt x="5346700" y="1117981"/>
                  </a:lnTo>
                  <a:cubicBezTo>
                    <a:pt x="5346700" y="1199642"/>
                    <a:pt x="5280533" y="1265809"/>
                    <a:pt x="5198872" y="1265809"/>
                  </a:cubicBezTo>
                  <a:lnTo>
                    <a:pt x="147828" y="1265809"/>
                  </a:lnTo>
                  <a:cubicBezTo>
                    <a:pt x="66167" y="1265809"/>
                    <a:pt x="0" y="1199642"/>
                    <a:pt x="0" y="1117981"/>
                  </a:cubicBezTo>
                  <a:close/>
                </a:path>
              </a:pathLst>
            </a:custGeom>
            <a:solidFill>
              <a:srgbClr val="E7ECFF"/>
            </a:solidFill>
            <a:ln w="9525" cap="sq">
              <a:solidFill>
                <a:srgbClr val="E7ECFF"/>
              </a:solidFill>
              <a:prstDash val="solid"/>
              <a:miter/>
            </a:ln>
          </p:spPr>
        </p:sp>
      </p:grpSp>
      <p:grpSp>
        <p:nvGrpSpPr>
          <p:cNvPr name="Group 23" id="23"/>
          <p:cNvGrpSpPr/>
          <p:nvPr/>
        </p:nvGrpSpPr>
        <p:grpSpPr>
          <a:xfrm rot="0">
            <a:off x="4819650" y="3502028"/>
            <a:ext cx="1269997" cy="431797"/>
            <a:chOff x="0" y="0"/>
            <a:chExt cx="1693329" cy="575729"/>
          </a:xfrm>
        </p:grpSpPr>
        <p:sp>
          <p:nvSpPr>
            <p:cNvPr name="Freeform 24" id="24"/>
            <p:cNvSpPr/>
            <p:nvPr/>
          </p:nvSpPr>
          <p:spPr>
            <a:xfrm flipH="false" flipV="false" rot="0">
              <a:off x="0" y="0"/>
              <a:ext cx="1693334" cy="575734"/>
            </a:xfrm>
            <a:custGeom>
              <a:avLst/>
              <a:gdLst/>
              <a:ahLst/>
              <a:cxnLst/>
              <a:rect r="r" b="b" t="t" l="l"/>
              <a:pathLst>
                <a:path h="575734" w="1693334">
                  <a:moveTo>
                    <a:pt x="0" y="0"/>
                  </a:moveTo>
                  <a:lnTo>
                    <a:pt x="1693334" y="0"/>
                  </a:lnTo>
                  <a:lnTo>
                    <a:pt x="1693334" y="575734"/>
                  </a:lnTo>
                  <a:lnTo>
                    <a:pt x="0" y="575734"/>
                  </a:lnTo>
                  <a:close/>
                </a:path>
              </a:pathLst>
            </a:custGeom>
            <a:blipFill>
              <a:blip r:embed="rId3">
                <a:alphaModFix amt="0"/>
              </a:blip>
              <a:stretch>
                <a:fillRect l="0" t="-7309" r="0" b="-7308"/>
              </a:stretch>
            </a:blipFill>
          </p:spPr>
        </p:sp>
        <p:sp>
          <p:nvSpPr>
            <p:cNvPr name="TextBox 25" id="25"/>
            <p:cNvSpPr txBox="true"/>
            <p:nvPr/>
          </p:nvSpPr>
          <p:spPr>
            <a:xfrm>
              <a:off x="0" y="-9525"/>
              <a:ext cx="1693329" cy="585254"/>
            </a:xfrm>
            <a:prstGeom prst="rect">
              <a:avLst/>
            </a:prstGeom>
          </p:spPr>
          <p:txBody>
            <a:bodyPr anchor="ctr" rtlCol="false" tIns="0" lIns="0" bIns="0" rIns="0"/>
            <a:lstStyle/>
            <a:p>
              <a:pPr algn="l">
                <a:lnSpc>
                  <a:spcPts val="2520"/>
                </a:lnSpc>
              </a:pPr>
              <a:r>
                <a:rPr lang="en-US" sz="2100" b="true">
                  <a:solidFill>
                    <a:srgbClr val="111111"/>
                  </a:solidFill>
                  <a:latin typeface="Arimo Bold"/>
                  <a:ea typeface="Arimo Bold"/>
                  <a:cs typeface="Arimo Bold"/>
                  <a:sym typeface="Arimo Bold"/>
                </a:rPr>
                <a:t>재탐색</a:t>
              </a:r>
            </a:p>
          </p:txBody>
        </p:sp>
      </p:grpSp>
      <p:grpSp>
        <p:nvGrpSpPr>
          <p:cNvPr name="Group 26" id="26"/>
          <p:cNvGrpSpPr/>
          <p:nvPr/>
        </p:nvGrpSpPr>
        <p:grpSpPr>
          <a:xfrm rot="0">
            <a:off x="1138238" y="4414838"/>
            <a:ext cx="2613022" cy="949328"/>
            <a:chOff x="0" y="0"/>
            <a:chExt cx="3484029" cy="1265771"/>
          </a:xfrm>
        </p:grpSpPr>
        <p:sp>
          <p:nvSpPr>
            <p:cNvPr name="Freeform 27" id="27"/>
            <p:cNvSpPr/>
            <p:nvPr/>
          </p:nvSpPr>
          <p:spPr>
            <a:xfrm flipH="false" flipV="false" rot="0">
              <a:off x="0" y="0"/>
              <a:ext cx="3484118" cy="1265809"/>
            </a:xfrm>
            <a:custGeom>
              <a:avLst/>
              <a:gdLst/>
              <a:ahLst/>
              <a:cxnLst/>
              <a:rect r="r" b="b" t="t" l="l"/>
              <a:pathLst>
                <a:path h="1265809" w="3484118">
                  <a:moveTo>
                    <a:pt x="0" y="147828"/>
                  </a:moveTo>
                  <a:cubicBezTo>
                    <a:pt x="0" y="66167"/>
                    <a:pt x="66167" y="0"/>
                    <a:pt x="147828" y="0"/>
                  </a:cubicBezTo>
                  <a:lnTo>
                    <a:pt x="3336290" y="0"/>
                  </a:lnTo>
                  <a:cubicBezTo>
                    <a:pt x="3417951" y="0"/>
                    <a:pt x="3484118" y="66167"/>
                    <a:pt x="3484118" y="147828"/>
                  </a:cubicBezTo>
                  <a:lnTo>
                    <a:pt x="3484118" y="1117981"/>
                  </a:lnTo>
                  <a:cubicBezTo>
                    <a:pt x="3484118" y="1199642"/>
                    <a:pt x="3417951" y="1265809"/>
                    <a:pt x="3336290" y="1265809"/>
                  </a:cubicBezTo>
                  <a:lnTo>
                    <a:pt x="147828" y="1265809"/>
                  </a:lnTo>
                  <a:cubicBezTo>
                    <a:pt x="66167" y="1265809"/>
                    <a:pt x="0" y="1199642"/>
                    <a:pt x="0" y="1117981"/>
                  </a:cubicBezTo>
                  <a:close/>
                </a:path>
              </a:pathLst>
            </a:custGeom>
            <a:solidFill>
              <a:srgbClr val="E9EEFF"/>
            </a:solidFill>
            <a:ln w="9525" cap="sq">
              <a:solidFill>
                <a:srgbClr val="E9EEFF"/>
              </a:solidFill>
              <a:prstDash val="solid"/>
              <a:miter/>
            </a:ln>
          </p:spPr>
        </p:sp>
      </p:grpSp>
      <p:grpSp>
        <p:nvGrpSpPr>
          <p:cNvPr name="Group 28" id="28"/>
          <p:cNvGrpSpPr/>
          <p:nvPr/>
        </p:nvGrpSpPr>
        <p:grpSpPr>
          <a:xfrm rot="0">
            <a:off x="1365247" y="4965702"/>
            <a:ext cx="2159003" cy="254003"/>
            <a:chOff x="0" y="0"/>
            <a:chExt cx="2878671" cy="338671"/>
          </a:xfrm>
        </p:grpSpPr>
        <p:sp>
          <p:nvSpPr>
            <p:cNvPr name="Freeform 29" id="29"/>
            <p:cNvSpPr/>
            <p:nvPr/>
          </p:nvSpPr>
          <p:spPr>
            <a:xfrm flipH="false" flipV="false" rot="0">
              <a:off x="0" y="0"/>
              <a:ext cx="2878666" cy="338666"/>
            </a:xfrm>
            <a:custGeom>
              <a:avLst/>
              <a:gdLst/>
              <a:ahLst/>
              <a:cxnLst/>
              <a:rect r="r" b="b" t="t" l="l"/>
              <a:pathLst>
                <a:path h="338666" w="2878666">
                  <a:moveTo>
                    <a:pt x="0" y="0"/>
                  </a:moveTo>
                  <a:lnTo>
                    <a:pt x="2878666" y="0"/>
                  </a:lnTo>
                  <a:lnTo>
                    <a:pt x="2878666" y="338666"/>
                  </a:lnTo>
                  <a:lnTo>
                    <a:pt x="0" y="338666"/>
                  </a:lnTo>
                  <a:close/>
                </a:path>
              </a:pathLst>
            </a:custGeom>
            <a:blipFill>
              <a:blip r:embed="rId3">
                <a:alphaModFix amt="0"/>
              </a:blip>
              <a:stretch>
                <a:fillRect l="0" t="-115622" r="0" b="-115624"/>
              </a:stretch>
            </a:blipFill>
          </p:spPr>
        </p:sp>
        <p:sp>
          <p:nvSpPr>
            <p:cNvPr name="TextBox 30" id="30"/>
            <p:cNvSpPr txBox="true"/>
            <p:nvPr/>
          </p:nvSpPr>
          <p:spPr>
            <a:xfrm>
              <a:off x="0" y="-19050"/>
              <a:ext cx="2878671" cy="357721"/>
            </a:xfrm>
            <a:prstGeom prst="rect">
              <a:avLst/>
            </a:prstGeom>
          </p:spPr>
          <p:txBody>
            <a:bodyPr anchor="ctr" rtlCol="false" tIns="0" lIns="0" bIns="0" rIns="0"/>
            <a:lstStyle/>
            <a:p>
              <a:pPr algn="l">
                <a:lnSpc>
                  <a:spcPts val="1439"/>
                </a:lnSpc>
              </a:pPr>
              <a:r>
                <a:rPr lang="en-US" sz="1200">
                  <a:solidFill>
                    <a:srgbClr val="66645F"/>
                  </a:solidFill>
                  <a:latin typeface="Arimo"/>
                  <a:ea typeface="Arimo"/>
                  <a:cs typeface="Arimo"/>
                  <a:sym typeface="Arimo"/>
                </a:rPr>
                <a:t>빈손으로 닫힘</a:t>
              </a:r>
            </a:p>
          </p:txBody>
        </p:sp>
      </p:grpSp>
      <p:grpSp>
        <p:nvGrpSpPr>
          <p:cNvPr name="Group 31" id="31"/>
          <p:cNvGrpSpPr/>
          <p:nvPr/>
        </p:nvGrpSpPr>
        <p:grpSpPr>
          <a:xfrm rot="0">
            <a:off x="1365247" y="4470402"/>
            <a:ext cx="2159003" cy="495300"/>
            <a:chOff x="0" y="0"/>
            <a:chExt cx="2878671" cy="660400"/>
          </a:xfrm>
        </p:grpSpPr>
        <p:sp>
          <p:nvSpPr>
            <p:cNvPr name="Freeform 32" id="32"/>
            <p:cNvSpPr/>
            <p:nvPr/>
          </p:nvSpPr>
          <p:spPr>
            <a:xfrm flipH="false" flipV="false" rot="0">
              <a:off x="0" y="0"/>
              <a:ext cx="2878666" cy="660400"/>
            </a:xfrm>
            <a:custGeom>
              <a:avLst/>
              <a:gdLst/>
              <a:ahLst/>
              <a:cxnLst/>
              <a:rect r="r" b="b" t="t" l="l"/>
              <a:pathLst>
                <a:path h="660400" w="2878666">
                  <a:moveTo>
                    <a:pt x="0" y="0"/>
                  </a:moveTo>
                  <a:lnTo>
                    <a:pt x="2878666" y="0"/>
                  </a:lnTo>
                  <a:lnTo>
                    <a:pt x="2878666" y="660400"/>
                  </a:lnTo>
                  <a:lnTo>
                    <a:pt x="0" y="660400"/>
                  </a:lnTo>
                  <a:close/>
                </a:path>
              </a:pathLst>
            </a:custGeom>
            <a:blipFill>
              <a:blip r:embed="rId3">
                <a:alphaModFix amt="0"/>
              </a:blip>
              <a:stretch>
                <a:fillRect l="0" t="-34934" r="0" b="-34934"/>
              </a:stretch>
            </a:blipFill>
          </p:spPr>
        </p:sp>
        <p:sp>
          <p:nvSpPr>
            <p:cNvPr name="TextBox 33" id="33"/>
            <p:cNvSpPr txBox="true"/>
            <p:nvPr/>
          </p:nvSpPr>
          <p:spPr>
            <a:xfrm>
              <a:off x="0" y="-19050"/>
              <a:ext cx="2878671" cy="679450"/>
            </a:xfrm>
            <a:prstGeom prst="rect">
              <a:avLst/>
            </a:prstGeom>
          </p:spPr>
          <p:txBody>
            <a:bodyPr anchor="ctr" rtlCol="false" tIns="0" lIns="0" bIns="0" rIns="0"/>
            <a:lstStyle/>
            <a:p>
              <a:pPr algn="l">
                <a:lnSpc>
                  <a:spcPts val="2160"/>
                </a:lnSpc>
              </a:pPr>
              <a:r>
                <a:rPr lang="en-US" sz="1800" b="true">
                  <a:solidFill>
                    <a:srgbClr val="111111"/>
                  </a:solidFill>
                  <a:latin typeface="Arimo Bold"/>
                  <a:ea typeface="Arimo Bold"/>
                  <a:cs typeface="Arimo Bold"/>
                  <a:sym typeface="Arimo Bold"/>
                </a:rPr>
                <a:t>GRASP_FAILED</a:t>
              </a:r>
            </a:p>
          </p:txBody>
        </p:sp>
      </p:grpSp>
      <p:grpSp>
        <p:nvGrpSpPr>
          <p:cNvPr name="Group 34" id="34"/>
          <p:cNvGrpSpPr/>
          <p:nvPr/>
        </p:nvGrpSpPr>
        <p:grpSpPr>
          <a:xfrm rot="0">
            <a:off x="4567238" y="4889502"/>
            <a:ext cx="4010025" cy="1193797"/>
            <a:chOff x="0" y="0"/>
            <a:chExt cx="5346700" cy="1591729"/>
          </a:xfrm>
        </p:grpSpPr>
        <p:sp>
          <p:nvSpPr>
            <p:cNvPr name="Freeform 35" id="35"/>
            <p:cNvSpPr/>
            <p:nvPr/>
          </p:nvSpPr>
          <p:spPr>
            <a:xfrm flipH="false" flipV="false" rot="0">
              <a:off x="0" y="0"/>
              <a:ext cx="5346700" cy="1591767"/>
            </a:xfrm>
            <a:custGeom>
              <a:avLst/>
              <a:gdLst/>
              <a:ahLst/>
              <a:cxnLst/>
              <a:rect r="r" b="b" t="t" l="l"/>
              <a:pathLst>
                <a:path h="1591767" w="5346700">
                  <a:moveTo>
                    <a:pt x="0" y="185896"/>
                  </a:moveTo>
                  <a:cubicBezTo>
                    <a:pt x="0" y="83206"/>
                    <a:pt x="66167" y="0"/>
                    <a:pt x="147828" y="0"/>
                  </a:cubicBezTo>
                  <a:lnTo>
                    <a:pt x="5198872" y="0"/>
                  </a:lnTo>
                  <a:cubicBezTo>
                    <a:pt x="5280533" y="0"/>
                    <a:pt x="5346700" y="83206"/>
                    <a:pt x="5346700" y="185896"/>
                  </a:cubicBezTo>
                  <a:lnTo>
                    <a:pt x="5346700" y="1405881"/>
                  </a:lnTo>
                  <a:cubicBezTo>
                    <a:pt x="5346700" y="1508571"/>
                    <a:pt x="5280533" y="1591767"/>
                    <a:pt x="5198872" y="1591767"/>
                  </a:cubicBezTo>
                  <a:lnTo>
                    <a:pt x="147828" y="1591767"/>
                  </a:lnTo>
                  <a:cubicBezTo>
                    <a:pt x="66167" y="1591767"/>
                    <a:pt x="0" y="1508571"/>
                    <a:pt x="0" y="1405881"/>
                  </a:cubicBezTo>
                  <a:close/>
                </a:path>
              </a:pathLst>
            </a:custGeom>
            <a:solidFill>
              <a:srgbClr val="E7ECFF"/>
            </a:solidFill>
            <a:ln w="9525" cap="sq">
              <a:solidFill>
                <a:srgbClr val="E7ECFF"/>
              </a:solidFill>
              <a:prstDash val="solid"/>
              <a:miter/>
            </a:ln>
          </p:spPr>
        </p:sp>
      </p:grpSp>
      <p:grpSp>
        <p:nvGrpSpPr>
          <p:cNvPr name="Group 36" id="36"/>
          <p:cNvGrpSpPr/>
          <p:nvPr/>
        </p:nvGrpSpPr>
        <p:grpSpPr>
          <a:xfrm rot="0">
            <a:off x="1138238" y="5608634"/>
            <a:ext cx="2613022" cy="949328"/>
            <a:chOff x="0" y="0"/>
            <a:chExt cx="3484029" cy="1265771"/>
          </a:xfrm>
        </p:grpSpPr>
        <p:sp>
          <p:nvSpPr>
            <p:cNvPr name="Freeform 37" id="37"/>
            <p:cNvSpPr/>
            <p:nvPr/>
          </p:nvSpPr>
          <p:spPr>
            <a:xfrm flipH="false" flipV="false" rot="0">
              <a:off x="0" y="0"/>
              <a:ext cx="3484118" cy="1265809"/>
            </a:xfrm>
            <a:custGeom>
              <a:avLst/>
              <a:gdLst/>
              <a:ahLst/>
              <a:cxnLst/>
              <a:rect r="r" b="b" t="t" l="l"/>
              <a:pathLst>
                <a:path h="1265809" w="3484118">
                  <a:moveTo>
                    <a:pt x="0" y="147828"/>
                  </a:moveTo>
                  <a:cubicBezTo>
                    <a:pt x="0" y="66167"/>
                    <a:pt x="66167" y="0"/>
                    <a:pt x="147828" y="0"/>
                  </a:cubicBezTo>
                  <a:lnTo>
                    <a:pt x="3336290" y="0"/>
                  </a:lnTo>
                  <a:cubicBezTo>
                    <a:pt x="3417951" y="0"/>
                    <a:pt x="3484118" y="66167"/>
                    <a:pt x="3484118" y="147828"/>
                  </a:cubicBezTo>
                  <a:lnTo>
                    <a:pt x="3484118" y="1117981"/>
                  </a:lnTo>
                  <a:cubicBezTo>
                    <a:pt x="3484118" y="1199642"/>
                    <a:pt x="3417951" y="1265809"/>
                    <a:pt x="3336290" y="1265809"/>
                  </a:cubicBezTo>
                  <a:lnTo>
                    <a:pt x="147828" y="1265809"/>
                  </a:lnTo>
                  <a:cubicBezTo>
                    <a:pt x="66167" y="1265809"/>
                    <a:pt x="0" y="1199642"/>
                    <a:pt x="0" y="1117981"/>
                  </a:cubicBezTo>
                  <a:close/>
                </a:path>
              </a:pathLst>
            </a:custGeom>
            <a:solidFill>
              <a:srgbClr val="E9EEFF"/>
            </a:solidFill>
            <a:ln w="9525" cap="sq">
              <a:solidFill>
                <a:srgbClr val="E9EEFF"/>
              </a:solidFill>
              <a:prstDash val="solid"/>
              <a:miter/>
            </a:ln>
          </p:spPr>
        </p:sp>
      </p:grpSp>
      <p:grpSp>
        <p:nvGrpSpPr>
          <p:cNvPr name="Group 38" id="38"/>
          <p:cNvGrpSpPr/>
          <p:nvPr/>
        </p:nvGrpSpPr>
        <p:grpSpPr>
          <a:xfrm rot="0">
            <a:off x="1344606" y="6210300"/>
            <a:ext cx="2159003" cy="254003"/>
            <a:chOff x="0" y="0"/>
            <a:chExt cx="2878671" cy="338671"/>
          </a:xfrm>
        </p:grpSpPr>
        <p:sp>
          <p:nvSpPr>
            <p:cNvPr name="Freeform 39" id="39"/>
            <p:cNvSpPr/>
            <p:nvPr/>
          </p:nvSpPr>
          <p:spPr>
            <a:xfrm flipH="false" flipV="false" rot="0">
              <a:off x="0" y="0"/>
              <a:ext cx="2878666" cy="338666"/>
            </a:xfrm>
            <a:custGeom>
              <a:avLst/>
              <a:gdLst/>
              <a:ahLst/>
              <a:cxnLst/>
              <a:rect r="r" b="b" t="t" l="l"/>
              <a:pathLst>
                <a:path h="338666" w="2878666">
                  <a:moveTo>
                    <a:pt x="0" y="0"/>
                  </a:moveTo>
                  <a:lnTo>
                    <a:pt x="2878666" y="0"/>
                  </a:lnTo>
                  <a:lnTo>
                    <a:pt x="2878666" y="338666"/>
                  </a:lnTo>
                  <a:lnTo>
                    <a:pt x="0" y="338666"/>
                  </a:lnTo>
                  <a:close/>
                </a:path>
              </a:pathLst>
            </a:custGeom>
            <a:blipFill>
              <a:blip r:embed="rId3">
                <a:alphaModFix amt="0"/>
              </a:blip>
              <a:stretch>
                <a:fillRect l="0" t="-115622" r="0" b="-115624"/>
              </a:stretch>
            </a:blipFill>
          </p:spPr>
        </p:sp>
        <p:sp>
          <p:nvSpPr>
            <p:cNvPr name="TextBox 40" id="40"/>
            <p:cNvSpPr txBox="true"/>
            <p:nvPr/>
          </p:nvSpPr>
          <p:spPr>
            <a:xfrm>
              <a:off x="0" y="-19050"/>
              <a:ext cx="2878671" cy="357721"/>
            </a:xfrm>
            <a:prstGeom prst="rect">
              <a:avLst/>
            </a:prstGeom>
          </p:spPr>
          <p:txBody>
            <a:bodyPr anchor="ctr" rtlCol="false" tIns="0" lIns="0" bIns="0" rIns="0"/>
            <a:lstStyle/>
            <a:p>
              <a:pPr algn="l">
                <a:lnSpc>
                  <a:spcPts val="1439"/>
                </a:lnSpc>
              </a:pPr>
              <a:r>
                <a:rPr lang="en-US" sz="1200">
                  <a:solidFill>
                    <a:srgbClr val="66645F"/>
                  </a:solidFill>
                  <a:latin typeface="Arimo"/>
                  <a:ea typeface="Arimo"/>
                  <a:cs typeface="Arimo"/>
                  <a:sym typeface="Arimo"/>
                </a:rPr>
                <a:t>운반 중 물체 낙하</a:t>
              </a:r>
            </a:p>
          </p:txBody>
        </p:sp>
      </p:grpSp>
      <p:grpSp>
        <p:nvGrpSpPr>
          <p:cNvPr name="Group 41" id="41"/>
          <p:cNvGrpSpPr/>
          <p:nvPr/>
        </p:nvGrpSpPr>
        <p:grpSpPr>
          <a:xfrm rot="0">
            <a:off x="1344606" y="5659441"/>
            <a:ext cx="2159003" cy="495300"/>
            <a:chOff x="0" y="0"/>
            <a:chExt cx="2878671" cy="660400"/>
          </a:xfrm>
        </p:grpSpPr>
        <p:sp>
          <p:nvSpPr>
            <p:cNvPr name="Freeform 42" id="42"/>
            <p:cNvSpPr/>
            <p:nvPr/>
          </p:nvSpPr>
          <p:spPr>
            <a:xfrm flipH="false" flipV="false" rot="0">
              <a:off x="0" y="0"/>
              <a:ext cx="2878666" cy="660400"/>
            </a:xfrm>
            <a:custGeom>
              <a:avLst/>
              <a:gdLst/>
              <a:ahLst/>
              <a:cxnLst/>
              <a:rect r="r" b="b" t="t" l="l"/>
              <a:pathLst>
                <a:path h="660400" w="2878666">
                  <a:moveTo>
                    <a:pt x="0" y="0"/>
                  </a:moveTo>
                  <a:lnTo>
                    <a:pt x="2878666" y="0"/>
                  </a:lnTo>
                  <a:lnTo>
                    <a:pt x="2878666" y="660400"/>
                  </a:lnTo>
                  <a:lnTo>
                    <a:pt x="0" y="660400"/>
                  </a:lnTo>
                  <a:close/>
                </a:path>
              </a:pathLst>
            </a:custGeom>
            <a:blipFill>
              <a:blip r:embed="rId3">
                <a:alphaModFix amt="0"/>
              </a:blip>
              <a:stretch>
                <a:fillRect l="0" t="-34934" r="0" b="-34934"/>
              </a:stretch>
            </a:blipFill>
          </p:spPr>
        </p:sp>
        <p:sp>
          <p:nvSpPr>
            <p:cNvPr name="TextBox 43" id="43"/>
            <p:cNvSpPr txBox="true"/>
            <p:nvPr/>
          </p:nvSpPr>
          <p:spPr>
            <a:xfrm>
              <a:off x="0" y="-19050"/>
              <a:ext cx="2878671" cy="679450"/>
            </a:xfrm>
            <a:prstGeom prst="rect">
              <a:avLst/>
            </a:prstGeom>
          </p:spPr>
          <p:txBody>
            <a:bodyPr anchor="ctr" rtlCol="false" tIns="0" lIns="0" bIns="0" rIns="0"/>
            <a:lstStyle/>
            <a:p>
              <a:pPr algn="l">
                <a:lnSpc>
                  <a:spcPts val="2160"/>
                </a:lnSpc>
              </a:pPr>
              <a:r>
                <a:rPr lang="en-US" sz="1800" b="true">
                  <a:solidFill>
                    <a:srgbClr val="111111"/>
                  </a:solidFill>
                  <a:latin typeface="Arimo Bold"/>
                  <a:ea typeface="Arimo Bold"/>
                  <a:cs typeface="Arimo Bold"/>
                  <a:sym typeface="Arimo Bold"/>
                </a:rPr>
                <a:t>GRIPPER_EMPTY</a:t>
              </a:r>
            </a:p>
          </p:txBody>
        </p:sp>
      </p:grpSp>
      <p:grpSp>
        <p:nvGrpSpPr>
          <p:cNvPr name="Group 44" id="44"/>
          <p:cNvGrpSpPr/>
          <p:nvPr/>
        </p:nvGrpSpPr>
        <p:grpSpPr>
          <a:xfrm rot="0">
            <a:off x="1138238" y="6802441"/>
            <a:ext cx="2613022" cy="949328"/>
            <a:chOff x="0" y="0"/>
            <a:chExt cx="3484029" cy="1265771"/>
          </a:xfrm>
        </p:grpSpPr>
        <p:sp>
          <p:nvSpPr>
            <p:cNvPr name="Freeform 45" id="45"/>
            <p:cNvSpPr/>
            <p:nvPr/>
          </p:nvSpPr>
          <p:spPr>
            <a:xfrm flipH="false" flipV="false" rot="0">
              <a:off x="0" y="0"/>
              <a:ext cx="3484118" cy="1265809"/>
            </a:xfrm>
            <a:custGeom>
              <a:avLst/>
              <a:gdLst/>
              <a:ahLst/>
              <a:cxnLst/>
              <a:rect r="r" b="b" t="t" l="l"/>
              <a:pathLst>
                <a:path h="1265809" w="3484118">
                  <a:moveTo>
                    <a:pt x="0" y="147828"/>
                  </a:moveTo>
                  <a:cubicBezTo>
                    <a:pt x="0" y="66167"/>
                    <a:pt x="66167" y="0"/>
                    <a:pt x="147828" y="0"/>
                  </a:cubicBezTo>
                  <a:lnTo>
                    <a:pt x="3336290" y="0"/>
                  </a:lnTo>
                  <a:cubicBezTo>
                    <a:pt x="3417951" y="0"/>
                    <a:pt x="3484118" y="66167"/>
                    <a:pt x="3484118" y="147828"/>
                  </a:cubicBezTo>
                  <a:lnTo>
                    <a:pt x="3484118" y="1117981"/>
                  </a:lnTo>
                  <a:cubicBezTo>
                    <a:pt x="3484118" y="1199642"/>
                    <a:pt x="3417951" y="1265809"/>
                    <a:pt x="3336290" y="1265809"/>
                  </a:cubicBezTo>
                  <a:lnTo>
                    <a:pt x="147828" y="1265809"/>
                  </a:lnTo>
                  <a:cubicBezTo>
                    <a:pt x="66167" y="1265809"/>
                    <a:pt x="0" y="1199642"/>
                    <a:pt x="0" y="1117981"/>
                  </a:cubicBezTo>
                  <a:close/>
                </a:path>
              </a:pathLst>
            </a:custGeom>
            <a:solidFill>
              <a:srgbClr val="E9EEFF"/>
            </a:solidFill>
            <a:ln w="9525" cap="sq">
              <a:solidFill>
                <a:srgbClr val="E9EEFF"/>
              </a:solidFill>
              <a:prstDash val="solid"/>
              <a:miter/>
            </a:ln>
          </p:spPr>
        </p:sp>
      </p:grpSp>
      <p:grpSp>
        <p:nvGrpSpPr>
          <p:cNvPr name="Group 46" id="46"/>
          <p:cNvGrpSpPr/>
          <p:nvPr/>
        </p:nvGrpSpPr>
        <p:grpSpPr>
          <a:xfrm rot="0">
            <a:off x="1365247" y="7386635"/>
            <a:ext cx="2159003" cy="254000"/>
            <a:chOff x="0" y="0"/>
            <a:chExt cx="2878671" cy="338666"/>
          </a:xfrm>
        </p:grpSpPr>
        <p:sp>
          <p:nvSpPr>
            <p:cNvPr name="Freeform 47" id="47"/>
            <p:cNvSpPr/>
            <p:nvPr/>
          </p:nvSpPr>
          <p:spPr>
            <a:xfrm flipH="false" flipV="false" rot="0">
              <a:off x="0" y="0"/>
              <a:ext cx="2878666" cy="338661"/>
            </a:xfrm>
            <a:custGeom>
              <a:avLst/>
              <a:gdLst/>
              <a:ahLst/>
              <a:cxnLst/>
              <a:rect r="r" b="b" t="t" l="l"/>
              <a:pathLst>
                <a:path h="338661" w="2878666">
                  <a:moveTo>
                    <a:pt x="0" y="0"/>
                  </a:moveTo>
                  <a:lnTo>
                    <a:pt x="2878666" y="0"/>
                  </a:lnTo>
                  <a:lnTo>
                    <a:pt x="2878666" y="338661"/>
                  </a:lnTo>
                  <a:lnTo>
                    <a:pt x="0" y="338661"/>
                  </a:lnTo>
                  <a:close/>
                </a:path>
              </a:pathLst>
            </a:custGeom>
            <a:blipFill>
              <a:blip r:embed="rId3">
                <a:alphaModFix amt="0"/>
              </a:blip>
              <a:stretch>
                <a:fillRect l="0" t="-115624" r="0" b="-115627"/>
              </a:stretch>
            </a:blipFill>
          </p:spPr>
        </p:sp>
        <p:sp>
          <p:nvSpPr>
            <p:cNvPr name="TextBox 48" id="48"/>
            <p:cNvSpPr txBox="true"/>
            <p:nvPr/>
          </p:nvSpPr>
          <p:spPr>
            <a:xfrm>
              <a:off x="0" y="-19050"/>
              <a:ext cx="2878671" cy="357716"/>
            </a:xfrm>
            <a:prstGeom prst="rect">
              <a:avLst/>
            </a:prstGeom>
          </p:spPr>
          <p:txBody>
            <a:bodyPr anchor="ctr" rtlCol="false" tIns="0" lIns="0" bIns="0" rIns="0"/>
            <a:lstStyle/>
            <a:p>
              <a:pPr algn="l">
                <a:lnSpc>
                  <a:spcPts val="1439"/>
                </a:lnSpc>
              </a:pPr>
              <a:r>
                <a:rPr lang="en-US" sz="1200">
                  <a:solidFill>
                    <a:srgbClr val="66645F"/>
                  </a:solidFill>
                  <a:latin typeface="Arimo"/>
                  <a:ea typeface="Arimo"/>
                  <a:cs typeface="Arimo"/>
                  <a:sym typeface="Arimo"/>
                </a:rPr>
                <a:t>미등록</a:t>
              </a:r>
              <a:r>
                <a:rPr lang="en-US" sz="1200">
                  <a:solidFill>
                    <a:srgbClr val="66645F"/>
                  </a:solidFill>
                  <a:latin typeface="Arimo"/>
                  <a:ea typeface="Arimo"/>
                  <a:cs typeface="Arimo"/>
                  <a:sym typeface="Arimo"/>
                </a:rPr>
                <a:t> 자세 / 도달 불가</a:t>
              </a:r>
            </a:p>
          </p:txBody>
        </p:sp>
      </p:grpSp>
      <p:grpSp>
        <p:nvGrpSpPr>
          <p:cNvPr name="Group 49" id="49"/>
          <p:cNvGrpSpPr/>
          <p:nvPr/>
        </p:nvGrpSpPr>
        <p:grpSpPr>
          <a:xfrm rot="0">
            <a:off x="1365247" y="6834188"/>
            <a:ext cx="2159003" cy="495300"/>
            <a:chOff x="0" y="0"/>
            <a:chExt cx="2878671" cy="660400"/>
          </a:xfrm>
        </p:grpSpPr>
        <p:sp>
          <p:nvSpPr>
            <p:cNvPr name="Freeform 50" id="50"/>
            <p:cNvSpPr/>
            <p:nvPr/>
          </p:nvSpPr>
          <p:spPr>
            <a:xfrm flipH="false" flipV="false" rot="0">
              <a:off x="0" y="0"/>
              <a:ext cx="2878666" cy="660400"/>
            </a:xfrm>
            <a:custGeom>
              <a:avLst/>
              <a:gdLst/>
              <a:ahLst/>
              <a:cxnLst/>
              <a:rect r="r" b="b" t="t" l="l"/>
              <a:pathLst>
                <a:path h="660400" w="2878666">
                  <a:moveTo>
                    <a:pt x="0" y="0"/>
                  </a:moveTo>
                  <a:lnTo>
                    <a:pt x="2878666" y="0"/>
                  </a:lnTo>
                  <a:lnTo>
                    <a:pt x="2878666" y="660400"/>
                  </a:lnTo>
                  <a:lnTo>
                    <a:pt x="0" y="660400"/>
                  </a:lnTo>
                  <a:close/>
                </a:path>
              </a:pathLst>
            </a:custGeom>
            <a:blipFill>
              <a:blip r:embed="rId3">
                <a:alphaModFix amt="0"/>
              </a:blip>
              <a:stretch>
                <a:fillRect l="0" t="-34934" r="0" b="-34934"/>
              </a:stretch>
            </a:blipFill>
          </p:spPr>
        </p:sp>
        <p:sp>
          <p:nvSpPr>
            <p:cNvPr name="TextBox 51" id="51"/>
            <p:cNvSpPr txBox="true"/>
            <p:nvPr/>
          </p:nvSpPr>
          <p:spPr>
            <a:xfrm>
              <a:off x="0" y="-19050"/>
              <a:ext cx="2878671" cy="679450"/>
            </a:xfrm>
            <a:prstGeom prst="rect">
              <a:avLst/>
            </a:prstGeom>
          </p:spPr>
          <p:txBody>
            <a:bodyPr anchor="ctr" rtlCol="false" tIns="0" lIns="0" bIns="0" rIns="0"/>
            <a:lstStyle/>
            <a:p>
              <a:pPr algn="l">
                <a:lnSpc>
                  <a:spcPts val="1530"/>
                </a:lnSpc>
              </a:pPr>
              <a:r>
                <a:rPr lang="en-US" sz="1275" b="true">
                  <a:solidFill>
                    <a:srgbClr val="111111"/>
                  </a:solidFill>
                  <a:latin typeface="Arimo Bold"/>
                  <a:ea typeface="Arimo Bold"/>
                  <a:cs typeface="Arimo Bold"/>
                  <a:sym typeface="Arimo Bold"/>
                </a:rPr>
                <a:t>UNDEFINED</a:t>
              </a:r>
              <a:r>
                <a:rPr lang="en-US" sz="1275" b="true">
                  <a:solidFill>
                    <a:srgbClr val="111111"/>
                  </a:solidFill>
                  <a:latin typeface="Arimo Bold"/>
                  <a:ea typeface="Arimo Bold"/>
                  <a:cs typeface="Arimo Bold"/>
                  <a:sym typeface="Arimo Bold"/>
                </a:rPr>
                <a:t>_POSE</a:t>
              </a:r>
            </a:p>
            <a:p>
              <a:pPr algn="l">
                <a:lnSpc>
                  <a:spcPts val="1530"/>
                </a:lnSpc>
              </a:pPr>
              <a:r>
                <a:rPr lang="en-US" sz="1275" b="true">
                  <a:solidFill>
                    <a:srgbClr val="111111"/>
                  </a:solidFill>
                  <a:latin typeface="Arimo Bold"/>
                  <a:ea typeface="Arimo Bold"/>
                  <a:cs typeface="Arimo Bold"/>
                  <a:sym typeface="Arimo Bold"/>
                </a:rPr>
                <a:t>UNREACHABLE</a:t>
              </a:r>
            </a:p>
          </p:txBody>
        </p:sp>
      </p:grpSp>
      <p:grpSp>
        <p:nvGrpSpPr>
          <p:cNvPr name="Group 52" id="52"/>
          <p:cNvGrpSpPr/>
          <p:nvPr/>
        </p:nvGrpSpPr>
        <p:grpSpPr>
          <a:xfrm rot="0">
            <a:off x="4567238" y="6802441"/>
            <a:ext cx="4010025" cy="949328"/>
            <a:chOff x="0" y="0"/>
            <a:chExt cx="5346700" cy="1265771"/>
          </a:xfrm>
        </p:grpSpPr>
        <p:sp>
          <p:nvSpPr>
            <p:cNvPr name="Freeform 53" id="53"/>
            <p:cNvSpPr/>
            <p:nvPr/>
          </p:nvSpPr>
          <p:spPr>
            <a:xfrm flipH="false" flipV="false" rot="0">
              <a:off x="0" y="0"/>
              <a:ext cx="5346700" cy="1265809"/>
            </a:xfrm>
            <a:custGeom>
              <a:avLst/>
              <a:gdLst/>
              <a:ahLst/>
              <a:cxnLst/>
              <a:rect r="r" b="b" t="t" l="l"/>
              <a:pathLst>
                <a:path h="1265809" w="5346700">
                  <a:moveTo>
                    <a:pt x="0" y="147828"/>
                  </a:moveTo>
                  <a:cubicBezTo>
                    <a:pt x="0" y="66167"/>
                    <a:pt x="66167" y="0"/>
                    <a:pt x="147828" y="0"/>
                  </a:cubicBezTo>
                  <a:lnTo>
                    <a:pt x="5198872" y="0"/>
                  </a:lnTo>
                  <a:cubicBezTo>
                    <a:pt x="5280533" y="0"/>
                    <a:pt x="5346700" y="66167"/>
                    <a:pt x="5346700" y="147828"/>
                  </a:cubicBezTo>
                  <a:lnTo>
                    <a:pt x="5346700" y="1117981"/>
                  </a:lnTo>
                  <a:cubicBezTo>
                    <a:pt x="5346700" y="1199642"/>
                    <a:pt x="5280533" y="1265809"/>
                    <a:pt x="5198872" y="1265809"/>
                  </a:cubicBezTo>
                  <a:lnTo>
                    <a:pt x="147828" y="1265809"/>
                  </a:lnTo>
                  <a:cubicBezTo>
                    <a:pt x="66167" y="1265809"/>
                    <a:pt x="0" y="1199642"/>
                    <a:pt x="0" y="1117981"/>
                  </a:cubicBezTo>
                  <a:close/>
                </a:path>
              </a:pathLst>
            </a:custGeom>
            <a:solidFill>
              <a:srgbClr val="FFFFFF"/>
            </a:solidFill>
            <a:ln w="38100" cap="sq">
              <a:solidFill>
                <a:srgbClr val="111111"/>
              </a:solidFill>
              <a:prstDash val="solid"/>
              <a:miter/>
            </a:ln>
          </p:spPr>
        </p:sp>
      </p:grpSp>
      <p:grpSp>
        <p:nvGrpSpPr>
          <p:cNvPr name="Group 54" id="54"/>
          <p:cNvGrpSpPr/>
          <p:nvPr/>
        </p:nvGrpSpPr>
        <p:grpSpPr>
          <a:xfrm rot="0">
            <a:off x="4819650" y="7081838"/>
            <a:ext cx="3555997" cy="431797"/>
            <a:chOff x="0" y="0"/>
            <a:chExt cx="4741329" cy="575729"/>
          </a:xfrm>
        </p:grpSpPr>
        <p:grpSp>
          <p:nvGrpSpPr>
            <p:cNvPr name="Group 55" id="55"/>
            <p:cNvGrpSpPr/>
            <p:nvPr/>
          </p:nvGrpSpPr>
          <p:grpSpPr>
            <a:xfrm rot="0">
              <a:off x="0" y="0"/>
              <a:ext cx="1693329" cy="575729"/>
              <a:chOff x="0" y="0"/>
              <a:chExt cx="1693329" cy="575729"/>
            </a:xfrm>
          </p:grpSpPr>
          <p:sp>
            <p:nvSpPr>
              <p:cNvPr name="Freeform 56" id="56"/>
              <p:cNvSpPr/>
              <p:nvPr/>
            </p:nvSpPr>
            <p:spPr>
              <a:xfrm flipH="false" flipV="false" rot="0">
                <a:off x="0" y="0"/>
                <a:ext cx="1693334" cy="575734"/>
              </a:xfrm>
              <a:custGeom>
                <a:avLst/>
                <a:gdLst/>
                <a:ahLst/>
                <a:cxnLst/>
                <a:rect r="r" b="b" t="t" l="l"/>
                <a:pathLst>
                  <a:path h="575734" w="1693334">
                    <a:moveTo>
                      <a:pt x="0" y="0"/>
                    </a:moveTo>
                    <a:lnTo>
                      <a:pt x="1693334" y="0"/>
                    </a:lnTo>
                    <a:lnTo>
                      <a:pt x="1693334" y="575734"/>
                    </a:lnTo>
                    <a:lnTo>
                      <a:pt x="0" y="575734"/>
                    </a:lnTo>
                    <a:close/>
                  </a:path>
                </a:pathLst>
              </a:custGeom>
              <a:blipFill>
                <a:blip r:embed="rId3">
                  <a:alphaModFix amt="0"/>
                </a:blip>
                <a:stretch>
                  <a:fillRect l="0" t="-7309" r="0" b="-7308"/>
                </a:stretch>
              </a:blipFill>
            </p:spPr>
          </p:sp>
          <p:sp>
            <p:nvSpPr>
              <p:cNvPr name="TextBox 57" id="57"/>
              <p:cNvSpPr txBox="true"/>
              <p:nvPr/>
            </p:nvSpPr>
            <p:spPr>
              <a:xfrm>
                <a:off x="0" y="-9525"/>
                <a:ext cx="1693329" cy="585254"/>
              </a:xfrm>
              <a:prstGeom prst="rect">
                <a:avLst/>
              </a:prstGeom>
            </p:spPr>
            <p:txBody>
              <a:bodyPr anchor="ctr" rtlCol="false" tIns="0" lIns="0" bIns="0" rIns="0"/>
              <a:lstStyle/>
              <a:p>
                <a:pPr algn="l">
                  <a:lnSpc>
                    <a:spcPts val="2520"/>
                  </a:lnSpc>
                </a:pPr>
                <a:r>
                  <a:rPr lang="en-US" b="true" sz="2100">
                    <a:solidFill>
                      <a:srgbClr val="111111"/>
                    </a:solidFill>
                    <a:latin typeface="Arimo Bold"/>
                    <a:ea typeface="Arimo Bold"/>
                    <a:cs typeface="Arimo Bold"/>
                    <a:sym typeface="Arimo Bold"/>
                  </a:rPr>
                  <a:t>작업 중단</a:t>
                </a:r>
              </a:p>
            </p:txBody>
          </p:sp>
        </p:grpSp>
        <p:grpSp>
          <p:nvGrpSpPr>
            <p:cNvPr name="Group 58" id="58"/>
            <p:cNvGrpSpPr/>
            <p:nvPr/>
          </p:nvGrpSpPr>
          <p:grpSpPr>
            <a:xfrm rot="0">
              <a:off x="1693329" y="59265"/>
              <a:ext cx="3048000" cy="457200"/>
              <a:chOff x="0" y="0"/>
              <a:chExt cx="3048000" cy="457200"/>
            </a:xfrm>
          </p:grpSpPr>
          <p:sp>
            <p:nvSpPr>
              <p:cNvPr name="Freeform 59" id="59"/>
              <p:cNvSpPr/>
              <p:nvPr/>
            </p:nvSpPr>
            <p:spPr>
              <a:xfrm flipH="false" flipV="false" rot="0">
                <a:off x="0" y="0"/>
                <a:ext cx="3048000" cy="457200"/>
              </a:xfrm>
              <a:custGeom>
                <a:avLst/>
                <a:gdLst/>
                <a:ahLst/>
                <a:cxnLst/>
                <a:rect r="r" b="b" t="t" l="l"/>
                <a:pathLst>
                  <a:path h="457200" w="3048000">
                    <a:moveTo>
                      <a:pt x="0" y="0"/>
                    </a:moveTo>
                    <a:lnTo>
                      <a:pt x="3048000" y="0"/>
                    </a:lnTo>
                    <a:lnTo>
                      <a:pt x="3048000" y="457200"/>
                    </a:lnTo>
                    <a:lnTo>
                      <a:pt x="0" y="457200"/>
                    </a:lnTo>
                    <a:close/>
                  </a:path>
                </a:pathLst>
              </a:custGeom>
              <a:blipFill>
                <a:blip r:embed="rId3">
                  <a:alphaModFix amt="0"/>
                </a:blip>
                <a:stretch>
                  <a:fillRect l="0" t="-79900" r="0" b="-79900"/>
                </a:stretch>
              </a:blipFill>
            </p:spPr>
          </p:sp>
          <p:sp>
            <p:nvSpPr>
              <p:cNvPr name="TextBox 60" id="60"/>
              <p:cNvSpPr txBox="true"/>
              <p:nvPr/>
            </p:nvSpPr>
            <p:spPr>
              <a:xfrm>
                <a:off x="0" y="-19050"/>
                <a:ext cx="3048000" cy="476250"/>
              </a:xfrm>
              <a:prstGeom prst="rect">
                <a:avLst/>
              </a:prstGeom>
            </p:spPr>
            <p:txBody>
              <a:bodyPr anchor="ctr" rtlCol="false" tIns="0" lIns="0" bIns="0" rIns="0"/>
              <a:lstStyle/>
              <a:p>
                <a:pPr algn="l">
                  <a:lnSpc>
                    <a:spcPts val="1709"/>
                  </a:lnSpc>
                </a:pPr>
                <a:r>
                  <a:rPr lang="en-US" sz="1425">
                    <a:solidFill>
                      <a:srgbClr val="111111"/>
                    </a:solidFill>
                    <a:latin typeface="Arimo"/>
                    <a:ea typeface="Arimo"/>
                    <a:cs typeface="Arimo"/>
                    <a:sym typeface="Arimo"/>
                  </a:rPr>
                  <a:t>복구 시도 없이 중단</a:t>
                </a:r>
              </a:p>
            </p:txBody>
          </p:sp>
        </p:grpSp>
      </p:grpSp>
      <p:grpSp>
        <p:nvGrpSpPr>
          <p:cNvPr name="Group 61" id="61"/>
          <p:cNvGrpSpPr/>
          <p:nvPr/>
        </p:nvGrpSpPr>
        <p:grpSpPr>
          <a:xfrm rot="0">
            <a:off x="9625327" y="2297430"/>
            <a:ext cx="7990837" cy="6276337"/>
            <a:chOff x="0" y="0"/>
            <a:chExt cx="10654449" cy="8368449"/>
          </a:xfrm>
        </p:grpSpPr>
        <p:sp>
          <p:nvSpPr>
            <p:cNvPr name="Freeform 62" id="62"/>
            <p:cNvSpPr/>
            <p:nvPr/>
          </p:nvSpPr>
          <p:spPr>
            <a:xfrm flipH="false" flipV="false" rot="0">
              <a:off x="0" y="0"/>
              <a:ext cx="10654538" cy="8368538"/>
            </a:xfrm>
            <a:custGeom>
              <a:avLst/>
              <a:gdLst/>
              <a:ahLst/>
              <a:cxnLst/>
              <a:rect r="r" b="b" t="t" l="l"/>
              <a:pathLst>
                <a:path h="8368538" w="10654538">
                  <a:moveTo>
                    <a:pt x="0" y="147574"/>
                  </a:moveTo>
                  <a:cubicBezTo>
                    <a:pt x="0" y="66040"/>
                    <a:pt x="66040" y="0"/>
                    <a:pt x="147574" y="0"/>
                  </a:cubicBezTo>
                  <a:lnTo>
                    <a:pt x="10506964" y="0"/>
                  </a:lnTo>
                  <a:cubicBezTo>
                    <a:pt x="10588498" y="0"/>
                    <a:pt x="10654538" y="66040"/>
                    <a:pt x="10654538" y="147574"/>
                  </a:cubicBezTo>
                  <a:lnTo>
                    <a:pt x="10654538" y="8220964"/>
                  </a:lnTo>
                  <a:cubicBezTo>
                    <a:pt x="10654538" y="8302498"/>
                    <a:pt x="10588498" y="8368538"/>
                    <a:pt x="10506964" y="8368538"/>
                  </a:cubicBezTo>
                  <a:lnTo>
                    <a:pt x="147574" y="8368538"/>
                  </a:lnTo>
                  <a:cubicBezTo>
                    <a:pt x="66040" y="8368411"/>
                    <a:pt x="0" y="8302371"/>
                    <a:pt x="0" y="8220964"/>
                  </a:cubicBezTo>
                  <a:close/>
                </a:path>
              </a:pathLst>
            </a:custGeom>
            <a:solidFill>
              <a:srgbClr val="FFFFFF"/>
            </a:solidFill>
            <a:ln w="53340" cap="sq">
              <a:solidFill>
                <a:srgbClr val="111111"/>
              </a:solidFill>
              <a:prstDash val="solid"/>
              <a:miter/>
            </a:ln>
          </p:spPr>
        </p:sp>
      </p:grpSp>
      <p:pic>
        <p:nvPicPr>
          <p:cNvPr name="Picture 63" id="63" descr="/Users/junsupark/Desktop/personal_project/portfolio_assets/pptx_media/blue_ring_regrasp_real_demo.gif">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28533"/>
          <a:stretch>
            <a:fillRect/>
          </a:stretch>
        </p:blipFill>
        <p:spPr>
          <a:xfrm flipH="false" flipV="false" rot="0">
            <a:off x="9715500" y="2387603"/>
            <a:ext cx="7810500" cy="6096000"/>
          </a:xfrm>
          <a:prstGeom prst="rect">
            <a:avLst/>
          </a:prstGeom>
        </p:spPr>
      </p:pic>
      <p:grpSp>
        <p:nvGrpSpPr>
          <p:cNvPr name="Group 64" id="64"/>
          <p:cNvGrpSpPr/>
          <p:nvPr/>
        </p:nvGrpSpPr>
        <p:grpSpPr>
          <a:xfrm rot="0">
            <a:off x="9926641" y="2547938"/>
            <a:ext cx="1825628" cy="492128"/>
            <a:chOff x="0" y="0"/>
            <a:chExt cx="2434171" cy="656171"/>
          </a:xfrm>
        </p:grpSpPr>
        <p:sp>
          <p:nvSpPr>
            <p:cNvPr name="Freeform 65" id="65"/>
            <p:cNvSpPr/>
            <p:nvPr/>
          </p:nvSpPr>
          <p:spPr>
            <a:xfrm flipH="false" flipV="false" rot="0">
              <a:off x="0" y="0"/>
              <a:ext cx="2434209" cy="656209"/>
            </a:xfrm>
            <a:custGeom>
              <a:avLst/>
              <a:gdLst/>
              <a:ahLst/>
              <a:cxnLst/>
              <a:rect r="r" b="b" t="t" l="l"/>
              <a:pathLst>
                <a:path h="656209" w="2434209">
                  <a:moveTo>
                    <a:pt x="0" y="149225"/>
                  </a:moveTo>
                  <a:cubicBezTo>
                    <a:pt x="0" y="66802"/>
                    <a:pt x="66802" y="0"/>
                    <a:pt x="149225" y="0"/>
                  </a:cubicBezTo>
                  <a:lnTo>
                    <a:pt x="2284984" y="0"/>
                  </a:lnTo>
                  <a:cubicBezTo>
                    <a:pt x="2367407" y="0"/>
                    <a:pt x="2434209" y="66802"/>
                    <a:pt x="2434209" y="149225"/>
                  </a:cubicBezTo>
                  <a:lnTo>
                    <a:pt x="2434209" y="506984"/>
                  </a:lnTo>
                  <a:cubicBezTo>
                    <a:pt x="2434209" y="589407"/>
                    <a:pt x="2367407" y="656209"/>
                    <a:pt x="2284984" y="656209"/>
                  </a:cubicBezTo>
                  <a:lnTo>
                    <a:pt x="149225" y="656209"/>
                  </a:lnTo>
                  <a:cubicBezTo>
                    <a:pt x="66802" y="656209"/>
                    <a:pt x="0" y="589407"/>
                    <a:pt x="0" y="506984"/>
                  </a:cubicBezTo>
                  <a:close/>
                </a:path>
              </a:pathLst>
            </a:custGeom>
            <a:solidFill>
              <a:srgbClr val="111111"/>
            </a:solidFill>
            <a:ln w="9525" cap="sq">
              <a:solidFill>
                <a:srgbClr val="111111"/>
              </a:solidFill>
              <a:prstDash val="solid"/>
              <a:miter/>
            </a:ln>
          </p:spPr>
        </p:sp>
      </p:grpSp>
      <p:grpSp>
        <p:nvGrpSpPr>
          <p:cNvPr name="Group 66" id="66"/>
          <p:cNvGrpSpPr/>
          <p:nvPr/>
        </p:nvGrpSpPr>
        <p:grpSpPr>
          <a:xfrm rot="0">
            <a:off x="9931403" y="2552700"/>
            <a:ext cx="1816103" cy="482600"/>
            <a:chOff x="0" y="0"/>
            <a:chExt cx="2421471" cy="643466"/>
          </a:xfrm>
        </p:grpSpPr>
        <p:sp>
          <p:nvSpPr>
            <p:cNvPr name="Freeform 67" id="67"/>
            <p:cNvSpPr/>
            <p:nvPr/>
          </p:nvSpPr>
          <p:spPr>
            <a:xfrm flipH="false" flipV="false" rot="0">
              <a:off x="0" y="0"/>
              <a:ext cx="2421466" cy="643461"/>
            </a:xfrm>
            <a:custGeom>
              <a:avLst/>
              <a:gdLst/>
              <a:ahLst/>
              <a:cxnLst/>
              <a:rect r="r" b="b" t="t" l="l"/>
              <a:pathLst>
                <a:path h="643461" w="2421466">
                  <a:moveTo>
                    <a:pt x="0" y="0"/>
                  </a:moveTo>
                  <a:lnTo>
                    <a:pt x="2421466" y="0"/>
                  </a:lnTo>
                  <a:lnTo>
                    <a:pt x="2421466" y="643461"/>
                  </a:lnTo>
                  <a:lnTo>
                    <a:pt x="0" y="643461"/>
                  </a:lnTo>
                  <a:close/>
                </a:path>
              </a:pathLst>
            </a:custGeom>
            <a:blipFill>
              <a:blip r:embed="rId3">
                <a:alphaModFix amt="0"/>
              </a:blip>
              <a:stretch>
                <a:fillRect l="0" t="-23325" r="0" b="-23326"/>
              </a:stretch>
            </a:blipFill>
          </p:spPr>
        </p:sp>
        <p:sp>
          <p:nvSpPr>
            <p:cNvPr name="TextBox 68" id="68"/>
            <p:cNvSpPr txBox="true"/>
            <p:nvPr/>
          </p:nvSpPr>
          <p:spPr>
            <a:xfrm>
              <a:off x="0" y="-19050"/>
              <a:ext cx="2421471" cy="662516"/>
            </a:xfrm>
            <a:prstGeom prst="rect">
              <a:avLst/>
            </a:prstGeom>
          </p:spPr>
          <p:txBody>
            <a:bodyPr anchor="ctr" rtlCol="false" tIns="0" lIns="0" bIns="0" rIns="0"/>
            <a:lstStyle/>
            <a:p>
              <a:pPr algn="ctr">
                <a:lnSpc>
                  <a:spcPts val="1620"/>
                </a:lnSpc>
              </a:pPr>
              <a:r>
                <a:rPr lang="en-US" b="true" sz="1350" u="sng">
                  <a:solidFill>
                    <a:srgbClr val="FFFFFF"/>
                  </a:solidFill>
                  <a:latin typeface="Arimo Bold"/>
                  <a:ea typeface="Arimo Bold"/>
                  <a:cs typeface="Arimo Bold"/>
                  <a:sym typeface="Arimo Bold"/>
                  <a:hlinkClick r:id="rId7" tooltip="https://kdm111.github.io/assets/videos/p11_regrasp.mp4"/>
                </a:rPr>
                <a:t>GRASP_FAILED 복구</a:t>
              </a:r>
            </a:p>
          </p:txBody>
        </p:sp>
      </p:grpSp>
      <p:grpSp>
        <p:nvGrpSpPr>
          <p:cNvPr name="Group 69" id="69"/>
          <p:cNvGrpSpPr/>
          <p:nvPr/>
        </p:nvGrpSpPr>
        <p:grpSpPr>
          <a:xfrm rot="0">
            <a:off x="752475" y="8783317"/>
            <a:ext cx="16846553" cy="852802"/>
            <a:chOff x="0" y="0"/>
            <a:chExt cx="22462071" cy="1137069"/>
          </a:xfrm>
        </p:grpSpPr>
        <p:sp>
          <p:nvSpPr>
            <p:cNvPr name="Freeform 70" id="70"/>
            <p:cNvSpPr/>
            <p:nvPr/>
          </p:nvSpPr>
          <p:spPr>
            <a:xfrm flipH="false" flipV="false" rot="0">
              <a:off x="0" y="0"/>
              <a:ext cx="22462108" cy="1137158"/>
            </a:xfrm>
            <a:custGeom>
              <a:avLst/>
              <a:gdLst/>
              <a:ahLst/>
              <a:cxnLst/>
              <a:rect r="r" b="b" t="t" l="l"/>
              <a:pathLst>
                <a:path h="1137158" w="22462108">
                  <a:moveTo>
                    <a:pt x="0" y="169414"/>
                  </a:moveTo>
                  <a:cubicBezTo>
                    <a:pt x="0" y="75821"/>
                    <a:pt x="67183" y="0"/>
                    <a:pt x="150114" y="0"/>
                  </a:cubicBezTo>
                  <a:lnTo>
                    <a:pt x="22311995" y="0"/>
                  </a:lnTo>
                  <a:cubicBezTo>
                    <a:pt x="22394926" y="0"/>
                    <a:pt x="22462108" y="75821"/>
                    <a:pt x="22462108" y="169414"/>
                  </a:cubicBezTo>
                  <a:lnTo>
                    <a:pt x="22462108" y="967755"/>
                  </a:lnTo>
                  <a:cubicBezTo>
                    <a:pt x="22462108" y="1061349"/>
                    <a:pt x="22394926" y="1137158"/>
                    <a:pt x="22311995" y="1137158"/>
                  </a:cubicBezTo>
                  <a:lnTo>
                    <a:pt x="150114" y="1137158"/>
                  </a:lnTo>
                  <a:cubicBezTo>
                    <a:pt x="67183" y="1137026"/>
                    <a:pt x="0" y="1061205"/>
                    <a:pt x="0" y="967755"/>
                  </a:cubicBezTo>
                  <a:close/>
                </a:path>
              </a:pathLst>
            </a:custGeom>
            <a:solidFill>
              <a:srgbClr val="FFFFFF"/>
            </a:solidFill>
            <a:ln w="19050" cap="sq">
              <a:solidFill>
                <a:srgbClr val="111111"/>
              </a:solidFill>
              <a:prstDash val="solid"/>
              <a:miter/>
            </a:ln>
          </p:spPr>
        </p:sp>
      </p:grpSp>
      <p:grpSp>
        <p:nvGrpSpPr>
          <p:cNvPr name="Group 71" id="71"/>
          <p:cNvGrpSpPr/>
          <p:nvPr/>
        </p:nvGrpSpPr>
        <p:grpSpPr>
          <a:xfrm rot="0">
            <a:off x="1117597" y="9042397"/>
            <a:ext cx="1587503" cy="381000"/>
            <a:chOff x="0" y="0"/>
            <a:chExt cx="2116671" cy="508000"/>
          </a:xfrm>
        </p:grpSpPr>
        <p:sp>
          <p:nvSpPr>
            <p:cNvPr name="Freeform 72" id="72"/>
            <p:cNvSpPr/>
            <p:nvPr/>
          </p:nvSpPr>
          <p:spPr>
            <a:xfrm flipH="false" flipV="false" rot="0">
              <a:off x="0" y="0"/>
              <a:ext cx="2116666" cy="508000"/>
            </a:xfrm>
            <a:custGeom>
              <a:avLst/>
              <a:gdLst/>
              <a:ahLst/>
              <a:cxnLst/>
              <a:rect r="r" b="b" t="t" l="l"/>
              <a:pathLst>
                <a:path h="508000" w="2116666">
                  <a:moveTo>
                    <a:pt x="0" y="0"/>
                  </a:moveTo>
                  <a:lnTo>
                    <a:pt x="2116666" y="0"/>
                  </a:lnTo>
                  <a:lnTo>
                    <a:pt x="2116666" y="508000"/>
                  </a:lnTo>
                  <a:lnTo>
                    <a:pt x="0" y="508000"/>
                  </a:lnTo>
                  <a:close/>
                </a:path>
              </a:pathLst>
            </a:custGeom>
            <a:blipFill>
              <a:blip r:embed="rId3">
                <a:alphaModFix amt="0"/>
              </a:blip>
              <a:stretch>
                <a:fillRect l="0" t="-31187" r="0" b="-31187"/>
              </a:stretch>
            </a:blipFill>
          </p:spPr>
        </p:sp>
        <p:sp>
          <p:nvSpPr>
            <p:cNvPr name="TextBox 73" id="73"/>
            <p:cNvSpPr txBox="true"/>
            <p:nvPr/>
          </p:nvSpPr>
          <p:spPr>
            <a:xfrm>
              <a:off x="0" y="-19050"/>
              <a:ext cx="2116671" cy="527050"/>
            </a:xfrm>
            <a:prstGeom prst="rect">
              <a:avLst/>
            </a:prstGeom>
          </p:spPr>
          <p:txBody>
            <a:bodyPr anchor="ctr" rtlCol="false" tIns="0" lIns="0" bIns="0" rIns="0"/>
            <a:lstStyle/>
            <a:p>
              <a:pPr algn="l">
                <a:lnSpc>
                  <a:spcPts val="1980"/>
                </a:lnSpc>
              </a:pPr>
              <a:r>
                <a:rPr lang="en-US" b="true" sz="1650">
                  <a:solidFill>
                    <a:srgbClr val="111111"/>
                  </a:solidFill>
                  <a:latin typeface="Arimo Bold"/>
                  <a:ea typeface="Arimo Bold"/>
                  <a:cs typeface="Arimo Bold"/>
                  <a:sym typeface="Arimo Bold"/>
                </a:rPr>
                <a:t>복구 정책</a:t>
              </a:r>
            </a:p>
          </p:txBody>
        </p:sp>
      </p:grpSp>
      <p:grpSp>
        <p:nvGrpSpPr>
          <p:cNvPr name="Group 74" id="74"/>
          <p:cNvGrpSpPr/>
          <p:nvPr/>
        </p:nvGrpSpPr>
        <p:grpSpPr>
          <a:xfrm rot="0">
            <a:off x="2577332" y="8942324"/>
            <a:ext cx="8040632" cy="581146"/>
            <a:chOff x="0" y="0"/>
            <a:chExt cx="10720843" cy="774861"/>
          </a:xfrm>
        </p:grpSpPr>
        <p:sp>
          <p:nvSpPr>
            <p:cNvPr name="Freeform 75" id="75"/>
            <p:cNvSpPr/>
            <p:nvPr/>
          </p:nvSpPr>
          <p:spPr>
            <a:xfrm flipH="false" flipV="false" rot="0">
              <a:off x="0" y="0"/>
              <a:ext cx="10720843" cy="774861"/>
            </a:xfrm>
            <a:custGeom>
              <a:avLst/>
              <a:gdLst/>
              <a:ahLst/>
              <a:cxnLst/>
              <a:rect r="r" b="b" t="t" l="l"/>
              <a:pathLst>
                <a:path h="774861" w="10720843">
                  <a:moveTo>
                    <a:pt x="0" y="0"/>
                  </a:moveTo>
                  <a:lnTo>
                    <a:pt x="10720843" y="0"/>
                  </a:lnTo>
                  <a:lnTo>
                    <a:pt x="10720843" y="774861"/>
                  </a:lnTo>
                  <a:lnTo>
                    <a:pt x="0" y="774861"/>
                  </a:lnTo>
                  <a:close/>
                </a:path>
              </a:pathLst>
            </a:custGeom>
            <a:blipFill>
              <a:blip r:embed="rId3">
                <a:alphaModFix amt="0"/>
              </a:blip>
              <a:stretch>
                <a:fillRect l="0" t="-222708" r="5231" b="-188268"/>
              </a:stretch>
            </a:blipFill>
          </p:spPr>
        </p:sp>
        <p:sp>
          <p:nvSpPr>
            <p:cNvPr name="TextBox 76" id="76"/>
            <p:cNvSpPr txBox="true"/>
            <p:nvPr/>
          </p:nvSpPr>
          <p:spPr>
            <a:xfrm>
              <a:off x="0" y="-19050"/>
              <a:ext cx="10720843" cy="793911"/>
            </a:xfrm>
            <a:prstGeom prst="rect">
              <a:avLst/>
            </a:prstGeom>
          </p:spPr>
          <p:txBody>
            <a:bodyPr anchor="ctr" rtlCol="false" tIns="0" lIns="0" bIns="0" rIns="0"/>
            <a:lstStyle/>
            <a:p>
              <a:pPr algn="l">
                <a:lnSpc>
                  <a:spcPts val="1980"/>
                </a:lnSpc>
              </a:pPr>
              <a:r>
                <a:rPr lang="en-US" sz="1650">
                  <a:solidFill>
                    <a:srgbClr val="111111"/>
                  </a:solidFill>
                  <a:latin typeface="Arimo"/>
                  <a:ea typeface="Arimo"/>
                  <a:cs typeface="Arimo"/>
                  <a:sym typeface="Arimo"/>
                </a:rPr>
                <a:t>한 명령당 복구 최대 1회, 단계별 시도 횟수 제한.</a:t>
              </a:r>
            </a:p>
            <a:p>
              <a:pPr algn="l">
                <a:lnSpc>
                  <a:spcPts val="1980"/>
                </a:lnSpc>
              </a:pPr>
              <a:r>
                <a:rPr lang="en-US" sz="1650">
                  <a:solidFill>
                    <a:srgbClr val="111111"/>
                  </a:solidFill>
                  <a:latin typeface="Arimo"/>
                  <a:ea typeface="Arimo"/>
                  <a:cs typeface="Arimo"/>
                  <a:sym typeface="Arimo"/>
                </a:rPr>
                <a:t>중단 명령 혹은 복구 횟수 소진 시 작업 중단</a:t>
              </a:r>
            </a:p>
          </p:txBody>
        </p:sp>
      </p:grpSp>
      <p:sp>
        <p:nvSpPr>
          <p:cNvPr name="AutoShape 77" id="77"/>
          <p:cNvSpPr/>
          <p:nvPr/>
        </p:nvSpPr>
        <p:spPr>
          <a:xfrm flipV="true">
            <a:off x="3751259" y="3695705"/>
            <a:ext cx="815978" cy="49158"/>
          </a:xfrm>
          <a:prstGeom prst="line">
            <a:avLst/>
          </a:prstGeom>
          <a:ln cap="flat" w="28575">
            <a:solidFill>
              <a:srgbClr val="000000"/>
            </a:solidFill>
            <a:prstDash val="solid"/>
            <a:headEnd type="none" len="sm" w="sm"/>
            <a:tailEnd type="triangle" len="med" w="lg"/>
          </a:ln>
        </p:spPr>
      </p:sp>
      <p:sp>
        <p:nvSpPr>
          <p:cNvPr name="Freeform 78" id="78"/>
          <p:cNvSpPr/>
          <p:nvPr/>
        </p:nvSpPr>
        <p:spPr>
          <a:xfrm>
            <a:off x="3751259" y="4889502"/>
            <a:ext cx="815978" cy="596898"/>
          </a:xfrm>
          <a:custGeom>
            <a:avLst/>
            <a:gdLst/>
            <a:ahLst/>
            <a:cxnLst/>
            <a:rect r="r" b="b" t="t" l="l"/>
            <a:pathLst>
              <a:path h="596898" w="815978">
                <a:moveTo>
                  <a:pt x="0" y="0"/>
                </a:moveTo>
                <a:lnTo>
                  <a:pt x="203995" y="0"/>
                </a:lnTo>
                <a:cubicBezTo>
                  <a:pt x="316658" y="0"/>
                  <a:pt x="407989" y="91331"/>
                  <a:pt x="407989" y="203994"/>
                </a:cubicBezTo>
                <a:lnTo>
                  <a:pt x="407989" y="392903"/>
                </a:lnTo>
                <a:cubicBezTo>
                  <a:pt x="407989" y="505566"/>
                  <a:pt x="499321" y="596898"/>
                  <a:pt x="611984" y="596898"/>
                </a:cubicBezTo>
                <a:lnTo>
                  <a:pt x="815979" y="596898"/>
                </a:lnTo>
              </a:path>
            </a:pathLst>
          </a:custGeom>
          <a:ln cap="flat" w="28575">
            <a:solidFill>
              <a:srgbClr val="000000"/>
            </a:solidFill>
            <a:prstDash val="solid"/>
            <a:headEnd type="none" len="sm" w="sm"/>
            <a:tailEnd type="triangle" len="med" w="lg"/>
          </a:ln>
        </p:spPr>
      </p:sp>
      <p:sp>
        <p:nvSpPr>
          <p:cNvPr name="Freeform 79" id="79"/>
          <p:cNvSpPr/>
          <p:nvPr/>
        </p:nvSpPr>
        <p:spPr>
          <a:xfrm>
            <a:off x="3751259" y="5486400"/>
            <a:ext cx="815978" cy="596898"/>
          </a:xfrm>
          <a:custGeom>
            <a:avLst/>
            <a:gdLst/>
            <a:ahLst/>
            <a:cxnLst/>
            <a:rect r="r" b="b" t="t" l="l"/>
            <a:pathLst>
              <a:path h="596898" w="815978">
                <a:moveTo>
                  <a:pt x="0" y="596898"/>
                </a:moveTo>
                <a:lnTo>
                  <a:pt x="203995" y="596898"/>
                </a:lnTo>
                <a:cubicBezTo>
                  <a:pt x="316658" y="596898"/>
                  <a:pt x="407989" y="505567"/>
                  <a:pt x="407989" y="392904"/>
                </a:cubicBezTo>
                <a:lnTo>
                  <a:pt x="407989" y="203995"/>
                </a:lnTo>
                <a:cubicBezTo>
                  <a:pt x="407989" y="91332"/>
                  <a:pt x="499321" y="0"/>
                  <a:pt x="611984" y="0"/>
                </a:cubicBezTo>
                <a:lnTo>
                  <a:pt x="815979" y="0"/>
                </a:lnTo>
              </a:path>
            </a:pathLst>
          </a:custGeom>
          <a:ln cap="flat" w="28575">
            <a:solidFill>
              <a:srgbClr val="000000"/>
            </a:solidFill>
            <a:prstDash val="solid"/>
            <a:headEnd type="none" len="sm" w="sm"/>
            <a:tailEnd type="triangle" len="med" w="lg"/>
          </a:ln>
        </p:spPr>
      </p:sp>
      <p:sp>
        <p:nvSpPr>
          <p:cNvPr name="AutoShape 80" id="80"/>
          <p:cNvSpPr/>
          <p:nvPr/>
        </p:nvSpPr>
        <p:spPr>
          <a:xfrm>
            <a:off x="3751259" y="7277105"/>
            <a:ext cx="815978" cy="0"/>
          </a:xfrm>
          <a:prstGeom prst="line">
            <a:avLst/>
          </a:prstGeom>
          <a:ln cap="flat" w="28575">
            <a:solidFill>
              <a:srgbClr val="000000"/>
            </a:solidFill>
            <a:prstDash val="solid"/>
            <a:headEnd type="none" len="sm" w="sm"/>
            <a:tailEnd type="triangle" len="med" w="lg"/>
          </a:ln>
        </p:spPr>
      </p:sp>
      <p:sp>
        <p:nvSpPr>
          <p:cNvPr name="TextBox 81" id="81"/>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12</a:t>
            </a:r>
          </a:p>
        </p:txBody>
      </p:sp>
      <p:grpSp>
        <p:nvGrpSpPr>
          <p:cNvPr name="Group 82" id="82"/>
          <p:cNvGrpSpPr/>
          <p:nvPr/>
        </p:nvGrpSpPr>
        <p:grpSpPr>
          <a:xfrm rot="0">
            <a:off x="6096000" y="5040830"/>
            <a:ext cx="2286000" cy="342900"/>
            <a:chOff x="0" y="0"/>
            <a:chExt cx="3048000" cy="457200"/>
          </a:xfrm>
        </p:grpSpPr>
        <p:sp>
          <p:nvSpPr>
            <p:cNvPr name="Freeform 83" id="83"/>
            <p:cNvSpPr/>
            <p:nvPr/>
          </p:nvSpPr>
          <p:spPr>
            <a:xfrm flipH="false" flipV="false" rot="0">
              <a:off x="0" y="0"/>
              <a:ext cx="3048000" cy="457200"/>
            </a:xfrm>
            <a:custGeom>
              <a:avLst/>
              <a:gdLst/>
              <a:ahLst/>
              <a:cxnLst/>
              <a:rect r="r" b="b" t="t" l="l"/>
              <a:pathLst>
                <a:path h="457200" w="3048000">
                  <a:moveTo>
                    <a:pt x="0" y="0"/>
                  </a:moveTo>
                  <a:lnTo>
                    <a:pt x="3048000" y="0"/>
                  </a:lnTo>
                  <a:lnTo>
                    <a:pt x="3048000" y="457200"/>
                  </a:lnTo>
                  <a:lnTo>
                    <a:pt x="0" y="457200"/>
                  </a:lnTo>
                  <a:close/>
                </a:path>
              </a:pathLst>
            </a:custGeom>
            <a:blipFill>
              <a:blip r:embed="rId3">
                <a:alphaModFix amt="0"/>
              </a:blip>
              <a:stretch>
                <a:fillRect l="0" t="-79900" r="0" b="-79900"/>
              </a:stretch>
            </a:blipFill>
          </p:spPr>
        </p:sp>
        <p:sp>
          <p:nvSpPr>
            <p:cNvPr name="TextBox 84" id="84"/>
            <p:cNvSpPr txBox="true"/>
            <p:nvPr/>
          </p:nvSpPr>
          <p:spPr>
            <a:xfrm>
              <a:off x="0" y="-19050"/>
              <a:ext cx="3048000" cy="476250"/>
            </a:xfrm>
            <a:prstGeom prst="rect">
              <a:avLst/>
            </a:prstGeom>
          </p:spPr>
          <p:txBody>
            <a:bodyPr anchor="ctr" rtlCol="false" tIns="0" lIns="0" bIns="0" rIns="0"/>
            <a:lstStyle/>
            <a:p>
              <a:pPr algn="l" marL="307658" indent="-153829" lvl="1">
                <a:lnSpc>
                  <a:spcPts val="1709"/>
                </a:lnSpc>
                <a:buAutoNum type="arabicPeriod" startAt="1"/>
              </a:pPr>
              <a:r>
                <a:rPr lang="en-US" sz="1425" spc="-39">
                  <a:solidFill>
                    <a:srgbClr val="111111"/>
                  </a:solidFill>
                  <a:latin typeface="Arimo"/>
                  <a:ea typeface="Arimo"/>
                  <a:cs typeface="Arimo"/>
                  <a:sym typeface="Arimo"/>
                </a:rPr>
                <a:t>후퇴</a:t>
              </a:r>
            </a:p>
          </p:txBody>
        </p:sp>
      </p:grpSp>
      <p:grpSp>
        <p:nvGrpSpPr>
          <p:cNvPr name="Group 85" id="85"/>
          <p:cNvGrpSpPr/>
          <p:nvPr/>
        </p:nvGrpSpPr>
        <p:grpSpPr>
          <a:xfrm rot="0">
            <a:off x="6096000" y="5339277"/>
            <a:ext cx="2286000" cy="342900"/>
            <a:chOff x="0" y="0"/>
            <a:chExt cx="3048000" cy="457200"/>
          </a:xfrm>
        </p:grpSpPr>
        <p:sp>
          <p:nvSpPr>
            <p:cNvPr name="Freeform 86" id="86"/>
            <p:cNvSpPr/>
            <p:nvPr/>
          </p:nvSpPr>
          <p:spPr>
            <a:xfrm flipH="false" flipV="false" rot="0">
              <a:off x="0" y="0"/>
              <a:ext cx="3048000" cy="457200"/>
            </a:xfrm>
            <a:custGeom>
              <a:avLst/>
              <a:gdLst/>
              <a:ahLst/>
              <a:cxnLst/>
              <a:rect r="r" b="b" t="t" l="l"/>
              <a:pathLst>
                <a:path h="457200" w="3048000">
                  <a:moveTo>
                    <a:pt x="0" y="0"/>
                  </a:moveTo>
                  <a:lnTo>
                    <a:pt x="3048000" y="0"/>
                  </a:lnTo>
                  <a:lnTo>
                    <a:pt x="3048000" y="457200"/>
                  </a:lnTo>
                  <a:lnTo>
                    <a:pt x="0" y="457200"/>
                  </a:lnTo>
                  <a:close/>
                </a:path>
              </a:pathLst>
            </a:custGeom>
            <a:blipFill>
              <a:blip r:embed="rId3">
                <a:alphaModFix amt="0"/>
              </a:blip>
              <a:stretch>
                <a:fillRect l="0" t="-79900" r="0" b="-79900"/>
              </a:stretch>
            </a:blipFill>
          </p:spPr>
        </p:sp>
        <p:sp>
          <p:nvSpPr>
            <p:cNvPr name="TextBox 87" id="87"/>
            <p:cNvSpPr txBox="true"/>
            <p:nvPr/>
          </p:nvSpPr>
          <p:spPr>
            <a:xfrm>
              <a:off x="0" y="-19050"/>
              <a:ext cx="3048000" cy="476250"/>
            </a:xfrm>
            <a:prstGeom prst="rect">
              <a:avLst/>
            </a:prstGeom>
          </p:spPr>
          <p:txBody>
            <a:bodyPr anchor="ctr" rtlCol="false" tIns="0" lIns="0" bIns="0" rIns="0"/>
            <a:lstStyle/>
            <a:p>
              <a:pPr algn="l" marL="307658" indent="-153829" lvl="1">
                <a:lnSpc>
                  <a:spcPts val="1709"/>
                </a:lnSpc>
                <a:buAutoNum type="arabicPeriod" startAt="1"/>
              </a:pPr>
              <a:r>
                <a:rPr lang="en-US" sz="1425" spc="-39">
                  <a:solidFill>
                    <a:srgbClr val="111111"/>
                  </a:solidFill>
                  <a:latin typeface="Arimo"/>
                  <a:ea typeface="Arimo"/>
                  <a:cs typeface="Arimo"/>
                  <a:sym typeface="Arimo"/>
                </a:rPr>
                <a:t>물체 위치 확인</a:t>
              </a:r>
            </a:p>
          </p:txBody>
        </p:sp>
      </p:grpSp>
      <p:grpSp>
        <p:nvGrpSpPr>
          <p:cNvPr name="Group 88" id="88"/>
          <p:cNvGrpSpPr/>
          <p:nvPr/>
        </p:nvGrpSpPr>
        <p:grpSpPr>
          <a:xfrm rot="0">
            <a:off x="6096000" y="5594071"/>
            <a:ext cx="2286000" cy="342900"/>
            <a:chOff x="0" y="0"/>
            <a:chExt cx="3048000" cy="457200"/>
          </a:xfrm>
        </p:grpSpPr>
        <p:sp>
          <p:nvSpPr>
            <p:cNvPr name="Freeform 89" id="89"/>
            <p:cNvSpPr/>
            <p:nvPr/>
          </p:nvSpPr>
          <p:spPr>
            <a:xfrm flipH="false" flipV="false" rot="0">
              <a:off x="0" y="0"/>
              <a:ext cx="3048000" cy="457200"/>
            </a:xfrm>
            <a:custGeom>
              <a:avLst/>
              <a:gdLst/>
              <a:ahLst/>
              <a:cxnLst/>
              <a:rect r="r" b="b" t="t" l="l"/>
              <a:pathLst>
                <a:path h="457200" w="3048000">
                  <a:moveTo>
                    <a:pt x="0" y="0"/>
                  </a:moveTo>
                  <a:lnTo>
                    <a:pt x="3048000" y="0"/>
                  </a:lnTo>
                  <a:lnTo>
                    <a:pt x="3048000" y="457200"/>
                  </a:lnTo>
                  <a:lnTo>
                    <a:pt x="0" y="457200"/>
                  </a:lnTo>
                  <a:close/>
                </a:path>
              </a:pathLst>
            </a:custGeom>
            <a:blipFill>
              <a:blip r:embed="rId3">
                <a:alphaModFix amt="0"/>
              </a:blip>
              <a:stretch>
                <a:fillRect l="0" t="-79900" r="0" b="-79900"/>
              </a:stretch>
            </a:blipFill>
          </p:spPr>
        </p:sp>
        <p:sp>
          <p:nvSpPr>
            <p:cNvPr name="TextBox 90" id="90"/>
            <p:cNvSpPr txBox="true"/>
            <p:nvPr/>
          </p:nvSpPr>
          <p:spPr>
            <a:xfrm>
              <a:off x="0" y="-19050"/>
              <a:ext cx="3048000" cy="476250"/>
            </a:xfrm>
            <a:prstGeom prst="rect">
              <a:avLst/>
            </a:prstGeom>
          </p:spPr>
          <p:txBody>
            <a:bodyPr anchor="ctr" rtlCol="false" tIns="0" lIns="0" bIns="0" rIns="0"/>
            <a:lstStyle/>
            <a:p>
              <a:pPr algn="l" marL="307658" indent="-153829" lvl="1">
                <a:lnSpc>
                  <a:spcPts val="1709"/>
                </a:lnSpc>
                <a:buAutoNum type="arabicPeriod" startAt="1"/>
              </a:pPr>
              <a:r>
                <a:rPr lang="en-US" sz="1425" spc="-39">
                  <a:solidFill>
                    <a:srgbClr val="111111"/>
                  </a:solidFill>
                  <a:latin typeface="Arimo"/>
                  <a:ea typeface="Arimo"/>
                  <a:cs typeface="Arimo"/>
                  <a:sym typeface="Arimo"/>
                </a:rPr>
                <a:t>Pick</a:t>
              </a:r>
            </a:p>
          </p:txBody>
        </p:sp>
      </p:grpSp>
      <p:grpSp>
        <p:nvGrpSpPr>
          <p:cNvPr name="Group 91" id="91"/>
          <p:cNvGrpSpPr/>
          <p:nvPr/>
        </p:nvGrpSpPr>
        <p:grpSpPr>
          <a:xfrm rot="0">
            <a:off x="4826003" y="5273002"/>
            <a:ext cx="1269997" cy="431797"/>
            <a:chOff x="0" y="0"/>
            <a:chExt cx="1693329" cy="575729"/>
          </a:xfrm>
        </p:grpSpPr>
        <p:sp>
          <p:nvSpPr>
            <p:cNvPr name="Freeform 92" id="92"/>
            <p:cNvSpPr/>
            <p:nvPr/>
          </p:nvSpPr>
          <p:spPr>
            <a:xfrm flipH="false" flipV="false" rot="0">
              <a:off x="0" y="0"/>
              <a:ext cx="1693334" cy="575734"/>
            </a:xfrm>
            <a:custGeom>
              <a:avLst/>
              <a:gdLst/>
              <a:ahLst/>
              <a:cxnLst/>
              <a:rect r="r" b="b" t="t" l="l"/>
              <a:pathLst>
                <a:path h="575734" w="1693334">
                  <a:moveTo>
                    <a:pt x="0" y="0"/>
                  </a:moveTo>
                  <a:lnTo>
                    <a:pt x="1693334" y="0"/>
                  </a:lnTo>
                  <a:lnTo>
                    <a:pt x="1693334" y="575734"/>
                  </a:lnTo>
                  <a:lnTo>
                    <a:pt x="0" y="575734"/>
                  </a:lnTo>
                  <a:close/>
                </a:path>
              </a:pathLst>
            </a:custGeom>
            <a:blipFill>
              <a:blip r:embed="rId3">
                <a:alphaModFix amt="0"/>
              </a:blip>
              <a:stretch>
                <a:fillRect l="0" t="-7309" r="0" b="-7308"/>
              </a:stretch>
            </a:blipFill>
          </p:spPr>
        </p:sp>
        <p:sp>
          <p:nvSpPr>
            <p:cNvPr name="TextBox 93" id="93"/>
            <p:cNvSpPr txBox="true"/>
            <p:nvPr/>
          </p:nvSpPr>
          <p:spPr>
            <a:xfrm>
              <a:off x="0" y="-9525"/>
              <a:ext cx="1693329" cy="585254"/>
            </a:xfrm>
            <a:prstGeom prst="rect">
              <a:avLst/>
            </a:prstGeom>
          </p:spPr>
          <p:txBody>
            <a:bodyPr anchor="ctr" rtlCol="false" tIns="0" lIns="0" bIns="0" rIns="0"/>
            <a:lstStyle/>
            <a:p>
              <a:pPr algn="l">
                <a:lnSpc>
                  <a:spcPts val="2520"/>
                </a:lnSpc>
              </a:pPr>
              <a:r>
                <a:rPr lang="en-US" sz="2100" b="true">
                  <a:solidFill>
                    <a:srgbClr val="111111"/>
                  </a:solidFill>
                  <a:latin typeface="Arimo Bold"/>
                  <a:ea typeface="Arimo Bold"/>
                  <a:cs typeface="Arimo Bold"/>
                  <a:sym typeface="Arimo Bold"/>
                </a:rPr>
                <a:t>재파지</a:t>
              </a:r>
            </a:p>
          </p:txBody>
        </p:sp>
      </p:grpSp>
      <p:grpSp>
        <p:nvGrpSpPr>
          <p:cNvPr name="Group 94" id="94"/>
          <p:cNvGrpSpPr/>
          <p:nvPr/>
        </p:nvGrpSpPr>
        <p:grpSpPr>
          <a:xfrm rot="0">
            <a:off x="6089647" y="3397253"/>
            <a:ext cx="2286000" cy="342900"/>
            <a:chOff x="0" y="0"/>
            <a:chExt cx="3048000" cy="457200"/>
          </a:xfrm>
        </p:grpSpPr>
        <p:sp>
          <p:nvSpPr>
            <p:cNvPr name="Freeform 95" id="95"/>
            <p:cNvSpPr/>
            <p:nvPr/>
          </p:nvSpPr>
          <p:spPr>
            <a:xfrm flipH="false" flipV="false" rot="0">
              <a:off x="0" y="0"/>
              <a:ext cx="3048000" cy="457200"/>
            </a:xfrm>
            <a:custGeom>
              <a:avLst/>
              <a:gdLst/>
              <a:ahLst/>
              <a:cxnLst/>
              <a:rect r="r" b="b" t="t" l="l"/>
              <a:pathLst>
                <a:path h="457200" w="3048000">
                  <a:moveTo>
                    <a:pt x="0" y="0"/>
                  </a:moveTo>
                  <a:lnTo>
                    <a:pt x="3048000" y="0"/>
                  </a:lnTo>
                  <a:lnTo>
                    <a:pt x="3048000" y="457200"/>
                  </a:lnTo>
                  <a:lnTo>
                    <a:pt x="0" y="457200"/>
                  </a:lnTo>
                  <a:close/>
                </a:path>
              </a:pathLst>
            </a:custGeom>
            <a:blipFill>
              <a:blip r:embed="rId3">
                <a:alphaModFix amt="0"/>
              </a:blip>
              <a:stretch>
                <a:fillRect l="0" t="-79900" r="0" b="-79900"/>
              </a:stretch>
            </a:blipFill>
          </p:spPr>
        </p:sp>
        <p:sp>
          <p:nvSpPr>
            <p:cNvPr name="TextBox 96" id="96"/>
            <p:cNvSpPr txBox="true"/>
            <p:nvPr/>
          </p:nvSpPr>
          <p:spPr>
            <a:xfrm>
              <a:off x="0" y="-19050"/>
              <a:ext cx="3048000" cy="476250"/>
            </a:xfrm>
            <a:prstGeom prst="rect">
              <a:avLst/>
            </a:prstGeom>
          </p:spPr>
          <p:txBody>
            <a:bodyPr anchor="ctr" rtlCol="false" tIns="0" lIns="0" bIns="0" rIns="0"/>
            <a:lstStyle/>
            <a:p>
              <a:pPr algn="l" marL="307658" indent="-153829" lvl="1">
                <a:lnSpc>
                  <a:spcPts val="1709"/>
                </a:lnSpc>
                <a:buAutoNum type="arabicPeriod" startAt="1"/>
              </a:pPr>
              <a:r>
                <a:rPr lang="en-US" sz="1425" spc="-39">
                  <a:solidFill>
                    <a:srgbClr val="111111"/>
                  </a:solidFill>
                  <a:latin typeface="Arimo"/>
                  <a:ea typeface="Arimo"/>
                  <a:cs typeface="Arimo"/>
                  <a:sym typeface="Arimo"/>
                </a:rPr>
                <a:t>후퇴</a:t>
              </a:r>
            </a:p>
          </p:txBody>
        </p:sp>
      </p:grpSp>
      <p:grpSp>
        <p:nvGrpSpPr>
          <p:cNvPr name="Group 97" id="97"/>
          <p:cNvGrpSpPr/>
          <p:nvPr/>
        </p:nvGrpSpPr>
        <p:grpSpPr>
          <a:xfrm rot="0">
            <a:off x="6089647" y="3695700"/>
            <a:ext cx="2286000" cy="342900"/>
            <a:chOff x="0" y="0"/>
            <a:chExt cx="3048000" cy="457200"/>
          </a:xfrm>
        </p:grpSpPr>
        <p:sp>
          <p:nvSpPr>
            <p:cNvPr name="Freeform 98" id="98"/>
            <p:cNvSpPr/>
            <p:nvPr/>
          </p:nvSpPr>
          <p:spPr>
            <a:xfrm flipH="false" flipV="false" rot="0">
              <a:off x="0" y="0"/>
              <a:ext cx="3048000" cy="457200"/>
            </a:xfrm>
            <a:custGeom>
              <a:avLst/>
              <a:gdLst/>
              <a:ahLst/>
              <a:cxnLst/>
              <a:rect r="r" b="b" t="t" l="l"/>
              <a:pathLst>
                <a:path h="457200" w="3048000">
                  <a:moveTo>
                    <a:pt x="0" y="0"/>
                  </a:moveTo>
                  <a:lnTo>
                    <a:pt x="3048000" y="0"/>
                  </a:lnTo>
                  <a:lnTo>
                    <a:pt x="3048000" y="457200"/>
                  </a:lnTo>
                  <a:lnTo>
                    <a:pt x="0" y="457200"/>
                  </a:lnTo>
                  <a:close/>
                </a:path>
              </a:pathLst>
            </a:custGeom>
            <a:blipFill>
              <a:blip r:embed="rId3">
                <a:alphaModFix amt="0"/>
              </a:blip>
              <a:stretch>
                <a:fillRect l="0" t="-79900" r="0" b="-79900"/>
              </a:stretch>
            </a:blipFill>
          </p:spPr>
        </p:sp>
        <p:sp>
          <p:nvSpPr>
            <p:cNvPr name="TextBox 99" id="99"/>
            <p:cNvSpPr txBox="true"/>
            <p:nvPr/>
          </p:nvSpPr>
          <p:spPr>
            <a:xfrm>
              <a:off x="0" y="-19050"/>
              <a:ext cx="3048000" cy="476250"/>
            </a:xfrm>
            <a:prstGeom prst="rect">
              <a:avLst/>
            </a:prstGeom>
          </p:spPr>
          <p:txBody>
            <a:bodyPr anchor="ctr" rtlCol="false" tIns="0" lIns="0" bIns="0" rIns="0"/>
            <a:lstStyle/>
            <a:p>
              <a:pPr algn="l" marL="307658" indent="-153829" lvl="1">
                <a:lnSpc>
                  <a:spcPts val="1709"/>
                </a:lnSpc>
                <a:buAutoNum type="arabicPeriod" startAt="1"/>
              </a:pPr>
              <a:r>
                <a:rPr lang="en-US" sz="1425" spc="-39">
                  <a:solidFill>
                    <a:srgbClr val="111111"/>
                  </a:solidFill>
                  <a:latin typeface="Arimo"/>
                  <a:ea typeface="Arimo"/>
                  <a:cs typeface="Arimo"/>
                  <a:sym typeface="Arimo"/>
                </a:rPr>
                <a:t>물체 위치 확인</a:t>
              </a:r>
            </a:p>
          </p:txBody>
        </p:sp>
      </p:grpSp>
    </p:spTree>
  </p:cSld>
  <p:clrMapOvr>
    <a:masterClrMapping/>
  </p:clrMapOvr>
  <p:timing>
    <p:tnLst>
      <p:par>
        <p:cTn dur="indefinite" restart="never" nodeType="tmRoot">
          <p:childTnLst>
            <p:video>
              <p:cMediaNode vol="100000">
                <p:cTn fill="hold" display="false">
                  <p:stCondLst>
                    <p:cond delay="indefinite"/>
                  </p:stCondLst>
                </p:cTn>
                <p:tgtEl>
                  <p:spTgt spid="63"/>
                </p:tgtEl>
              </p:cMediaNode>
            </p:video>
          </p:childTnLst>
        </p:cTn>
      </p:par>
    </p:tnLst>
  </p:timing>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grpSp>
        <p:nvGrpSpPr>
          <p:cNvPr name="Group 2" id="2"/>
          <p:cNvGrpSpPr/>
          <p:nvPr/>
        </p:nvGrpSpPr>
        <p:grpSpPr>
          <a:xfrm rot="0">
            <a:off x="746122" y="2600325"/>
            <a:ext cx="5365747" cy="5949953"/>
            <a:chOff x="0" y="0"/>
            <a:chExt cx="7154329" cy="7933271"/>
          </a:xfrm>
        </p:grpSpPr>
        <p:sp>
          <p:nvSpPr>
            <p:cNvPr name="Freeform 3" id="3"/>
            <p:cNvSpPr/>
            <p:nvPr/>
          </p:nvSpPr>
          <p:spPr>
            <a:xfrm flipH="false" flipV="false" rot="0">
              <a:off x="0" y="0"/>
              <a:ext cx="7154291" cy="7933183"/>
            </a:xfrm>
            <a:custGeom>
              <a:avLst/>
              <a:gdLst/>
              <a:ahLst/>
              <a:cxnLst/>
              <a:rect r="r" b="b" t="t" l="l"/>
              <a:pathLst>
                <a:path h="7933183" w="7154291">
                  <a:moveTo>
                    <a:pt x="0" y="153289"/>
                  </a:moveTo>
                  <a:cubicBezTo>
                    <a:pt x="0" y="68580"/>
                    <a:pt x="68580" y="0"/>
                    <a:pt x="153289" y="0"/>
                  </a:cubicBezTo>
                  <a:lnTo>
                    <a:pt x="7001002" y="0"/>
                  </a:lnTo>
                  <a:cubicBezTo>
                    <a:pt x="7085711" y="0"/>
                    <a:pt x="7154291" y="68580"/>
                    <a:pt x="7154291" y="153289"/>
                  </a:cubicBezTo>
                  <a:lnTo>
                    <a:pt x="7154291" y="7779893"/>
                  </a:lnTo>
                  <a:cubicBezTo>
                    <a:pt x="7154291" y="7864602"/>
                    <a:pt x="7085711" y="7933182"/>
                    <a:pt x="7001002" y="7933182"/>
                  </a:cubicBezTo>
                  <a:lnTo>
                    <a:pt x="153289" y="7933182"/>
                  </a:lnTo>
                  <a:cubicBezTo>
                    <a:pt x="68580" y="7933309"/>
                    <a:pt x="0" y="7864602"/>
                    <a:pt x="0" y="7779893"/>
                  </a:cubicBezTo>
                  <a:close/>
                </a:path>
              </a:pathLst>
            </a:custGeom>
            <a:solidFill>
              <a:srgbClr val="FFFFFF"/>
            </a:solidFill>
            <a:ln w="19050" cap="sq">
              <a:solidFill>
                <a:srgbClr val="111111"/>
              </a:solidFill>
              <a:prstDash val="solid"/>
              <a:miter/>
            </a:ln>
          </p:spPr>
        </p:sp>
      </p:grpSp>
      <p:grpSp>
        <p:nvGrpSpPr>
          <p:cNvPr name="Group 4" id="4"/>
          <p:cNvGrpSpPr/>
          <p:nvPr/>
        </p:nvGrpSpPr>
        <p:grpSpPr>
          <a:xfrm rot="0">
            <a:off x="1031872" y="2898772"/>
            <a:ext cx="565147" cy="412747"/>
            <a:chOff x="0" y="0"/>
            <a:chExt cx="753529" cy="550329"/>
          </a:xfrm>
        </p:grpSpPr>
        <p:sp>
          <p:nvSpPr>
            <p:cNvPr name="Freeform 5" id="5"/>
            <p:cNvSpPr/>
            <p:nvPr/>
          </p:nvSpPr>
          <p:spPr>
            <a:xfrm flipH="false" flipV="false" rot="0">
              <a:off x="0" y="0"/>
              <a:ext cx="753491" cy="550291"/>
            </a:xfrm>
            <a:custGeom>
              <a:avLst/>
              <a:gdLst/>
              <a:ahLst/>
              <a:cxnLst/>
              <a:rect r="r" b="b" t="t" l="l"/>
              <a:pathLst>
                <a:path h="550291" w="753491">
                  <a:moveTo>
                    <a:pt x="0" y="159766"/>
                  </a:moveTo>
                  <a:cubicBezTo>
                    <a:pt x="0" y="71501"/>
                    <a:pt x="71501" y="0"/>
                    <a:pt x="159766" y="0"/>
                  </a:cubicBezTo>
                  <a:lnTo>
                    <a:pt x="593725" y="0"/>
                  </a:lnTo>
                  <a:cubicBezTo>
                    <a:pt x="681990" y="0"/>
                    <a:pt x="753491" y="71501"/>
                    <a:pt x="753491" y="159766"/>
                  </a:cubicBezTo>
                  <a:lnTo>
                    <a:pt x="753491" y="390525"/>
                  </a:lnTo>
                  <a:cubicBezTo>
                    <a:pt x="753491" y="478790"/>
                    <a:pt x="681990" y="550291"/>
                    <a:pt x="593725" y="550291"/>
                  </a:cubicBezTo>
                  <a:lnTo>
                    <a:pt x="159766" y="550291"/>
                  </a:lnTo>
                  <a:cubicBezTo>
                    <a:pt x="71501" y="550291"/>
                    <a:pt x="0" y="478790"/>
                    <a:pt x="0" y="390525"/>
                  </a:cubicBezTo>
                  <a:close/>
                </a:path>
              </a:pathLst>
            </a:custGeom>
            <a:solidFill>
              <a:srgbClr val="E9EEFF"/>
            </a:solidFill>
          </p:spPr>
        </p:sp>
      </p:grpSp>
      <p:sp>
        <p:nvSpPr>
          <p:cNvPr name="TextBox 6" id="6"/>
          <p:cNvSpPr txBox="true"/>
          <p:nvPr/>
        </p:nvSpPr>
        <p:spPr>
          <a:xfrm rot="0">
            <a:off x="1130303" y="2955922"/>
            <a:ext cx="368303" cy="266237"/>
          </a:xfrm>
          <a:prstGeom prst="rect">
            <a:avLst/>
          </a:prstGeom>
        </p:spPr>
        <p:txBody>
          <a:bodyPr anchor="t" rtlCol="false" tIns="0" lIns="0" bIns="0" rIns="0">
            <a:spAutoFit/>
          </a:bodyPr>
          <a:lstStyle/>
          <a:p>
            <a:pPr algn="ctr">
              <a:lnSpc>
                <a:spcPts val="2074"/>
              </a:lnSpc>
            </a:pPr>
            <a:r>
              <a:rPr lang="en-US" b="true" sz="1600">
                <a:solidFill>
                  <a:srgbClr val="1B2CC1"/>
                </a:solidFill>
                <a:latin typeface="Arimo Bold"/>
                <a:ea typeface="Arimo Bold"/>
                <a:cs typeface="Arimo Bold"/>
                <a:sym typeface="Arimo Bold"/>
              </a:rPr>
              <a:t>01</a:t>
            </a:r>
          </a:p>
        </p:txBody>
      </p:sp>
      <p:sp>
        <p:nvSpPr>
          <p:cNvPr name="TextBox 7" id="7"/>
          <p:cNvSpPr txBox="true"/>
          <p:nvPr/>
        </p:nvSpPr>
        <p:spPr>
          <a:xfrm rot="0">
            <a:off x="1752600" y="2882903"/>
            <a:ext cx="4140203" cy="425507"/>
          </a:xfrm>
          <a:prstGeom prst="rect">
            <a:avLst/>
          </a:prstGeom>
        </p:spPr>
        <p:txBody>
          <a:bodyPr anchor="t" rtlCol="false" tIns="0" lIns="0" bIns="0" rIns="0">
            <a:spAutoFit/>
          </a:bodyPr>
          <a:lstStyle/>
          <a:p>
            <a:pPr algn="l">
              <a:lnSpc>
                <a:spcPts val="3368"/>
              </a:lnSpc>
            </a:pPr>
            <a:r>
              <a:rPr lang="en-US" sz="2599" b="true">
                <a:solidFill>
                  <a:srgbClr val="111111"/>
                </a:solidFill>
                <a:latin typeface="Arimo Bold"/>
                <a:ea typeface="Arimo Bold"/>
                <a:cs typeface="Arimo Bold"/>
                <a:sym typeface="Arimo Bold"/>
              </a:rPr>
              <a:t>실행 중 추가 요청 거부</a:t>
            </a:r>
          </a:p>
        </p:txBody>
      </p:sp>
      <p:sp>
        <p:nvSpPr>
          <p:cNvPr name="TextBox 8" id="8"/>
          <p:cNvSpPr txBox="true"/>
          <p:nvPr/>
        </p:nvSpPr>
        <p:spPr>
          <a:xfrm rot="0">
            <a:off x="1054103" y="3502028"/>
            <a:ext cx="4749803" cy="407289"/>
          </a:xfrm>
          <a:prstGeom prst="rect">
            <a:avLst/>
          </a:prstGeom>
        </p:spPr>
        <p:txBody>
          <a:bodyPr anchor="t" rtlCol="false" tIns="0" lIns="0" bIns="0" rIns="0">
            <a:spAutoFit/>
          </a:bodyPr>
          <a:lstStyle/>
          <a:p>
            <a:pPr algn="l">
              <a:lnSpc>
                <a:spcPts val="2721"/>
              </a:lnSpc>
            </a:pPr>
            <a:r>
              <a:rPr lang="en-US" sz="2100">
                <a:solidFill>
                  <a:srgbClr val="666666"/>
                </a:solidFill>
                <a:latin typeface="Arimo"/>
                <a:ea typeface="Arimo"/>
                <a:cs typeface="Arimo"/>
                <a:sym typeface="Arimo"/>
              </a:rPr>
              <a:t>작업 중 들어온 추가 명령</a:t>
            </a:r>
          </a:p>
        </p:txBody>
      </p:sp>
      <p:grpSp>
        <p:nvGrpSpPr>
          <p:cNvPr name="Group 9" id="9"/>
          <p:cNvGrpSpPr/>
          <p:nvPr/>
        </p:nvGrpSpPr>
        <p:grpSpPr>
          <a:xfrm rot="0">
            <a:off x="6461122" y="2600325"/>
            <a:ext cx="5365747" cy="5949953"/>
            <a:chOff x="0" y="0"/>
            <a:chExt cx="7154329" cy="7933271"/>
          </a:xfrm>
        </p:grpSpPr>
        <p:sp>
          <p:nvSpPr>
            <p:cNvPr name="Freeform 10" id="10"/>
            <p:cNvSpPr/>
            <p:nvPr/>
          </p:nvSpPr>
          <p:spPr>
            <a:xfrm flipH="false" flipV="false" rot="0">
              <a:off x="0" y="0"/>
              <a:ext cx="7154291" cy="7933183"/>
            </a:xfrm>
            <a:custGeom>
              <a:avLst/>
              <a:gdLst/>
              <a:ahLst/>
              <a:cxnLst/>
              <a:rect r="r" b="b" t="t" l="l"/>
              <a:pathLst>
                <a:path h="7933183" w="7154291">
                  <a:moveTo>
                    <a:pt x="0" y="153289"/>
                  </a:moveTo>
                  <a:cubicBezTo>
                    <a:pt x="0" y="68580"/>
                    <a:pt x="68580" y="0"/>
                    <a:pt x="153289" y="0"/>
                  </a:cubicBezTo>
                  <a:lnTo>
                    <a:pt x="7001002" y="0"/>
                  </a:lnTo>
                  <a:cubicBezTo>
                    <a:pt x="7085711" y="0"/>
                    <a:pt x="7154291" y="68580"/>
                    <a:pt x="7154291" y="153289"/>
                  </a:cubicBezTo>
                  <a:lnTo>
                    <a:pt x="7154291" y="7779893"/>
                  </a:lnTo>
                  <a:cubicBezTo>
                    <a:pt x="7154291" y="7864602"/>
                    <a:pt x="7085711" y="7933182"/>
                    <a:pt x="7001002" y="7933182"/>
                  </a:cubicBezTo>
                  <a:lnTo>
                    <a:pt x="153289" y="7933182"/>
                  </a:lnTo>
                  <a:cubicBezTo>
                    <a:pt x="68580" y="7933309"/>
                    <a:pt x="0" y="7864602"/>
                    <a:pt x="0" y="7779893"/>
                  </a:cubicBezTo>
                  <a:close/>
                </a:path>
              </a:pathLst>
            </a:custGeom>
            <a:solidFill>
              <a:srgbClr val="FFFFFF"/>
            </a:solidFill>
            <a:ln w="19050" cap="sq">
              <a:solidFill>
                <a:srgbClr val="111111"/>
              </a:solidFill>
              <a:prstDash val="solid"/>
              <a:miter/>
            </a:ln>
          </p:spPr>
        </p:sp>
      </p:grpSp>
      <p:grpSp>
        <p:nvGrpSpPr>
          <p:cNvPr name="Group 11" id="11"/>
          <p:cNvGrpSpPr/>
          <p:nvPr/>
        </p:nvGrpSpPr>
        <p:grpSpPr>
          <a:xfrm rot="0">
            <a:off x="6746872" y="2898772"/>
            <a:ext cx="565147" cy="412747"/>
            <a:chOff x="0" y="0"/>
            <a:chExt cx="753529" cy="550329"/>
          </a:xfrm>
        </p:grpSpPr>
        <p:sp>
          <p:nvSpPr>
            <p:cNvPr name="Freeform 12" id="12"/>
            <p:cNvSpPr/>
            <p:nvPr/>
          </p:nvSpPr>
          <p:spPr>
            <a:xfrm flipH="false" flipV="false" rot="0">
              <a:off x="0" y="0"/>
              <a:ext cx="753491" cy="550291"/>
            </a:xfrm>
            <a:custGeom>
              <a:avLst/>
              <a:gdLst/>
              <a:ahLst/>
              <a:cxnLst/>
              <a:rect r="r" b="b" t="t" l="l"/>
              <a:pathLst>
                <a:path h="550291" w="753491">
                  <a:moveTo>
                    <a:pt x="0" y="159766"/>
                  </a:moveTo>
                  <a:cubicBezTo>
                    <a:pt x="0" y="71501"/>
                    <a:pt x="71501" y="0"/>
                    <a:pt x="159766" y="0"/>
                  </a:cubicBezTo>
                  <a:lnTo>
                    <a:pt x="593725" y="0"/>
                  </a:lnTo>
                  <a:cubicBezTo>
                    <a:pt x="681990" y="0"/>
                    <a:pt x="753491" y="71501"/>
                    <a:pt x="753491" y="159766"/>
                  </a:cubicBezTo>
                  <a:lnTo>
                    <a:pt x="753491" y="390525"/>
                  </a:lnTo>
                  <a:cubicBezTo>
                    <a:pt x="753491" y="478790"/>
                    <a:pt x="681990" y="550291"/>
                    <a:pt x="593725" y="550291"/>
                  </a:cubicBezTo>
                  <a:lnTo>
                    <a:pt x="159766" y="550291"/>
                  </a:lnTo>
                  <a:cubicBezTo>
                    <a:pt x="71501" y="550291"/>
                    <a:pt x="0" y="478790"/>
                    <a:pt x="0" y="390525"/>
                  </a:cubicBezTo>
                  <a:close/>
                </a:path>
              </a:pathLst>
            </a:custGeom>
            <a:solidFill>
              <a:srgbClr val="E9EEFF"/>
            </a:solidFill>
          </p:spPr>
        </p:sp>
      </p:grpSp>
      <p:sp>
        <p:nvSpPr>
          <p:cNvPr name="TextBox 13" id="13"/>
          <p:cNvSpPr txBox="true"/>
          <p:nvPr/>
        </p:nvSpPr>
        <p:spPr>
          <a:xfrm rot="0">
            <a:off x="6845303" y="2955922"/>
            <a:ext cx="368303" cy="317116"/>
          </a:xfrm>
          <a:prstGeom prst="rect">
            <a:avLst/>
          </a:prstGeom>
        </p:spPr>
        <p:txBody>
          <a:bodyPr anchor="t" rtlCol="false" tIns="0" lIns="0" bIns="0" rIns="0">
            <a:spAutoFit/>
          </a:bodyPr>
          <a:lstStyle/>
          <a:p>
            <a:pPr algn="ctr">
              <a:lnSpc>
                <a:spcPts val="2074"/>
              </a:lnSpc>
            </a:pPr>
            <a:r>
              <a:rPr lang="en-US" b="true" sz="1600">
                <a:solidFill>
                  <a:srgbClr val="1B2CC1"/>
                </a:solidFill>
                <a:latin typeface="Arimo Bold"/>
                <a:ea typeface="Arimo Bold"/>
                <a:cs typeface="Arimo Bold"/>
                <a:sym typeface="Arimo Bold"/>
              </a:rPr>
              <a:t>02</a:t>
            </a:r>
          </a:p>
        </p:txBody>
      </p:sp>
      <p:sp>
        <p:nvSpPr>
          <p:cNvPr name="TextBox 14" id="14"/>
          <p:cNvSpPr txBox="true"/>
          <p:nvPr/>
        </p:nvSpPr>
        <p:spPr>
          <a:xfrm rot="0">
            <a:off x="7467600" y="2882903"/>
            <a:ext cx="4140203" cy="425507"/>
          </a:xfrm>
          <a:prstGeom prst="rect">
            <a:avLst/>
          </a:prstGeom>
        </p:spPr>
        <p:txBody>
          <a:bodyPr anchor="t" rtlCol="false" tIns="0" lIns="0" bIns="0" rIns="0">
            <a:spAutoFit/>
          </a:bodyPr>
          <a:lstStyle/>
          <a:p>
            <a:pPr algn="l">
              <a:lnSpc>
                <a:spcPts val="3368"/>
              </a:lnSpc>
            </a:pPr>
            <a:r>
              <a:rPr lang="en-US" sz="2599" b="true">
                <a:solidFill>
                  <a:srgbClr val="111111"/>
                </a:solidFill>
                <a:latin typeface="Arimo Bold"/>
                <a:ea typeface="Arimo Bold"/>
                <a:cs typeface="Arimo Bold"/>
                <a:sym typeface="Arimo Bold"/>
              </a:rPr>
              <a:t>도달할 수 없는 목표 차단</a:t>
            </a:r>
          </a:p>
        </p:txBody>
      </p:sp>
      <p:sp>
        <p:nvSpPr>
          <p:cNvPr name="TextBox 15" id="15"/>
          <p:cNvSpPr txBox="true"/>
          <p:nvPr/>
        </p:nvSpPr>
        <p:spPr>
          <a:xfrm rot="0">
            <a:off x="6769103" y="3502028"/>
            <a:ext cx="4749803" cy="345872"/>
          </a:xfrm>
          <a:prstGeom prst="rect">
            <a:avLst/>
          </a:prstGeom>
        </p:spPr>
        <p:txBody>
          <a:bodyPr anchor="t" rtlCol="false" tIns="0" lIns="0" bIns="0" rIns="0">
            <a:spAutoFit/>
          </a:bodyPr>
          <a:lstStyle/>
          <a:p>
            <a:pPr algn="l">
              <a:lnSpc>
                <a:spcPts val="2721"/>
              </a:lnSpc>
            </a:pPr>
            <a:r>
              <a:rPr lang="en-US" sz="2100">
                <a:solidFill>
                  <a:srgbClr val="666666"/>
                </a:solidFill>
                <a:latin typeface="Arimo"/>
                <a:ea typeface="Arimo"/>
                <a:cs typeface="Arimo"/>
                <a:sym typeface="Arimo"/>
              </a:rPr>
              <a:t>로봇팔이 닿을 수 없는 위치 </a:t>
            </a:r>
            <a:r>
              <a:rPr lang="en-US" sz="2100">
                <a:solidFill>
                  <a:srgbClr val="666666"/>
                </a:solidFill>
                <a:latin typeface="Arimo"/>
                <a:ea typeface="Arimo"/>
                <a:cs typeface="Arimo"/>
                <a:sym typeface="Arimo"/>
              </a:rPr>
              <a:t>요청</a:t>
            </a:r>
          </a:p>
        </p:txBody>
      </p:sp>
      <p:grpSp>
        <p:nvGrpSpPr>
          <p:cNvPr name="Group 16" id="16"/>
          <p:cNvGrpSpPr/>
          <p:nvPr/>
        </p:nvGrpSpPr>
        <p:grpSpPr>
          <a:xfrm rot="0">
            <a:off x="12176122" y="2600325"/>
            <a:ext cx="5365747" cy="5949953"/>
            <a:chOff x="0" y="0"/>
            <a:chExt cx="7154329" cy="7933271"/>
          </a:xfrm>
        </p:grpSpPr>
        <p:sp>
          <p:nvSpPr>
            <p:cNvPr name="Freeform 17" id="17"/>
            <p:cNvSpPr/>
            <p:nvPr/>
          </p:nvSpPr>
          <p:spPr>
            <a:xfrm flipH="false" flipV="false" rot="0">
              <a:off x="0" y="0"/>
              <a:ext cx="7154291" cy="7933183"/>
            </a:xfrm>
            <a:custGeom>
              <a:avLst/>
              <a:gdLst/>
              <a:ahLst/>
              <a:cxnLst/>
              <a:rect r="r" b="b" t="t" l="l"/>
              <a:pathLst>
                <a:path h="7933183" w="7154291">
                  <a:moveTo>
                    <a:pt x="0" y="153289"/>
                  </a:moveTo>
                  <a:cubicBezTo>
                    <a:pt x="0" y="68580"/>
                    <a:pt x="68580" y="0"/>
                    <a:pt x="153289" y="0"/>
                  </a:cubicBezTo>
                  <a:lnTo>
                    <a:pt x="7001002" y="0"/>
                  </a:lnTo>
                  <a:cubicBezTo>
                    <a:pt x="7085711" y="0"/>
                    <a:pt x="7154291" y="68580"/>
                    <a:pt x="7154291" y="153289"/>
                  </a:cubicBezTo>
                  <a:lnTo>
                    <a:pt x="7154291" y="7779893"/>
                  </a:lnTo>
                  <a:cubicBezTo>
                    <a:pt x="7154291" y="7864602"/>
                    <a:pt x="7085711" y="7933182"/>
                    <a:pt x="7001002" y="7933182"/>
                  </a:cubicBezTo>
                  <a:lnTo>
                    <a:pt x="153289" y="7933182"/>
                  </a:lnTo>
                  <a:cubicBezTo>
                    <a:pt x="68580" y="7933309"/>
                    <a:pt x="0" y="7864602"/>
                    <a:pt x="0" y="7779893"/>
                  </a:cubicBezTo>
                  <a:close/>
                </a:path>
              </a:pathLst>
            </a:custGeom>
            <a:solidFill>
              <a:srgbClr val="FFFFFF"/>
            </a:solidFill>
            <a:ln w="19050" cap="sq">
              <a:solidFill>
                <a:srgbClr val="111111"/>
              </a:solidFill>
              <a:prstDash val="solid"/>
              <a:miter/>
            </a:ln>
          </p:spPr>
        </p:sp>
      </p:grpSp>
      <p:grpSp>
        <p:nvGrpSpPr>
          <p:cNvPr name="Group 18" id="18"/>
          <p:cNvGrpSpPr/>
          <p:nvPr/>
        </p:nvGrpSpPr>
        <p:grpSpPr>
          <a:xfrm rot="0">
            <a:off x="12461872" y="2898772"/>
            <a:ext cx="565147" cy="412747"/>
            <a:chOff x="0" y="0"/>
            <a:chExt cx="753529" cy="550329"/>
          </a:xfrm>
        </p:grpSpPr>
        <p:sp>
          <p:nvSpPr>
            <p:cNvPr name="Freeform 19" id="19"/>
            <p:cNvSpPr/>
            <p:nvPr/>
          </p:nvSpPr>
          <p:spPr>
            <a:xfrm flipH="false" flipV="false" rot="0">
              <a:off x="0" y="0"/>
              <a:ext cx="753491" cy="550291"/>
            </a:xfrm>
            <a:custGeom>
              <a:avLst/>
              <a:gdLst/>
              <a:ahLst/>
              <a:cxnLst/>
              <a:rect r="r" b="b" t="t" l="l"/>
              <a:pathLst>
                <a:path h="550291" w="753491">
                  <a:moveTo>
                    <a:pt x="0" y="159766"/>
                  </a:moveTo>
                  <a:cubicBezTo>
                    <a:pt x="0" y="71501"/>
                    <a:pt x="71501" y="0"/>
                    <a:pt x="159766" y="0"/>
                  </a:cubicBezTo>
                  <a:lnTo>
                    <a:pt x="593725" y="0"/>
                  </a:lnTo>
                  <a:cubicBezTo>
                    <a:pt x="681990" y="0"/>
                    <a:pt x="753491" y="71501"/>
                    <a:pt x="753491" y="159766"/>
                  </a:cubicBezTo>
                  <a:lnTo>
                    <a:pt x="753491" y="390525"/>
                  </a:lnTo>
                  <a:cubicBezTo>
                    <a:pt x="753491" y="478790"/>
                    <a:pt x="681990" y="550291"/>
                    <a:pt x="593725" y="550291"/>
                  </a:cubicBezTo>
                  <a:lnTo>
                    <a:pt x="159766" y="550291"/>
                  </a:lnTo>
                  <a:cubicBezTo>
                    <a:pt x="71501" y="550291"/>
                    <a:pt x="0" y="478790"/>
                    <a:pt x="0" y="390525"/>
                  </a:cubicBezTo>
                  <a:close/>
                </a:path>
              </a:pathLst>
            </a:custGeom>
            <a:solidFill>
              <a:srgbClr val="E9EEFF"/>
            </a:solidFill>
          </p:spPr>
        </p:sp>
      </p:grpSp>
      <p:sp>
        <p:nvSpPr>
          <p:cNvPr name="TextBox 20" id="20"/>
          <p:cNvSpPr txBox="true"/>
          <p:nvPr/>
        </p:nvSpPr>
        <p:spPr>
          <a:xfrm rot="0">
            <a:off x="12560303" y="2955922"/>
            <a:ext cx="368303" cy="317116"/>
          </a:xfrm>
          <a:prstGeom prst="rect">
            <a:avLst/>
          </a:prstGeom>
        </p:spPr>
        <p:txBody>
          <a:bodyPr anchor="t" rtlCol="false" tIns="0" lIns="0" bIns="0" rIns="0">
            <a:spAutoFit/>
          </a:bodyPr>
          <a:lstStyle/>
          <a:p>
            <a:pPr algn="ctr">
              <a:lnSpc>
                <a:spcPts val="2074"/>
              </a:lnSpc>
            </a:pPr>
            <a:r>
              <a:rPr lang="en-US" b="true" sz="1600">
                <a:solidFill>
                  <a:srgbClr val="1B2CC1"/>
                </a:solidFill>
                <a:latin typeface="Arimo Bold"/>
                <a:ea typeface="Arimo Bold"/>
                <a:cs typeface="Arimo Bold"/>
                <a:sym typeface="Arimo Bold"/>
              </a:rPr>
              <a:t>03</a:t>
            </a:r>
          </a:p>
        </p:txBody>
      </p:sp>
      <p:sp>
        <p:nvSpPr>
          <p:cNvPr name="TextBox 21" id="21"/>
          <p:cNvSpPr txBox="true"/>
          <p:nvPr/>
        </p:nvSpPr>
        <p:spPr>
          <a:xfrm rot="0">
            <a:off x="13182600" y="2882903"/>
            <a:ext cx="4140203" cy="506987"/>
          </a:xfrm>
          <a:prstGeom prst="rect">
            <a:avLst/>
          </a:prstGeom>
        </p:spPr>
        <p:txBody>
          <a:bodyPr anchor="t" rtlCol="false" tIns="0" lIns="0" bIns="0" rIns="0">
            <a:spAutoFit/>
          </a:bodyPr>
          <a:lstStyle/>
          <a:p>
            <a:pPr algn="l">
              <a:lnSpc>
                <a:spcPts val="3368"/>
              </a:lnSpc>
            </a:pPr>
            <a:r>
              <a:rPr lang="en-US" sz="2599" b="true">
                <a:solidFill>
                  <a:srgbClr val="111111"/>
                </a:solidFill>
                <a:latin typeface="Arimo Bold"/>
                <a:ea typeface="Arimo Bold"/>
                <a:cs typeface="Arimo Bold"/>
                <a:sym typeface="Arimo Bold"/>
              </a:rPr>
              <a:t>잘못된 자세 요청 거부</a:t>
            </a:r>
          </a:p>
        </p:txBody>
      </p:sp>
      <p:sp>
        <p:nvSpPr>
          <p:cNvPr name="TextBox 22" id="22"/>
          <p:cNvSpPr txBox="true"/>
          <p:nvPr/>
        </p:nvSpPr>
        <p:spPr>
          <a:xfrm rot="0">
            <a:off x="12484103" y="3502028"/>
            <a:ext cx="4749803" cy="407289"/>
          </a:xfrm>
          <a:prstGeom prst="rect">
            <a:avLst/>
          </a:prstGeom>
        </p:spPr>
        <p:txBody>
          <a:bodyPr anchor="t" rtlCol="false" tIns="0" lIns="0" bIns="0" rIns="0">
            <a:spAutoFit/>
          </a:bodyPr>
          <a:lstStyle/>
          <a:p>
            <a:pPr algn="l">
              <a:lnSpc>
                <a:spcPts val="2721"/>
              </a:lnSpc>
            </a:pPr>
            <a:r>
              <a:rPr lang="en-US" sz="2100">
                <a:solidFill>
                  <a:srgbClr val="666666"/>
                </a:solidFill>
                <a:latin typeface="Arimo"/>
                <a:ea typeface="Arimo"/>
                <a:cs typeface="Arimo"/>
                <a:sym typeface="Arimo"/>
              </a:rPr>
              <a:t>등록되지 않은 자세 이름 요청</a:t>
            </a:r>
          </a:p>
        </p:txBody>
      </p:sp>
      <p:grpSp>
        <p:nvGrpSpPr>
          <p:cNvPr name="Group 23" id="23"/>
          <p:cNvGrpSpPr/>
          <p:nvPr/>
        </p:nvGrpSpPr>
        <p:grpSpPr>
          <a:xfrm rot="0">
            <a:off x="1057275" y="4168778"/>
            <a:ext cx="4743450" cy="971550"/>
            <a:chOff x="0" y="0"/>
            <a:chExt cx="6324600" cy="1295400"/>
          </a:xfrm>
        </p:grpSpPr>
        <p:sp>
          <p:nvSpPr>
            <p:cNvPr name="Freeform 24" id="24"/>
            <p:cNvSpPr/>
            <p:nvPr/>
          </p:nvSpPr>
          <p:spPr>
            <a:xfrm flipH="false" flipV="false" rot="0">
              <a:off x="0" y="0"/>
              <a:ext cx="6324600" cy="1295400"/>
            </a:xfrm>
            <a:custGeom>
              <a:avLst/>
              <a:gdLst/>
              <a:ahLst/>
              <a:cxnLst/>
              <a:rect r="r" b="b" t="t" l="l"/>
              <a:pathLst>
                <a:path h="1295400" w="6324600">
                  <a:moveTo>
                    <a:pt x="0" y="155448"/>
                  </a:moveTo>
                  <a:cubicBezTo>
                    <a:pt x="0" y="69596"/>
                    <a:pt x="69596" y="0"/>
                    <a:pt x="155448" y="0"/>
                  </a:cubicBezTo>
                  <a:lnTo>
                    <a:pt x="6169152" y="0"/>
                  </a:lnTo>
                  <a:cubicBezTo>
                    <a:pt x="6255004" y="0"/>
                    <a:pt x="6324600" y="69596"/>
                    <a:pt x="6324600" y="155448"/>
                  </a:cubicBezTo>
                  <a:lnTo>
                    <a:pt x="6324600" y="1139952"/>
                  </a:lnTo>
                  <a:cubicBezTo>
                    <a:pt x="6324600" y="1225804"/>
                    <a:pt x="6255004" y="1295400"/>
                    <a:pt x="6169152" y="1295400"/>
                  </a:cubicBezTo>
                  <a:lnTo>
                    <a:pt x="155448" y="1295400"/>
                  </a:lnTo>
                  <a:cubicBezTo>
                    <a:pt x="69596" y="1295400"/>
                    <a:pt x="0" y="1225804"/>
                    <a:pt x="0" y="1139952"/>
                  </a:cubicBezTo>
                  <a:close/>
                </a:path>
              </a:pathLst>
            </a:custGeom>
            <a:solidFill>
              <a:srgbClr val="E9EEFF"/>
            </a:solidFill>
          </p:spPr>
        </p:sp>
      </p:grpSp>
      <p:sp>
        <p:nvSpPr>
          <p:cNvPr name="TextBox 25" id="25"/>
          <p:cNvSpPr txBox="true"/>
          <p:nvPr/>
        </p:nvSpPr>
        <p:spPr>
          <a:xfrm rot="0">
            <a:off x="1257300" y="4279897"/>
            <a:ext cx="4343400" cy="452885"/>
          </a:xfrm>
          <a:prstGeom prst="rect">
            <a:avLst/>
          </a:prstGeom>
        </p:spPr>
        <p:txBody>
          <a:bodyPr anchor="t" rtlCol="false" tIns="0" lIns="0" bIns="0" rIns="0">
            <a:spAutoFit/>
          </a:bodyPr>
          <a:lstStyle/>
          <a:p>
            <a:pPr algn="ctr">
              <a:lnSpc>
                <a:spcPts val="2980"/>
              </a:lnSpc>
            </a:pPr>
            <a:r>
              <a:rPr lang="en-US" sz="2299" b="true">
                <a:solidFill>
                  <a:srgbClr val="111111"/>
                </a:solidFill>
                <a:latin typeface="Arimo Bold"/>
                <a:ea typeface="Arimo Bold"/>
                <a:cs typeface="Arimo Bold"/>
                <a:sym typeface="Arimo Bold"/>
              </a:rPr>
              <a:t>기존 작업 실행 중</a:t>
            </a:r>
          </a:p>
        </p:txBody>
      </p:sp>
      <p:sp>
        <p:nvSpPr>
          <p:cNvPr name="TextBox 26" id="26"/>
          <p:cNvSpPr txBox="true"/>
          <p:nvPr/>
        </p:nvSpPr>
        <p:spPr>
          <a:xfrm rot="0">
            <a:off x="1257300" y="4698997"/>
            <a:ext cx="4343400" cy="311429"/>
          </a:xfrm>
          <a:prstGeom prst="rect">
            <a:avLst/>
          </a:prstGeom>
        </p:spPr>
        <p:txBody>
          <a:bodyPr anchor="t" rtlCol="false" tIns="0" lIns="0" bIns="0" rIns="0">
            <a:spAutoFit/>
          </a:bodyPr>
          <a:lstStyle/>
          <a:p>
            <a:pPr algn="ctr">
              <a:lnSpc>
                <a:spcPts val="2332"/>
              </a:lnSpc>
            </a:pPr>
            <a:r>
              <a:rPr lang="en-US" sz="1800">
                <a:solidFill>
                  <a:srgbClr val="666666"/>
                </a:solidFill>
                <a:latin typeface="Arimo"/>
                <a:ea typeface="Arimo"/>
                <a:cs typeface="Arimo"/>
                <a:sym typeface="Arimo"/>
              </a:rPr>
              <a:t>busy = true</a:t>
            </a:r>
          </a:p>
        </p:txBody>
      </p:sp>
      <p:grpSp>
        <p:nvGrpSpPr>
          <p:cNvPr name="Group 27" id="27"/>
          <p:cNvGrpSpPr/>
          <p:nvPr/>
        </p:nvGrpSpPr>
        <p:grpSpPr>
          <a:xfrm rot="0">
            <a:off x="1057275" y="5616578"/>
            <a:ext cx="4743450" cy="933450"/>
            <a:chOff x="0" y="0"/>
            <a:chExt cx="6324600" cy="1244600"/>
          </a:xfrm>
        </p:grpSpPr>
        <p:sp>
          <p:nvSpPr>
            <p:cNvPr name="Freeform 28" id="28"/>
            <p:cNvSpPr/>
            <p:nvPr/>
          </p:nvSpPr>
          <p:spPr>
            <a:xfrm flipH="false" flipV="false" rot="0">
              <a:off x="0" y="0"/>
              <a:ext cx="6324600" cy="1244600"/>
            </a:xfrm>
            <a:custGeom>
              <a:avLst/>
              <a:gdLst/>
              <a:ahLst/>
              <a:cxnLst/>
              <a:rect r="r" b="b" t="t" l="l"/>
              <a:pathLst>
                <a:path h="1244600" w="6324600">
                  <a:moveTo>
                    <a:pt x="0" y="155575"/>
                  </a:moveTo>
                  <a:cubicBezTo>
                    <a:pt x="0" y="69596"/>
                    <a:pt x="69596" y="0"/>
                    <a:pt x="155575" y="0"/>
                  </a:cubicBezTo>
                  <a:lnTo>
                    <a:pt x="6169025" y="0"/>
                  </a:lnTo>
                  <a:cubicBezTo>
                    <a:pt x="6255004" y="0"/>
                    <a:pt x="6324600" y="69596"/>
                    <a:pt x="6324600" y="155575"/>
                  </a:cubicBezTo>
                  <a:lnTo>
                    <a:pt x="6324600" y="1089025"/>
                  </a:lnTo>
                  <a:cubicBezTo>
                    <a:pt x="6324600" y="1175004"/>
                    <a:pt x="6255004" y="1244600"/>
                    <a:pt x="6169025" y="1244600"/>
                  </a:cubicBezTo>
                  <a:lnTo>
                    <a:pt x="155575" y="1244600"/>
                  </a:lnTo>
                  <a:cubicBezTo>
                    <a:pt x="69596" y="1244600"/>
                    <a:pt x="0" y="1175004"/>
                    <a:pt x="0" y="1089025"/>
                  </a:cubicBezTo>
                  <a:close/>
                </a:path>
              </a:pathLst>
            </a:custGeom>
            <a:solidFill>
              <a:srgbClr val="E9EEFF"/>
            </a:solidFill>
          </p:spPr>
        </p:sp>
      </p:grpSp>
      <p:sp>
        <p:nvSpPr>
          <p:cNvPr name="TextBox 29" id="29"/>
          <p:cNvSpPr txBox="true"/>
          <p:nvPr/>
        </p:nvSpPr>
        <p:spPr>
          <a:xfrm rot="0">
            <a:off x="1257300" y="5740403"/>
            <a:ext cx="4343400" cy="452885"/>
          </a:xfrm>
          <a:prstGeom prst="rect">
            <a:avLst/>
          </a:prstGeom>
        </p:spPr>
        <p:txBody>
          <a:bodyPr anchor="t" rtlCol="false" tIns="0" lIns="0" bIns="0" rIns="0">
            <a:spAutoFit/>
          </a:bodyPr>
          <a:lstStyle/>
          <a:p>
            <a:pPr algn="ctr">
              <a:lnSpc>
                <a:spcPts val="2980"/>
              </a:lnSpc>
            </a:pPr>
            <a:r>
              <a:rPr lang="en-US" sz="2299" b="true">
                <a:solidFill>
                  <a:srgbClr val="111111"/>
                </a:solidFill>
                <a:latin typeface="Arimo Bold"/>
                <a:ea typeface="Arimo Bold"/>
                <a:cs typeface="Arimo Bold"/>
                <a:sym typeface="Arimo Bold"/>
              </a:rPr>
              <a:t>새 Goal 수신</a:t>
            </a:r>
          </a:p>
        </p:txBody>
      </p:sp>
      <p:sp>
        <p:nvSpPr>
          <p:cNvPr name="TextBox 30" id="30"/>
          <p:cNvSpPr txBox="true"/>
          <p:nvPr/>
        </p:nvSpPr>
        <p:spPr>
          <a:xfrm rot="0">
            <a:off x="1257300" y="6146797"/>
            <a:ext cx="4343400" cy="311429"/>
          </a:xfrm>
          <a:prstGeom prst="rect">
            <a:avLst/>
          </a:prstGeom>
        </p:spPr>
        <p:txBody>
          <a:bodyPr anchor="t" rtlCol="false" tIns="0" lIns="0" bIns="0" rIns="0">
            <a:spAutoFit/>
          </a:bodyPr>
          <a:lstStyle/>
          <a:p>
            <a:pPr algn="ctr">
              <a:lnSpc>
                <a:spcPts val="2332"/>
              </a:lnSpc>
            </a:pPr>
            <a:r>
              <a:rPr lang="en-US" sz="1800">
                <a:solidFill>
                  <a:srgbClr val="666666"/>
                </a:solidFill>
                <a:latin typeface="Arimo"/>
                <a:ea typeface="Arimo"/>
                <a:cs typeface="Arimo"/>
                <a:sym typeface="Arimo"/>
              </a:rPr>
              <a:t>다른 작업을 수행하고 있는지 확인</a:t>
            </a:r>
          </a:p>
        </p:txBody>
      </p:sp>
      <p:grpSp>
        <p:nvGrpSpPr>
          <p:cNvPr name="Group 31" id="31"/>
          <p:cNvGrpSpPr/>
          <p:nvPr/>
        </p:nvGrpSpPr>
        <p:grpSpPr>
          <a:xfrm rot="0">
            <a:off x="1057275" y="7026278"/>
            <a:ext cx="4743450" cy="806453"/>
            <a:chOff x="0" y="0"/>
            <a:chExt cx="6324600" cy="1075271"/>
          </a:xfrm>
        </p:grpSpPr>
        <p:sp>
          <p:nvSpPr>
            <p:cNvPr name="Freeform 32" id="32"/>
            <p:cNvSpPr/>
            <p:nvPr/>
          </p:nvSpPr>
          <p:spPr>
            <a:xfrm flipH="false" flipV="false" rot="0">
              <a:off x="0" y="0"/>
              <a:ext cx="6324600" cy="1075309"/>
            </a:xfrm>
            <a:custGeom>
              <a:avLst/>
              <a:gdLst/>
              <a:ahLst/>
              <a:cxnLst/>
              <a:rect r="r" b="b" t="t" l="l"/>
              <a:pathLst>
                <a:path h="1075309" w="6324600">
                  <a:moveTo>
                    <a:pt x="0" y="156083"/>
                  </a:moveTo>
                  <a:cubicBezTo>
                    <a:pt x="0" y="69850"/>
                    <a:pt x="69850" y="0"/>
                    <a:pt x="156083" y="0"/>
                  </a:cubicBezTo>
                  <a:lnTo>
                    <a:pt x="6168517" y="0"/>
                  </a:lnTo>
                  <a:cubicBezTo>
                    <a:pt x="6254750" y="0"/>
                    <a:pt x="6324600" y="69850"/>
                    <a:pt x="6324600" y="156083"/>
                  </a:cubicBezTo>
                  <a:lnTo>
                    <a:pt x="6324600" y="919226"/>
                  </a:lnTo>
                  <a:cubicBezTo>
                    <a:pt x="6324600" y="1005459"/>
                    <a:pt x="6254750" y="1075309"/>
                    <a:pt x="6168517" y="1075309"/>
                  </a:cubicBezTo>
                  <a:lnTo>
                    <a:pt x="156083" y="1075309"/>
                  </a:lnTo>
                  <a:cubicBezTo>
                    <a:pt x="69850" y="1075309"/>
                    <a:pt x="0" y="1005332"/>
                    <a:pt x="0" y="919226"/>
                  </a:cubicBezTo>
                  <a:close/>
                </a:path>
              </a:pathLst>
            </a:custGeom>
            <a:solidFill>
              <a:srgbClr val="E9EEFF"/>
            </a:solidFill>
          </p:spPr>
        </p:sp>
      </p:grpSp>
      <p:sp>
        <p:nvSpPr>
          <p:cNvPr name="TextBox 33" id="33"/>
          <p:cNvSpPr txBox="true"/>
          <p:nvPr/>
        </p:nvSpPr>
        <p:spPr>
          <a:xfrm rot="0">
            <a:off x="1231897" y="7239000"/>
            <a:ext cx="4394197" cy="373222"/>
          </a:xfrm>
          <a:prstGeom prst="rect">
            <a:avLst/>
          </a:prstGeom>
        </p:spPr>
        <p:txBody>
          <a:bodyPr anchor="t" rtlCol="false" tIns="0" lIns="0" bIns="0" rIns="0">
            <a:spAutoFit/>
          </a:bodyPr>
          <a:lstStyle/>
          <a:p>
            <a:pPr algn="ctr">
              <a:lnSpc>
                <a:spcPts val="2851"/>
              </a:lnSpc>
            </a:pPr>
            <a:r>
              <a:rPr lang="en-US" b="true" sz="2200">
                <a:solidFill>
                  <a:srgbClr val="1B2CC1"/>
                </a:solidFill>
                <a:latin typeface="Arimo Bold"/>
                <a:ea typeface="Arimo Bold"/>
                <a:cs typeface="Arimo Bold"/>
                <a:sym typeface="Arimo Bold"/>
              </a:rPr>
              <a:t>추가 요청 거부</a:t>
            </a:r>
          </a:p>
        </p:txBody>
      </p:sp>
      <p:sp>
        <p:nvSpPr>
          <p:cNvPr name="TextBox 34" id="34"/>
          <p:cNvSpPr txBox="true"/>
          <p:nvPr/>
        </p:nvSpPr>
        <p:spPr>
          <a:xfrm rot="0">
            <a:off x="1015994" y="7961189"/>
            <a:ext cx="4826003" cy="311429"/>
          </a:xfrm>
          <a:prstGeom prst="rect">
            <a:avLst/>
          </a:prstGeom>
        </p:spPr>
        <p:txBody>
          <a:bodyPr anchor="t" rtlCol="false" tIns="0" lIns="0" bIns="0" rIns="0">
            <a:spAutoFit/>
          </a:bodyPr>
          <a:lstStyle/>
          <a:p>
            <a:pPr algn="ctr">
              <a:lnSpc>
                <a:spcPts val="2332"/>
              </a:lnSpc>
            </a:pPr>
            <a:r>
              <a:rPr lang="en-US" sz="1800">
                <a:solidFill>
                  <a:srgbClr val="666666"/>
                </a:solidFill>
                <a:latin typeface="Arimo"/>
                <a:ea typeface="Arimo"/>
                <a:cs typeface="Arimo"/>
                <a:sym typeface="Arimo"/>
              </a:rPr>
              <a:t>기존 작업은 유지, 추가 요청만 거부</a:t>
            </a:r>
          </a:p>
        </p:txBody>
      </p:sp>
      <p:grpSp>
        <p:nvGrpSpPr>
          <p:cNvPr name="Group 35" id="35"/>
          <p:cNvGrpSpPr/>
          <p:nvPr/>
        </p:nvGrpSpPr>
        <p:grpSpPr>
          <a:xfrm rot="0">
            <a:off x="6845303" y="4230183"/>
            <a:ext cx="4579810" cy="3721103"/>
            <a:chOff x="0" y="0"/>
            <a:chExt cx="6106414" cy="4961471"/>
          </a:xfrm>
        </p:grpSpPr>
        <p:sp>
          <p:nvSpPr>
            <p:cNvPr name="Freeform 36" id="36" descr="실물 인식 화면과 Agent의 도달 불가 요청 중단 결과"/>
            <p:cNvSpPr/>
            <p:nvPr/>
          </p:nvSpPr>
          <p:spPr>
            <a:xfrm flipH="false" flipV="false" rot="0">
              <a:off x="0" y="0"/>
              <a:ext cx="6106414" cy="4961509"/>
            </a:xfrm>
            <a:custGeom>
              <a:avLst/>
              <a:gdLst/>
              <a:ahLst/>
              <a:cxnLst/>
              <a:rect r="r" b="b" t="t" l="l"/>
              <a:pathLst>
                <a:path h="4961509" w="6106414">
                  <a:moveTo>
                    <a:pt x="0" y="0"/>
                  </a:moveTo>
                  <a:lnTo>
                    <a:pt x="6106414" y="0"/>
                  </a:lnTo>
                  <a:lnTo>
                    <a:pt x="6106414" y="4961509"/>
                  </a:lnTo>
                  <a:lnTo>
                    <a:pt x="0" y="4961509"/>
                  </a:lnTo>
                  <a:lnTo>
                    <a:pt x="0" y="0"/>
                  </a:lnTo>
                  <a:close/>
                </a:path>
              </a:pathLst>
            </a:custGeom>
            <a:blipFill>
              <a:blip r:embed="rId3"/>
              <a:stretch>
                <a:fillRect l="0" t="0" r="0" b="0"/>
              </a:stretch>
            </a:blipFill>
          </p:spPr>
        </p:sp>
      </p:grpSp>
      <p:grpSp>
        <p:nvGrpSpPr>
          <p:cNvPr name="Group 37" id="37"/>
          <p:cNvGrpSpPr/>
          <p:nvPr/>
        </p:nvGrpSpPr>
        <p:grpSpPr>
          <a:xfrm rot="0">
            <a:off x="13506088" y="4230183"/>
            <a:ext cx="2688250" cy="3721103"/>
            <a:chOff x="0" y="0"/>
            <a:chExt cx="3584334" cy="4961471"/>
          </a:xfrm>
        </p:grpSpPr>
        <p:sp>
          <p:nvSpPr>
            <p:cNvPr name="Freeform 38" id="38" descr="기존 실물 참고 화면 및 잘못된 이름 자세 Action 오류 결과"/>
            <p:cNvSpPr/>
            <p:nvPr/>
          </p:nvSpPr>
          <p:spPr>
            <a:xfrm flipH="false" flipV="false" rot="0">
              <a:off x="0" y="0"/>
              <a:ext cx="3584321" cy="4961509"/>
            </a:xfrm>
            <a:custGeom>
              <a:avLst/>
              <a:gdLst/>
              <a:ahLst/>
              <a:cxnLst/>
              <a:rect r="r" b="b" t="t" l="l"/>
              <a:pathLst>
                <a:path h="4961509" w="3584321">
                  <a:moveTo>
                    <a:pt x="0" y="0"/>
                  </a:moveTo>
                  <a:lnTo>
                    <a:pt x="3584321" y="0"/>
                  </a:lnTo>
                  <a:lnTo>
                    <a:pt x="3584321" y="4961509"/>
                  </a:lnTo>
                  <a:lnTo>
                    <a:pt x="0" y="4961509"/>
                  </a:lnTo>
                  <a:lnTo>
                    <a:pt x="0" y="0"/>
                  </a:lnTo>
                  <a:close/>
                </a:path>
              </a:pathLst>
            </a:custGeom>
            <a:blipFill>
              <a:blip r:embed="rId4"/>
              <a:stretch>
                <a:fillRect l="0" t="0" r="0" b="0"/>
              </a:stretch>
            </a:blipFill>
          </p:spPr>
        </p:sp>
      </p:grpSp>
      <p:sp>
        <p:nvSpPr>
          <p:cNvPr name="TextBox 39" id="39"/>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13</a:t>
            </a:r>
          </a:p>
        </p:txBody>
      </p:sp>
      <p:grpSp>
        <p:nvGrpSpPr>
          <p:cNvPr name="Group 40" id="40"/>
          <p:cNvGrpSpPr/>
          <p:nvPr/>
        </p:nvGrpSpPr>
        <p:grpSpPr>
          <a:xfrm rot="0">
            <a:off x="768096" y="589788"/>
            <a:ext cx="3017520" cy="329184"/>
            <a:chOff x="0" y="0"/>
            <a:chExt cx="4023360" cy="438912"/>
          </a:xfrm>
        </p:grpSpPr>
        <p:sp>
          <p:nvSpPr>
            <p:cNvPr name="Freeform 41" id="41"/>
            <p:cNvSpPr/>
            <p:nvPr/>
          </p:nvSpPr>
          <p:spPr>
            <a:xfrm flipH="false" flipV="false" rot="0">
              <a:off x="0" y="0"/>
              <a:ext cx="4023360" cy="438912"/>
            </a:xfrm>
            <a:custGeom>
              <a:avLst/>
              <a:gdLst/>
              <a:ahLst/>
              <a:cxnLst/>
              <a:rect r="r" b="b" t="t" l="l"/>
              <a:pathLst>
                <a:path h="438912" w="4023360">
                  <a:moveTo>
                    <a:pt x="0" y="0"/>
                  </a:moveTo>
                  <a:lnTo>
                    <a:pt x="4023360" y="0"/>
                  </a:lnTo>
                  <a:lnTo>
                    <a:pt x="4023360" y="438912"/>
                  </a:lnTo>
                  <a:lnTo>
                    <a:pt x="0" y="438912"/>
                  </a:lnTo>
                  <a:close/>
                </a:path>
              </a:pathLst>
            </a:custGeom>
            <a:blipFill>
              <a:blip r:embed="rId5">
                <a:alphaModFix amt="0"/>
              </a:blip>
              <a:stretch>
                <a:fillRect l="0" t="-128612" r="0" b="-128612"/>
              </a:stretch>
            </a:blipFill>
          </p:spPr>
        </p:sp>
        <p:sp>
          <p:nvSpPr>
            <p:cNvPr name="TextBox 42" id="42"/>
            <p:cNvSpPr txBox="true"/>
            <p:nvPr/>
          </p:nvSpPr>
          <p:spPr>
            <a:xfrm>
              <a:off x="0" y="-19050"/>
              <a:ext cx="4023360" cy="457962"/>
            </a:xfrm>
            <a:prstGeom prst="rect">
              <a:avLst/>
            </a:prstGeom>
          </p:spPr>
          <p:txBody>
            <a:bodyPr anchor="ctr" rtlCol="false" tIns="0" lIns="0" bIns="0" rIns="0"/>
            <a:lstStyle/>
            <a:p>
              <a:pPr algn="l">
                <a:lnSpc>
                  <a:spcPts val="1800"/>
                </a:lnSpc>
              </a:pPr>
              <a:r>
                <a:rPr lang="en-US" sz="1500" b="true">
                  <a:solidFill>
                    <a:srgbClr val="666666"/>
                  </a:solidFill>
                  <a:latin typeface="Arimo Bold"/>
                  <a:ea typeface="Arimo Bold"/>
                  <a:cs typeface="Arimo Bold"/>
                  <a:sym typeface="Arimo Bold"/>
                </a:rPr>
                <a:t>LARO-BOT</a:t>
              </a:r>
            </a:p>
          </p:txBody>
        </p:sp>
      </p:grpSp>
      <p:grpSp>
        <p:nvGrpSpPr>
          <p:cNvPr name="Group 43" id="43"/>
          <p:cNvGrpSpPr/>
          <p:nvPr/>
        </p:nvGrpSpPr>
        <p:grpSpPr>
          <a:xfrm rot="0">
            <a:off x="768096" y="954201"/>
            <a:ext cx="11395450" cy="856692"/>
            <a:chOff x="0" y="0"/>
            <a:chExt cx="15193933" cy="1142256"/>
          </a:xfrm>
        </p:grpSpPr>
        <p:sp>
          <p:nvSpPr>
            <p:cNvPr name="Freeform 44" id="44"/>
            <p:cNvSpPr/>
            <p:nvPr/>
          </p:nvSpPr>
          <p:spPr>
            <a:xfrm flipH="false" flipV="false" rot="0">
              <a:off x="0" y="0"/>
              <a:ext cx="15193933" cy="1142256"/>
            </a:xfrm>
            <a:custGeom>
              <a:avLst/>
              <a:gdLst/>
              <a:ahLst/>
              <a:cxnLst/>
              <a:rect r="r" b="b" t="t" l="l"/>
              <a:pathLst>
                <a:path h="1142256" w="15193933">
                  <a:moveTo>
                    <a:pt x="0" y="0"/>
                  </a:moveTo>
                  <a:lnTo>
                    <a:pt x="15193933" y="0"/>
                  </a:lnTo>
                  <a:lnTo>
                    <a:pt x="15193933" y="1142256"/>
                  </a:lnTo>
                  <a:lnTo>
                    <a:pt x="0" y="1142256"/>
                  </a:lnTo>
                  <a:close/>
                </a:path>
              </a:pathLst>
            </a:custGeom>
            <a:blipFill>
              <a:blip r:embed="rId5">
                <a:alphaModFix amt="0"/>
              </a:blip>
              <a:stretch>
                <a:fillRect l="0" t="-230499" r="-5920" b="-218556"/>
              </a:stretch>
            </a:blipFill>
          </p:spPr>
        </p:sp>
        <p:sp>
          <p:nvSpPr>
            <p:cNvPr name="TextBox 45" id="45"/>
            <p:cNvSpPr txBox="true"/>
            <p:nvPr/>
          </p:nvSpPr>
          <p:spPr>
            <a:xfrm>
              <a:off x="0" y="-19050"/>
              <a:ext cx="15193933" cy="1161306"/>
            </a:xfrm>
            <a:prstGeom prst="rect">
              <a:avLst/>
            </a:prstGeom>
          </p:spPr>
          <p:txBody>
            <a:bodyPr anchor="ctr" rtlCol="false" tIns="0" lIns="0" bIns="0" rIns="0"/>
            <a:lstStyle/>
            <a:p>
              <a:pPr algn="l">
                <a:lnSpc>
                  <a:spcPts val="5040"/>
                </a:lnSpc>
              </a:pPr>
              <a:r>
                <a:rPr lang="en-US" sz="4200" b="true">
                  <a:solidFill>
                    <a:srgbClr val="111111"/>
                  </a:solidFill>
                  <a:latin typeface="Arimo Bold"/>
                  <a:ea typeface="Arimo Bold"/>
                  <a:cs typeface="Arimo Bold"/>
                  <a:sym typeface="Arimo Bold"/>
                </a:rPr>
                <a:t>수행 불가능한 명령 차단</a:t>
              </a:r>
            </a:p>
          </p:txBody>
        </p:sp>
      </p:grpSp>
      <p:grpSp>
        <p:nvGrpSpPr>
          <p:cNvPr name="Group 46" id="46"/>
          <p:cNvGrpSpPr/>
          <p:nvPr/>
        </p:nvGrpSpPr>
        <p:grpSpPr>
          <a:xfrm rot="0">
            <a:off x="6845303" y="4215320"/>
            <a:ext cx="1619250" cy="476250"/>
            <a:chOff x="0" y="0"/>
            <a:chExt cx="2159000" cy="635000"/>
          </a:xfrm>
        </p:grpSpPr>
        <p:grpSp>
          <p:nvGrpSpPr>
            <p:cNvPr name="Group 47" id="47"/>
            <p:cNvGrpSpPr/>
            <p:nvPr/>
          </p:nvGrpSpPr>
          <p:grpSpPr>
            <a:xfrm rot="0">
              <a:off x="0" y="0"/>
              <a:ext cx="2159000" cy="635000"/>
              <a:chOff x="0" y="0"/>
              <a:chExt cx="2159000" cy="635000"/>
            </a:xfrm>
          </p:grpSpPr>
          <p:sp>
            <p:nvSpPr>
              <p:cNvPr name="Freeform 48" id="48"/>
              <p:cNvSpPr/>
              <p:nvPr/>
            </p:nvSpPr>
            <p:spPr>
              <a:xfrm flipH="false" flipV="false" rot="0">
                <a:off x="0" y="0"/>
                <a:ext cx="2159000" cy="635000"/>
              </a:xfrm>
              <a:custGeom>
                <a:avLst/>
                <a:gdLst/>
                <a:ahLst/>
                <a:cxnLst/>
                <a:rect r="r" b="b" t="t" l="l"/>
                <a:pathLst>
                  <a:path h="635000" w="2159000">
                    <a:moveTo>
                      <a:pt x="0" y="114300"/>
                    </a:moveTo>
                    <a:cubicBezTo>
                      <a:pt x="0" y="51181"/>
                      <a:pt x="51181" y="0"/>
                      <a:pt x="114300" y="0"/>
                    </a:cubicBezTo>
                    <a:lnTo>
                      <a:pt x="2044700" y="0"/>
                    </a:lnTo>
                    <a:cubicBezTo>
                      <a:pt x="2107819" y="0"/>
                      <a:pt x="2159000" y="51181"/>
                      <a:pt x="2159000" y="114300"/>
                    </a:cubicBezTo>
                    <a:lnTo>
                      <a:pt x="2159000" y="520700"/>
                    </a:lnTo>
                    <a:cubicBezTo>
                      <a:pt x="2159000" y="583819"/>
                      <a:pt x="2107819" y="635000"/>
                      <a:pt x="2044700" y="635000"/>
                    </a:cubicBezTo>
                    <a:lnTo>
                      <a:pt x="114300" y="635000"/>
                    </a:lnTo>
                    <a:cubicBezTo>
                      <a:pt x="51181" y="635000"/>
                      <a:pt x="0" y="583819"/>
                      <a:pt x="0" y="520700"/>
                    </a:cubicBezTo>
                    <a:close/>
                  </a:path>
                </a:pathLst>
              </a:custGeom>
              <a:solidFill>
                <a:srgbClr val="101010"/>
              </a:solidFill>
            </p:spPr>
          </p:sp>
        </p:grpSp>
        <p:grpSp>
          <p:nvGrpSpPr>
            <p:cNvPr name="Group 49" id="49"/>
            <p:cNvGrpSpPr/>
            <p:nvPr/>
          </p:nvGrpSpPr>
          <p:grpSpPr>
            <a:xfrm rot="0">
              <a:off x="181825" y="55033"/>
              <a:ext cx="1795350" cy="524934"/>
              <a:chOff x="0" y="0"/>
              <a:chExt cx="1795350" cy="524934"/>
            </a:xfrm>
          </p:grpSpPr>
          <p:sp>
            <p:nvSpPr>
              <p:cNvPr name="Freeform 50" id="50"/>
              <p:cNvSpPr/>
              <p:nvPr/>
            </p:nvSpPr>
            <p:spPr>
              <a:xfrm flipH="false" flipV="false" rot="0">
                <a:off x="0" y="0"/>
                <a:ext cx="1795350" cy="524939"/>
              </a:xfrm>
              <a:custGeom>
                <a:avLst/>
                <a:gdLst/>
                <a:ahLst/>
                <a:cxnLst/>
                <a:rect r="r" b="b" t="t" l="l"/>
                <a:pathLst>
                  <a:path h="524939" w="1795350">
                    <a:moveTo>
                      <a:pt x="0" y="0"/>
                    </a:moveTo>
                    <a:lnTo>
                      <a:pt x="1795350" y="0"/>
                    </a:lnTo>
                    <a:lnTo>
                      <a:pt x="1795350" y="524939"/>
                    </a:lnTo>
                    <a:lnTo>
                      <a:pt x="0" y="524939"/>
                    </a:lnTo>
                    <a:close/>
                  </a:path>
                </a:pathLst>
              </a:custGeom>
              <a:blipFill>
                <a:blip r:embed="rId5">
                  <a:alphaModFix amt="0"/>
                </a:blip>
                <a:stretch>
                  <a:fillRect l="0" t="-29197" r="-18840" b="-29195"/>
                </a:stretch>
              </a:blipFill>
            </p:spPr>
          </p:sp>
          <p:sp>
            <p:nvSpPr>
              <p:cNvPr name="TextBox 51" id="51"/>
              <p:cNvSpPr txBox="true"/>
              <p:nvPr/>
            </p:nvSpPr>
            <p:spPr>
              <a:xfrm>
                <a:off x="0" y="-9525"/>
                <a:ext cx="1795350" cy="534459"/>
              </a:xfrm>
              <a:prstGeom prst="rect">
                <a:avLst/>
              </a:prstGeom>
            </p:spPr>
            <p:txBody>
              <a:bodyPr anchor="ctr" rtlCol="false" tIns="0" lIns="0" bIns="0" rIns="0"/>
              <a:lstStyle/>
              <a:p>
                <a:pPr algn="ctr">
                  <a:lnSpc>
                    <a:spcPts val="1889"/>
                  </a:lnSpc>
                </a:pPr>
                <a:r>
                  <a:rPr lang="en-US" b="true" sz="1575" spc="-99" u="sng">
                    <a:solidFill>
                      <a:srgbClr val="FFFFFF"/>
                    </a:solidFill>
                    <a:latin typeface="Arimo Bold"/>
                    <a:ea typeface="Arimo Bold"/>
                    <a:cs typeface="Arimo Bold"/>
                    <a:sym typeface="Arimo Bold"/>
                    <a:hlinkClick r:id="rId6" tooltip="https://kdm111.github.io/assets/videos/p12_unreachable.mp4"/>
                  </a:rPr>
                  <a:t>닿을 수 없는 위치</a:t>
                </a:r>
              </a:p>
            </p:txBody>
          </p:sp>
        </p:grpSp>
      </p:grpSp>
      <p:grpSp>
        <p:nvGrpSpPr>
          <p:cNvPr name="Group 52" id="52"/>
          <p:cNvGrpSpPr/>
          <p:nvPr/>
        </p:nvGrpSpPr>
        <p:grpSpPr>
          <a:xfrm rot="0">
            <a:off x="12475312" y="4230183"/>
            <a:ext cx="1619250" cy="476250"/>
            <a:chOff x="0" y="0"/>
            <a:chExt cx="2159000" cy="635000"/>
          </a:xfrm>
        </p:grpSpPr>
        <p:grpSp>
          <p:nvGrpSpPr>
            <p:cNvPr name="Group 53" id="53"/>
            <p:cNvGrpSpPr/>
            <p:nvPr/>
          </p:nvGrpSpPr>
          <p:grpSpPr>
            <a:xfrm rot="0">
              <a:off x="0" y="0"/>
              <a:ext cx="2159000" cy="635000"/>
              <a:chOff x="0" y="0"/>
              <a:chExt cx="2159000" cy="635000"/>
            </a:xfrm>
          </p:grpSpPr>
          <p:sp>
            <p:nvSpPr>
              <p:cNvPr name="Freeform 54" id="54"/>
              <p:cNvSpPr/>
              <p:nvPr/>
            </p:nvSpPr>
            <p:spPr>
              <a:xfrm flipH="false" flipV="false" rot="0">
                <a:off x="0" y="0"/>
                <a:ext cx="2159000" cy="635000"/>
              </a:xfrm>
              <a:custGeom>
                <a:avLst/>
                <a:gdLst/>
                <a:ahLst/>
                <a:cxnLst/>
                <a:rect r="r" b="b" t="t" l="l"/>
                <a:pathLst>
                  <a:path h="635000" w="2159000">
                    <a:moveTo>
                      <a:pt x="0" y="114300"/>
                    </a:moveTo>
                    <a:cubicBezTo>
                      <a:pt x="0" y="51181"/>
                      <a:pt x="51181" y="0"/>
                      <a:pt x="114300" y="0"/>
                    </a:cubicBezTo>
                    <a:lnTo>
                      <a:pt x="2044700" y="0"/>
                    </a:lnTo>
                    <a:cubicBezTo>
                      <a:pt x="2107819" y="0"/>
                      <a:pt x="2159000" y="51181"/>
                      <a:pt x="2159000" y="114300"/>
                    </a:cubicBezTo>
                    <a:lnTo>
                      <a:pt x="2159000" y="520700"/>
                    </a:lnTo>
                    <a:cubicBezTo>
                      <a:pt x="2159000" y="583819"/>
                      <a:pt x="2107819" y="635000"/>
                      <a:pt x="2044700" y="635000"/>
                    </a:cubicBezTo>
                    <a:lnTo>
                      <a:pt x="114300" y="635000"/>
                    </a:lnTo>
                    <a:cubicBezTo>
                      <a:pt x="51181" y="635000"/>
                      <a:pt x="0" y="583819"/>
                      <a:pt x="0" y="520700"/>
                    </a:cubicBezTo>
                    <a:close/>
                  </a:path>
                </a:pathLst>
              </a:custGeom>
              <a:solidFill>
                <a:srgbClr val="101010"/>
              </a:solidFill>
            </p:spPr>
          </p:sp>
        </p:grpSp>
        <p:grpSp>
          <p:nvGrpSpPr>
            <p:cNvPr name="Group 55" id="55"/>
            <p:cNvGrpSpPr/>
            <p:nvPr/>
          </p:nvGrpSpPr>
          <p:grpSpPr>
            <a:xfrm rot="0">
              <a:off x="181825" y="55033"/>
              <a:ext cx="1795350" cy="524934"/>
              <a:chOff x="0" y="0"/>
              <a:chExt cx="1795350" cy="524934"/>
            </a:xfrm>
          </p:grpSpPr>
          <p:sp>
            <p:nvSpPr>
              <p:cNvPr name="Freeform 56" id="56"/>
              <p:cNvSpPr/>
              <p:nvPr/>
            </p:nvSpPr>
            <p:spPr>
              <a:xfrm flipH="false" flipV="false" rot="0">
                <a:off x="0" y="0"/>
                <a:ext cx="1795350" cy="524939"/>
              </a:xfrm>
              <a:custGeom>
                <a:avLst/>
                <a:gdLst/>
                <a:ahLst/>
                <a:cxnLst/>
                <a:rect r="r" b="b" t="t" l="l"/>
                <a:pathLst>
                  <a:path h="524939" w="1795350">
                    <a:moveTo>
                      <a:pt x="0" y="0"/>
                    </a:moveTo>
                    <a:lnTo>
                      <a:pt x="1795350" y="0"/>
                    </a:lnTo>
                    <a:lnTo>
                      <a:pt x="1795350" y="524939"/>
                    </a:lnTo>
                    <a:lnTo>
                      <a:pt x="0" y="524939"/>
                    </a:lnTo>
                    <a:close/>
                  </a:path>
                </a:pathLst>
              </a:custGeom>
              <a:blipFill>
                <a:blip r:embed="rId5">
                  <a:alphaModFix amt="0"/>
                </a:blip>
                <a:stretch>
                  <a:fillRect l="0" t="-29197" r="-18840" b="-29195"/>
                </a:stretch>
              </a:blipFill>
            </p:spPr>
          </p:sp>
          <p:sp>
            <p:nvSpPr>
              <p:cNvPr name="TextBox 57" id="57"/>
              <p:cNvSpPr txBox="true"/>
              <p:nvPr/>
            </p:nvSpPr>
            <p:spPr>
              <a:xfrm>
                <a:off x="0" y="-9525"/>
                <a:ext cx="1795350" cy="534459"/>
              </a:xfrm>
              <a:prstGeom prst="rect">
                <a:avLst/>
              </a:prstGeom>
            </p:spPr>
            <p:txBody>
              <a:bodyPr anchor="ctr" rtlCol="false" tIns="0" lIns="0" bIns="0" rIns="0"/>
              <a:lstStyle/>
              <a:p>
                <a:pPr algn="ctr">
                  <a:lnSpc>
                    <a:spcPts val="1889"/>
                  </a:lnSpc>
                </a:pPr>
                <a:r>
                  <a:rPr lang="en-US" b="true" sz="1575" spc="-193" u="sng">
                    <a:solidFill>
                      <a:srgbClr val="FFFFFF"/>
                    </a:solidFill>
                    <a:latin typeface="Arimo Bold"/>
                    <a:ea typeface="Arimo Bold"/>
                    <a:cs typeface="Arimo Bold"/>
                    <a:sym typeface="Arimo Bold"/>
                    <a:hlinkClick r:id="rId7" tooltip="https://kdm111.github.io/assets/videos/p12_undefined_pose.mp4"/>
                  </a:rPr>
                  <a:t>등록되지 않은 자세</a:t>
                </a:r>
              </a:p>
            </p:txBody>
          </p:sp>
        </p:gr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grpSp>
        <p:nvGrpSpPr>
          <p:cNvPr name="Group 2" id="2"/>
          <p:cNvGrpSpPr/>
          <p:nvPr/>
        </p:nvGrpSpPr>
        <p:grpSpPr>
          <a:xfrm rot="0">
            <a:off x="762000" y="609600"/>
            <a:ext cx="6350003" cy="355601"/>
            <a:chOff x="0" y="0"/>
            <a:chExt cx="8466671" cy="474134"/>
          </a:xfrm>
        </p:grpSpPr>
        <p:sp>
          <p:nvSpPr>
            <p:cNvPr name="Freeform 3" id="3"/>
            <p:cNvSpPr/>
            <p:nvPr/>
          </p:nvSpPr>
          <p:spPr>
            <a:xfrm flipH="false" flipV="false" rot="0">
              <a:off x="0" y="0"/>
              <a:ext cx="8466666" cy="474139"/>
            </a:xfrm>
            <a:custGeom>
              <a:avLst/>
              <a:gdLst/>
              <a:ahLst/>
              <a:cxnLst/>
              <a:rect r="r" b="b" t="t" l="l"/>
              <a:pathLst>
                <a:path h="474139" w="8466666">
                  <a:moveTo>
                    <a:pt x="0" y="0"/>
                  </a:moveTo>
                  <a:lnTo>
                    <a:pt x="8466666" y="0"/>
                  </a:lnTo>
                  <a:lnTo>
                    <a:pt x="8466666" y="474139"/>
                  </a:lnTo>
                  <a:lnTo>
                    <a:pt x="0" y="474139"/>
                  </a:lnTo>
                  <a:close/>
                </a:path>
              </a:pathLst>
            </a:custGeom>
            <a:blipFill>
              <a:blip r:embed="rId3">
                <a:alphaModFix amt="0"/>
              </a:blip>
              <a:stretch>
                <a:fillRect l="0" t="-297944" r="0" b="-297942"/>
              </a:stretch>
            </a:blipFill>
          </p:spPr>
        </p:sp>
        <p:sp>
          <p:nvSpPr>
            <p:cNvPr name="TextBox 4" id="4"/>
            <p:cNvSpPr txBox="true"/>
            <p:nvPr/>
          </p:nvSpPr>
          <p:spPr>
            <a:xfrm>
              <a:off x="0" y="-19050"/>
              <a:ext cx="8466671" cy="493184"/>
            </a:xfrm>
            <a:prstGeom prst="rect">
              <a:avLst/>
            </a:prstGeom>
          </p:spPr>
          <p:txBody>
            <a:bodyPr anchor="ctr" rtlCol="false" tIns="0" lIns="0" bIns="0" rIns="0"/>
            <a:lstStyle/>
            <a:p>
              <a:pPr algn="l">
                <a:lnSpc>
                  <a:spcPts val="1800"/>
                </a:lnSpc>
              </a:pPr>
              <a:r>
                <a:rPr lang="en-US" sz="1500" b="true">
                  <a:solidFill>
                    <a:srgbClr val="66645F"/>
                  </a:solidFill>
                  <a:latin typeface="Arimo Bold"/>
                  <a:ea typeface="Arimo Bold"/>
                  <a:cs typeface="Arimo Bold"/>
                  <a:sym typeface="Arimo Bold"/>
                </a:rPr>
                <a:t>LARO-BOT</a:t>
              </a:r>
            </a:p>
          </p:txBody>
        </p:sp>
      </p:grpSp>
      <p:grpSp>
        <p:nvGrpSpPr>
          <p:cNvPr name="Group 5" id="5"/>
          <p:cNvGrpSpPr/>
          <p:nvPr/>
        </p:nvGrpSpPr>
        <p:grpSpPr>
          <a:xfrm rot="0">
            <a:off x="762000" y="948296"/>
            <a:ext cx="16256003" cy="856692"/>
            <a:chOff x="0" y="0"/>
            <a:chExt cx="21674671" cy="1142256"/>
          </a:xfrm>
        </p:grpSpPr>
        <p:sp>
          <p:nvSpPr>
            <p:cNvPr name="Freeform 6" id="6"/>
            <p:cNvSpPr/>
            <p:nvPr/>
          </p:nvSpPr>
          <p:spPr>
            <a:xfrm flipH="false" flipV="false" rot="0">
              <a:off x="0" y="0"/>
              <a:ext cx="21674666" cy="1142261"/>
            </a:xfrm>
            <a:custGeom>
              <a:avLst/>
              <a:gdLst/>
              <a:ahLst/>
              <a:cxnLst/>
              <a:rect r="r" b="b" t="t" l="l"/>
              <a:pathLst>
                <a:path h="1142261" w="21674666">
                  <a:moveTo>
                    <a:pt x="0" y="0"/>
                  </a:moveTo>
                  <a:lnTo>
                    <a:pt x="21674666" y="0"/>
                  </a:lnTo>
                  <a:lnTo>
                    <a:pt x="21674666" y="1142261"/>
                  </a:lnTo>
                  <a:lnTo>
                    <a:pt x="0" y="1142261"/>
                  </a:lnTo>
                  <a:close/>
                </a:path>
              </a:pathLst>
            </a:custGeom>
            <a:blipFill>
              <a:blip r:embed="rId3">
                <a:alphaModFix amt="0"/>
              </a:blip>
              <a:stretch>
                <a:fillRect l="0" t="-328966" r="0" b="-310500"/>
              </a:stretch>
            </a:blipFill>
          </p:spPr>
        </p:sp>
        <p:sp>
          <p:nvSpPr>
            <p:cNvPr name="TextBox 7" id="7"/>
            <p:cNvSpPr txBox="true"/>
            <p:nvPr/>
          </p:nvSpPr>
          <p:spPr>
            <a:xfrm>
              <a:off x="0" y="-19050"/>
              <a:ext cx="21674671" cy="1161306"/>
            </a:xfrm>
            <a:prstGeom prst="rect">
              <a:avLst/>
            </a:prstGeom>
          </p:spPr>
          <p:txBody>
            <a:bodyPr anchor="ctr" rtlCol="false" tIns="0" lIns="0" bIns="0" rIns="0"/>
            <a:lstStyle/>
            <a:p>
              <a:pPr algn="l">
                <a:lnSpc>
                  <a:spcPts val="5040"/>
                </a:lnSpc>
              </a:pPr>
              <a:r>
                <a:rPr lang="en-US" sz="4200" b="true">
                  <a:solidFill>
                    <a:srgbClr val="111111"/>
                  </a:solidFill>
                  <a:latin typeface="Arimo Bold"/>
                  <a:ea typeface="Arimo Bold"/>
                  <a:cs typeface="Arimo Bold"/>
                  <a:sym typeface="Arimo Bold"/>
                </a:rPr>
                <a:t>개발 과정에서 발견한 문제 개선</a:t>
              </a:r>
            </a:p>
          </p:txBody>
        </p:sp>
      </p:grpSp>
      <p:grpSp>
        <p:nvGrpSpPr>
          <p:cNvPr name="Group 8" id="8"/>
          <p:cNvGrpSpPr/>
          <p:nvPr/>
        </p:nvGrpSpPr>
        <p:grpSpPr>
          <a:xfrm rot="0">
            <a:off x="738188" y="2452688"/>
            <a:ext cx="5508622" cy="6677025"/>
            <a:chOff x="0" y="0"/>
            <a:chExt cx="7344829" cy="8902700"/>
          </a:xfrm>
        </p:grpSpPr>
        <p:sp>
          <p:nvSpPr>
            <p:cNvPr name="Freeform 9" id="9"/>
            <p:cNvSpPr/>
            <p:nvPr/>
          </p:nvSpPr>
          <p:spPr>
            <a:xfrm flipH="false" flipV="false" rot="0">
              <a:off x="0" y="0"/>
              <a:ext cx="7344918" cy="8902700"/>
            </a:xfrm>
            <a:custGeom>
              <a:avLst/>
              <a:gdLst/>
              <a:ahLst/>
              <a:cxnLst/>
              <a:rect r="r" b="b" t="t" l="l"/>
              <a:pathLst>
                <a:path h="8902700" w="7344918">
                  <a:moveTo>
                    <a:pt x="0" y="147574"/>
                  </a:moveTo>
                  <a:cubicBezTo>
                    <a:pt x="0" y="66040"/>
                    <a:pt x="66040" y="0"/>
                    <a:pt x="147574" y="0"/>
                  </a:cubicBezTo>
                  <a:lnTo>
                    <a:pt x="7197344" y="0"/>
                  </a:lnTo>
                  <a:cubicBezTo>
                    <a:pt x="7278877" y="0"/>
                    <a:pt x="7344918" y="66040"/>
                    <a:pt x="7344918" y="147574"/>
                  </a:cubicBezTo>
                  <a:lnTo>
                    <a:pt x="7344918" y="8755126"/>
                  </a:lnTo>
                  <a:cubicBezTo>
                    <a:pt x="7344918" y="8836660"/>
                    <a:pt x="7278877" y="8902700"/>
                    <a:pt x="7197344" y="8902700"/>
                  </a:cubicBezTo>
                  <a:lnTo>
                    <a:pt x="147574" y="8902700"/>
                  </a:lnTo>
                  <a:cubicBezTo>
                    <a:pt x="66040" y="8902700"/>
                    <a:pt x="0" y="8836660"/>
                    <a:pt x="0" y="8755126"/>
                  </a:cubicBezTo>
                  <a:close/>
                </a:path>
              </a:pathLst>
            </a:custGeom>
            <a:solidFill>
              <a:srgbClr val="FFFFFF"/>
            </a:solidFill>
            <a:ln w="19050" cap="sq">
              <a:solidFill>
                <a:srgbClr val="111111"/>
              </a:solidFill>
              <a:prstDash val="solid"/>
              <a:miter/>
            </a:ln>
          </p:spPr>
        </p:sp>
      </p:grpSp>
      <p:pic>
        <p:nvPicPr>
          <p:cNvPr name="Picture 10" id="10" descr="/Users/junsupark/Desktop/personal_project/portfolio_assets/pptx_media/troubleshooting_camera_tcp_real_pick.gif">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4103"/>
          <a:stretch>
            <a:fillRect/>
          </a:stretch>
        </p:blipFill>
        <p:spPr>
          <a:xfrm flipH="false" flipV="false" rot="0">
            <a:off x="990600" y="2705100"/>
            <a:ext cx="5003797" cy="2489197"/>
          </a:xfrm>
          <a:prstGeom prst="rect">
            <a:avLst/>
          </a:prstGeom>
        </p:spPr>
      </p:pic>
      <p:grpSp>
        <p:nvGrpSpPr>
          <p:cNvPr name="Group 11" id="11"/>
          <p:cNvGrpSpPr/>
          <p:nvPr/>
        </p:nvGrpSpPr>
        <p:grpSpPr>
          <a:xfrm rot="0">
            <a:off x="1041397" y="5410200"/>
            <a:ext cx="4698997" cy="360350"/>
            <a:chOff x="0" y="0"/>
            <a:chExt cx="6265329" cy="480467"/>
          </a:xfrm>
        </p:grpSpPr>
        <p:sp>
          <p:nvSpPr>
            <p:cNvPr name="Freeform 12" id="12"/>
            <p:cNvSpPr/>
            <p:nvPr/>
          </p:nvSpPr>
          <p:spPr>
            <a:xfrm flipH="false" flipV="false" rot="0">
              <a:off x="0" y="0"/>
              <a:ext cx="6265334" cy="480467"/>
            </a:xfrm>
            <a:custGeom>
              <a:avLst/>
              <a:gdLst/>
              <a:ahLst/>
              <a:cxnLst/>
              <a:rect r="r" b="b" t="t" l="l"/>
              <a:pathLst>
                <a:path h="480467" w="6265334">
                  <a:moveTo>
                    <a:pt x="0" y="0"/>
                  </a:moveTo>
                  <a:lnTo>
                    <a:pt x="6265334" y="0"/>
                  </a:lnTo>
                  <a:lnTo>
                    <a:pt x="6265334" y="480467"/>
                  </a:lnTo>
                  <a:lnTo>
                    <a:pt x="0" y="480467"/>
                  </a:lnTo>
                  <a:close/>
                </a:path>
              </a:pathLst>
            </a:custGeom>
            <a:blipFill>
              <a:blip r:embed="rId3">
                <a:alphaModFix amt="0"/>
              </a:blip>
              <a:stretch>
                <a:fillRect l="0" t="-206507" r="0" b="-201665"/>
              </a:stretch>
            </a:blipFill>
          </p:spPr>
        </p:sp>
        <p:sp>
          <p:nvSpPr>
            <p:cNvPr name="TextBox 13" id="13"/>
            <p:cNvSpPr txBox="true"/>
            <p:nvPr/>
          </p:nvSpPr>
          <p:spPr>
            <a:xfrm>
              <a:off x="0" y="-19050"/>
              <a:ext cx="6265329" cy="499517"/>
            </a:xfrm>
            <a:prstGeom prst="rect">
              <a:avLst/>
            </a:prstGeom>
          </p:spPr>
          <p:txBody>
            <a:bodyPr anchor="ctr" rtlCol="false" tIns="0" lIns="0" bIns="0" rIns="0"/>
            <a:lstStyle/>
            <a:p>
              <a:pPr algn="l">
                <a:lnSpc>
                  <a:spcPts val="2160"/>
                </a:lnSpc>
              </a:pPr>
              <a:r>
                <a:rPr lang="en-US" sz="1800" b="true">
                  <a:solidFill>
                    <a:srgbClr val="1B2CC1"/>
                  </a:solidFill>
                  <a:latin typeface="Arimo Bold"/>
                  <a:ea typeface="Arimo Bold"/>
                  <a:cs typeface="Arimo Bold"/>
                  <a:sym typeface="Arimo Bold"/>
                </a:rPr>
                <a:t>실물 </a:t>
              </a:r>
              <a:r>
                <a:rPr lang="en-US" sz="1800" b="true">
                  <a:solidFill>
                    <a:srgbClr val="1B2CC1"/>
                  </a:solidFill>
                  <a:latin typeface="Arimo Bold"/>
                  <a:ea typeface="Arimo Bold"/>
                  <a:cs typeface="Arimo Bold"/>
                  <a:sym typeface="Arimo Bold"/>
                </a:rPr>
                <a:t>좌표 오차</a:t>
              </a:r>
            </a:p>
          </p:txBody>
        </p:sp>
      </p:grpSp>
      <p:grpSp>
        <p:nvGrpSpPr>
          <p:cNvPr name="Group 14" id="14"/>
          <p:cNvGrpSpPr/>
          <p:nvPr/>
        </p:nvGrpSpPr>
        <p:grpSpPr>
          <a:xfrm rot="0">
            <a:off x="1041397" y="5816603"/>
            <a:ext cx="4826003" cy="486817"/>
            <a:chOff x="0" y="0"/>
            <a:chExt cx="6434671" cy="649089"/>
          </a:xfrm>
        </p:grpSpPr>
        <p:sp>
          <p:nvSpPr>
            <p:cNvPr name="Freeform 15" id="15"/>
            <p:cNvSpPr/>
            <p:nvPr/>
          </p:nvSpPr>
          <p:spPr>
            <a:xfrm flipH="false" flipV="false" rot="0">
              <a:off x="0" y="0"/>
              <a:ext cx="6434666" cy="649084"/>
            </a:xfrm>
            <a:custGeom>
              <a:avLst/>
              <a:gdLst/>
              <a:ahLst/>
              <a:cxnLst/>
              <a:rect r="r" b="b" t="t" l="l"/>
              <a:pathLst>
                <a:path h="649084" w="6434666">
                  <a:moveTo>
                    <a:pt x="0" y="0"/>
                  </a:moveTo>
                  <a:lnTo>
                    <a:pt x="6434666" y="0"/>
                  </a:lnTo>
                  <a:lnTo>
                    <a:pt x="6434666" y="649084"/>
                  </a:lnTo>
                  <a:lnTo>
                    <a:pt x="0" y="649084"/>
                  </a:lnTo>
                  <a:close/>
                </a:path>
              </a:pathLst>
            </a:custGeom>
            <a:blipFill>
              <a:blip r:embed="rId3">
                <a:alphaModFix amt="0"/>
              </a:blip>
              <a:stretch>
                <a:fillRect l="0" t="-143596" r="0" b="-142731"/>
              </a:stretch>
            </a:blipFill>
          </p:spPr>
        </p:sp>
        <p:sp>
          <p:nvSpPr>
            <p:cNvPr name="TextBox 16" id="16"/>
            <p:cNvSpPr txBox="true"/>
            <p:nvPr/>
          </p:nvSpPr>
          <p:spPr>
            <a:xfrm>
              <a:off x="0" y="-9525"/>
              <a:ext cx="6434671" cy="658614"/>
            </a:xfrm>
            <a:prstGeom prst="rect">
              <a:avLst/>
            </a:prstGeom>
          </p:spPr>
          <p:txBody>
            <a:bodyPr anchor="ctr" rtlCol="false" tIns="0" lIns="0" bIns="0" rIns="0"/>
            <a:lstStyle/>
            <a:p>
              <a:pPr algn="l">
                <a:lnSpc>
                  <a:spcPts val="2879"/>
                </a:lnSpc>
              </a:pPr>
              <a:r>
                <a:rPr lang="en-US" sz="2400" b="true">
                  <a:solidFill>
                    <a:srgbClr val="111111"/>
                  </a:solidFill>
                  <a:latin typeface="Arimo Bold"/>
                  <a:ea typeface="Arimo Bold"/>
                  <a:cs typeface="Arimo Bold"/>
                  <a:sym typeface="Arimo Bold"/>
                </a:rPr>
                <a:t>실측으로 좌표 오차 원인 분리</a:t>
              </a:r>
            </a:p>
          </p:txBody>
        </p:sp>
      </p:grpSp>
      <p:grpSp>
        <p:nvGrpSpPr>
          <p:cNvPr name="Group 17" id="17"/>
          <p:cNvGrpSpPr/>
          <p:nvPr/>
        </p:nvGrpSpPr>
        <p:grpSpPr>
          <a:xfrm rot="0">
            <a:off x="1041397" y="6413497"/>
            <a:ext cx="4762500" cy="279400"/>
            <a:chOff x="0" y="0"/>
            <a:chExt cx="6350000" cy="372534"/>
          </a:xfrm>
        </p:grpSpPr>
        <p:sp>
          <p:nvSpPr>
            <p:cNvPr name="Freeform 18" id="18"/>
            <p:cNvSpPr/>
            <p:nvPr/>
          </p:nvSpPr>
          <p:spPr>
            <a:xfrm flipH="false" flipV="false" rot="0">
              <a:off x="0" y="0"/>
              <a:ext cx="6350000" cy="372539"/>
            </a:xfrm>
            <a:custGeom>
              <a:avLst/>
              <a:gdLst/>
              <a:ahLst/>
              <a:cxnLst/>
              <a:rect r="r" b="b" t="t" l="l"/>
              <a:pathLst>
                <a:path h="372539" w="6350000">
                  <a:moveTo>
                    <a:pt x="0" y="0"/>
                  </a:moveTo>
                  <a:lnTo>
                    <a:pt x="6350000" y="0"/>
                  </a:lnTo>
                  <a:lnTo>
                    <a:pt x="6350000" y="372539"/>
                  </a:lnTo>
                  <a:lnTo>
                    <a:pt x="0" y="372539"/>
                  </a:lnTo>
                  <a:close/>
                </a:path>
              </a:pathLst>
            </a:custGeom>
            <a:blipFill>
              <a:blip r:embed="rId3">
                <a:alphaModFix amt="0"/>
              </a:blip>
              <a:stretch>
                <a:fillRect l="0" t="-282127" r="0" b="-282125"/>
              </a:stretch>
            </a:blipFill>
          </p:spPr>
        </p:sp>
        <p:sp>
          <p:nvSpPr>
            <p:cNvPr name="TextBox 19" id="19"/>
            <p:cNvSpPr txBox="true"/>
            <p:nvPr/>
          </p:nvSpPr>
          <p:spPr>
            <a:xfrm>
              <a:off x="0" y="-19050"/>
              <a:ext cx="6350000" cy="391584"/>
            </a:xfrm>
            <a:prstGeom prst="rect">
              <a:avLst/>
            </a:prstGeom>
          </p:spPr>
          <p:txBody>
            <a:bodyPr anchor="ctr" rtlCol="false" tIns="0" lIns="0" bIns="0" rIns="0"/>
            <a:lstStyle/>
            <a:p>
              <a:pPr algn="l">
                <a:lnSpc>
                  <a:spcPts val="1620"/>
                </a:lnSpc>
              </a:pPr>
              <a:r>
                <a:rPr lang="en-US" sz="1350">
                  <a:solidFill>
                    <a:srgbClr val="66645F"/>
                  </a:solidFill>
                  <a:latin typeface="Arimo"/>
                  <a:ea typeface="Arimo"/>
                  <a:cs typeface="Arimo"/>
                  <a:sym typeface="Arimo"/>
                </a:rPr>
                <a:t>시뮬레이션 좌표 설정을 실물에 적용하자</a:t>
              </a:r>
            </a:p>
          </p:txBody>
        </p:sp>
      </p:grpSp>
      <p:grpSp>
        <p:nvGrpSpPr>
          <p:cNvPr name="Group 20" id="20"/>
          <p:cNvGrpSpPr/>
          <p:nvPr/>
        </p:nvGrpSpPr>
        <p:grpSpPr>
          <a:xfrm rot="0">
            <a:off x="1041397" y="6731003"/>
            <a:ext cx="4762500" cy="279400"/>
            <a:chOff x="0" y="0"/>
            <a:chExt cx="6350000" cy="372534"/>
          </a:xfrm>
        </p:grpSpPr>
        <p:sp>
          <p:nvSpPr>
            <p:cNvPr name="Freeform 21" id="21"/>
            <p:cNvSpPr/>
            <p:nvPr/>
          </p:nvSpPr>
          <p:spPr>
            <a:xfrm flipH="false" flipV="false" rot="0">
              <a:off x="0" y="0"/>
              <a:ext cx="6350000" cy="372539"/>
            </a:xfrm>
            <a:custGeom>
              <a:avLst/>
              <a:gdLst/>
              <a:ahLst/>
              <a:cxnLst/>
              <a:rect r="r" b="b" t="t" l="l"/>
              <a:pathLst>
                <a:path h="372539" w="6350000">
                  <a:moveTo>
                    <a:pt x="0" y="0"/>
                  </a:moveTo>
                  <a:lnTo>
                    <a:pt x="6350000" y="0"/>
                  </a:lnTo>
                  <a:lnTo>
                    <a:pt x="6350000" y="372539"/>
                  </a:lnTo>
                  <a:lnTo>
                    <a:pt x="0" y="372539"/>
                  </a:lnTo>
                  <a:close/>
                </a:path>
              </a:pathLst>
            </a:custGeom>
            <a:blipFill>
              <a:blip r:embed="rId3">
                <a:alphaModFix amt="0"/>
              </a:blip>
              <a:stretch>
                <a:fillRect l="0" t="-282127" r="0" b="-282125"/>
              </a:stretch>
            </a:blipFill>
          </p:spPr>
        </p:sp>
        <p:sp>
          <p:nvSpPr>
            <p:cNvPr name="TextBox 22" id="22"/>
            <p:cNvSpPr txBox="true"/>
            <p:nvPr/>
          </p:nvSpPr>
          <p:spPr>
            <a:xfrm>
              <a:off x="0" y="-19050"/>
              <a:ext cx="6350000" cy="391584"/>
            </a:xfrm>
            <a:prstGeom prst="rect">
              <a:avLst/>
            </a:prstGeom>
          </p:spPr>
          <p:txBody>
            <a:bodyPr anchor="ctr" rtlCol="false" tIns="0" lIns="0" bIns="0" rIns="0"/>
            <a:lstStyle/>
            <a:p>
              <a:pPr algn="l">
                <a:lnSpc>
                  <a:spcPts val="1620"/>
                </a:lnSpc>
              </a:pPr>
              <a:r>
                <a:rPr lang="en-US" sz="1350">
                  <a:solidFill>
                    <a:srgbClr val="66645F"/>
                  </a:solidFill>
                  <a:latin typeface="Arimo"/>
                  <a:ea typeface="Arimo"/>
                  <a:cs typeface="Arimo"/>
                  <a:sym typeface="Arimo"/>
                </a:rPr>
                <a:t>추정 좌표와 실제 위치에 24~51mm 차이 발생</a:t>
              </a:r>
            </a:p>
          </p:txBody>
        </p:sp>
      </p:grpSp>
      <p:sp>
        <p:nvSpPr>
          <p:cNvPr name="AutoShape 23" id="23"/>
          <p:cNvSpPr/>
          <p:nvPr/>
        </p:nvSpPr>
        <p:spPr>
          <a:xfrm rot="10920">
            <a:off x="1033767" y="7234238"/>
            <a:ext cx="4790465" cy="0"/>
          </a:xfrm>
          <a:prstGeom prst="line">
            <a:avLst/>
          </a:prstGeom>
          <a:ln cap="rnd" w="9525">
            <a:solidFill>
              <a:srgbClr val="DDDDDD"/>
            </a:solidFill>
            <a:prstDash val="solid"/>
            <a:headEnd type="none" len="sm" w="sm"/>
            <a:tailEnd type="none" len="sm" w="sm"/>
          </a:ln>
        </p:spPr>
      </p:sp>
      <p:grpSp>
        <p:nvGrpSpPr>
          <p:cNvPr name="Group 24" id="24"/>
          <p:cNvGrpSpPr/>
          <p:nvPr/>
        </p:nvGrpSpPr>
        <p:grpSpPr>
          <a:xfrm rot="0">
            <a:off x="1041397" y="7416803"/>
            <a:ext cx="571500" cy="317497"/>
            <a:chOff x="0" y="0"/>
            <a:chExt cx="762000" cy="423329"/>
          </a:xfrm>
        </p:grpSpPr>
        <p:sp>
          <p:nvSpPr>
            <p:cNvPr name="Freeform 25" id="25"/>
            <p:cNvSpPr/>
            <p:nvPr/>
          </p:nvSpPr>
          <p:spPr>
            <a:xfrm flipH="false" flipV="false" rot="0">
              <a:off x="0" y="0"/>
              <a:ext cx="762000" cy="423334"/>
            </a:xfrm>
            <a:custGeom>
              <a:avLst/>
              <a:gdLst/>
              <a:ahLst/>
              <a:cxnLst/>
              <a:rect r="r" b="b" t="t" l="l"/>
              <a:pathLst>
                <a:path h="423334" w="762000">
                  <a:moveTo>
                    <a:pt x="0" y="0"/>
                  </a:moveTo>
                  <a:lnTo>
                    <a:pt x="762000" y="0"/>
                  </a:lnTo>
                  <a:lnTo>
                    <a:pt x="762000" y="423334"/>
                  </a:lnTo>
                  <a:lnTo>
                    <a:pt x="0" y="423334"/>
                  </a:lnTo>
                  <a:close/>
                </a:path>
              </a:pathLst>
            </a:custGeom>
            <a:blipFill>
              <a:blip r:embed="rId3">
                <a:alphaModFix amt="0"/>
              </a:blip>
              <a:stretch>
                <a:fillRect l="-21279" t="0" r="-21279" b="1"/>
              </a:stretch>
            </a:blipFill>
          </p:spPr>
        </p:sp>
        <p:sp>
          <p:nvSpPr>
            <p:cNvPr name="TextBox 26" id="26"/>
            <p:cNvSpPr txBox="true"/>
            <p:nvPr/>
          </p:nvSpPr>
          <p:spPr>
            <a:xfrm>
              <a:off x="0" y="-19050"/>
              <a:ext cx="762000" cy="442379"/>
            </a:xfrm>
            <a:prstGeom prst="rect">
              <a:avLst/>
            </a:prstGeom>
          </p:spPr>
          <p:txBody>
            <a:bodyPr anchor="ctr" rtlCol="false" tIns="0" lIns="0" bIns="0" rIns="0"/>
            <a:lstStyle/>
            <a:p>
              <a:pPr algn="l">
                <a:lnSpc>
                  <a:spcPts val="1620"/>
                </a:lnSpc>
              </a:pPr>
              <a:r>
                <a:rPr lang="en-US" sz="1350" b="true">
                  <a:solidFill>
                    <a:srgbClr val="111111"/>
                  </a:solidFill>
                  <a:latin typeface="Arimo Bold"/>
                  <a:ea typeface="Arimo Bold"/>
                  <a:cs typeface="Arimo Bold"/>
                  <a:sym typeface="Arimo Bold"/>
                </a:rPr>
                <a:t>변경</a:t>
              </a:r>
            </a:p>
          </p:txBody>
        </p:sp>
      </p:grpSp>
      <p:grpSp>
        <p:nvGrpSpPr>
          <p:cNvPr name="Group 27" id="27"/>
          <p:cNvGrpSpPr/>
          <p:nvPr/>
        </p:nvGrpSpPr>
        <p:grpSpPr>
          <a:xfrm rot="0">
            <a:off x="1714500" y="7416803"/>
            <a:ext cx="4127497" cy="317500"/>
            <a:chOff x="0" y="0"/>
            <a:chExt cx="5503329" cy="423334"/>
          </a:xfrm>
        </p:grpSpPr>
        <p:sp>
          <p:nvSpPr>
            <p:cNvPr name="Freeform 28" id="28"/>
            <p:cNvSpPr/>
            <p:nvPr/>
          </p:nvSpPr>
          <p:spPr>
            <a:xfrm flipH="false" flipV="false" rot="0">
              <a:off x="0" y="0"/>
              <a:ext cx="5503334" cy="423339"/>
            </a:xfrm>
            <a:custGeom>
              <a:avLst/>
              <a:gdLst/>
              <a:ahLst/>
              <a:cxnLst/>
              <a:rect r="r" b="b" t="t" l="l"/>
              <a:pathLst>
                <a:path h="423339" w="5503334">
                  <a:moveTo>
                    <a:pt x="0" y="0"/>
                  </a:moveTo>
                  <a:lnTo>
                    <a:pt x="5503334" y="0"/>
                  </a:lnTo>
                  <a:lnTo>
                    <a:pt x="5503334" y="423339"/>
                  </a:lnTo>
                  <a:lnTo>
                    <a:pt x="0" y="423339"/>
                  </a:lnTo>
                  <a:close/>
                </a:path>
              </a:pathLst>
            </a:custGeom>
            <a:blipFill>
              <a:blip r:embed="rId3">
                <a:alphaModFix amt="0"/>
              </a:blip>
              <a:stretch>
                <a:fillRect l="0" t="-203303" r="0" b="-203300"/>
              </a:stretch>
            </a:blipFill>
          </p:spPr>
        </p:sp>
        <p:sp>
          <p:nvSpPr>
            <p:cNvPr name="TextBox 29" id="29"/>
            <p:cNvSpPr txBox="true"/>
            <p:nvPr/>
          </p:nvSpPr>
          <p:spPr>
            <a:xfrm>
              <a:off x="0" y="-19050"/>
              <a:ext cx="5503329" cy="442384"/>
            </a:xfrm>
            <a:prstGeom prst="rect">
              <a:avLst/>
            </a:prstGeom>
          </p:spPr>
          <p:txBody>
            <a:bodyPr anchor="ctr" rtlCol="false" tIns="0" lIns="0" bIns="0" rIns="0"/>
            <a:lstStyle/>
            <a:p>
              <a:pPr algn="l">
                <a:lnSpc>
                  <a:spcPts val="1584"/>
                </a:lnSpc>
              </a:pPr>
              <a:r>
                <a:rPr lang="en-US" sz="1320">
                  <a:solidFill>
                    <a:srgbClr val="111111"/>
                  </a:solidFill>
                  <a:latin typeface="Arimo"/>
                  <a:ea typeface="Arimo"/>
                  <a:cs typeface="Arimo"/>
                  <a:sym typeface="Arimo"/>
                </a:rPr>
                <a:t>팔의 도달 위치와 카메라 좌표를 분리 측정</a:t>
              </a:r>
            </a:p>
          </p:txBody>
        </p:sp>
      </p:grpSp>
      <p:grpSp>
        <p:nvGrpSpPr>
          <p:cNvPr name="Group 30" id="30"/>
          <p:cNvGrpSpPr/>
          <p:nvPr/>
        </p:nvGrpSpPr>
        <p:grpSpPr>
          <a:xfrm rot="0">
            <a:off x="1041397" y="7899397"/>
            <a:ext cx="571500" cy="317497"/>
            <a:chOff x="0" y="0"/>
            <a:chExt cx="762000" cy="423329"/>
          </a:xfrm>
        </p:grpSpPr>
        <p:sp>
          <p:nvSpPr>
            <p:cNvPr name="Freeform 31" id="31"/>
            <p:cNvSpPr/>
            <p:nvPr/>
          </p:nvSpPr>
          <p:spPr>
            <a:xfrm flipH="false" flipV="false" rot="0">
              <a:off x="0" y="0"/>
              <a:ext cx="762000" cy="423334"/>
            </a:xfrm>
            <a:custGeom>
              <a:avLst/>
              <a:gdLst/>
              <a:ahLst/>
              <a:cxnLst/>
              <a:rect r="r" b="b" t="t" l="l"/>
              <a:pathLst>
                <a:path h="423334" w="762000">
                  <a:moveTo>
                    <a:pt x="0" y="0"/>
                  </a:moveTo>
                  <a:lnTo>
                    <a:pt x="762000" y="0"/>
                  </a:lnTo>
                  <a:lnTo>
                    <a:pt x="762000" y="423334"/>
                  </a:lnTo>
                  <a:lnTo>
                    <a:pt x="0" y="423334"/>
                  </a:lnTo>
                  <a:close/>
                </a:path>
              </a:pathLst>
            </a:custGeom>
            <a:blipFill>
              <a:blip r:embed="rId3">
                <a:alphaModFix amt="0"/>
              </a:blip>
              <a:stretch>
                <a:fillRect l="-21279" t="0" r="-21279" b="1"/>
              </a:stretch>
            </a:blipFill>
          </p:spPr>
        </p:sp>
        <p:sp>
          <p:nvSpPr>
            <p:cNvPr name="TextBox 32" id="32"/>
            <p:cNvSpPr txBox="true"/>
            <p:nvPr/>
          </p:nvSpPr>
          <p:spPr>
            <a:xfrm>
              <a:off x="0" y="-19050"/>
              <a:ext cx="762000" cy="442379"/>
            </a:xfrm>
            <a:prstGeom prst="rect">
              <a:avLst/>
            </a:prstGeom>
          </p:spPr>
          <p:txBody>
            <a:bodyPr anchor="ctr" rtlCol="false" tIns="0" lIns="0" bIns="0" rIns="0"/>
            <a:lstStyle/>
            <a:p>
              <a:pPr algn="l">
                <a:lnSpc>
                  <a:spcPts val="1620"/>
                </a:lnSpc>
              </a:pPr>
              <a:r>
                <a:rPr lang="en-US" sz="1350" b="true">
                  <a:solidFill>
                    <a:srgbClr val="111111"/>
                  </a:solidFill>
                  <a:latin typeface="Arimo Bold"/>
                  <a:ea typeface="Arimo Bold"/>
                  <a:cs typeface="Arimo Bold"/>
                  <a:sym typeface="Arimo Bold"/>
                </a:rPr>
                <a:t>결과</a:t>
              </a:r>
            </a:p>
          </p:txBody>
        </p:sp>
      </p:grpSp>
      <p:grpSp>
        <p:nvGrpSpPr>
          <p:cNvPr name="Group 33" id="33"/>
          <p:cNvGrpSpPr/>
          <p:nvPr/>
        </p:nvGrpSpPr>
        <p:grpSpPr>
          <a:xfrm rot="0">
            <a:off x="1714500" y="7899397"/>
            <a:ext cx="4127497" cy="317500"/>
            <a:chOff x="0" y="0"/>
            <a:chExt cx="5503329" cy="423334"/>
          </a:xfrm>
        </p:grpSpPr>
        <p:sp>
          <p:nvSpPr>
            <p:cNvPr name="Freeform 34" id="34"/>
            <p:cNvSpPr/>
            <p:nvPr/>
          </p:nvSpPr>
          <p:spPr>
            <a:xfrm flipH="false" flipV="false" rot="0">
              <a:off x="0" y="0"/>
              <a:ext cx="5503334" cy="423339"/>
            </a:xfrm>
            <a:custGeom>
              <a:avLst/>
              <a:gdLst/>
              <a:ahLst/>
              <a:cxnLst/>
              <a:rect r="r" b="b" t="t" l="l"/>
              <a:pathLst>
                <a:path h="423339" w="5503334">
                  <a:moveTo>
                    <a:pt x="0" y="0"/>
                  </a:moveTo>
                  <a:lnTo>
                    <a:pt x="5503334" y="0"/>
                  </a:lnTo>
                  <a:lnTo>
                    <a:pt x="5503334" y="423339"/>
                  </a:lnTo>
                  <a:lnTo>
                    <a:pt x="0" y="423339"/>
                  </a:lnTo>
                  <a:close/>
                </a:path>
              </a:pathLst>
            </a:custGeom>
            <a:blipFill>
              <a:blip r:embed="rId3">
                <a:alphaModFix amt="0"/>
              </a:blip>
              <a:stretch>
                <a:fillRect l="0" t="-203303" r="0" b="-203300"/>
              </a:stretch>
            </a:blipFill>
          </p:spPr>
        </p:sp>
        <p:sp>
          <p:nvSpPr>
            <p:cNvPr name="TextBox 35" id="35"/>
            <p:cNvSpPr txBox="true"/>
            <p:nvPr/>
          </p:nvSpPr>
          <p:spPr>
            <a:xfrm>
              <a:off x="0" y="-19050"/>
              <a:ext cx="5503329" cy="442384"/>
            </a:xfrm>
            <a:prstGeom prst="rect">
              <a:avLst/>
            </a:prstGeom>
          </p:spPr>
          <p:txBody>
            <a:bodyPr anchor="ctr" rtlCol="false" tIns="0" lIns="0" bIns="0" rIns="0"/>
            <a:lstStyle/>
            <a:p>
              <a:pPr algn="l">
                <a:lnSpc>
                  <a:spcPts val="1584"/>
                </a:lnSpc>
              </a:pPr>
              <a:r>
                <a:rPr lang="en-US" sz="1320">
                  <a:solidFill>
                    <a:srgbClr val="111111"/>
                  </a:solidFill>
                  <a:latin typeface="Arimo"/>
                  <a:ea typeface="Arimo"/>
                  <a:cs typeface="Arimo"/>
                  <a:sym typeface="Arimo"/>
                </a:rPr>
                <a:t>팔 도달 오차 1~6mm로 확인, 카메라 오차와 구분</a:t>
              </a:r>
            </a:p>
          </p:txBody>
        </p:sp>
      </p:grpSp>
      <p:grpSp>
        <p:nvGrpSpPr>
          <p:cNvPr name="Group 36" id="36"/>
          <p:cNvGrpSpPr/>
          <p:nvPr/>
        </p:nvGrpSpPr>
        <p:grpSpPr>
          <a:xfrm rot="0">
            <a:off x="6389684" y="2452688"/>
            <a:ext cx="5508622" cy="6677025"/>
            <a:chOff x="0" y="0"/>
            <a:chExt cx="7344829" cy="8902700"/>
          </a:xfrm>
        </p:grpSpPr>
        <p:sp>
          <p:nvSpPr>
            <p:cNvPr name="Freeform 37" id="37"/>
            <p:cNvSpPr/>
            <p:nvPr/>
          </p:nvSpPr>
          <p:spPr>
            <a:xfrm flipH="false" flipV="false" rot="0">
              <a:off x="0" y="0"/>
              <a:ext cx="7344918" cy="8902700"/>
            </a:xfrm>
            <a:custGeom>
              <a:avLst/>
              <a:gdLst/>
              <a:ahLst/>
              <a:cxnLst/>
              <a:rect r="r" b="b" t="t" l="l"/>
              <a:pathLst>
                <a:path h="8902700" w="7344918">
                  <a:moveTo>
                    <a:pt x="0" y="147574"/>
                  </a:moveTo>
                  <a:cubicBezTo>
                    <a:pt x="0" y="66040"/>
                    <a:pt x="66040" y="0"/>
                    <a:pt x="147574" y="0"/>
                  </a:cubicBezTo>
                  <a:lnTo>
                    <a:pt x="7197344" y="0"/>
                  </a:lnTo>
                  <a:cubicBezTo>
                    <a:pt x="7278877" y="0"/>
                    <a:pt x="7344918" y="66040"/>
                    <a:pt x="7344918" y="147574"/>
                  </a:cubicBezTo>
                  <a:lnTo>
                    <a:pt x="7344918" y="8755126"/>
                  </a:lnTo>
                  <a:cubicBezTo>
                    <a:pt x="7344918" y="8836660"/>
                    <a:pt x="7278877" y="8902700"/>
                    <a:pt x="7197344" y="8902700"/>
                  </a:cubicBezTo>
                  <a:lnTo>
                    <a:pt x="147574" y="8902700"/>
                  </a:lnTo>
                  <a:cubicBezTo>
                    <a:pt x="66040" y="8902700"/>
                    <a:pt x="0" y="8836660"/>
                    <a:pt x="0" y="8755126"/>
                  </a:cubicBezTo>
                  <a:close/>
                </a:path>
              </a:pathLst>
            </a:custGeom>
            <a:solidFill>
              <a:srgbClr val="FFFFFF"/>
            </a:solidFill>
            <a:ln w="19050" cap="sq">
              <a:solidFill>
                <a:srgbClr val="111111"/>
              </a:solidFill>
              <a:prstDash val="solid"/>
              <a:miter/>
            </a:ln>
          </p:spPr>
        </p:sp>
      </p:grpSp>
      <p:pic>
        <p:nvPicPr>
          <p:cNvPr name="Picture 38" id="38" descr="/Users/junsupark/Desktop/personal_project/portfolio_assets/pptx_media/troubleshooting_gripper_position_judgement_sim.gif">
            <a:hlinkClick action="ppaction://media"/>
          </p:cNvPr>
          <p:cNvPicPr>
            <a:picLocks noChangeAspect="true"/>
          </p:cNvPicPr>
          <p:nvPr>
            <a:videoFile r:link="rId8"/>
            <p:extLst>
              <p:ext uri="{DAA4B4D4-6D71-4841-9C94-3DE7FCFB9230}">
                <p14:media xmlns:p14="http://schemas.microsoft.com/office/powerpoint/2010/main" r:embed="rId9"/>
              </p:ext>
            </p:extLst>
          </p:nvPr>
        </p:nvPicPr>
        <p:blipFill>
          <a:blip r:embed="rId7"/>
          <a:srcRect l="0" t="0" r="0" b="11562"/>
          <a:stretch>
            <a:fillRect/>
          </a:stretch>
        </p:blipFill>
        <p:spPr>
          <a:xfrm flipH="false" flipV="false" rot="0">
            <a:off x="6642097" y="2705100"/>
            <a:ext cx="5003797" cy="2489197"/>
          </a:xfrm>
          <a:prstGeom prst="rect">
            <a:avLst/>
          </a:prstGeom>
        </p:spPr>
      </p:pic>
      <p:grpSp>
        <p:nvGrpSpPr>
          <p:cNvPr name="Group 39" id="39"/>
          <p:cNvGrpSpPr/>
          <p:nvPr/>
        </p:nvGrpSpPr>
        <p:grpSpPr>
          <a:xfrm rot="0">
            <a:off x="6692903" y="5410200"/>
            <a:ext cx="4698997" cy="360350"/>
            <a:chOff x="0" y="0"/>
            <a:chExt cx="6265329" cy="480467"/>
          </a:xfrm>
        </p:grpSpPr>
        <p:sp>
          <p:nvSpPr>
            <p:cNvPr name="Freeform 40" id="40"/>
            <p:cNvSpPr/>
            <p:nvPr/>
          </p:nvSpPr>
          <p:spPr>
            <a:xfrm flipH="false" flipV="false" rot="0">
              <a:off x="0" y="0"/>
              <a:ext cx="6265334" cy="480467"/>
            </a:xfrm>
            <a:custGeom>
              <a:avLst/>
              <a:gdLst/>
              <a:ahLst/>
              <a:cxnLst/>
              <a:rect r="r" b="b" t="t" l="l"/>
              <a:pathLst>
                <a:path h="480467" w="6265334">
                  <a:moveTo>
                    <a:pt x="0" y="0"/>
                  </a:moveTo>
                  <a:lnTo>
                    <a:pt x="6265334" y="0"/>
                  </a:lnTo>
                  <a:lnTo>
                    <a:pt x="6265334" y="480467"/>
                  </a:lnTo>
                  <a:lnTo>
                    <a:pt x="0" y="480467"/>
                  </a:lnTo>
                  <a:close/>
                </a:path>
              </a:pathLst>
            </a:custGeom>
            <a:blipFill>
              <a:blip r:embed="rId3">
                <a:alphaModFix amt="0"/>
              </a:blip>
              <a:stretch>
                <a:fillRect l="0" t="-206507" r="0" b="-201665"/>
              </a:stretch>
            </a:blipFill>
          </p:spPr>
        </p:sp>
        <p:sp>
          <p:nvSpPr>
            <p:cNvPr name="TextBox 41" id="41"/>
            <p:cNvSpPr txBox="true"/>
            <p:nvPr/>
          </p:nvSpPr>
          <p:spPr>
            <a:xfrm>
              <a:off x="0" y="-19050"/>
              <a:ext cx="6265329" cy="499517"/>
            </a:xfrm>
            <a:prstGeom prst="rect">
              <a:avLst/>
            </a:prstGeom>
          </p:spPr>
          <p:txBody>
            <a:bodyPr anchor="ctr" rtlCol="false" tIns="0" lIns="0" bIns="0" rIns="0"/>
            <a:lstStyle/>
            <a:p>
              <a:pPr algn="l">
                <a:lnSpc>
                  <a:spcPts val="2160"/>
                </a:lnSpc>
              </a:pPr>
              <a:r>
                <a:rPr lang="en-US" sz="1800" b="true">
                  <a:solidFill>
                    <a:srgbClr val="1B2CC1"/>
                  </a:solidFill>
                  <a:latin typeface="Arimo Bold"/>
                  <a:ea typeface="Arimo Bold"/>
                  <a:cs typeface="Arimo Bold"/>
                  <a:sym typeface="Arimo Bold"/>
                </a:rPr>
                <a:t>성공 오판</a:t>
              </a:r>
            </a:p>
          </p:txBody>
        </p:sp>
      </p:grpSp>
      <p:grpSp>
        <p:nvGrpSpPr>
          <p:cNvPr name="Group 42" id="42"/>
          <p:cNvGrpSpPr/>
          <p:nvPr/>
        </p:nvGrpSpPr>
        <p:grpSpPr>
          <a:xfrm rot="0">
            <a:off x="6692903" y="5816603"/>
            <a:ext cx="4826003" cy="486817"/>
            <a:chOff x="0" y="0"/>
            <a:chExt cx="6434671" cy="649089"/>
          </a:xfrm>
        </p:grpSpPr>
        <p:sp>
          <p:nvSpPr>
            <p:cNvPr name="Freeform 43" id="43"/>
            <p:cNvSpPr/>
            <p:nvPr/>
          </p:nvSpPr>
          <p:spPr>
            <a:xfrm flipH="false" flipV="false" rot="0">
              <a:off x="0" y="0"/>
              <a:ext cx="6434666" cy="649084"/>
            </a:xfrm>
            <a:custGeom>
              <a:avLst/>
              <a:gdLst/>
              <a:ahLst/>
              <a:cxnLst/>
              <a:rect r="r" b="b" t="t" l="l"/>
              <a:pathLst>
                <a:path h="649084" w="6434666">
                  <a:moveTo>
                    <a:pt x="0" y="0"/>
                  </a:moveTo>
                  <a:lnTo>
                    <a:pt x="6434666" y="0"/>
                  </a:lnTo>
                  <a:lnTo>
                    <a:pt x="6434666" y="649084"/>
                  </a:lnTo>
                  <a:lnTo>
                    <a:pt x="0" y="649084"/>
                  </a:lnTo>
                  <a:close/>
                </a:path>
              </a:pathLst>
            </a:custGeom>
            <a:blipFill>
              <a:blip r:embed="rId3">
                <a:alphaModFix amt="0"/>
              </a:blip>
              <a:stretch>
                <a:fillRect l="0" t="-143596" r="0" b="-142731"/>
              </a:stretch>
            </a:blipFill>
          </p:spPr>
        </p:sp>
        <p:sp>
          <p:nvSpPr>
            <p:cNvPr name="TextBox 44" id="44"/>
            <p:cNvSpPr txBox="true"/>
            <p:nvPr/>
          </p:nvSpPr>
          <p:spPr>
            <a:xfrm>
              <a:off x="0" y="-9525"/>
              <a:ext cx="6434671" cy="658614"/>
            </a:xfrm>
            <a:prstGeom prst="rect">
              <a:avLst/>
            </a:prstGeom>
          </p:spPr>
          <p:txBody>
            <a:bodyPr anchor="ctr" rtlCol="false" tIns="0" lIns="0" bIns="0" rIns="0"/>
            <a:lstStyle/>
            <a:p>
              <a:pPr algn="l">
                <a:lnSpc>
                  <a:spcPts val="2879"/>
                </a:lnSpc>
              </a:pPr>
              <a:r>
                <a:rPr lang="en-US" sz="2400" b="true">
                  <a:solidFill>
                    <a:srgbClr val="111111"/>
                  </a:solidFill>
                  <a:latin typeface="Arimo Bold"/>
                  <a:ea typeface="Arimo Bold"/>
                  <a:cs typeface="Arimo Bold"/>
                  <a:sym typeface="Arimo Bold"/>
                </a:rPr>
                <a:t>그리퍼 관절값으로 직접 판정</a:t>
              </a:r>
            </a:p>
          </p:txBody>
        </p:sp>
      </p:grpSp>
      <p:grpSp>
        <p:nvGrpSpPr>
          <p:cNvPr name="Group 45" id="45"/>
          <p:cNvGrpSpPr/>
          <p:nvPr/>
        </p:nvGrpSpPr>
        <p:grpSpPr>
          <a:xfrm rot="0">
            <a:off x="6692903" y="6413497"/>
            <a:ext cx="4762500" cy="279397"/>
            <a:chOff x="0" y="0"/>
            <a:chExt cx="6350000" cy="372529"/>
          </a:xfrm>
        </p:grpSpPr>
        <p:sp>
          <p:nvSpPr>
            <p:cNvPr name="Freeform 46" id="46"/>
            <p:cNvSpPr/>
            <p:nvPr/>
          </p:nvSpPr>
          <p:spPr>
            <a:xfrm flipH="false" flipV="false" rot="0">
              <a:off x="0" y="0"/>
              <a:ext cx="6350000" cy="372534"/>
            </a:xfrm>
            <a:custGeom>
              <a:avLst/>
              <a:gdLst/>
              <a:ahLst/>
              <a:cxnLst/>
              <a:rect r="r" b="b" t="t" l="l"/>
              <a:pathLst>
                <a:path h="372534" w="6350000">
                  <a:moveTo>
                    <a:pt x="0" y="0"/>
                  </a:moveTo>
                  <a:lnTo>
                    <a:pt x="6350000" y="0"/>
                  </a:lnTo>
                  <a:lnTo>
                    <a:pt x="6350000" y="372534"/>
                  </a:lnTo>
                  <a:lnTo>
                    <a:pt x="0" y="372534"/>
                  </a:lnTo>
                  <a:close/>
                </a:path>
              </a:pathLst>
            </a:custGeom>
            <a:blipFill>
              <a:blip r:embed="rId3">
                <a:alphaModFix amt="0"/>
              </a:blip>
              <a:stretch>
                <a:fillRect l="0" t="-282131" r="0" b="-282130"/>
              </a:stretch>
            </a:blipFill>
          </p:spPr>
        </p:sp>
        <p:sp>
          <p:nvSpPr>
            <p:cNvPr name="TextBox 47" id="47"/>
            <p:cNvSpPr txBox="true"/>
            <p:nvPr/>
          </p:nvSpPr>
          <p:spPr>
            <a:xfrm>
              <a:off x="0" y="-19050"/>
              <a:ext cx="6350000" cy="391579"/>
            </a:xfrm>
            <a:prstGeom prst="rect">
              <a:avLst/>
            </a:prstGeom>
          </p:spPr>
          <p:txBody>
            <a:bodyPr anchor="ctr" rtlCol="false" tIns="0" lIns="0" bIns="0" rIns="0"/>
            <a:lstStyle/>
            <a:p>
              <a:pPr algn="l">
                <a:lnSpc>
                  <a:spcPts val="1620"/>
                </a:lnSpc>
              </a:pPr>
              <a:r>
                <a:rPr lang="en-US" sz="1350">
                  <a:solidFill>
                    <a:srgbClr val="66645F"/>
                  </a:solidFill>
                  <a:latin typeface="Arimo"/>
                  <a:ea typeface="Arimo"/>
                  <a:cs typeface="Arimo"/>
                  <a:sym typeface="Arimo"/>
                </a:rPr>
                <a:t>컨트롤러 완료만으로 판단하자</a:t>
              </a:r>
            </a:p>
          </p:txBody>
        </p:sp>
      </p:grpSp>
      <p:grpSp>
        <p:nvGrpSpPr>
          <p:cNvPr name="Group 48" id="48"/>
          <p:cNvGrpSpPr/>
          <p:nvPr/>
        </p:nvGrpSpPr>
        <p:grpSpPr>
          <a:xfrm rot="0">
            <a:off x="6692903" y="6731003"/>
            <a:ext cx="4762500" cy="279397"/>
            <a:chOff x="0" y="0"/>
            <a:chExt cx="6350000" cy="372529"/>
          </a:xfrm>
        </p:grpSpPr>
        <p:sp>
          <p:nvSpPr>
            <p:cNvPr name="Freeform 49" id="49"/>
            <p:cNvSpPr/>
            <p:nvPr/>
          </p:nvSpPr>
          <p:spPr>
            <a:xfrm flipH="false" flipV="false" rot="0">
              <a:off x="0" y="0"/>
              <a:ext cx="6350000" cy="372534"/>
            </a:xfrm>
            <a:custGeom>
              <a:avLst/>
              <a:gdLst/>
              <a:ahLst/>
              <a:cxnLst/>
              <a:rect r="r" b="b" t="t" l="l"/>
              <a:pathLst>
                <a:path h="372534" w="6350000">
                  <a:moveTo>
                    <a:pt x="0" y="0"/>
                  </a:moveTo>
                  <a:lnTo>
                    <a:pt x="6350000" y="0"/>
                  </a:lnTo>
                  <a:lnTo>
                    <a:pt x="6350000" y="372534"/>
                  </a:lnTo>
                  <a:lnTo>
                    <a:pt x="0" y="372534"/>
                  </a:lnTo>
                  <a:close/>
                </a:path>
              </a:pathLst>
            </a:custGeom>
            <a:blipFill>
              <a:blip r:embed="rId3">
                <a:alphaModFix amt="0"/>
              </a:blip>
              <a:stretch>
                <a:fillRect l="0" t="-282131" r="0" b="-282130"/>
              </a:stretch>
            </a:blipFill>
          </p:spPr>
        </p:sp>
        <p:sp>
          <p:nvSpPr>
            <p:cNvPr name="TextBox 50" id="50"/>
            <p:cNvSpPr txBox="true"/>
            <p:nvPr/>
          </p:nvSpPr>
          <p:spPr>
            <a:xfrm>
              <a:off x="0" y="-19050"/>
              <a:ext cx="6350000" cy="391579"/>
            </a:xfrm>
            <a:prstGeom prst="rect">
              <a:avLst/>
            </a:prstGeom>
          </p:spPr>
          <p:txBody>
            <a:bodyPr anchor="ctr" rtlCol="false" tIns="0" lIns="0" bIns="0" rIns="0"/>
            <a:lstStyle/>
            <a:p>
              <a:pPr algn="l">
                <a:lnSpc>
                  <a:spcPts val="1620"/>
                </a:lnSpc>
              </a:pPr>
              <a:r>
                <a:rPr lang="en-US" sz="1350">
                  <a:solidFill>
                    <a:srgbClr val="66645F"/>
                  </a:solidFill>
                  <a:latin typeface="Arimo"/>
                  <a:ea typeface="Arimo"/>
                  <a:cs typeface="Arimo"/>
                  <a:sym typeface="Arimo"/>
                </a:rPr>
                <a:t>빈손도 성공으로 처리되는 문제 발생</a:t>
              </a:r>
            </a:p>
          </p:txBody>
        </p:sp>
      </p:grpSp>
      <p:sp>
        <p:nvSpPr>
          <p:cNvPr name="AutoShape 51" id="51"/>
          <p:cNvSpPr/>
          <p:nvPr/>
        </p:nvSpPr>
        <p:spPr>
          <a:xfrm rot="10920">
            <a:off x="6685264" y="7234238"/>
            <a:ext cx="4790465" cy="0"/>
          </a:xfrm>
          <a:prstGeom prst="line">
            <a:avLst/>
          </a:prstGeom>
          <a:ln cap="rnd" w="9525">
            <a:solidFill>
              <a:srgbClr val="DDDDDD"/>
            </a:solidFill>
            <a:prstDash val="solid"/>
            <a:headEnd type="none" len="sm" w="sm"/>
            <a:tailEnd type="none" len="sm" w="sm"/>
          </a:ln>
        </p:spPr>
      </p:sp>
      <p:grpSp>
        <p:nvGrpSpPr>
          <p:cNvPr name="Group 52" id="52"/>
          <p:cNvGrpSpPr/>
          <p:nvPr/>
        </p:nvGrpSpPr>
        <p:grpSpPr>
          <a:xfrm rot="0">
            <a:off x="6692903" y="7416803"/>
            <a:ext cx="571500" cy="317497"/>
            <a:chOff x="0" y="0"/>
            <a:chExt cx="762000" cy="423329"/>
          </a:xfrm>
        </p:grpSpPr>
        <p:sp>
          <p:nvSpPr>
            <p:cNvPr name="Freeform 53" id="53"/>
            <p:cNvSpPr/>
            <p:nvPr/>
          </p:nvSpPr>
          <p:spPr>
            <a:xfrm flipH="false" flipV="false" rot="0">
              <a:off x="0" y="0"/>
              <a:ext cx="762000" cy="423334"/>
            </a:xfrm>
            <a:custGeom>
              <a:avLst/>
              <a:gdLst/>
              <a:ahLst/>
              <a:cxnLst/>
              <a:rect r="r" b="b" t="t" l="l"/>
              <a:pathLst>
                <a:path h="423334" w="762000">
                  <a:moveTo>
                    <a:pt x="0" y="0"/>
                  </a:moveTo>
                  <a:lnTo>
                    <a:pt x="762000" y="0"/>
                  </a:lnTo>
                  <a:lnTo>
                    <a:pt x="762000" y="423334"/>
                  </a:lnTo>
                  <a:lnTo>
                    <a:pt x="0" y="423334"/>
                  </a:lnTo>
                  <a:close/>
                </a:path>
              </a:pathLst>
            </a:custGeom>
            <a:blipFill>
              <a:blip r:embed="rId3">
                <a:alphaModFix amt="0"/>
              </a:blip>
              <a:stretch>
                <a:fillRect l="-21279" t="0" r="-21279" b="1"/>
              </a:stretch>
            </a:blipFill>
          </p:spPr>
        </p:sp>
        <p:sp>
          <p:nvSpPr>
            <p:cNvPr name="TextBox 54" id="54"/>
            <p:cNvSpPr txBox="true"/>
            <p:nvPr/>
          </p:nvSpPr>
          <p:spPr>
            <a:xfrm>
              <a:off x="0" y="-19050"/>
              <a:ext cx="762000" cy="442379"/>
            </a:xfrm>
            <a:prstGeom prst="rect">
              <a:avLst/>
            </a:prstGeom>
          </p:spPr>
          <p:txBody>
            <a:bodyPr anchor="ctr" rtlCol="false" tIns="0" lIns="0" bIns="0" rIns="0"/>
            <a:lstStyle/>
            <a:p>
              <a:pPr algn="l">
                <a:lnSpc>
                  <a:spcPts val="1620"/>
                </a:lnSpc>
              </a:pPr>
              <a:r>
                <a:rPr lang="en-US" sz="1350" b="true">
                  <a:solidFill>
                    <a:srgbClr val="111111"/>
                  </a:solidFill>
                  <a:latin typeface="Arimo Bold"/>
                  <a:ea typeface="Arimo Bold"/>
                  <a:cs typeface="Arimo Bold"/>
                  <a:sym typeface="Arimo Bold"/>
                </a:rPr>
                <a:t>변경</a:t>
              </a:r>
            </a:p>
          </p:txBody>
        </p:sp>
      </p:grpSp>
      <p:grpSp>
        <p:nvGrpSpPr>
          <p:cNvPr name="Group 55" id="55"/>
          <p:cNvGrpSpPr/>
          <p:nvPr/>
        </p:nvGrpSpPr>
        <p:grpSpPr>
          <a:xfrm rot="0">
            <a:off x="7365997" y="7416803"/>
            <a:ext cx="4127497" cy="317500"/>
            <a:chOff x="0" y="0"/>
            <a:chExt cx="5503329" cy="423334"/>
          </a:xfrm>
        </p:grpSpPr>
        <p:sp>
          <p:nvSpPr>
            <p:cNvPr name="Freeform 56" id="56"/>
            <p:cNvSpPr/>
            <p:nvPr/>
          </p:nvSpPr>
          <p:spPr>
            <a:xfrm flipH="false" flipV="false" rot="0">
              <a:off x="0" y="0"/>
              <a:ext cx="5503334" cy="423339"/>
            </a:xfrm>
            <a:custGeom>
              <a:avLst/>
              <a:gdLst/>
              <a:ahLst/>
              <a:cxnLst/>
              <a:rect r="r" b="b" t="t" l="l"/>
              <a:pathLst>
                <a:path h="423339" w="5503334">
                  <a:moveTo>
                    <a:pt x="0" y="0"/>
                  </a:moveTo>
                  <a:lnTo>
                    <a:pt x="5503334" y="0"/>
                  </a:lnTo>
                  <a:lnTo>
                    <a:pt x="5503334" y="423339"/>
                  </a:lnTo>
                  <a:lnTo>
                    <a:pt x="0" y="423339"/>
                  </a:lnTo>
                  <a:close/>
                </a:path>
              </a:pathLst>
            </a:custGeom>
            <a:blipFill>
              <a:blip r:embed="rId3">
                <a:alphaModFix amt="0"/>
              </a:blip>
              <a:stretch>
                <a:fillRect l="0" t="-203303" r="0" b="-203300"/>
              </a:stretch>
            </a:blipFill>
          </p:spPr>
        </p:sp>
        <p:sp>
          <p:nvSpPr>
            <p:cNvPr name="TextBox 57" id="57"/>
            <p:cNvSpPr txBox="true"/>
            <p:nvPr/>
          </p:nvSpPr>
          <p:spPr>
            <a:xfrm>
              <a:off x="0" y="-19050"/>
              <a:ext cx="5503329" cy="442384"/>
            </a:xfrm>
            <a:prstGeom prst="rect">
              <a:avLst/>
            </a:prstGeom>
          </p:spPr>
          <p:txBody>
            <a:bodyPr anchor="ctr" rtlCol="false" tIns="0" lIns="0" bIns="0" rIns="0"/>
            <a:lstStyle/>
            <a:p>
              <a:pPr algn="l">
                <a:lnSpc>
                  <a:spcPts val="1584"/>
                </a:lnSpc>
              </a:pPr>
              <a:r>
                <a:rPr lang="en-US" sz="1320">
                  <a:solidFill>
                    <a:srgbClr val="111111"/>
                  </a:solidFill>
                  <a:latin typeface="Arimo"/>
                  <a:ea typeface="Arimo"/>
                  <a:cs typeface="Arimo"/>
                  <a:sym typeface="Arimo"/>
                </a:rPr>
                <a:t>그리퍼가 멈춘 뒤 </a:t>
              </a:r>
              <a:r>
                <a:rPr lang="en-US" sz="1320">
                  <a:solidFill>
                    <a:srgbClr val="111111"/>
                  </a:solidFill>
                  <a:latin typeface="Arimo"/>
                  <a:ea typeface="Arimo"/>
                  <a:cs typeface="Arimo"/>
                  <a:sym typeface="Arimo"/>
                </a:rPr>
                <a:t>관절 위치 구간을 직접 비교</a:t>
              </a:r>
            </a:p>
          </p:txBody>
        </p:sp>
      </p:grpSp>
      <p:grpSp>
        <p:nvGrpSpPr>
          <p:cNvPr name="Group 58" id="58"/>
          <p:cNvGrpSpPr/>
          <p:nvPr/>
        </p:nvGrpSpPr>
        <p:grpSpPr>
          <a:xfrm rot="0">
            <a:off x="6692903" y="7899397"/>
            <a:ext cx="571500" cy="317497"/>
            <a:chOff x="0" y="0"/>
            <a:chExt cx="762000" cy="423329"/>
          </a:xfrm>
        </p:grpSpPr>
        <p:sp>
          <p:nvSpPr>
            <p:cNvPr name="Freeform 59" id="59"/>
            <p:cNvSpPr/>
            <p:nvPr/>
          </p:nvSpPr>
          <p:spPr>
            <a:xfrm flipH="false" flipV="false" rot="0">
              <a:off x="0" y="0"/>
              <a:ext cx="762000" cy="423334"/>
            </a:xfrm>
            <a:custGeom>
              <a:avLst/>
              <a:gdLst/>
              <a:ahLst/>
              <a:cxnLst/>
              <a:rect r="r" b="b" t="t" l="l"/>
              <a:pathLst>
                <a:path h="423334" w="762000">
                  <a:moveTo>
                    <a:pt x="0" y="0"/>
                  </a:moveTo>
                  <a:lnTo>
                    <a:pt x="762000" y="0"/>
                  </a:lnTo>
                  <a:lnTo>
                    <a:pt x="762000" y="423334"/>
                  </a:lnTo>
                  <a:lnTo>
                    <a:pt x="0" y="423334"/>
                  </a:lnTo>
                  <a:close/>
                </a:path>
              </a:pathLst>
            </a:custGeom>
            <a:blipFill>
              <a:blip r:embed="rId3">
                <a:alphaModFix amt="0"/>
              </a:blip>
              <a:stretch>
                <a:fillRect l="-21279" t="0" r="-21279" b="1"/>
              </a:stretch>
            </a:blipFill>
          </p:spPr>
        </p:sp>
        <p:sp>
          <p:nvSpPr>
            <p:cNvPr name="TextBox 60" id="60"/>
            <p:cNvSpPr txBox="true"/>
            <p:nvPr/>
          </p:nvSpPr>
          <p:spPr>
            <a:xfrm>
              <a:off x="0" y="-19050"/>
              <a:ext cx="762000" cy="442379"/>
            </a:xfrm>
            <a:prstGeom prst="rect">
              <a:avLst/>
            </a:prstGeom>
          </p:spPr>
          <p:txBody>
            <a:bodyPr anchor="ctr" rtlCol="false" tIns="0" lIns="0" bIns="0" rIns="0"/>
            <a:lstStyle/>
            <a:p>
              <a:pPr algn="l">
                <a:lnSpc>
                  <a:spcPts val="1620"/>
                </a:lnSpc>
              </a:pPr>
              <a:r>
                <a:rPr lang="en-US" sz="1350" b="true">
                  <a:solidFill>
                    <a:srgbClr val="111111"/>
                  </a:solidFill>
                  <a:latin typeface="Arimo Bold"/>
                  <a:ea typeface="Arimo Bold"/>
                  <a:cs typeface="Arimo Bold"/>
                  <a:sym typeface="Arimo Bold"/>
                </a:rPr>
                <a:t>결과</a:t>
              </a:r>
            </a:p>
          </p:txBody>
        </p:sp>
      </p:grpSp>
      <p:grpSp>
        <p:nvGrpSpPr>
          <p:cNvPr name="Group 61" id="61"/>
          <p:cNvGrpSpPr/>
          <p:nvPr/>
        </p:nvGrpSpPr>
        <p:grpSpPr>
          <a:xfrm rot="0">
            <a:off x="7365997" y="7899397"/>
            <a:ext cx="4127497" cy="317500"/>
            <a:chOff x="0" y="0"/>
            <a:chExt cx="5503329" cy="423334"/>
          </a:xfrm>
        </p:grpSpPr>
        <p:sp>
          <p:nvSpPr>
            <p:cNvPr name="Freeform 62" id="62"/>
            <p:cNvSpPr/>
            <p:nvPr/>
          </p:nvSpPr>
          <p:spPr>
            <a:xfrm flipH="false" flipV="false" rot="0">
              <a:off x="0" y="0"/>
              <a:ext cx="5503334" cy="423339"/>
            </a:xfrm>
            <a:custGeom>
              <a:avLst/>
              <a:gdLst/>
              <a:ahLst/>
              <a:cxnLst/>
              <a:rect r="r" b="b" t="t" l="l"/>
              <a:pathLst>
                <a:path h="423339" w="5503334">
                  <a:moveTo>
                    <a:pt x="0" y="0"/>
                  </a:moveTo>
                  <a:lnTo>
                    <a:pt x="5503334" y="0"/>
                  </a:lnTo>
                  <a:lnTo>
                    <a:pt x="5503334" y="423339"/>
                  </a:lnTo>
                  <a:lnTo>
                    <a:pt x="0" y="423339"/>
                  </a:lnTo>
                  <a:close/>
                </a:path>
              </a:pathLst>
            </a:custGeom>
            <a:blipFill>
              <a:blip r:embed="rId3">
                <a:alphaModFix amt="0"/>
              </a:blip>
              <a:stretch>
                <a:fillRect l="0" t="-203303" r="0" b="-203300"/>
              </a:stretch>
            </a:blipFill>
          </p:spPr>
        </p:sp>
        <p:sp>
          <p:nvSpPr>
            <p:cNvPr name="TextBox 63" id="63"/>
            <p:cNvSpPr txBox="true"/>
            <p:nvPr/>
          </p:nvSpPr>
          <p:spPr>
            <a:xfrm>
              <a:off x="0" y="-19050"/>
              <a:ext cx="5503329" cy="442384"/>
            </a:xfrm>
            <a:prstGeom prst="rect">
              <a:avLst/>
            </a:prstGeom>
          </p:spPr>
          <p:txBody>
            <a:bodyPr anchor="ctr" rtlCol="false" tIns="0" lIns="0" bIns="0" rIns="0"/>
            <a:lstStyle/>
            <a:p>
              <a:pPr algn="l">
                <a:lnSpc>
                  <a:spcPts val="1584"/>
                </a:lnSpc>
              </a:pPr>
              <a:r>
                <a:rPr lang="en-US" sz="1320">
                  <a:solidFill>
                    <a:srgbClr val="111111"/>
                  </a:solidFill>
                  <a:latin typeface="Arimo"/>
                  <a:ea typeface="Arimo"/>
                  <a:cs typeface="Arimo"/>
                  <a:sym typeface="Arimo"/>
                </a:rPr>
                <a:t>빈손 / 블록 / 링 파지 상태 구분</a:t>
              </a:r>
            </a:p>
          </p:txBody>
        </p:sp>
      </p:grpSp>
      <p:grpSp>
        <p:nvGrpSpPr>
          <p:cNvPr name="Group 64" id="64"/>
          <p:cNvGrpSpPr/>
          <p:nvPr/>
        </p:nvGrpSpPr>
        <p:grpSpPr>
          <a:xfrm rot="0">
            <a:off x="12041191" y="2452688"/>
            <a:ext cx="5508622" cy="6677025"/>
            <a:chOff x="0" y="0"/>
            <a:chExt cx="7344829" cy="8902700"/>
          </a:xfrm>
        </p:grpSpPr>
        <p:sp>
          <p:nvSpPr>
            <p:cNvPr name="Freeform 65" id="65"/>
            <p:cNvSpPr/>
            <p:nvPr/>
          </p:nvSpPr>
          <p:spPr>
            <a:xfrm flipH="false" flipV="false" rot="0">
              <a:off x="0" y="0"/>
              <a:ext cx="7344918" cy="8902700"/>
            </a:xfrm>
            <a:custGeom>
              <a:avLst/>
              <a:gdLst/>
              <a:ahLst/>
              <a:cxnLst/>
              <a:rect r="r" b="b" t="t" l="l"/>
              <a:pathLst>
                <a:path h="8902700" w="7344918">
                  <a:moveTo>
                    <a:pt x="0" y="147574"/>
                  </a:moveTo>
                  <a:cubicBezTo>
                    <a:pt x="0" y="66040"/>
                    <a:pt x="66040" y="0"/>
                    <a:pt x="147574" y="0"/>
                  </a:cubicBezTo>
                  <a:lnTo>
                    <a:pt x="7197344" y="0"/>
                  </a:lnTo>
                  <a:cubicBezTo>
                    <a:pt x="7278877" y="0"/>
                    <a:pt x="7344918" y="66040"/>
                    <a:pt x="7344918" y="147574"/>
                  </a:cubicBezTo>
                  <a:lnTo>
                    <a:pt x="7344918" y="8755126"/>
                  </a:lnTo>
                  <a:cubicBezTo>
                    <a:pt x="7344918" y="8836660"/>
                    <a:pt x="7278877" y="8902700"/>
                    <a:pt x="7197344" y="8902700"/>
                  </a:cubicBezTo>
                  <a:lnTo>
                    <a:pt x="147574" y="8902700"/>
                  </a:lnTo>
                  <a:cubicBezTo>
                    <a:pt x="66040" y="8902700"/>
                    <a:pt x="0" y="8836660"/>
                    <a:pt x="0" y="8755126"/>
                  </a:cubicBezTo>
                  <a:close/>
                </a:path>
              </a:pathLst>
            </a:custGeom>
            <a:solidFill>
              <a:srgbClr val="FFFFFF"/>
            </a:solidFill>
            <a:ln w="19050" cap="sq">
              <a:solidFill>
                <a:srgbClr val="111111"/>
              </a:solidFill>
              <a:prstDash val="solid"/>
              <a:miter/>
            </a:ln>
          </p:spPr>
        </p:sp>
      </p:grpSp>
      <p:pic>
        <p:nvPicPr>
          <p:cNvPr name="Picture 66" id="66" descr="/Users/junsupark/Desktop/personal_project/portfolio_assets/pptx_media/kinematics_moveit_real_demo.gif">
            <a:hlinkClick action="ppaction://media"/>
          </p:cNvPr>
          <p:cNvPicPr>
            <a:picLocks noChangeAspect="true"/>
          </p:cNvPicPr>
          <p:nvPr>
            <a:videoFile r:link="rId11"/>
            <p:extLst>
              <p:ext uri="{DAA4B4D4-6D71-4841-9C94-3DE7FCFB9230}">
                <p14:media xmlns:p14="http://schemas.microsoft.com/office/powerpoint/2010/main" r:embed="rId12"/>
              </p:ext>
            </p:extLst>
          </p:nvPr>
        </p:nvPicPr>
        <p:blipFill>
          <a:blip r:embed="rId10"/>
          <a:srcRect l="0" t="0" r="0" b="44726"/>
          <a:stretch>
            <a:fillRect/>
          </a:stretch>
        </p:blipFill>
        <p:spPr>
          <a:xfrm flipH="false" flipV="false" rot="0">
            <a:off x="12293603" y="2705100"/>
            <a:ext cx="5003797" cy="2489197"/>
          </a:xfrm>
          <a:prstGeom prst="rect">
            <a:avLst/>
          </a:prstGeom>
        </p:spPr>
      </p:pic>
      <p:grpSp>
        <p:nvGrpSpPr>
          <p:cNvPr name="Group 67" id="67"/>
          <p:cNvGrpSpPr/>
          <p:nvPr/>
        </p:nvGrpSpPr>
        <p:grpSpPr>
          <a:xfrm rot="0">
            <a:off x="12344400" y="5410200"/>
            <a:ext cx="4698997" cy="360350"/>
            <a:chOff x="0" y="0"/>
            <a:chExt cx="6265329" cy="480467"/>
          </a:xfrm>
        </p:grpSpPr>
        <p:sp>
          <p:nvSpPr>
            <p:cNvPr name="Freeform 68" id="68"/>
            <p:cNvSpPr/>
            <p:nvPr/>
          </p:nvSpPr>
          <p:spPr>
            <a:xfrm flipH="false" flipV="false" rot="0">
              <a:off x="0" y="0"/>
              <a:ext cx="6265334" cy="480467"/>
            </a:xfrm>
            <a:custGeom>
              <a:avLst/>
              <a:gdLst/>
              <a:ahLst/>
              <a:cxnLst/>
              <a:rect r="r" b="b" t="t" l="l"/>
              <a:pathLst>
                <a:path h="480467" w="6265334">
                  <a:moveTo>
                    <a:pt x="0" y="0"/>
                  </a:moveTo>
                  <a:lnTo>
                    <a:pt x="6265334" y="0"/>
                  </a:lnTo>
                  <a:lnTo>
                    <a:pt x="6265334" y="480467"/>
                  </a:lnTo>
                  <a:lnTo>
                    <a:pt x="0" y="480467"/>
                  </a:lnTo>
                  <a:close/>
                </a:path>
              </a:pathLst>
            </a:custGeom>
            <a:blipFill>
              <a:blip r:embed="rId3">
                <a:alphaModFix amt="0"/>
              </a:blip>
              <a:stretch>
                <a:fillRect l="0" t="-206507" r="0" b="-201665"/>
              </a:stretch>
            </a:blipFill>
          </p:spPr>
        </p:sp>
        <p:sp>
          <p:nvSpPr>
            <p:cNvPr name="TextBox 69" id="69"/>
            <p:cNvSpPr txBox="true"/>
            <p:nvPr/>
          </p:nvSpPr>
          <p:spPr>
            <a:xfrm>
              <a:off x="0" y="-19050"/>
              <a:ext cx="6265329" cy="499517"/>
            </a:xfrm>
            <a:prstGeom prst="rect">
              <a:avLst/>
            </a:prstGeom>
          </p:spPr>
          <p:txBody>
            <a:bodyPr anchor="ctr" rtlCol="false" tIns="0" lIns="0" bIns="0" rIns="0"/>
            <a:lstStyle/>
            <a:p>
              <a:pPr algn="l">
                <a:lnSpc>
                  <a:spcPts val="2160"/>
                </a:lnSpc>
              </a:pPr>
              <a:r>
                <a:rPr lang="en-US" sz="1800" b="true">
                  <a:solidFill>
                    <a:srgbClr val="1B2CC1"/>
                  </a:solidFill>
                  <a:latin typeface="Arimo Bold"/>
                  <a:ea typeface="Arimo Bold"/>
                  <a:cs typeface="Arimo Bold"/>
                  <a:sym typeface="Arimo Bold"/>
                </a:rPr>
                <a:t>급격한 반전</a:t>
              </a:r>
            </a:p>
          </p:txBody>
        </p:sp>
      </p:grpSp>
      <p:grpSp>
        <p:nvGrpSpPr>
          <p:cNvPr name="Group 70" id="70"/>
          <p:cNvGrpSpPr/>
          <p:nvPr/>
        </p:nvGrpSpPr>
        <p:grpSpPr>
          <a:xfrm rot="0">
            <a:off x="12344400" y="5816603"/>
            <a:ext cx="4826003" cy="486817"/>
            <a:chOff x="0" y="0"/>
            <a:chExt cx="6434671" cy="649089"/>
          </a:xfrm>
        </p:grpSpPr>
        <p:sp>
          <p:nvSpPr>
            <p:cNvPr name="Freeform 71" id="71"/>
            <p:cNvSpPr/>
            <p:nvPr/>
          </p:nvSpPr>
          <p:spPr>
            <a:xfrm flipH="false" flipV="false" rot="0">
              <a:off x="0" y="0"/>
              <a:ext cx="6434666" cy="649084"/>
            </a:xfrm>
            <a:custGeom>
              <a:avLst/>
              <a:gdLst/>
              <a:ahLst/>
              <a:cxnLst/>
              <a:rect r="r" b="b" t="t" l="l"/>
              <a:pathLst>
                <a:path h="649084" w="6434666">
                  <a:moveTo>
                    <a:pt x="0" y="0"/>
                  </a:moveTo>
                  <a:lnTo>
                    <a:pt x="6434666" y="0"/>
                  </a:lnTo>
                  <a:lnTo>
                    <a:pt x="6434666" y="649084"/>
                  </a:lnTo>
                  <a:lnTo>
                    <a:pt x="0" y="649084"/>
                  </a:lnTo>
                  <a:close/>
                </a:path>
              </a:pathLst>
            </a:custGeom>
            <a:blipFill>
              <a:blip r:embed="rId3">
                <a:alphaModFix amt="0"/>
              </a:blip>
              <a:stretch>
                <a:fillRect l="0" t="-143596" r="0" b="-142731"/>
              </a:stretch>
            </a:blipFill>
          </p:spPr>
        </p:sp>
        <p:sp>
          <p:nvSpPr>
            <p:cNvPr name="TextBox 72" id="72"/>
            <p:cNvSpPr txBox="true"/>
            <p:nvPr/>
          </p:nvSpPr>
          <p:spPr>
            <a:xfrm>
              <a:off x="0" y="-9525"/>
              <a:ext cx="6434671" cy="658614"/>
            </a:xfrm>
            <a:prstGeom prst="rect">
              <a:avLst/>
            </a:prstGeom>
          </p:spPr>
          <p:txBody>
            <a:bodyPr anchor="ctr" rtlCol="false" tIns="0" lIns="0" bIns="0" rIns="0"/>
            <a:lstStyle/>
            <a:p>
              <a:pPr algn="l">
                <a:lnSpc>
                  <a:spcPts val="2879"/>
                </a:lnSpc>
              </a:pPr>
              <a:r>
                <a:rPr lang="en-US" sz="2400" b="true">
                  <a:solidFill>
                    <a:srgbClr val="111111"/>
                  </a:solidFill>
                  <a:latin typeface="Arimo Bold"/>
                  <a:ea typeface="Arimo Bold"/>
                  <a:cs typeface="Arimo Bold"/>
                  <a:sym typeface="Arimo Bold"/>
                </a:rPr>
                <a:t>IK 해의 연속성을 유지</a:t>
              </a:r>
            </a:p>
          </p:txBody>
        </p:sp>
      </p:grpSp>
      <p:grpSp>
        <p:nvGrpSpPr>
          <p:cNvPr name="Group 73" id="73"/>
          <p:cNvGrpSpPr/>
          <p:nvPr/>
        </p:nvGrpSpPr>
        <p:grpSpPr>
          <a:xfrm rot="0">
            <a:off x="12344400" y="6413497"/>
            <a:ext cx="4762500" cy="279397"/>
            <a:chOff x="0" y="0"/>
            <a:chExt cx="6350000" cy="372529"/>
          </a:xfrm>
        </p:grpSpPr>
        <p:sp>
          <p:nvSpPr>
            <p:cNvPr name="Freeform 74" id="74"/>
            <p:cNvSpPr/>
            <p:nvPr/>
          </p:nvSpPr>
          <p:spPr>
            <a:xfrm flipH="false" flipV="false" rot="0">
              <a:off x="0" y="0"/>
              <a:ext cx="6350000" cy="372534"/>
            </a:xfrm>
            <a:custGeom>
              <a:avLst/>
              <a:gdLst/>
              <a:ahLst/>
              <a:cxnLst/>
              <a:rect r="r" b="b" t="t" l="l"/>
              <a:pathLst>
                <a:path h="372534" w="6350000">
                  <a:moveTo>
                    <a:pt x="0" y="0"/>
                  </a:moveTo>
                  <a:lnTo>
                    <a:pt x="6350000" y="0"/>
                  </a:lnTo>
                  <a:lnTo>
                    <a:pt x="6350000" y="372534"/>
                  </a:lnTo>
                  <a:lnTo>
                    <a:pt x="0" y="372534"/>
                  </a:lnTo>
                  <a:close/>
                </a:path>
              </a:pathLst>
            </a:custGeom>
            <a:blipFill>
              <a:blip r:embed="rId3">
                <a:alphaModFix amt="0"/>
              </a:blip>
              <a:stretch>
                <a:fillRect l="0" t="-282131" r="0" b="-282130"/>
              </a:stretch>
            </a:blipFill>
          </p:spPr>
        </p:sp>
        <p:sp>
          <p:nvSpPr>
            <p:cNvPr name="TextBox 75" id="75"/>
            <p:cNvSpPr txBox="true"/>
            <p:nvPr/>
          </p:nvSpPr>
          <p:spPr>
            <a:xfrm>
              <a:off x="0" y="-19050"/>
              <a:ext cx="6350000" cy="391579"/>
            </a:xfrm>
            <a:prstGeom prst="rect">
              <a:avLst/>
            </a:prstGeom>
          </p:spPr>
          <p:txBody>
            <a:bodyPr anchor="ctr" rtlCol="false" tIns="0" lIns="0" bIns="0" rIns="0"/>
            <a:lstStyle/>
            <a:p>
              <a:pPr algn="l">
                <a:lnSpc>
                  <a:spcPts val="1620"/>
                </a:lnSpc>
              </a:pPr>
              <a:r>
                <a:rPr lang="en-US" sz="1350">
                  <a:solidFill>
                    <a:srgbClr val="66645F"/>
                  </a:solidFill>
                  <a:latin typeface="Arimo"/>
                  <a:ea typeface="Arimo"/>
                  <a:cs typeface="Arimo"/>
                  <a:sym typeface="Arimo"/>
                </a:rPr>
                <a:t>이동 중 팔꿈치 해가 바뀌면서</a:t>
              </a:r>
            </a:p>
          </p:txBody>
        </p:sp>
      </p:grpSp>
      <p:grpSp>
        <p:nvGrpSpPr>
          <p:cNvPr name="Group 76" id="76"/>
          <p:cNvGrpSpPr/>
          <p:nvPr/>
        </p:nvGrpSpPr>
        <p:grpSpPr>
          <a:xfrm rot="0">
            <a:off x="12344400" y="6731003"/>
            <a:ext cx="4762500" cy="279397"/>
            <a:chOff x="0" y="0"/>
            <a:chExt cx="6350000" cy="372529"/>
          </a:xfrm>
        </p:grpSpPr>
        <p:sp>
          <p:nvSpPr>
            <p:cNvPr name="Freeform 77" id="77"/>
            <p:cNvSpPr/>
            <p:nvPr/>
          </p:nvSpPr>
          <p:spPr>
            <a:xfrm flipH="false" flipV="false" rot="0">
              <a:off x="0" y="0"/>
              <a:ext cx="6350000" cy="372534"/>
            </a:xfrm>
            <a:custGeom>
              <a:avLst/>
              <a:gdLst/>
              <a:ahLst/>
              <a:cxnLst/>
              <a:rect r="r" b="b" t="t" l="l"/>
              <a:pathLst>
                <a:path h="372534" w="6350000">
                  <a:moveTo>
                    <a:pt x="0" y="0"/>
                  </a:moveTo>
                  <a:lnTo>
                    <a:pt x="6350000" y="0"/>
                  </a:lnTo>
                  <a:lnTo>
                    <a:pt x="6350000" y="372534"/>
                  </a:lnTo>
                  <a:lnTo>
                    <a:pt x="0" y="372534"/>
                  </a:lnTo>
                  <a:close/>
                </a:path>
              </a:pathLst>
            </a:custGeom>
            <a:blipFill>
              <a:blip r:embed="rId3">
                <a:alphaModFix amt="0"/>
              </a:blip>
              <a:stretch>
                <a:fillRect l="0" t="-282131" r="0" b="-282130"/>
              </a:stretch>
            </a:blipFill>
          </p:spPr>
        </p:sp>
        <p:sp>
          <p:nvSpPr>
            <p:cNvPr name="TextBox 78" id="78"/>
            <p:cNvSpPr txBox="true"/>
            <p:nvPr/>
          </p:nvSpPr>
          <p:spPr>
            <a:xfrm>
              <a:off x="0" y="-19050"/>
              <a:ext cx="6350000" cy="391579"/>
            </a:xfrm>
            <a:prstGeom prst="rect">
              <a:avLst/>
            </a:prstGeom>
          </p:spPr>
          <p:txBody>
            <a:bodyPr anchor="ctr" rtlCol="false" tIns="0" lIns="0" bIns="0" rIns="0"/>
            <a:lstStyle/>
            <a:p>
              <a:pPr algn="l">
                <a:lnSpc>
                  <a:spcPts val="1620"/>
                </a:lnSpc>
              </a:pPr>
              <a:r>
                <a:rPr lang="en-US" sz="1350">
                  <a:solidFill>
                    <a:srgbClr val="66645F"/>
                  </a:solidFill>
                  <a:latin typeface="Arimo"/>
                  <a:ea typeface="Arimo"/>
                  <a:cs typeface="Arimo"/>
                  <a:sym typeface="Arimo"/>
                </a:rPr>
                <a:t>팔이 크게 반전하고 물체가 낙하</a:t>
              </a:r>
            </a:p>
          </p:txBody>
        </p:sp>
      </p:grpSp>
      <p:sp>
        <p:nvSpPr>
          <p:cNvPr name="AutoShape 79" id="79"/>
          <p:cNvSpPr/>
          <p:nvPr/>
        </p:nvSpPr>
        <p:spPr>
          <a:xfrm rot="10920">
            <a:off x="12336770" y="7234238"/>
            <a:ext cx="4790465" cy="0"/>
          </a:xfrm>
          <a:prstGeom prst="line">
            <a:avLst/>
          </a:prstGeom>
          <a:ln cap="rnd" w="9525">
            <a:solidFill>
              <a:srgbClr val="DDDDDD"/>
            </a:solidFill>
            <a:prstDash val="solid"/>
            <a:headEnd type="none" len="sm" w="sm"/>
            <a:tailEnd type="none" len="sm" w="sm"/>
          </a:ln>
        </p:spPr>
      </p:sp>
      <p:grpSp>
        <p:nvGrpSpPr>
          <p:cNvPr name="Group 80" id="80"/>
          <p:cNvGrpSpPr/>
          <p:nvPr/>
        </p:nvGrpSpPr>
        <p:grpSpPr>
          <a:xfrm rot="0">
            <a:off x="12344400" y="7416803"/>
            <a:ext cx="571500" cy="317497"/>
            <a:chOff x="0" y="0"/>
            <a:chExt cx="762000" cy="423329"/>
          </a:xfrm>
        </p:grpSpPr>
        <p:sp>
          <p:nvSpPr>
            <p:cNvPr name="Freeform 81" id="81"/>
            <p:cNvSpPr/>
            <p:nvPr/>
          </p:nvSpPr>
          <p:spPr>
            <a:xfrm flipH="false" flipV="false" rot="0">
              <a:off x="0" y="0"/>
              <a:ext cx="762000" cy="423334"/>
            </a:xfrm>
            <a:custGeom>
              <a:avLst/>
              <a:gdLst/>
              <a:ahLst/>
              <a:cxnLst/>
              <a:rect r="r" b="b" t="t" l="l"/>
              <a:pathLst>
                <a:path h="423334" w="762000">
                  <a:moveTo>
                    <a:pt x="0" y="0"/>
                  </a:moveTo>
                  <a:lnTo>
                    <a:pt x="762000" y="0"/>
                  </a:lnTo>
                  <a:lnTo>
                    <a:pt x="762000" y="423334"/>
                  </a:lnTo>
                  <a:lnTo>
                    <a:pt x="0" y="423334"/>
                  </a:lnTo>
                  <a:close/>
                </a:path>
              </a:pathLst>
            </a:custGeom>
            <a:blipFill>
              <a:blip r:embed="rId3">
                <a:alphaModFix amt="0"/>
              </a:blip>
              <a:stretch>
                <a:fillRect l="-21279" t="0" r="-21279" b="1"/>
              </a:stretch>
            </a:blipFill>
          </p:spPr>
        </p:sp>
        <p:sp>
          <p:nvSpPr>
            <p:cNvPr name="TextBox 82" id="82"/>
            <p:cNvSpPr txBox="true"/>
            <p:nvPr/>
          </p:nvSpPr>
          <p:spPr>
            <a:xfrm>
              <a:off x="0" y="-19050"/>
              <a:ext cx="762000" cy="442379"/>
            </a:xfrm>
            <a:prstGeom prst="rect">
              <a:avLst/>
            </a:prstGeom>
          </p:spPr>
          <p:txBody>
            <a:bodyPr anchor="ctr" rtlCol="false" tIns="0" lIns="0" bIns="0" rIns="0"/>
            <a:lstStyle/>
            <a:p>
              <a:pPr algn="l">
                <a:lnSpc>
                  <a:spcPts val="1620"/>
                </a:lnSpc>
              </a:pPr>
              <a:r>
                <a:rPr lang="en-US" sz="1350" b="true">
                  <a:solidFill>
                    <a:srgbClr val="111111"/>
                  </a:solidFill>
                  <a:latin typeface="Arimo Bold"/>
                  <a:ea typeface="Arimo Bold"/>
                  <a:cs typeface="Arimo Bold"/>
                  <a:sym typeface="Arimo Bold"/>
                </a:rPr>
                <a:t>변경</a:t>
              </a:r>
            </a:p>
          </p:txBody>
        </p:sp>
      </p:grpSp>
      <p:grpSp>
        <p:nvGrpSpPr>
          <p:cNvPr name="Group 83" id="83"/>
          <p:cNvGrpSpPr/>
          <p:nvPr/>
        </p:nvGrpSpPr>
        <p:grpSpPr>
          <a:xfrm rot="0">
            <a:off x="13017503" y="7416803"/>
            <a:ext cx="4127497" cy="317500"/>
            <a:chOff x="0" y="0"/>
            <a:chExt cx="5503329" cy="423334"/>
          </a:xfrm>
        </p:grpSpPr>
        <p:sp>
          <p:nvSpPr>
            <p:cNvPr name="Freeform 84" id="84"/>
            <p:cNvSpPr/>
            <p:nvPr/>
          </p:nvSpPr>
          <p:spPr>
            <a:xfrm flipH="false" flipV="false" rot="0">
              <a:off x="0" y="0"/>
              <a:ext cx="5503334" cy="423339"/>
            </a:xfrm>
            <a:custGeom>
              <a:avLst/>
              <a:gdLst/>
              <a:ahLst/>
              <a:cxnLst/>
              <a:rect r="r" b="b" t="t" l="l"/>
              <a:pathLst>
                <a:path h="423339" w="5503334">
                  <a:moveTo>
                    <a:pt x="0" y="0"/>
                  </a:moveTo>
                  <a:lnTo>
                    <a:pt x="5503334" y="0"/>
                  </a:lnTo>
                  <a:lnTo>
                    <a:pt x="5503334" y="423339"/>
                  </a:lnTo>
                  <a:lnTo>
                    <a:pt x="0" y="423339"/>
                  </a:lnTo>
                  <a:close/>
                </a:path>
              </a:pathLst>
            </a:custGeom>
            <a:blipFill>
              <a:blip r:embed="rId3">
                <a:alphaModFix amt="0"/>
              </a:blip>
              <a:stretch>
                <a:fillRect l="0" t="-203303" r="0" b="-203300"/>
              </a:stretch>
            </a:blipFill>
          </p:spPr>
        </p:sp>
        <p:sp>
          <p:nvSpPr>
            <p:cNvPr name="TextBox 85" id="85"/>
            <p:cNvSpPr txBox="true"/>
            <p:nvPr/>
          </p:nvSpPr>
          <p:spPr>
            <a:xfrm>
              <a:off x="0" y="-19050"/>
              <a:ext cx="5503329" cy="442384"/>
            </a:xfrm>
            <a:prstGeom prst="rect">
              <a:avLst/>
            </a:prstGeom>
          </p:spPr>
          <p:txBody>
            <a:bodyPr anchor="ctr" rtlCol="false" tIns="0" lIns="0" bIns="0" rIns="0"/>
            <a:lstStyle/>
            <a:p>
              <a:pPr algn="l">
                <a:lnSpc>
                  <a:spcPts val="1584"/>
                </a:lnSpc>
              </a:pPr>
              <a:r>
                <a:rPr lang="en-US" sz="1320">
                  <a:solidFill>
                    <a:srgbClr val="111111"/>
                  </a:solidFill>
                  <a:latin typeface="Arimo"/>
                  <a:ea typeface="Arimo"/>
                  <a:cs typeface="Arimo"/>
                  <a:sym typeface="Arimo"/>
                </a:rPr>
                <a:t>현재 자세에서 가까운 IK 해를 계속 선택 + 파지 중 고정</a:t>
              </a:r>
            </a:p>
          </p:txBody>
        </p:sp>
      </p:grpSp>
      <p:grpSp>
        <p:nvGrpSpPr>
          <p:cNvPr name="Group 86" id="86"/>
          <p:cNvGrpSpPr/>
          <p:nvPr/>
        </p:nvGrpSpPr>
        <p:grpSpPr>
          <a:xfrm rot="0">
            <a:off x="12344400" y="7899397"/>
            <a:ext cx="571500" cy="317497"/>
            <a:chOff x="0" y="0"/>
            <a:chExt cx="762000" cy="423329"/>
          </a:xfrm>
        </p:grpSpPr>
        <p:sp>
          <p:nvSpPr>
            <p:cNvPr name="Freeform 87" id="87"/>
            <p:cNvSpPr/>
            <p:nvPr/>
          </p:nvSpPr>
          <p:spPr>
            <a:xfrm flipH="false" flipV="false" rot="0">
              <a:off x="0" y="0"/>
              <a:ext cx="762000" cy="423334"/>
            </a:xfrm>
            <a:custGeom>
              <a:avLst/>
              <a:gdLst/>
              <a:ahLst/>
              <a:cxnLst/>
              <a:rect r="r" b="b" t="t" l="l"/>
              <a:pathLst>
                <a:path h="423334" w="762000">
                  <a:moveTo>
                    <a:pt x="0" y="0"/>
                  </a:moveTo>
                  <a:lnTo>
                    <a:pt x="762000" y="0"/>
                  </a:lnTo>
                  <a:lnTo>
                    <a:pt x="762000" y="423334"/>
                  </a:lnTo>
                  <a:lnTo>
                    <a:pt x="0" y="423334"/>
                  </a:lnTo>
                  <a:close/>
                </a:path>
              </a:pathLst>
            </a:custGeom>
            <a:blipFill>
              <a:blip r:embed="rId3">
                <a:alphaModFix amt="0"/>
              </a:blip>
              <a:stretch>
                <a:fillRect l="-21279" t="0" r="-21279" b="1"/>
              </a:stretch>
            </a:blipFill>
          </p:spPr>
        </p:sp>
        <p:sp>
          <p:nvSpPr>
            <p:cNvPr name="TextBox 88" id="88"/>
            <p:cNvSpPr txBox="true"/>
            <p:nvPr/>
          </p:nvSpPr>
          <p:spPr>
            <a:xfrm>
              <a:off x="0" y="-19050"/>
              <a:ext cx="762000" cy="442379"/>
            </a:xfrm>
            <a:prstGeom prst="rect">
              <a:avLst/>
            </a:prstGeom>
          </p:spPr>
          <p:txBody>
            <a:bodyPr anchor="ctr" rtlCol="false" tIns="0" lIns="0" bIns="0" rIns="0"/>
            <a:lstStyle/>
            <a:p>
              <a:pPr algn="l">
                <a:lnSpc>
                  <a:spcPts val="1620"/>
                </a:lnSpc>
              </a:pPr>
              <a:r>
                <a:rPr lang="en-US" sz="1350" b="true">
                  <a:solidFill>
                    <a:srgbClr val="111111"/>
                  </a:solidFill>
                  <a:latin typeface="Arimo Bold"/>
                  <a:ea typeface="Arimo Bold"/>
                  <a:cs typeface="Arimo Bold"/>
                  <a:sym typeface="Arimo Bold"/>
                </a:rPr>
                <a:t>결과</a:t>
              </a:r>
            </a:p>
          </p:txBody>
        </p:sp>
      </p:grpSp>
      <p:grpSp>
        <p:nvGrpSpPr>
          <p:cNvPr name="Group 89" id="89"/>
          <p:cNvGrpSpPr/>
          <p:nvPr/>
        </p:nvGrpSpPr>
        <p:grpSpPr>
          <a:xfrm rot="0">
            <a:off x="13017503" y="7899397"/>
            <a:ext cx="4127497" cy="317500"/>
            <a:chOff x="0" y="0"/>
            <a:chExt cx="5503329" cy="423334"/>
          </a:xfrm>
        </p:grpSpPr>
        <p:sp>
          <p:nvSpPr>
            <p:cNvPr name="Freeform 90" id="90"/>
            <p:cNvSpPr/>
            <p:nvPr/>
          </p:nvSpPr>
          <p:spPr>
            <a:xfrm flipH="false" flipV="false" rot="0">
              <a:off x="0" y="0"/>
              <a:ext cx="5503334" cy="423339"/>
            </a:xfrm>
            <a:custGeom>
              <a:avLst/>
              <a:gdLst/>
              <a:ahLst/>
              <a:cxnLst/>
              <a:rect r="r" b="b" t="t" l="l"/>
              <a:pathLst>
                <a:path h="423339" w="5503334">
                  <a:moveTo>
                    <a:pt x="0" y="0"/>
                  </a:moveTo>
                  <a:lnTo>
                    <a:pt x="5503334" y="0"/>
                  </a:lnTo>
                  <a:lnTo>
                    <a:pt x="5503334" y="423339"/>
                  </a:lnTo>
                  <a:lnTo>
                    <a:pt x="0" y="423339"/>
                  </a:lnTo>
                  <a:close/>
                </a:path>
              </a:pathLst>
            </a:custGeom>
            <a:blipFill>
              <a:blip r:embed="rId3">
                <a:alphaModFix amt="0"/>
              </a:blip>
              <a:stretch>
                <a:fillRect l="0" t="-203303" r="0" b="-203300"/>
              </a:stretch>
            </a:blipFill>
          </p:spPr>
        </p:sp>
        <p:sp>
          <p:nvSpPr>
            <p:cNvPr name="TextBox 91" id="91"/>
            <p:cNvSpPr txBox="true"/>
            <p:nvPr/>
          </p:nvSpPr>
          <p:spPr>
            <a:xfrm>
              <a:off x="0" y="-19050"/>
              <a:ext cx="5503329" cy="442384"/>
            </a:xfrm>
            <a:prstGeom prst="rect">
              <a:avLst/>
            </a:prstGeom>
          </p:spPr>
          <p:txBody>
            <a:bodyPr anchor="ctr" rtlCol="false" tIns="0" lIns="0" bIns="0" rIns="0"/>
            <a:lstStyle/>
            <a:p>
              <a:pPr algn="l">
                <a:lnSpc>
                  <a:spcPts val="1584"/>
                </a:lnSpc>
              </a:pPr>
              <a:r>
                <a:rPr lang="en-US" sz="1320">
                  <a:solidFill>
                    <a:srgbClr val="111111"/>
                  </a:solidFill>
                  <a:latin typeface="Arimo"/>
                  <a:ea typeface="Arimo"/>
                  <a:cs typeface="Arimo"/>
                  <a:sym typeface="Arimo"/>
                </a:rPr>
                <a:t>동작 중 자세의 급격한 변화 방지</a:t>
              </a:r>
            </a:p>
          </p:txBody>
        </p:sp>
      </p:grpSp>
      <p:sp>
        <p:nvSpPr>
          <p:cNvPr name="TextBox 92" id="92"/>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14</a:t>
            </a:r>
          </a:p>
        </p:txBody>
      </p:sp>
      <p:sp>
        <p:nvSpPr>
          <p:cNvPr id="93" name="Web video link 1">
            <a:hlinkClick r:id="rId13" tooltip="시연 영상 재생"/>
          </p:cNvPr>
          <p:cNvSpPr txBox="1"/>
          <p:nvPr/>
        </p:nvSpPr>
        <p:spPr>
          <a:xfrm>
            <a:off x="4622800" y="2794000"/>
            <a:ext cx="1270000" cy="304800"/>
          </a:xfrm>
          <a:prstGeom prst="roundRect">
            <a:avLst/>
          </a:prstGeom>
          <a:solidFill>
            <a:srgbClr val="F7F7F5"/>
          </a:solidFill>
          <a:ln>
            <a:noFill/>
          </a:ln>
        </p:spPr>
        <p:txBody>
          <a:bodyPr lIns="0" rIns="0" tIns="0" bIns="0" anchor="ctr"/>
          <a:lstStyle/>
          <a:p>
            <a:pPr algn="ctr"/>
            <a:r>
              <a:rPr sz="1100" u="sng">
                <a:solidFill>
                  <a:srgbClr val="2734BF"/>
                </a:solidFill>
                <a:latin typeface="Arimo"/>
                <a:hlinkClick r:id="rId13"/>
              </a:rPr>
              <a:t>영상 보기 ↗</a:t>
            </a:r>
          </a:p>
        </p:txBody>
      </p:sp>
      <p:sp>
        <p:nvSpPr>
          <p:cNvPr id="94" name="Web video link 2">
            <a:hlinkClick r:id="rId14" tooltip="시연 영상 재생"/>
          </p:cNvPr>
          <p:cNvSpPr txBox="1"/>
          <p:nvPr/>
        </p:nvSpPr>
        <p:spPr>
          <a:xfrm>
            <a:off x="10274300" y="2794000"/>
            <a:ext cx="1270000" cy="304800"/>
          </a:xfrm>
          <a:prstGeom prst="roundRect">
            <a:avLst/>
          </a:prstGeom>
          <a:solidFill>
            <a:srgbClr val="F7F7F5"/>
          </a:solidFill>
          <a:ln>
            <a:noFill/>
          </a:ln>
        </p:spPr>
        <p:txBody>
          <a:bodyPr lIns="0" rIns="0" tIns="0" bIns="0" anchor="ctr"/>
          <a:lstStyle/>
          <a:p>
            <a:pPr algn="ctr"/>
            <a:r>
              <a:rPr sz="1100" u="sng">
                <a:solidFill>
                  <a:srgbClr val="2734BF"/>
                </a:solidFill>
                <a:latin typeface="Arimo"/>
                <a:hlinkClick r:id="rId14"/>
              </a:rPr>
              <a:t>영상 보기 ↗</a:t>
            </a:r>
          </a:p>
        </p:txBody>
      </p:sp>
      <p:sp>
        <p:nvSpPr>
          <p:cNvPr id="95" name="Web video link 3">
            <a:hlinkClick r:id="rId15" tooltip="시연 영상 재생"/>
          </p:cNvPr>
          <p:cNvSpPr txBox="1"/>
          <p:nvPr/>
        </p:nvSpPr>
        <p:spPr>
          <a:xfrm>
            <a:off x="15925800" y="2794000"/>
            <a:ext cx="1270000" cy="304800"/>
          </a:xfrm>
          <a:prstGeom prst="roundRect">
            <a:avLst/>
          </a:prstGeom>
          <a:solidFill>
            <a:srgbClr val="F7F7F5"/>
          </a:solidFill>
          <a:ln>
            <a:noFill/>
          </a:ln>
        </p:spPr>
        <p:txBody>
          <a:bodyPr lIns="0" rIns="0" tIns="0" bIns="0" anchor="ctr"/>
          <a:lstStyle/>
          <a:p>
            <a:pPr algn="ctr"/>
            <a:r>
              <a:rPr sz="1100" u="sng">
                <a:solidFill>
                  <a:srgbClr val="2734BF"/>
                </a:solidFill>
                <a:latin typeface="Arimo"/>
                <a:hlinkClick r:id="rId15"/>
              </a:rPr>
              <a:t>영상 보기 ↗</a:t>
            </a:r>
          </a:p>
        </p:txBody>
      </p:sp>
    </p:spTree>
  </p:cSld>
  <p:clrMapOvr>
    <a:masterClrMapping/>
  </p:clrMapOvr>
  <p:timing>
    <p:tnLst>
      <p:par>
        <p:cTn dur="indefinite" restart="never" nodeType="tmRoot">
          <p:childTnLst>
            <p:video>
              <p:cMediaNode vol="100000">
                <p:cTn fill="hold" display="false">
                  <p:stCondLst>
                    <p:cond delay="indefinite"/>
                  </p:stCondLst>
                </p:cTn>
                <p:tgtEl>
                  <p:spTgt spid="10"/>
                </p:tgtEl>
              </p:cMediaNode>
            </p:video>
            <p:video>
              <p:cMediaNode vol="100000">
                <p:cTn fill="hold" display="false">
                  <p:stCondLst>
                    <p:cond delay="indefinite"/>
                  </p:stCondLst>
                </p:cTn>
                <p:tgtEl>
                  <p:spTgt spid="38"/>
                </p:tgtEl>
              </p:cMediaNode>
            </p:video>
            <p:video>
              <p:cMediaNode vol="100000">
                <p:cTn fill="hold" display="false">
                  <p:stCondLst>
                    <p:cond delay="indefinite"/>
                  </p:stCondLst>
                </p:cTn>
                <p:tgtEl>
                  <p:spTgt spid="66"/>
                </p:tgtEl>
              </p:cMediaNode>
            </p:video>
          </p:childTnLst>
        </p:cTn>
      </p:par>
    </p:tnLst>
  </p:timing>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grpSp>
        <p:nvGrpSpPr>
          <p:cNvPr name="Group 2" id="2"/>
          <p:cNvGrpSpPr/>
          <p:nvPr/>
        </p:nvGrpSpPr>
        <p:grpSpPr>
          <a:xfrm rot="0">
            <a:off x="768096" y="630936"/>
            <a:ext cx="4114800" cy="356616"/>
            <a:chOff x="0" y="0"/>
            <a:chExt cx="5486400" cy="475488"/>
          </a:xfrm>
        </p:grpSpPr>
        <p:sp>
          <p:nvSpPr>
            <p:cNvPr name="Freeform 3" id="3"/>
            <p:cNvSpPr/>
            <p:nvPr/>
          </p:nvSpPr>
          <p:spPr>
            <a:xfrm flipH="false" flipV="false" rot="0">
              <a:off x="0" y="0"/>
              <a:ext cx="5486400" cy="475488"/>
            </a:xfrm>
            <a:custGeom>
              <a:avLst/>
              <a:gdLst/>
              <a:ahLst/>
              <a:cxnLst/>
              <a:rect r="r" b="b" t="t" l="l"/>
              <a:pathLst>
                <a:path h="475488" w="5486400">
                  <a:moveTo>
                    <a:pt x="0" y="0"/>
                  </a:moveTo>
                  <a:lnTo>
                    <a:pt x="5486400" y="0"/>
                  </a:lnTo>
                  <a:lnTo>
                    <a:pt x="5486400" y="475488"/>
                  </a:lnTo>
                  <a:lnTo>
                    <a:pt x="0" y="475488"/>
                  </a:lnTo>
                  <a:close/>
                </a:path>
              </a:pathLst>
            </a:custGeom>
            <a:blipFill>
              <a:blip r:embed="rId3">
                <a:alphaModFix amt="0"/>
              </a:blip>
              <a:stretch>
                <a:fillRect l="0" t="-174827" r="0" b="-174827"/>
              </a:stretch>
            </a:blipFill>
          </p:spPr>
        </p:sp>
        <p:sp>
          <p:nvSpPr>
            <p:cNvPr name="TextBox 4" id="4"/>
            <p:cNvSpPr txBox="true"/>
            <p:nvPr/>
          </p:nvSpPr>
          <p:spPr>
            <a:xfrm>
              <a:off x="0" y="-19050"/>
              <a:ext cx="5486400" cy="494538"/>
            </a:xfrm>
            <a:prstGeom prst="rect">
              <a:avLst/>
            </a:prstGeom>
          </p:spPr>
          <p:txBody>
            <a:bodyPr anchor="ctr" rtlCol="false" tIns="0" lIns="0" bIns="0" rIns="0"/>
            <a:lstStyle/>
            <a:p>
              <a:pPr algn="l">
                <a:lnSpc>
                  <a:spcPts val="2160"/>
                </a:lnSpc>
              </a:pPr>
              <a:r>
                <a:rPr lang="en-US" sz="1800" b="true">
                  <a:solidFill>
                    <a:srgbClr val="666666"/>
                  </a:solidFill>
                  <a:latin typeface="Arimo Bold"/>
                  <a:ea typeface="Arimo Bold"/>
                  <a:cs typeface="Arimo Bold"/>
                  <a:sym typeface="Arimo Bold"/>
                </a:rPr>
                <a:t>PROJECT 02</a:t>
              </a:r>
            </a:p>
          </p:txBody>
        </p:sp>
      </p:grpSp>
      <p:grpSp>
        <p:nvGrpSpPr>
          <p:cNvPr name="Group 5" id="5"/>
          <p:cNvGrpSpPr/>
          <p:nvPr/>
        </p:nvGrpSpPr>
        <p:grpSpPr>
          <a:xfrm rot="0">
            <a:off x="747141" y="1741944"/>
            <a:ext cx="16789146" cy="7560270"/>
            <a:chOff x="0" y="0"/>
            <a:chExt cx="22385528" cy="10080360"/>
          </a:xfrm>
        </p:grpSpPr>
        <p:sp>
          <p:nvSpPr>
            <p:cNvPr name="Freeform 6" id="6"/>
            <p:cNvSpPr/>
            <p:nvPr/>
          </p:nvSpPr>
          <p:spPr>
            <a:xfrm flipH="false" flipV="false" rot="0">
              <a:off x="0" y="0"/>
              <a:ext cx="22385528" cy="10080360"/>
            </a:xfrm>
            <a:custGeom>
              <a:avLst/>
              <a:gdLst/>
              <a:ahLst/>
              <a:cxnLst/>
              <a:rect r="r" b="b" t="t" l="l"/>
              <a:pathLst>
                <a:path h="10080360" w="22385528">
                  <a:moveTo>
                    <a:pt x="0" y="235739"/>
                  </a:moveTo>
                  <a:cubicBezTo>
                    <a:pt x="0" y="105494"/>
                    <a:pt x="66040" y="0"/>
                    <a:pt x="147574" y="0"/>
                  </a:cubicBezTo>
                  <a:lnTo>
                    <a:pt x="22237954" y="0"/>
                  </a:lnTo>
                  <a:cubicBezTo>
                    <a:pt x="22319489" y="0"/>
                    <a:pt x="22385528" y="105494"/>
                    <a:pt x="22385528" y="235739"/>
                  </a:cubicBezTo>
                  <a:lnTo>
                    <a:pt x="22385528" y="9844622"/>
                  </a:lnTo>
                  <a:cubicBezTo>
                    <a:pt x="22385528" y="9974866"/>
                    <a:pt x="22319489" y="10080360"/>
                    <a:pt x="22237954" y="10080360"/>
                  </a:cubicBezTo>
                  <a:lnTo>
                    <a:pt x="147574" y="10080360"/>
                  </a:lnTo>
                  <a:cubicBezTo>
                    <a:pt x="66040" y="10080360"/>
                    <a:pt x="0" y="9974866"/>
                    <a:pt x="0" y="9844622"/>
                  </a:cubicBezTo>
                  <a:close/>
                </a:path>
              </a:pathLst>
            </a:custGeom>
            <a:solidFill>
              <a:srgbClr val="FFFFFF"/>
            </a:solidFill>
            <a:ln w="41910" cap="sq">
              <a:solidFill>
                <a:srgbClr val="111111"/>
              </a:solidFill>
              <a:prstDash val="solid"/>
              <a:miter/>
            </a:ln>
          </p:spPr>
        </p:sp>
      </p:grpSp>
      <p:grpSp>
        <p:nvGrpSpPr>
          <p:cNvPr name="Group 7" id="7"/>
          <p:cNvGrpSpPr/>
          <p:nvPr/>
        </p:nvGrpSpPr>
        <p:grpSpPr>
          <a:xfrm rot="0">
            <a:off x="1239719" y="2349688"/>
            <a:ext cx="1814725" cy="526542"/>
            <a:chOff x="0" y="0"/>
            <a:chExt cx="2419633" cy="702056"/>
          </a:xfrm>
        </p:grpSpPr>
        <p:sp>
          <p:nvSpPr>
            <p:cNvPr name="Freeform 8" id="8"/>
            <p:cNvSpPr/>
            <p:nvPr/>
          </p:nvSpPr>
          <p:spPr>
            <a:xfrm flipH="false" flipV="false" rot="0">
              <a:off x="0" y="0"/>
              <a:ext cx="2419634" cy="702056"/>
            </a:xfrm>
            <a:custGeom>
              <a:avLst/>
              <a:gdLst/>
              <a:ahLst/>
              <a:cxnLst/>
              <a:rect r="r" b="b" t="t" l="l"/>
              <a:pathLst>
                <a:path h="702056" w="2419634">
                  <a:moveTo>
                    <a:pt x="0" y="151765"/>
                  </a:moveTo>
                  <a:cubicBezTo>
                    <a:pt x="0" y="67945"/>
                    <a:pt x="70568" y="0"/>
                    <a:pt x="157624" y="0"/>
                  </a:cubicBezTo>
                  <a:lnTo>
                    <a:pt x="2262009" y="0"/>
                  </a:lnTo>
                  <a:cubicBezTo>
                    <a:pt x="2349065" y="0"/>
                    <a:pt x="2419634" y="67945"/>
                    <a:pt x="2419634" y="151765"/>
                  </a:cubicBezTo>
                  <a:lnTo>
                    <a:pt x="2419634" y="550291"/>
                  </a:lnTo>
                  <a:cubicBezTo>
                    <a:pt x="2419634" y="634111"/>
                    <a:pt x="2349065" y="702056"/>
                    <a:pt x="2262009" y="702056"/>
                  </a:cubicBezTo>
                  <a:lnTo>
                    <a:pt x="157624" y="702056"/>
                  </a:lnTo>
                  <a:cubicBezTo>
                    <a:pt x="70568" y="702056"/>
                    <a:pt x="0" y="634111"/>
                    <a:pt x="0" y="550291"/>
                  </a:cubicBezTo>
                  <a:close/>
                </a:path>
              </a:pathLst>
            </a:custGeom>
            <a:solidFill>
              <a:srgbClr val="F3E7ED"/>
            </a:solidFill>
            <a:ln w="19050" cap="sq">
              <a:solidFill>
                <a:srgbClr val="F3E7ED"/>
              </a:solidFill>
              <a:prstDash val="solid"/>
              <a:miter/>
            </a:ln>
          </p:spPr>
        </p:sp>
      </p:grpSp>
      <p:grpSp>
        <p:nvGrpSpPr>
          <p:cNvPr name="Group 9" id="9"/>
          <p:cNvGrpSpPr/>
          <p:nvPr/>
        </p:nvGrpSpPr>
        <p:grpSpPr>
          <a:xfrm rot="0">
            <a:off x="1434804" y="2446211"/>
            <a:ext cx="1424555" cy="333496"/>
            <a:chOff x="0" y="0"/>
            <a:chExt cx="1899407" cy="444661"/>
          </a:xfrm>
        </p:grpSpPr>
        <p:sp>
          <p:nvSpPr>
            <p:cNvPr name="Freeform 10" id="10"/>
            <p:cNvSpPr/>
            <p:nvPr/>
          </p:nvSpPr>
          <p:spPr>
            <a:xfrm flipH="false" flipV="false" rot="0">
              <a:off x="0" y="0"/>
              <a:ext cx="1899407" cy="444661"/>
            </a:xfrm>
            <a:custGeom>
              <a:avLst/>
              <a:gdLst/>
              <a:ahLst/>
              <a:cxnLst/>
              <a:rect r="r" b="b" t="t" l="l"/>
              <a:pathLst>
                <a:path h="444661" w="1899407">
                  <a:moveTo>
                    <a:pt x="0" y="0"/>
                  </a:moveTo>
                  <a:lnTo>
                    <a:pt x="1899407" y="0"/>
                  </a:lnTo>
                  <a:lnTo>
                    <a:pt x="1899407" y="444661"/>
                  </a:lnTo>
                  <a:lnTo>
                    <a:pt x="0" y="444661"/>
                  </a:lnTo>
                  <a:close/>
                </a:path>
              </a:pathLst>
            </a:custGeom>
            <a:blipFill>
              <a:blip r:embed="rId3">
                <a:alphaModFix amt="0"/>
              </a:blip>
              <a:stretch>
                <a:fillRect l="0" t="-32840" r="3717" b="-27435"/>
              </a:stretch>
            </a:blipFill>
          </p:spPr>
        </p:sp>
        <p:sp>
          <p:nvSpPr>
            <p:cNvPr name="TextBox 11" id="11"/>
            <p:cNvSpPr txBox="true"/>
            <p:nvPr/>
          </p:nvSpPr>
          <p:spPr>
            <a:xfrm>
              <a:off x="0" y="-19050"/>
              <a:ext cx="1899407" cy="463711"/>
            </a:xfrm>
            <a:prstGeom prst="rect">
              <a:avLst/>
            </a:prstGeom>
          </p:spPr>
          <p:txBody>
            <a:bodyPr anchor="ctr" rtlCol="false" tIns="0" lIns="0" bIns="0" rIns="0"/>
            <a:lstStyle/>
            <a:p>
              <a:pPr algn="l">
                <a:lnSpc>
                  <a:spcPts val="1980"/>
                </a:lnSpc>
              </a:pPr>
              <a:r>
                <a:rPr lang="en-US" sz="1650" b="true">
                  <a:solidFill>
                    <a:srgbClr val="A14678"/>
                  </a:solidFill>
                  <a:latin typeface="Arimo Bold"/>
                  <a:ea typeface="Arimo Bold"/>
                  <a:cs typeface="Arimo Bold"/>
                  <a:sym typeface="Arimo Bold"/>
                </a:rPr>
                <a:t>팀 프로젝트</a:t>
              </a:r>
            </a:p>
          </p:txBody>
        </p:sp>
      </p:grpSp>
      <p:grpSp>
        <p:nvGrpSpPr>
          <p:cNvPr name="Group 12" id="12"/>
          <p:cNvGrpSpPr/>
          <p:nvPr/>
        </p:nvGrpSpPr>
        <p:grpSpPr>
          <a:xfrm rot="0">
            <a:off x="1263857" y="3048016"/>
            <a:ext cx="15812563" cy="1406742"/>
            <a:chOff x="0" y="0"/>
            <a:chExt cx="21083417" cy="1875656"/>
          </a:xfrm>
        </p:grpSpPr>
        <p:sp>
          <p:nvSpPr>
            <p:cNvPr name="Freeform 13" id="13"/>
            <p:cNvSpPr/>
            <p:nvPr/>
          </p:nvSpPr>
          <p:spPr>
            <a:xfrm flipH="false" flipV="false" rot="0">
              <a:off x="0" y="0"/>
              <a:ext cx="21083419" cy="1875656"/>
            </a:xfrm>
            <a:custGeom>
              <a:avLst/>
              <a:gdLst/>
              <a:ahLst/>
              <a:cxnLst/>
              <a:rect r="r" b="b" t="t" l="l"/>
              <a:pathLst>
                <a:path h="1875656" w="21083419">
                  <a:moveTo>
                    <a:pt x="0" y="0"/>
                  </a:moveTo>
                  <a:lnTo>
                    <a:pt x="21083419" y="0"/>
                  </a:lnTo>
                  <a:lnTo>
                    <a:pt x="21083419" y="1875656"/>
                  </a:lnTo>
                  <a:lnTo>
                    <a:pt x="0" y="1875656"/>
                  </a:lnTo>
                  <a:close/>
                </a:path>
              </a:pathLst>
            </a:custGeom>
            <a:blipFill>
              <a:blip r:embed="rId3">
                <a:alphaModFix amt="0"/>
              </a:blip>
              <a:stretch>
                <a:fillRect l="0" t="-171392" r="3717" b="-150369"/>
              </a:stretch>
            </a:blipFill>
          </p:spPr>
        </p:sp>
        <p:sp>
          <p:nvSpPr>
            <p:cNvPr name="TextBox 14" id="14"/>
            <p:cNvSpPr txBox="true"/>
            <p:nvPr/>
          </p:nvSpPr>
          <p:spPr>
            <a:xfrm>
              <a:off x="0" y="-28575"/>
              <a:ext cx="21083417" cy="1904231"/>
            </a:xfrm>
            <a:prstGeom prst="rect">
              <a:avLst/>
            </a:prstGeom>
          </p:spPr>
          <p:txBody>
            <a:bodyPr anchor="ctr" rtlCol="false" tIns="0" lIns="0" bIns="0" rIns="0"/>
            <a:lstStyle/>
            <a:p>
              <a:pPr algn="l">
                <a:lnSpc>
                  <a:spcPts val="8280"/>
                </a:lnSpc>
              </a:pPr>
              <a:r>
                <a:rPr lang="en-US" sz="6900" b="true">
                  <a:solidFill>
                    <a:srgbClr val="111111"/>
                  </a:solidFill>
                  <a:latin typeface="Arimo Bold"/>
                  <a:ea typeface="Arimo Bold"/>
                  <a:cs typeface="Arimo Bold"/>
                  <a:sym typeface="Arimo Bold"/>
                </a:rPr>
                <a:t>VicPinky Carrier</a:t>
              </a:r>
            </a:p>
          </p:txBody>
        </p:sp>
      </p:grpSp>
      <p:grpSp>
        <p:nvGrpSpPr>
          <p:cNvPr name="Group 15" id="15"/>
          <p:cNvGrpSpPr/>
          <p:nvPr/>
        </p:nvGrpSpPr>
        <p:grpSpPr>
          <a:xfrm rot="0">
            <a:off x="1320839" y="4649785"/>
            <a:ext cx="15242741" cy="959625"/>
            <a:chOff x="0" y="0"/>
            <a:chExt cx="20323655" cy="1279500"/>
          </a:xfrm>
        </p:grpSpPr>
        <p:sp>
          <p:nvSpPr>
            <p:cNvPr name="Freeform 16" id="16"/>
            <p:cNvSpPr/>
            <p:nvPr/>
          </p:nvSpPr>
          <p:spPr>
            <a:xfrm flipH="false" flipV="false" rot="0">
              <a:off x="0" y="0"/>
              <a:ext cx="20323656" cy="1279500"/>
            </a:xfrm>
            <a:custGeom>
              <a:avLst/>
              <a:gdLst/>
              <a:ahLst/>
              <a:cxnLst/>
              <a:rect r="r" b="b" t="t" l="l"/>
              <a:pathLst>
                <a:path h="1279500" w="20323656">
                  <a:moveTo>
                    <a:pt x="0" y="0"/>
                  </a:moveTo>
                  <a:lnTo>
                    <a:pt x="20323656" y="0"/>
                  </a:lnTo>
                  <a:lnTo>
                    <a:pt x="20323656" y="1279500"/>
                  </a:lnTo>
                  <a:lnTo>
                    <a:pt x="0" y="1279500"/>
                  </a:lnTo>
                  <a:close/>
                </a:path>
              </a:pathLst>
            </a:custGeom>
            <a:blipFill>
              <a:blip r:embed="rId3">
                <a:alphaModFix amt="0"/>
              </a:blip>
              <a:stretch>
                <a:fillRect l="0" t="-267266" r="3717" b="-228726"/>
              </a:stretch>
            </a:blipFill>
          </p:spPr>
        </p:sp>
        <p:sp>
          <p:nvSpPr>
            <p:cNvPr name="TextBox 17" id="17"/>
            <p:cNvSpPr txBox="true"/>
            <p:nvPr/>
          </p:nvSpPr>
          <p:spPr>
            <a:xfrm>
              <a:off x="0" y="-19050"/>
              <a:ext cx="20323655" cy="1298550"/>
            </a:xfrm>
            <a:prstGeom prst="rect">
              <a:avLst/>
            </a:prstGeom>
          </p:spPr>
          <p:txBody>
            <a:bodyPr anchor="ctr" rtlCol="false" tIns="0" lIns="0" bIns="0" rIns="0"/>
            <a:lstStyle/>
            <a:p>
              <a:pPr algn="l">
                <a:lnSpc>
                  <a:spcPts val="3240"/>
                </a:lnSpc>
              </a:pPr>
              <a:r>
                <a:rPr lang="en-US" sz="2700">
                  <a:solidFill>
                    <a:srgbClr val="666666"/>
                  </a:solidFill>
                  <a:latin typeface="Arimo"/>
                  <a:ea typeface="Arimo"/>
                  <a:cs typeface="Arimo"/>
                  <a:sym typeface="Arimo"/>
                </a:rPr>
                <a:t>이기종 로봇 6대를 연결하는 통합 관제 시스템</a:t>
              </a:r>
            </a:p>
            <a:p>
              <a:pPr algn="l">
                <a:lnSpc>
                  <a:spcPts val="3240"/>
                </a:lnSpc>
              </a:pPr>
              <a:r>
                <a:rPr lang="en-US" sz="2700">
                  <a:solidFill>
                    <a:srgbClr val="666666"/>
                  </a:solidFill>
                  <a:latin typeface="Arimo"/>
                  <a:ea typeface="Arimo"/>
                  <a:cs typeface="Arimo"/>
                  <a:sym typeface="Arimo"/>
                </a:rPr>
                <a:t>7인 팀, FMS 설계 담당</a:t>
              </a:r>
            </a:p>
          </p:txBody>
        </p:sp>
      </p:grpSp>
      <p:sp>
        <p:nvSpPr>
          <p:cNvPr name="Freeform 18" id="18"/>
          <p:cNvSpPr/>
          <p:nvPr/>
        </p:nvSpPr>
        <p:spPr>
          <a:xfrm flipH="false" flipV="false" rot="0">
            <a:off x="4197260" y="5935793"/>
            <a:ext cx="2005287" cy="2005287"/>
          </a:xfrm>
          <a:custGeom>
            <a:avLst/>
            <a:gdLst/>
            <a:ahLst/>
            <a:cxnLst/>
            <a:rect r="r" b="b" t="t" l="l"/>
            <a:pathLst>
              <a:path h="2005287" w="2005287">
                <a:moveTo>
                  <a:pt x="0" y="0"/>
                </a:moveTo>
                <a:lnTo>
                  <a:pt x="2005287" y="0"/>
                </a:lnTo>
                <a:lnTo>
                  <a:pt x="2005287" y="2005287"/>
                </a:lnTo>
                <a:lnTo>
                  <a:pt x="0" y="20052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9" id="19"/>
          <p:cNvSpPr/>
          <p:nvPr/>
        </p:nvSpPr>
        <p:spPr>
          <a:xfrm flipH="false" flipV="false" rot="0">
            <a:off x="8188521" y="5935793"/>
            <a:ext cx="2005287" cy="2005287"/>
          </a:xfrm>
          <a:custGeom>
            <a:avLst/>
            <a:gdLst/>
            <a:ahLst/>
            <a:cxnLst/>
            <a:rect r="r" b="b" t="t" l="l"/>
            <a:pathLst>
              <a:path h="2005287" w="2005287">
                <a:moveTo>
                  <a:pt x="0" y="0"/>
                </a:moveTo>
                <a:lnTo>
                  <a:pt x="2005286" y="0"/>
                </a:lnTo>
                <a:lnTo>
                  <a:pt x="2005286" y="2005287"/>
                </a:lnTo>
                <a:lnTo>
                  <a:pt x="0" y="20052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0" id="20"/>
          <p:cNvSpPr/>
          <p:nvPr/>
        </p:nvSpPr>
        <p:spPr>
          <a:xfrm flipH="false" flipV="false" rot="0">
            <a:off x="12128671" y="5935793"/>
            <a:ext cx="2005287" cy="2005287"/>
          </a:xfrm>
          <a:custGeom>
            <a:avLst/>
            <a:gdLst/>
            <a:ahLst/>
            <a:cxnLst/>
            <a:rect r="r" b="b" t="t" l="l"/>
            <a:pathLst>
              <a:path h="2005287" w="2005287">
                <a:moveTo>
                  <a:pt x="0" y="0"/>
                </a:moveTo>
                <a:lnTo>
                  <a:pt x="2005286" y="0"/>
                </a:lnTo>
                <a:lnTo>
                  <a:pt x="2005286" y="2005287"/>
                </a:lnTo>
                <a:lnTo>
                  <a:pt x="0" y="20052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1" id="21"/>
          <p:cNvGrpSpPr/>
          <p:nvPr/>
        </p:nvGrpSpPr>
        <p:grpSpPr>
          <a:xfrm rot="0">
            <a:off x="3947433" y="8098648"/>
            <a:ext cx="2504941" cy="513671"/>
            <a:chOff x="0" y="0"/>
            <a:chExt cx="3339921" cy="684895"/>
          </a:xfrm>
        </p:grpSpPr>
        <p:sp>
          <p:nvSpPr>
            <p:cNvPr name="Freeform 22" id="22"/>
            <p:cNvSpPr/>
            <p:nvPr/>
          </p:nvSpPr>
          <p:spPr>
            <a:xfrm flipH="false" flipV="false" rot="0">
              <a:off x="0" y="0"/>
              <a:ext cx="3339926" cy="684900"/>
            </a:xfrm>
            <a:custGeom>
              <a:avLst/>
              <a:gdLst/>
              <a:ahLst/>
              <a:cxnLst/>
              <a:rect r="r" b="b" t="t" l="l"/>
              <a:pathLst>
                <a:path h="684900" w="3339926">
                  <a:moveTo>
                    <a:pt x="0" y="0"/>
                  </a:moveTo>
                  <a:lnTo>
                    <a:pt x="3339926" y="0"/>
                  </a:lnTo>
                  <a:lnTo>
                    <a:pt x="3339926" y="684900"/>
                  </a:lnTo>
                  <a:lnTo>
                    <a:pt x="0" y="684900"/>
                  </a:lnTo>
                  <a:close/>
                </a:path>
              </a:pathLst>
            </a:custGeom>
            <a:blipFill>
              <a:blip r:embed="rId3">
                <a:alphaModFix amt="0"/>
              </a:blip>
              <a:stretch>
                <a:fillRect l="0" t="-89149" r="-41959" b="-80627"/>
              </a:stretch>
            </a:blipFill>
          </p:spPr>
        </p:sp>
        <p:sp>
          <p:nvSpPr>
            <p:cNvPr name="TextBox 23" id="23"/>
            <p:cNvSpPr txBox="true"/>
            <p:nvPr/>
          </p:nvSpPr>
          <p:spPr>
            <a:xfrm>
              <a:off x="0" y="-9525"/>
              <a:ext cx="3339921" cy="694420"/>
            </a:xfrm>
            <a:prstGeom prst="rect">
              <a:avLst/>
            </a:prstGeom>
          </p:spPr>
          <p:txBody>
            <a:bodyPr anchor="ctr" rtlCol="false" tIns="0" lIns="0" bIns="0" rIns="0"/>
            <a:lstStyle/>
            <a:p>
              <a:pPr algn="ctr">
                <a:lnSpc>
                  <a:spcPts val="3060"/>
                </a:lnSpc>
              </a:pPr>
              <a:r>
                <a:rPr lang="en-US" sz="2550" b="true">
                  <a:solidFill>
                    <a:srgbClr val="111111"/>
                  </a:solidFill>
                  <a:latin typeface="Arimo Bold"/>
                  <a:ea typeface="Arimo Bold"/>
                  <a:cs typeface="Arimo Bold"/>
                  <a:sym typeface="Arimo Bold"/>
                </a:rPr>
                <a:t>다중 로봇 관제</a:t>
              </a:r>
            </a:p>
          </p:txBody>
        </p:sp>
      </p:grpSp>
      <p:grpSp>
        <p:nvGrpSpPr>
          <p:cNvPr name="Group 24" id="24"/>
          <p:cNvGrpSpPr/>
          <p:nvPr/>
        </p:nvGrpSpPr>
        <p:grpSpPr>
          <a:xfrm rot="0">
            <a:off x="7938693" y="8050858"/>
            <a:ext cx="2504941" cy="513671"/>
            <a:chOff x="0" y="0"/>
            <a:chExt cx="3339921" cy="684895"/>
          </a:xfrm>
        </p:grpSpPr>
        <p:sp>
          <p:nvSpPr>
            <p:cNvPr name="Freeform 25" id="25"/>
            <p:cNvSpPr/>
            <p:nvPr/>
          </p:nvSpPr>
          <p:spPr>
            <a:xfrm flipH="false" flipV="false" rot="0">
              <a:off x="0" y="0"/>
              <a:ext cx="3339926" cy="684900"/>
            </a:xfrm>
            <a:custGeom>
              <a:avLst/>
              <a:gdLst/>
              <a:ahLst/>
              <a:cxnLst/>
              <a:rect r="r" b="b" t="t" l="l"/>
              <a:pathLst>
                <a:path h="684900" w="3339926">
                  <a:moveTo>
                    <a:pt x="0" y="0"/>
                  </a:moveTo>
                  <a:lnTo>
                    <a:pt x="3339926" y="0"/>
                  </a:lnTo>
                  <a:lnTo>
                    <a:pt x="3339926" y="684900"/>
                  </a:lnTo>
                  <a:lnTo>
                    <a:pt x="0" y="684900"/>
                  </a:lnTo>
                  <a:close/>
                </a:path>
              </a:pathLst>
            </a:custGeom>
            <a:blipFill>
              <a:blip r:embed="rId3">
                <a:alphaModFix amt="0"/>
              </a:blip>
              <a:stretch>
                <a:fillRect l="0" t="-89149" r="-41959" b="-80627"/>
              </a:stretch>
            </a:blipFill>
          </p:spPr>
        </p:sp>
        <p:sp>
          <p:nvSpPr>
            <p:cNvPr name="TextBox 26" id="26"/>
            <p:cNvSpPr txBox="true"/>
            <p:nvPr/>
          </p:nvSpPr>
          <p:spPr>
            <a:xfrm>
              <a:off x="0" y="-9525"/>
              <a:ext cx="3339921" cy="694420"/>
            </a:xfrm>
            <a:prstGeom prst="rect">
              <a:avLst/>
            </a:prstGeom>
          </p:spPr>
          <p:txBody>
            <a:bodyPr anchor="ctr" rtlCol="false" tIns="0" lIns="0" bIns="0" rIns="0"/>
            <a:lstStyle/>
            <a:p>
              <a:pPr algn="ctr">
                <a:lnSpc>
                  <a:spcPts val="3060"/>
                </a:lnSpc>
              </a:pPr>
              <a:r>
                <a:rPr lang="en-US" sz="2550" b="true">
                  <a:solidFill>
                    <a:srgbClr val="111111"/>
                  </a:solidFill>
                  <a:latin typeface="Arimo Bold"/>
                  <a:ea typeface="Arimo Bold"/>
                  <a:cs typeface="Arimo Bold"/>
                  <a:sym typeface="Arimo Bold"/>
                </a:rPr>
                <a:t>작업 배정</a:t>
              </a:r>
            </a:p>
          </p:txBody>
        </p:sp>
      </p:grpSp>
      <p:grpSp>
        <p:nvGrpSpPr>
          <p:cNvPr name="Group 27" id="27"/>
          <p:cNvGrpSpPr/>
          <p:nvPr/>
        </p:nvGrpSpPr>
        <p:grpSpPr>
          <a:xfrm rot="0">
            <a:off x="11878843" y="8003068"/>
            <a:ext cx="2504941" cy="513671"/>
            <a:chOff x="0" y="0"/>
            <a:chExt cx="3339921" cy="684895"/>
          </a:xfrm>
        </p:grpSpPr>
        <p:sp>
          <p:nvSpPr>
            <p:cNvPr name="Freeform 28" id="28"/>
            <p:cNvSpPr/>
            <p:nvPr/>
          </p:nvSpPr>
          <p:spPr>
            <a:xfrm flipH="false" flipV="false" rot="0">
              <a:off x="0" y="0"/>
              <a:ext cx="3339926" cy="684900"/>
            </a:xfrm>
            <a:custGeom>
              <a:avLst/>
              <a:gdLst/>
              <a:ahLst/>
              <a:cxnLst/>
              <a:rect r="r" b="b" t="t" l="l"/>
              <a:pathLst>
                <a:path h="684900" w="3339926">
                  <a:moveTo>
                    <a:pt x="0" y="0"/>
                  </a:moveTo>
                  <a:lnTo>
                    <a:pt x="3339926" y="0"/>
                  </a:lnTo>
                  <a:lnTo>
                    <a:pt x="3339926" y="684900"/>
                  </a:lnTo>
                  <a:lnTo>
                    <a:pt x="0" y="684900"/>
                  </a:lnTo>
                  <a:close/>
                </a:path>
              </a:pathLst>
            </a:custGeom>
            <a:blipFill>
              <a:blip r:embed="rId3">
                <a:alphaModFix amt="0"/>
              </a:blip>
              <a:stretch>
                <a:fillRect l="0" t="-89149" r="-41959" b="-80627"/>
              </a:stretch>
            </a:blipFill>
          </p:spPr>
        </p:sp>
        <p:sp>
          <p:nvSpPr>
            <p:cNvPr name="TextBox 29" id="29"/>
            <p:cNvSpPr txBox="true"/>
            <p:nvPr/>
          </p:nvSpPr>
          <p:spPr>
            <a:xfrm>
              <a:off x="0" y="-9525"/>
              <a:ext cx="3339921" cy="694420"/>
            </a:xfrm>
            <a:prstGeom prst="rect">
              <a:avLst/>
            </a:prstGeom>
          </p:spPr>
          <p:txBody>
            <a:bodyPr anchor="ctr" rtlCol="false" tIns="0" lIns="0" bIns="0" rIns="0"/>
            <a:lstStyle/>
            <a:p>
              <a:pPr algn="ctr">
                <a:lnSpc>
                  <a:spcPts val="3060"/>
                </a:lnSpc>
              </a:pPr>
              <a:r>
                <a:rPr lang="en-US" sz="2550" b="true">
                  <a:solidFill>
                    <a:srgbClr val="111111"/>
                  </a:solidFill>
                  <a:latin typeface="Arimo Bold"/>
                  <a:ea typeface="Arimo Bold"/>
                  <a:cs typeface="Arimo Bold"/>
                  <a:sym typeface="Arimo Bold"/>
                </a:rPr>
                <a:t>교통 관리</a:t>
              </a:r>
            </a:p>
          </p:txBody>
        </p:sp>
      </p:grpSp>
      <p:grpSp>
        <p:nvGrpSpPr>
          <p:cNvPr name="Group 30" id="30"/>
          <p:cNvGrpSpPr/>
          <p:nvPr/>
        </p:nvGrpSpPr>
        <p:grpSpPr>
          <a:xfrm rot="0">
            <a:off x="10443635" y="2494516"/>
            <a:ext cx="6438900" cy="2817019"/>
            <a:chOff x="0" y="0"/>
            <a:chExt cx="8585200" cy="3756025"/>
          </a:xfrm>
        </p:grpSpPr>
        <p:sp>
          <p:nvSpPr>
            <p:cNvPr name="Freeform 31" id="31" descr="tb3_01 표시의 실제 관제 웹앱 / 상태 모사"/>
            <p:cNvSpPr/>
            <p:nvPr/>
          </p:nvSpPr>
          <p:spPr>
            <a:xfrm flipH="false" flipV="false" rot="0">
              <a:off x="0" y="0"/>
              <a:ext cx="8585200" cy="3756025"/>
            </a:xfrm>
            <a:custGeom>
              <a:avLst/>
              <a:gdLst/>
              <a:ahLst/>
              <a:cxnLst/>
              <a:rect r="r" b="b" t="t" l="l"/>
              <a:pathLst>
                <a:path h="3756025" w="8585200">
                  <a:moveTo>
                    <a:pt x="0" y="0"/>
                  </a:moveTo>
                  <a:lnTo>
                    <a:pt x="8585200" y="0"/>
                  </a:lnTo>
                  <a:lnTo>
                    <a:pt x="8585200" y="3756025"/>
                  </a:lnTo>
                  <a:lnTo>
                    <a:pt x="0" y="3756025"/>
                  </a:lnTo>
                  <a:lnTo>
                    <a:pt x="0" y="0"/>
                  </a:lnTo>
                  <a:close/>
                </a:path>
              </a:pathLst>
            </a:custGeom>
            <a:blipFill>
              <a:blip r:embed="rId10"/>
              <a:stretch>
                <a:fillRect l="0" t="0" r="0" b="0"/>
              </a:stretch>
            </a:blipFill>
          </p:spPr>
        </p:sp>
      </p:grpSp>
      <p:sp>
        <p:nvSpPr>
          <p:cNvPr name="TextBox 32" id="32"/>
          <p:cNvSpPr txBox="true"/>
          <p:nvPr/>
        </p:nvSpPr>
        <p:spPr>
          <a:xfrm rot="0">
            <a:off x="10443635" y="5573081"/>
            <a:ext cx="6438900" cy="362712"/>
          </a:xfrm>
          <a:prstGeom prst="rect">
            <a:avLst/>
          </a:prstGeom>
        </p:spPr>
        <p:txBody>
          <a:bodyPr anchor="t" rtlCol="false" tIns="0" lIns="0" bIns="0" rIns="0">
            <a:spAutoFit/>
          </a:bodyPr>
          <a:lstStyle/>
          <a:p>
            <a:pPr algn="ctr">
              <a:lnSpc>
                <a:spcPts val="2332"/>
              </a:lnSpc>
            </a:pPr>
            <a:r>
              <a:rPr lang="en-US" sz="1800">
                <a:solidFill>
                  <a:srgbClr val="666666"/>
                </a:solidFill>
                <a:latin typeface="Arimo"/>
                <a:ea typeface="Arimo"/>
                <a:cs typeface="Arimo"/>
                <a:sym typeface="Arimo"/>
              </a:rPr>
              <a:t>FMS 작업 진행 화면</a:t>
            </a:r>
          </a:p>
        </p:txBody>
      </p:sp>
      <p:sp>
        <p:nvSpPr>
          <p:cNvPr name="TextBox 33" id="33"/>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15</a:t>
            </a:r>
          </a:p>
        </p:txBody>
      </p:sp>
      <p:grpSp>
        <p:nvGrpSpPr>
          <p:cNvPr name="Group 34" id="34"/>
          <p:cNvGrpSpPr/>
          <p:nvPr/>
        </p:nvGrpSpPr>
        <p:grpSpPr>
          <a:xfrm rot="0">
            <a:off x="1310946" y="5762983"/>
            <a:ext cx="15242741" cy="452598"/>
            <a:chOff x="0" y="0"/>
            <a:chExt cx="20323655" cy="603465"/>
          </a:xfrm>
        </p:grpSpPr>
        <p:grpSp>
          <p:nvGrpSpPr>
            <p:cNvPr name="Group 35" id="35"/>
            <p:cNvGrpSpPr/>
            <p:nvPr/>
          </p:nvGrpSpPr>
          <p:grpSpPr>
            <a:xfrm rot="0">
              <a:off x="0" y="477481"/>
              <a:ext cx="1223007" cy="125984"/>
              <a:chOff x="0" y="0"/>
              <a:chExt cx="1223007" cy="125984"/>
            </a:xfrm>
          </p:grpSpPr>
          <p:sp>
            <p:nvSpPr>
              <p:cNvPr name="Freeform 36" id="36"/>
              <p:cNvSpPr/>
              <p:nvPr/>
            </p:nvSpPr>
            <p:spPr>
              <a:xfrm flipH="false" flipV="false" rot="0">
                <a:off x="0" y="0"/>
                <a:ext cx="1223007" cy="125984"/>
              </a:xfrm>
              <a:custGeom>
                <a:avLst/>
                <a:gdLst/>
                <a:ahLst/>
                <a:cxnLst/>
                <a:rect r="r" b="b" t="t" l="l"/>
                <a:pathLst>
                  <a:path h="125984" w="1223007">
                    <a:moveTo>
                      <a:pt x="0" y="0"/>
                    </a:moveTo>
                    <a:lnTo>
                      <a:pt x="1223007" y="0"/>
                    </a:lnTo>
                    <a:lnTo>
                      <a:pt x="1223007" y="125984"/>
                    </a:lnTo>
                    <a:lnTo>
                      <a:pt x="0" y="125984"/>
                    </a:lnTo>
                    <a:close/>
                  </a:path>
                </a:pathLst>
              </a:custGeom>
              <a:solidFill>
                <a:srgbClr val="A14678"/>
              </a:solidFill>
              <a:ln w="19050" cap="sq">
                <a:solidFill>
                  <a:srgbClr val="A14678"/>
                </a:solidFill>
                <a:prstDash val="solid"/>
                <a:miter/>
              </a:ln>
            </p:spPr>
          </p:sp>
        </p:grpSp>
        <p:grpSp>
          <p:nvGrpSpPr>
            <p:cNvPr name="Group 37" id="37"/>
            <p:cNvGrpSpPr/>
            <p:nvPr/>
          </p:nvGrpSpPr>
          <p:grpSpPr>
            <a:xfrm rot="0">
              <a:off x="0" y="0"/>
              <a:ext cx="20323655" cy="460828"/>
              <a:chOff x="0" y="0"/>
              <a:chExt cx="20323655" cy="460828"/>
            </a:xfrm>
          </p:grpSpPr>
          <p:sp>
            <p:nvSpPr>
              <p:cNvPr name="Freeform 38" id="38"/>
              <p:cNvSpPr/>
              <p:nvPr/>
            </p:nvSpPr>
            <p:spPr>
              <a:xfrm flipH="false" flipV="false" rot="0">
                <a:off x="0" y="0"/>
                <a:ext cx="20323656" cy="460828"/>
              </a:xfrm>
              <a:custGeom>
                <a:avLst/>
                <a:gdLst/>
                <a:ahLst/>
                <a:cxnLst/>
                <a:rect r="r" b="b" t="t" l="l"/>
                <a:pathLst>
                  <a:path h="460828" w="20323656">
                    <a:moveTo>
                      <a:pt x="0" y="0"/>
                    </a:moveTo>
                    <a:lnTo>
                      <a:pt x="20323656" y="0"/>
                    </a:lnTo>
                    <a:lnTo>
                      <a:pt x="20323656" y="460828"/>
                    </a:lnTo>
                    <a:lnTo>
                      <a:pt x="0" y="460828"/>
                    </a:lnTo>
                    <a:close/>
                  </a:path>
                </a:pathLst>
              </a:custGeom>
              <a:blipFill>
                <a:blip r:embed="rId3">
                  <a:alphaModFix amt="0"/>
                </a:blip>
                <a:stretch>
                  <a:fillRect l="0" t="-742070" r="3717" b="-812716"/>
                </a:stretch>
              </a:blipFill>
            </p:spPr>
          </p:sp>
          <p:sp>
            <p:nvSpPr>
              <p:cNvPr name="TextBox 39" id="39"/>
              <p:cNvSpPr txBox="true"/>
              <p:nvPr/>
            </p:nvSpPr>
            <p:spPr>
              <a:xfrm>
                <a:off x="0" y="-19050"/>
                <a:ext cx="20323655" cy="479878"/>
              </a:xfrm>
              <a:prstGeom prst="rect">
                <a:avLst/>
              </a:prstGeom>
            </p:spPr>
            <p:txBody>
              <a:bodyPr anchor="ctr" rtlCol="false" tIns="0" lIns="0" bIns="0" rIns="0"/>
              <a:lstStyle/>
              <a:p>
                <a:pPr algn="l">
                  <a:lnSpc>
                    <a:spcPts val="2039"/>
                  </a:lnSpc>
                </a:pPr>
                <a:r>
                  <a:rPr lang="en-US" sz="1699" b="true">
                    <a:solidFill>
                      <a:srgbClr val="934C73"/>
                    </a:solidFill>
                    <a:latin typeface="Arimo Bold"/>
                    <a:ea typeface="Arimo Bold"/>
                    <a:cs typeface="Arimo Bold"/>
                    <a:sym typeface="Arimo Bold"/>
                  </a:rPr>
                  <a:t>2026.06~07 | 교육과정 프로젝트 경진대회 대상</a:t>
                </a:r>
              </a:p>
            </p:txBody>
          </p:sp>
        </p:gr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8F6"/>
        </a:solidFill>
      </p:bgPr>
    </p:bg>
    <p:spTree>
      <p:nvGrpSpPr>
        <p:cNvPr id="1" name=""/>
        <p:cNvGrpSpPr/>
        <p:nvPr/>
      </p:nvGrpSpPr>
      <p:grpSpPr>
        <a:xfrm>
          <a:off x="0" y="0"/>
          <a:ext cx="0" cy="0"/>
          <a:chOff x="0" y="0"/>
          <a:chExt cx="0" cy="0"/>
        </a:xfrm>
      </p:grpSpPr>
      <p:sp>
        <p:nvSpPr>
          <p:cNvPr name="TextBox 2" id="2"/>
          <p:cNvSpPr txBox="true"/>
          <p:nvPr/>
        </p:nvSpPr>
        <p:spPr>
          <a:xfrm rot="0">
            <a:off x="762000" y="729615"/>
            <a:ext cx="15875003" cy="299085"/>
          </a:xfrm>
          <a:prstGeom prst="rect">
            <a:avLst/>
          </a:prstGeom>
        </p:spPr>
        <p:txBody>
          <a:bodyPr anchor="t" rtlCol="false" tIns="0" lIns="0" bIns="0" rIns="0">
            <a:spAutoFit/>
          </a:bodyPr>
          <a:lstStyle/>
          <a:p>
            <a:pPr algn="l">
              <a:lnSpc>
                <a:spcPts val="1944"/>
              </a:lnSpc>
            </a:pPr>
            <a:r>
              <a:rPr lang="en-US" sz="1500" b="true">
                <a:solidFill>
                  <a:srgbClr val="666666"/>
                </a:solidFill>
                <a:latin typeface="Arimo Bold"/>
                <a:ea typeface="Arimo Bold"/>
                <a:cs typeface="Arimo Bold"/>
                <a:sym typeface="Arimo Bold"/>
              </a:rPr>
              <a:t>VICPINKY CARRIER</a:t>
            </a:r>
          </a:p>
        </p:txBody>
      </p:sp>
      <p:sp>
        <p:nvSpPr>
          <p:cNvPr name="TextBox 3" id="3"/>
          <p:cNvSpPr txBox="true"/>
          <p:nvPr/>
        </p:nvSpPr>
        <p:spPr>
          <a:xfrm rot="0">
            <a:off x="762000" y="1041397"/>
            <a:ext cx="16764000" cy="763524"/>
          </a:xfrm>
          <a:prstGeom prst="rect">
            <a:avLst/>
          </a:prstGeom>
        </p:spPr>
        <p:txBody>
          <a:bodyPr anchor="t" rtlCol="false" tIns="0" lIns="0" bIns="0" rIns="0">
            <a:spAutoFit/>
          </a:bodyPr>
          <a:lstStyle/>
          <a:p>
            <a:pPr algn="l">
              <a:lnSpc>
                <a:spcPts val="5241"/>
              </a:lnSpc>
            </a:pPr>
            <a:r>
              <a:rPr lang="en-US" sz="4200" b="true">
                <a:solidFill>
                  <a:srgbClr val="111111"/>
                </a:solidFill>
                <a:latin typeface="Arimo Bold"/>
                <a:ea typeface="Arimo Bold"/>
                <a:cs typeface="Arimo Bold"/>
                <a:sym typeface="Arimo Bold"/>
              </a:rPr>
              <a:t>조난자 좌표를 구호 작업의 목적지로 연결</a:t>
            </a:r>
          </a:p>
        </p:txBody>
      </p:sp>
      <p:grpSp>
        <p:nvGrpSpPr>
          <p:cNvPr name="Group 4" id="4"/>
          <p:cNvGrpSpPr/>
          <p:nvPr/>
        </p:nvGrpSpPr>
        <p:grpSpPr>
          <a:xfrm rot="0">
            <a:off x="746122" y="2574922"/>
            <a:ext cx="11461747" cy="6711953"/>
            <a:chOff x="0" y="0"/>
            <a:chExt cx="15282329" cy="8949271"/>
          </a:xfrm>
        </p:grpSpPr>
        <p:sp>
          <p:nvSpPr>
            <p:cNvPr name="Freeform 5" id="5"/>
            <p:cNvSpPr/>
            <p:nvPr/>
          </p:nvSpPr>
          <p:spPr>
            <a:xfrm flipH="false" flipV="false" rot="0">
              <a:off x="0" y="0"/>
              <a:ext cx="15282419" cy="8949309"/>
            </a:xfrm>
            <a:custGeom>
              <a:avLst/>
              <a:gdLst/>
              <a:ahLst/>
              <a:cxnLst/>
              <a:rect r="r" b="b" t="t" l="l"/>
              <a:pathLst>
                <a:path h="8949309" w="15282419">
                  <a:moveTo>
                    <a:pt x="0" y="136144"/>
                  </a:moveTo>
                  <a:cubicBezTo>
                    <a:pt x="0" y="60960"/>
                    <a:pt x="60960" y="0"/>
                    <a:pt x="136144" y="0"/>
                  </a:cubicBezTo>
                  <a:lnTo>
                    <a:pt x="15146274" y="0"/>
                  </a:lnTo>
                  <a:cubicBezTo>
                    <a:pt x="15221458" y="0"/>
                    <a:pt x="15282419" y="60960"/>
                    <a:pt x="15282419" y="136144"/>
                  </a:cubicBezTo>
                  <a:lnTo>
                    <a:pt x="15282419" y="8813165"/>
                  </a:lnTo>
                  <a:cubicBezTo>
                    <a:pt x="15282419" y="8888349"/>
                    <a:pt x="15221458" y="8949309"/>
                    <a:pt x="15146274" y="8949309"/>
                  </a:cubicBezTo>
                  <a:lnTo>
                    <a:pt x="136144" y="8949309"/>
                  </a:lnTo>
                  <a:cubicBezTo>
                    <a:pt x="60960" y="8949309"/>
                    <a:pt x="0" y="8888349"/>
                    <a:pt x="0" y="8813165"/>
                  </a:cubicBezTo>
                  <a:close/>
                </a:path>
              </a:pathLst>
            </a:custGeom>
            <a:blipFill>
              <a:blip r:embed="rId3"/>
              <a:stretch>
                <a:fillRect l="-2052" t="0" r="-2052" b="0"/>
              </a:stretch>
            </a:blipFill>
            <a:ln w="38100" cap="sq">
              <a:solidFill>
                <a:srgbClr val="111111"/>
              </a:solidFill>
              <a:prstDash val="solid"/>
              <a:miter/>
            </a:ln>
          </p:spPr>
        </p:sp>
      </p:grpSp>
      <p:grpSp>
        <p:nvGrpSpPr>
          <p:cNvPr name="Group 6" id="6"/>
          <p:cNvGrpSpPr/>
          <p:nvPr/>
        </p:nvGrpSpPr>
        <p:grpSpPr>
          <a:xfrm rot="0">
            <a:off x="12531728" y="2574922"/>
            <a:ext cx="5010150" cy="1847850"/>
            <a:chOff x="0" y="0"/>
            <a:chExt cx="6680200" cy="2463800"/>
          </a:xfrm>
        </p:grpSpPr>
        <p:sp>
          <p:nvSpPr>
            <p:cNvPr name="Freeform 7" id="7"/>
            <p:cNvSpPr/>
            <p:nvPr/>
          </p:nvSpPr>
          <p:spPr>
            <a:xfrm flipH="false" flipV="false" rot="0">
              <a:off x="0" y="0"/>
              <a:ext cx="6680200" cy="2463800"/>
            </a:xfrm>
            <a:custGeom>
              <a:avLst/>
              <a:gdLst/>
              <a:ahLst/>
              <a:cxnLst/>
              <a:rect r="r" b="b" t="t" l="l"/>
              <a:pathLst>
                <a:path h="2463800" w="6680200">
                  <a:moveTo>
                    <a:pt x="0" y="137795"/>
                  </a:moveTo>
                  <a:cubicBezTo>
                    <a:pt x="0" y="61722"/>
                    <a:pt x="61722" y="0"/>
                    <a:pt x="137795" y="0"/>
                  </a:cubicBezTo>
                  <a:lnTo>
                    <a:pt x="6542405" y="0"/>
                  </a:lnTo>
                  <a:cubicBezTo>
                    <a:pt x="6618478" y="0"/>
                    <a:pt x="6680200" y="61722"/>
                    <a:pt x="6680200" y="137795"/>
                  </a:cubicBezTo>
                  <a:lnTo>
                    <a:pt x="6680200" y="2326005"/>
                  </a:lnTo>
                  <a:cubicBezTo>
                    <a:pt x="6680200" y="2402078"/>
                    <a:pt x="6618478" y="2463800"/>
                    <a:pt x="6542405" y="2463800"/>
                  </a:cubicBezTo>
                  <a:lnTo>
                    <a:pt x="137795" y="2463800"/>
                  </a:lnTo>
                  <a:cubicBezTo>
                    <a:pt x="61722" y="2463800"/>
                    <a:pt x="0" y="2402078"/>
                    <a:pt x="0" y="2326005"/>
                  </a:cubicBezTo>
                  <a:close/>
                </a:path>
              </a:pathLst>
            </a:custGeom>
            <a:solidFill>
              <a:srgbClr val="FFFFFF"/>
            </a:solidFill>
            <a:ln w="19050" cap="sq">
              <a:solidFill>
                <a:srgbClr val="111111"/>
              </a:solidFill>
              <a:prstDash val="solid"/>
              <a:miter/>
            </a:ln>
          </p:spPr>
        </p:sp>
      </p:grpSp>
      <p:grpSp>
        <p:nvGrpSpPr>
          <p:cNvPr name="Group 8" id="8"/>
          <p:cNvGrpSpPr/>
          <p:nvPr/>
        </p:nvGrpSpPr>
        <p:grpSpPr>
          <a:xfrm rot="0">
            <a:off x="12795247" y="2838450"/>
            <a:ext cx="520703" cy="406403"/>
            <a:chOff x="0" y="0"/>
            <a:chExt cx="694271" cy="541871"/>
          </a:xfrm>
        </p:grpSpPr>
        <p:sp>
          <p:nvSpPr>
            <p:cNvPr name="Freeform 9" id="9"/>
            <p:cNvSpPr/>
            <p:nvPr/>
          </p:nvSpPr>
          <p:spPr>
            <a:xfrm flipH="false" flipV="false" rot="0">
              <a:off x="0" y="0"/>
              <a:ext cx="694309" cy="541909"/>
            </a:xfrm>
            <a:custGeom>
              <a:avLst/>
              <a:gdLst/>
              <a:ahLst/>
              <a:cxnLst/>
              <a:rect r="r" b="b" t="t" l="l"/>
              <a:pathLst>
                <a:path h="541909" w="694309">
                  <a:moveTo>
                    <a:pt x="0" y="139827"/>
                  </a:moveTo>
                  <a:cubicBezTo>
                    <a:pt x="0" y="62611"/>
                    <a:pt x="62611" y="0"/>
                    <a:pt x="139827" y="0"/>
                  </a:cubicBezTo>
                  <a:lnTo>
                    <a:pt x="554482" y="0"/>
                  </a:lnTo>
                  <a:cubicBezTo>
                    <a:pt x="631698" y="0"/>
                    <a:pt x="694309" y="62611"/>
                    <a:pt x="694309" y="139827"/>
                  </a:cubicBezTo>
                  <a:lnTo>
                    <a:pt x="694309" y="402082"/>
                  </a:lnTo>
                  <a:cubicBezTo>
                    <a:pt x="694309" y="479298"/>
                    <a:pt x="631698" y="541909"/>
                    <a:pt x="554482" y="541909"/>
                  </a:cubicBezTo>
                  <a:lnTo>
                    <a:pt x="139827" y="541909"/>
                  </a:lnTo>
                  <a:cubicBezTo>
                    <a:pt x="62611" y="541909"/>
                    <a:pt x="0" y="479298"/>
                    <a:pt x="0" y="402082"/>
                  </a:cubicBezTo>
                  <a:close/>
                </a:path>
              </a:pathLst>
            </a:custGeom>
            <a:solidFill>
              <a:srgbClr val="F6EEF2"/>
            </a:solidFill>
          </p:spPr>
        </p:sp>
      </p:grpSp>
      <p:sp>
        <p:nvSpPr>
          <p:cNvPr name="TextBox 10" id="10"/>
          <p:cNvSpPr txBox="true"/>
          <p:nvPr/>
        </p:nvSpPr>
        <p:spPr>
          <a:xfrm rot="0">
            <a:off x="12801600" y="2879722"/>
            <a:ext cx="507997" cy="322202"/>
          </a:xfrm>
          <a:prstGeom prst="rect">
            <a:avLst/>
          </a:prstGeom>
        </p:spPr>
        <p:txBody>
          <a:bodyPr anchor="t" rtlCol="false" tIns="0" lIns="0" bIns="0" rIns="0">
            <a:spAutoFit/>
          </a:bodyPr>
          <a:lstStyle/>
          <a:p>
            <a:pPr algn="ctr">
              <a:lnSpc>
                <a:spcPts val="2121"/>
              </a:lnSpc>
            </a:pPr>
            <a:r>
              <a:rPr lang="en-US" sz="1700" b="true">
                <a:solidFill>
                  <a:srgbClr val="A14678"/>
                </a:solidFill>
                <a:latin typeface="Arimo Bold"/>
                <a:ea typeface="Arimo Bold"/>
                <a:cs typeface="Arimo Bold"/>
                <a:sym typeface="Arimo Bold"/>
              </a:rPr>
              <a:t>01</a:t>
            </a:r>
          </a:p>
        </p:txBody>
      </p:sp>
      <p:sp>
        <p:nvSpPr>
          <p:cNvPr name="TextBox 11" id="11"/>
          <p:cNvSpPr txBox="true"/>
          <p:nvPr/>
        </p:nvSpPr>
        <p:spPr>
          <a:xfrm rot="0">
            <a:off x="13474703" y="2828925"/>
            <a:ext cx="3759203" cy="403860"/>
          </a:xfrm>
          <a:prstGeom prst="rect">
            <a:avLst/>
          </a:prstGeom>
        </p:spPr>
        <p:txBody>
          <a:bodyPr anchor="t" rtlCol="false" tIns="0" lIns="0" bIns="0" rIns="0">
            <a:spAutoFit/>
          </a:bodyPr>
          <a:lstStyle/>
          <a:p>
            <a:pPr algn="l">
              <a:lnSpc>
                <a:spcPts val="3119"/>
              </a:lnSpc>
            </a:pPr>
            <a:r>
              <a:rPr lang="en-US" sz="2499" b="true">
                <a:solidFill>
                  <a:srgbClr val="111111"/>
                </a:solidFill>
                <a:latin typeface="Arimo Bold"/>
                <a:ea typeface="Arimo Bold"/>
                <a:cs typeface="Arimo Bold"/>
                <a:sym typeface="Arimo Bold"/>
              </a:rPr>
              <a:t>조난자 좌표 수신</a:t>
            </a:r>
          </a:p>
        </p:txBody>
      </p:sp>
      <p:grpSp>
        <p:nvGrpSpPr>
          <p:cNvPr name="Group 12" id="12"/>
          <p:cNvGrpSpPr/>
          <p:nvPr/>
        </p:nvGrpSpPr>
        <p:grpSpPr>
          <a:xfrm rot="0">
            <a:off x="12531728" y="4772025"/>
            <a:ext cx="5010150" cy="2063753"/>
            <a:chOff x="0" y="0"/>
            <a:chExt cx="6680200" cy="2751671"/>
          </a:xfrm>
        </p:grpSpPr>
        <p:sp>
          <p:nvSpPr>
            <p:cNvPr name="Freeform 13" id="13"/>
            <p:cNvSpPr/>
            <p:nvPr/>
          </p:nvSpPr>
          <p:spPr>
            <a:xfrm flipH="false" flipV="false" rot="0">
              <a:off x="0" y="0"/>
              <a:ext cx="6680200" cy="2751582"/>
            </a:xfrm>
            <a:custGeom>
              <a:avLst/>
              <a:gdLst/>
              <a:ahLst/>
              <a:cxnLst/>
              <a:rect r="r" b="b" t="t" l="l"/>
              <a:pathLst>
                <a:path h="2751582" w="6680200">
                  <a:moveTo>
                    <a:pt x="0" y="137541"/>
                  </a:moveTo>
                  <a:cubicBezTo>
                    <a:pt x="0" y="61595"/>
                    <a:pt x="61595" y="0"/>
                    <a:pt x="137541" y="0"/>
                  </a:cubicBezTo>
                  <a:lnTo>
                    <a:pt x="6542659" y="0"/>
                  </a:lnTo>
                  <a:cubicBezTo>
                    <a:pt x="6618605" y="0"/>
                    <a:pt x="6680200" y="61595"/>
                    <a:pt x="6680200" y="137541"/>
                  </a:cubicBezTo>
                  <a:lnTo>
                    <a:pt x="6680200" y="2614041"/>
                  </a:lnTo>
                  <a:cubicBezTo>
                    <a:pt x="6680200" y="2689987"/>
                    <a:pt x="6618605" y="2751582"/>
                    <a:pt x="6542659" y="2751582"/>
                  </a:cubicBezTo>
                  <a:lnTo>
                    <a:pt x="137541" y="2751582"/>
                  </a:lnTo>
                  <a:cubicBezTo>
                    <a:pt x="61595" y="2751709"/>
                    <a:pt x="0" y="2690114"/>
                    <a:pt x="0" y="2614041"/>
                  </a:cubicBezTo>
                  <a:close/>
                </a:path>
              </a:pathLst>
            </a:custGeom>
            <a:solidFill>
              <a:srgbClr val="FFFFFF"/>
            </a:solidFill>
            <a:ln w="19050" cap="sq">
              <a:solidFill>
                <a:srgbClr val="111111"/>
              </a:solidFill>
              <a:prstDash val="solid"/>
              <a:miter/>
            </a:ln>
          </p:spPr>
        </p:sp>
      </p:grpSp>
      <p:grpSp>
        <p:nvGrpSpPr>
          <p:cNvPr name="Group 14" id="14"/>
          <p:cNvGrpSpPr/>
          <p:nvPr/>
        </p:nvGrpSpPr>
        <p:grpSpPr>
          <a:xfrm rot="0">
            <a:off x="12795247" y="5035553"/>
            <a:ext cx="520703" cy="406403"/>
            <a:chOff x="0" y="0"/>
            <a:chExt cx="694271" cy="541871"/>
          </a:xfrm>
        </p:grpSpPr>
        <p:sp>
          <p:nvSpPr>
            <p:cNvPr name="Freeform 15" id="15"/>
            <p:cNvSpPr/>
            <p:nvPr/>
          </p:nvSpPr>
          <p:spPr>
            <a:xfrm flipH="false" flipV="false" rot="0">
              <a:off x="0" y="0"/>
              <a:ext cx="694309" cy="541909"/>
            </a:xfrm>
            <a:custGeom>
              <a:avLst/>
              <a:gdLst/>
              <a:ahLst/>
              <a:cxnLst/>
              <a:rect r="r" b="b" t="t" l="l"/>
              <a:pathLst>
                <a:path h="541909" w="694309">
                  <a:moveTo>
                    <a:pt x="0" y="139827"/>
                  </a:moveTo>
                  <a:cubicBezTo>
                    <a:pt x="0" y="62611"/>
                    <a:pt x="62611" y="0"/>
                    <a:pt x="139827" y="0"/>
                  </a:cubicBezTo>
                  <a:lnTo>
                    <a:pt x="554482" y="0"/>
                  </a:lnTo>
                  <a:cubicBezTo>
                    <a:pt x="631698" y="0"/>
                    <a:pt x="694309" y="62611"/>
                    <a:pt x="694309" y="139827"/>
                  </a:cubicBezTo>
                  <a:lnTo>
                    <a:pt x="694309" y="402082"/>
                  </a:lnTo>
                  <a:cubicBezTo>
                    <a:pt x="694309" y="479298"/>
                    <a:pt x="631698" y="541909"/>
                    <a:pt x="554482" y="541909"/>
                  </a:cubicBezTo>
                  <a:lnTo>
                    <a:pt x="139827" y="541909"/>
                  </a:lnTo>
                  <a:cubicBezTo>
                    <a:pt x="62611" y="541909"/>
                    <a:pt x="0" y="479298"/>
                    <a:pt x="0" y="402082"/>
                  </a:cubicBezTo>
                  <a:close/>
                </a:path>
              </a:pathLst>
            </a:custGeom>
            <a:solidFill>
              <a:srgbClr val="F6EEF2"/>
            </a:solidFill>
          </p:spPr>
        </p:sp>
      </p:grpSp>
      <p:sp>
        <p:nvSpPr>
          <p:cNvPr name="TextBox 16" id="16"/>
          <p:cNvSpPr txBox="true"/>
          <p:nvPr/>
        </p:nvSpPr>
        <p:spPr>
          <a:xfrm rot="0">
            <a:off x="12801600" y="5076825"/>
            <a:ext cx="507997" cy="322202"/>
          </a:xfrm>
          <a:prstGeom prst="rect">
            <a:avLst/>
          </a:prstGeom>
        </p:spPr>
        <p:txBody>
          <a:bodyPr anchor="t" rtlCol="false" tIns="0" lIns="0" bIns="0" rIns="0">
            <a:spAutoFit/>
          </a:bodyPr>
          <a:lstStyle/>
          <a:p>
            <a:pPr algn="ctr">
              <a:lnSpc>
                <a:spcPts val="2121"/>
              </a:lnSpc>
            </a:pPr>
            <a:r>
              <a:rPr lang="en-US" sz="1700" b="true">
                <a:solidFill>
                  <a:srgbClr val="A14678"/>
                </a:solidFill>
                <a:latin typeface="Arimo Bold"/>
                <a:ea typeface="Arimo Bold"/>
                <a:cs typeface="Arimo Bold"/>
                <a:sym typeface="Arimo Bold"/>
              </a:rPr>
              <a:t>02</a:t>
            </a:r>
          </a:p>
        </p:txBody>
      </p:sp>
      <p:sp>
        <p:nvSpPr>
          <p:cNvPr name="TextBox 17" id="17"/>
          <p:cNvSpPr txBox="true"/>
          <p:nvPr/>
        </p:nvSpPr>
        <p:spPr>
          <a:xfrm rot="0">
            <a:off x="13474703" y="5026028"/>
            <a:ext cx="3759203" cy="460372"/>
          </a:xfrm>
          <a:prstGeom prst="rect">
            <a:avLst/>
          </a:prstGeom>
        </p:spPr>
        <p:txBody>
          <a:bodyPr anchor="t" rtlCol="false" tIns="0" lIns="0" bIns="0" rIns="0">
            <a:spAutoFit/>
          </a:bodyPr>
          <a:lstStyle/>
          <a:p>
            <a:pPr algn="l">
              <a:lnSpc>
                <a:spcPts val="3119"/>
              </a:lnSpc>
            </a:pPr>
            <a:r>
              <a:rPr lang="en-US" sz="2499" b="true">
                <a:solidFill>
                  <a:srgbClr val="111111"/>
                </a:solidFill>
                <a:latin typeface="Arimo Bold"/>
                <a:ea typeface="Arimo Bold"/>
                <a:cs typeface="Arimo Bold"/>
                <a:sym typeface="Arimo Bold"/>
              </a:rPr>
              <a:t>임시 노드·경로 연결</a:t>
            </a:r>
          </a:p>
        </p:txBody>
      </p:sp>
      <p:grpSp>
        <p:nvGrpSpPr>
          <p:cNvPr name="Group 18" id="18"/>
          <p:cNvGrpSpPr/>
          <p:nvPr/>
        </p:nvGrpSpPr>
        <p:grpSpPr>
          <a:xfrm rot="0">
            <a:off x="12531728" y="7185022"/>
            <a:ext cx="5010150" cy="2101853"/>
            <a:chOff x="0" y="0"/>
            <a:chExt cx="6680200" cy="2802471"/>
          </a:xfrm>
        </p:grpSpPr>
        <p:sp>
          <p:nvSpPr>
            <p:cNvPr name="Freeform 19" id="19"/>
            <p:cNvSpPr/>
            <p:nvPr/>
          </p:nvSpPr>
          <p:spPr>
            <a:xfrm flipH="false" flipV="false" rot="0">
              <a:off x="0" y="0"/>
              <a:ext cx="6680200" cy="2802509"/>
            </a:xfrm>
            <a:custGeom>
              <a:avLst/>
              <a:gdLst/>
              <a:ahLst/>
              <a:cxnLst/>
              <a:rect r="r" b="b" t="t" l="l"/>
              <a:pathLst>
                <a:path h="2802509" w="6680200">
                  <a:moveTo>
                    <a:pt x="0" y="137541"/>
                  </a:moveTo>
                  <a:cubicBezTo>
                    <a:pt x="0" y="61595"/>
                    <a:pt x="61595" y="0"/>
                    <a:pt x="137541" y="0"/>
                  </a:cubicBezTo>
                  <a:lnTo>
                    <a:pt x="6542659" y="0"/>
                  </a:lnTo>
                  <a:cubicBezTo>
                    <a:pt x="6618605" y="0"/>
                    <a:pt x="6680200" y="61595"/>
                    <a:pt x="6680200" y="137541"/>
                  </a:cubicBezTo>
                  <a:lnTo>
                    <a:pt x="6680200" y="2664968"/>
                  </a:lnTo>
                  <a:cubicBezTo>
                    <a:pt x="6680200" y="2740914"/>
                    <a:pt x="6618605" y="2802509"/>
                    <a:pt x="6542659" y="2802509"/>
                  </a:cubicBezTo>
                  <a:lnTo>
                    <a:pt x="137541" y="2802509"/>
                  </a:lnTo>
                  <a:cubicBezTo>
                    <a:pt x="61595" y="2802509"/>
                    <a:pt x="0" y="2740914"/>
                    <a:pt x="0" y="2664968"/>
                  </a:cubicBezTo>
                  <a:close/>
                </a:path>
              </a:pathLst>
            </a:custGeom>
            <a:solidFill>
              <a:srgbClr val="FFFFFF"/>
            </a:solidFill>
            <a:ln w="19050" cap="sq">
              <a:solidFill>
                <a:srgbClr val="111111"/>
              </a:solidFill>
              <a:prstDash val="solid"/>
              <a:miter/>
            </a:ln>
          </p:spPr>
        </p:sp>
      </p:grpSp>
      <p:grpSp>
        <p:nvGrpSpPr>
          <p:cNvPr name="Group 20" id="20"/>
          <p:cNvGrpSpPr/>
          <p:nvPr/>
        </p:nvGrpSpPr>
        <p:grpSpPr>
          <a:xfrm rot="0">
            <a:off x="12795247" y="7448550"/>
            <a:ext cx="520703" cy="406403"/>
            <a:chOff x="0" y="0"/>
            <a:chExt cx="694271" cy="541871"/>
          </a:xfrm>
        </p:grpSpPr>
        <p:sp>
          <p:nvSpPr>
            <p:cNvPr name="Freeform 21" id="21"/>
            <p:cNvSpPr/>
            <p:nvPr/>
          </p:nvSpPr>
          <p:spPr>
            <a:xfrm flipH="false" flipV="false" rot="0">
              <a:off x="0" y="0"/>
              <a:ext cx="694309" cy="541909"/>
            </a:xfrm>
            <a:custGeom>
              <a:avLst/>
              <a:gdLst/>
              <a:ahLst/>
              <a:cxnLst/>
              <a:rect r="r" b="b" t="t" l="l"/>
              <a:pathLst>
                <a:path h="541909" w="694309">
                  <a:moveTo>
                    <a:pt x="0" y="139827"/>
                  </a:moveTo>
                  <a:cubicBezTo>
                    <a:pt x="0" y="62611"/>
                    <a:pt x="62611" y="0"/>
                    <a:pt x="139827" y="0"/>
                  </a:cubicBezTo>
                  <a:lnTo>
                    <a:pt x="554482" y="0"/>
                  </a:lnTo>
                  <a:cubicBezTo>
                    <a:pt x="631698" y="0"/>
                    <a:pt x="694309" y="62611"/>
                    <a:pt x="694309" y="139827"/>
                  </a:cubicBezTo>
                  <a:lnTo>
                    <a:pt x="694309" y="402082"/>
                  </a:lnTo>
                  <a:cubicBezTo>
                    <a:pt x="694309" y="479298"/>
                    <a:pt x="631698" y="541909"/>
                    <a:pt x="554482" y="541909"/>
                  </a:cubicBezTo>
                  <a:lnTo>
                    <a:pt x="139827" y="541909"/>
                  </a:lnTo>
                  <a:cubicBezTo>
                    <a:pt x="62611" y="541909"/>
                    <a:pt x="0" y="479298"/>
                    <a:pt x="0" y="402082"/>
                  </a:cubicBezTo>
                  <a:close/>
                </a:path>
              </a:pathLst>
            </a:custGeom>
            <a:solidFill>
              <a:srgbClr val="F6EEF2"/>
            </a:solidFill>
          </p:spPr>
        </p:sp>
      </p:grpSp>
      <p:sp>
        <p:nvSpPr>
          <p:cNvPr name="TextBox 22" id="22"/>
          <p:cNvSpPr txBox="true"/>
          <p:nvPr/>
        </p:nvSpPr>
        <p:spPr>
          <a:xfrm rot="0">
            <a:off x="12801600" y="7489822"/>
            <a:ext cx="507997" cy="322202"/>
          </a:xfrm>
          <a:prstGeom prst="rect">
            <a:avLst/>
          </a:prstGeom>
        </p:spPr>
        <p:txBody>
          <a:bodyPr anchor="t" rtlCol="false" tIns="0" lIns="0" bIns="0" rIns="0">
            <a:spAutoFit/>
          </a:bodyPr>
          <a:lstStyle/>
          <a:p>
            <a:pPr algn="ctr">
              <a:lnSpc>
                <a:spcPts val="2121"/>
              </a:lnSpc>
            </a:pPr>
            <a:r>
              <a:rPr lang="en-US" sz="1700" b="true">
                <a:solidFill>
                  <a:srgbClr val="A14678"/>
                </a:solidFill>
                <a:latin typeface="Arimo Bold"/>
                <a:ea typeface="Arimo Bold"/>
                <a:cs typeface="Arimo Bold"/>
                <a:sym typeface="Arimo Bold"/>
              </a:rPr>
              <a:t>03</a:t>
            </a:r>
          </a:p>
        </p:txBody>
      </p:sp>
      <p:sp>
        <p:nvSpPr>
          <p:cNvPr name="TextBox 23" id="23"/>
          <p:cNvSpPr txBox="true"/>
          <p:nvPr/>
        </p:nvSpPr>
        <p:spPr>
          <a:xfrm rot="0">
            <a:off x="13474703" y="7439025"/>
            <a:ext cx="3759203" cy="460372"/>
          </a:xfrm>
          <a:prstGeom prst="rect">
            <a:avLst/>
          </a:prstGeom>
        </p:spPr>
        <p:txBody>
          <a:bodyPr anchor="t" rtlCol="false" tIns="0" lIns="0" bIns="0" rIns="0">
            <a:spAutoFit/>
          </a:bodyPr>
          <a:lstStyle/>
          <a:p>
            <a:pPr algn="l">
              <a:lnSpc>
                <a:spcPts val="3119"/>
              </a:lnSpc>
            </a:pPr>
            <a:r>
              <a:rPr lang="en-US" sz="2499" b="true">
                <a:solidFill>
                  <a:srgbClr val="111111"/>
                </a:solidFill>
                <a:latin typeface="Arimo Bold"/>
                <a:ea typeface="Arimo Bold"/>
                <a:cs typeface="Arimo Bold"/>
                <a:sym typeface="Arimo Bold"/>
              </a:rPr>
              <a:t>구호 작업 생성</a:t>
            </a:r>
          </a:p>
        </p:txBody>
      </p:sp>
      <p:sp>
        <p:nvSpPr>
          <p:cNvPr name="TextBox 24" id="24"/>
          <p:cNvSpPr txBox="true"/>
          <p:nvPr/>
        </p:nvSpPr>
        <p:spPr>
          <a:xfrm rot="0">
            <a:off x="12814297" y="3422647"/>
            <a:ext cx="4432297" cy="381762"/>
          </a:xfrm>
          <a:prstGeom prst="rect">
            <a:avLst/>
          </a:prstGeom>
        </p:spPr>
        <p:txBody>
          <a:bodyPr anchor="t" rtlCol="false" tIns="0" lIns="0" bIns="0" rIns="0">
            <a:spAutoFit/>
          </a:bodyPr>
          <a:lstStyle/>
          <a:p>
            <a:pPr algn="l">
              <a:lnSpc>
                <a:spcPts val="2620"/>
              </a:lnSpc>
            </a:pPr>
            <a:r>
              <a:rPr lang="en-US" sz="2100" b="true">
                <a:solidFill>
                  <a:srgbClr val="A14678"/>
                </a:solidFill>
                <a:latin typeface="Arimo Bold"/>
                <a:ea typeface="Arimo Bold"/>
                <a:cs typeface="Arimo Bold"/>
                <a:sym typeface="Arimo Bold"/>
              </a:rPr>
              <a:t>/victim/confirmed</a:t>
            </a:r>
          </a:p>
        </p:txBody>
      </p:sp>
      <p:sp>
        <p:nvSpPr>
          <p:cNvPr name="TextBox 25" id="25"/>
          <p:cNvSpPr txBox="true"/>
          <p:nvPr/>
        </p:nvSpPr>
        <p:spPr>
          <a:xfrm rot="0">
            <a:off x="12814297" y="3927472"/>
            <a:ext cx="4432297" cy="311658"/>
          </a:xfrm>
          <a:prstGeom prst="rect">
            <a:avLst/>
          </a:prstGeom>
        </p:spPr>
        <p:txBody>
          <a:bodyPr anchor="t" rtlCol="false" tIns="0" lIns="0" bIns="0" rIns="0">
            <a:spAutoFit/>
          </a:bodyPr>
          <a:lstStyle/>
          <a:p>
            <a:pPr algn="l">
              <a:lnSpc>
                <a:spcPts val="2496"/>
              </a:lnSpc>
            </a:pPr>
            <a:r>
              <a:rPr lang="en-US" sz="2000">
                <a:solidFill>
                  <a:srgbClr val="666666"/>
                </a:solidFill>
                <a:latin typeface="Arimo"/>
                <a:ea typeface="Arimo"/>
                <a:cs typeface="Arimo"/>
                <a:sym typeface="Arimo"/>
              </a:rPr>
              <a:t>정찰 로봇이 보낸 map 좌표를 수신</a:t>
            </a:r>
          </a:p>
        </p:txBody>
      </p:sp>
      <p:sp>
        <p:nvSpPr>
          <p:cNvPr name="TextBox 26" id="26"/>
          <p:cNvSpPr txBox="true"/>
          <p:nvPr/>
        </p:nvSpPr>
        <p:spPr>
          <a:xfrm rot="0">
            <a:off x="12814297" y="5594347"/>
            <a:ext cx="4432297" cy="381762"/>
          </a:xfrm>
          <a:prstGeom prst="rect">
            <a:avLst/>
          </a:prstGeom>
        </p:spPr>
        <p:txBody>
          <a:bodyPr anchor="t" rtlCol="false" tIns="0" lIns="0" bIns="0" rIns="0">
            <a:spAutoFit/>
          </a:bodyPr>
          <a:lstStyle/>
          <a:p>
            <a:pPr algn="l">
              <a:lnSpc>
                <a:spcPts val="2620"/>
              </a:lnSpc>
            </a:pPr>
            <a:r>
              <a:rPr lang="en-US" sz="2100">
                <a:solidFill>
                  <a:srgbClr val="111111"/>
                </a:solidFill>
                <a:latin typeface="Arimo"/>
                <a:ea typeface="Arimo"/>
                <a:cs typeface="Arimo"/>
                <a:sym typeface="Arimo"/>
              </a:rPr>
              <a:t>좌표를 VICTIM 노드로 등록</a:t>
            </a:r>
          </a:p>
        </p:txBody>
      </p:sp>
      <p:sp>
        <p:nvSpPr>
          <p:cNvPr name="TextBox 27" id="27"/>
          <p:cNvSpPr txBox="true"/>
          <p:nvPr/>
        </p:nvSpPr>
        <p:spPr>
          <a:xfrm rot="0">
            <a:off x="12814297" y="6140453"/>
            <a:ext cx="4432297" cy="330098"/>
          </a:xfrm>
          <a:prstGeom prst="rect">
            <a:avLst/>
          </a:prstGeom>
        </p:spPr>
        <p:txBody>
          <a:bodyPr anchor="t" rtlCol="false" tIns="0" lIns="0" bIns="0" rIns="0">
            <a:spAutoFit/>
          </a:bodyPr>
          <a:lstStyle/>
          <a:p>
            <a:pPr algn="l">
              <a:lnSpc>
                <a:spcPts val="2620"/>
              </a:lnSpc>
            </a:pPr>
            <a:r>
              <a:rPr lang="en-US" sz="2100" spc="-163">
                <a:solidFill>
                  <a:srgbClr val="666666"/>
                </a:solidFill>
                <a:latin typeface="Arimo"/>
                <a:ea typeface="Arimo"/>
                <a:cs typeface="Arimo"/>
                <a:sym typeface="Arimo"/>
              </a:rPr>
              <a:t>기존 </a:t>
            </a:r>
            <a:r>
              <a:rPr lang="en-US" sz="2100" spc="-163">
                <a:solidFill>
                  <a:srgbClr val="666666"/>
                </a:solidFill>
                <a:latin typeface="Arimo"/>
                <a:ea typeface="Arimo"/>
                <a:cs typeface="Arimo"/>
                <a:sym typeface="Arimo"/>
              </a:rPr>
              <a:t>노드 중 가장 가까운 노드와 엣지로 연결</a:t>
            </a:r>
          </a:p>
        </p:txBody>
      </p:sp>
      <p:sp>
        <p:nvSpPr>
          <p:cNvPr name="TextBox 28" id="28"/>
          <p:cNvSpPr txBox="true"/>
          <p:nvPr/>
        </p:nvSpPr>
        <p:spPr>
          <a:xfrm rot="0">
            <a:off x="12795247" y="8035542"/>
            <a:ext cx="4432297" cy="381762"/>
          </a:xfrm>
          <a:prstGeom prst="rect">
            <a:avLst/>
          </a:prstGeom>
        </p:spPr>
        <p:txBody>
          <a:bodyPr anchor="t" rtlCol="false" tIns="0" lIns="0" bIns="0" rIns="0">
            <a:spAutoFit/>
          </a:bodyPr>
          <a:lstStyle/>
          <a:p>
            <a:pPr algn="l">
              <a:lnSpc>
                <a:spcPts val="2620"/>
              </a:lnSpc>
            </a:pPr>
            <a:r>
              <a:rPr lang="en-US" sz="2100">
                <a:solidFill>
                  <a:srgbClr val="111111"/>
                </a:solidFill>
                <a:latin typeface="Arimo"/>
                <a:ea typeface="Arimo"/>
                <a:cs typeface="Arimo"/>
                <a:sym typeface="Arimo"/>
              </a:rPr>
              <a:t>목적지 선택 → 구호 로봇 배정</a:t>
            </a:r>
          </a:p>
        </p:txBody>
      </p:sp>
      <p:sp>
        <p:nvSpPr>
          <p:cNvPr name="AutoShape 29" id="29"/>
          <p:cNvSpPr/>
          <p:nvPr/>
        </p:nvSpPr>
        <p:spPr>
          <a:xfrm>
            <a:off x="15036803" y="4422772"/>
            <a:ext cx="0" cy="349253"/>
          </a:xfrm>
          <a:prstGeom prst="line">
            <a:avLst/>
          </a:prstGeom>
          <a:ln cap="rnd" w="38100">
            <a:solidFill>
              <a:srgbClr val="111111"/>
            </a:solidFill>
            <a:prstDash val="solid"/>
            <a:headEnd type="none" len="sm" w="sm"/>
            <a:tailEnd type="triangle" len="med" w="lg"/>
          </a:ln>
        </p:spPr>
      </p:sp>
      <p:sp>
        <p:nvSpPr>
          <p:cNvPr name="AutoShape 30" id="30"/>
          <p:cNvSpPr/>
          <p:nvPr/>
        </p:nvSpPr>
        <p:spPr>
          <a:xfrm>
            <a:off x="15036803" y="6835712"/>
            <a:ext cx="0" cy="349310"/>
          </a:xfrm>
          <a:prstGeom prst="line">
            <a:avLst/>
          </a:prstGeom>
          <a:ln cap="rnd" w="38100">
            <a:solidFill>
              <a:srgbClr val="111111"/>
            </a:solidFill>
            <a:prstDash val="solid"/>
            <a:headEnd type="none" len="sm" w="sm"/>
            <a:tailEnd type="triangle" len="med" w="lg"/>
          </a:ln>
        </p:spPr>
      </p:sp>
      <p:sp>
        <p:nvSpPr>
          <p:cNvPr name="TextBox 31" id="31"/>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16</a:t>
            </a:r>
          </a:p>
        </p:txBody>
      </p:sp>
      <p:grpSp>
        <p:nvGrpSpPr>
          <p:cNvPr name="Group 32" id="32"/>
          <p:cNvGrpSpPr/>
          <p:nvPr/>
        </p:nvGrpSpPr>
        <p:grpSpPr>
          <a:xfrm rot="0">
            <a:off x="1017094" y="2796297"/>
            <a:ext cx="1441447" cy="476250"/>
            <a:chOff x="0" y="0"/>
            <a:chExt cx="1921929" cy="635000"/>
          </a:xfrm>
        </p:grpSpPr>
        <p:grpSp>
          <p:nvGrpSpPr>
            <p:cNvPr name="Group 33" id="33"/>
            <p:cNvGrpSpPr/>
            <p:nvPr/>
          </p:nvGrpSpPr>
          <p:grpSpPr>
            <a:xfrm rot="0">
              <a:off x="0" y="0"/>
              <a:ext cx="1921929" cy="635000"/>
              <a:chOff x="0" y="0"/>
              <a:chExt cx="1921929" cy="635000"/>
            </a:xfrm>
          </p:grpSpPr>
          <p:sp>
            <p:nvSpPr>
              <p:cNvPr name="Freeform 34" id="34"/>
              <p:cNvSpPr/>
              <p:nvPr/>
            </p:nvSpPr>
            <p:spPr>
              <a:xfrm flipH="false" flipV="false" rot="0">
                <a:off x="0" y="0"/>
                <a:ext cx="1921891" cy="635000"/>
              </a:xfrm>
              <a:custGeom>
                <a:avLst/>
                <a:gdLst/>
                <a:ahLst/>
                <a:cxnLst/>
                <a:rect r="r" b="b" t="t" l="l"/>
                <a:pathLst>
                  <a:path h="635000" w="1921891">
                    <a:moveTo>
                      <a:pt x="0" y="114300"/>
                    </a:moveTo>
                    <a:cubicBezTo>
                      <a:pt x="0" y="51181"/>
                      <a:pt x="51181" y="0"/>
                      <a:pt x="114300" y="0"/>
                    </a:cubicBezTo>
                    <a:lnTo>
                      <a:pt x="1807591" y="0"/>
                    </a:lnTo>
                    <a:cubicBezTo>
                      <a:pt x="1870710" y="0"/>
                      <a:pt x="1921891" y="51181"/>
                      <a:pt x="1921891" y="114300"/>
                    </a:cubicBezTo>
                    <a:lnTo>
                      <a:pt x="1921891" y="520700"/>
                    </a:lnTo>
                    <a:cubicBezTo>
                      <a:pt x="1921891" y="583819"/>
                      <a:pt x="1870710" y="635000"/>
                      <a:pt x="1807591" y="635000"/>
                    </a:cubicBezTo>
                    <a:lnTo>
                      <a:pt x="114300" y="635000"/>
                    </a:lnTo>
                    <a:cubicBezTo>
                      <a:pt x="51181" y="635000"/>
                      <a:pt x="0" y="583819"/>
                      <a:pt x="0" y="520700"/>
                    </a:cubicBezTo>
                    <a:close/>
                  </a:path>
                </a:pathLst>
              </a:custGeom>
              <a:solidFill>
                <a:srgbClr val="101010"/>
              </a:solidFill>
            </p:spPr>
          </p:sp>
        </p:grpSp>
        <p:grpSp>
          <p:nvGrpSpPr>
            <p:cNvPr name="Group 35" id="35"/>
            <p:cNvGrpSpPr/>
            <p:nvPr/>
          </p:nvGrpSpPr>
          <p:grpSpPr>
            <a:xfrm rot="0">
              <a:off x="121123" y="55033"/>
              <a:ext cx="1679683" cy="524934"/>
              <a:chOff x="0" y="0"/>
              <a:chExt cx="1679683" cy="524934"/>
            </a:xfrm>
          </p:grpSpPr>
          <p:sp>
            <p:nvSpPr>
              <p:cNvPr name="Freeform 36" id="36"/>
              <p:cNvSpPr/>
              <p:nvPr/>
            </p:nvSpPr>
            <p:spPr>
              <a:xfrm flipH="false" flipV="false" rot="0">
                <a:off x="0" y="0"/>
                <a:ext cx="1679688" cy="524939"/>
              </a:xfrm>
              <a:custGeom>
                <a:avLst/>
                <a:gdLst/>
                <a:ahLst/>
                <a:cxnLst/>
                <a:rect r="r" b="b" t="t" l="l"/>
                <a:pathLst>
                  <a:path h="524939" w="1679688">
                    <a:moveTo>
                      <a:pt x="0" y="0"/>
                    </a:moveTo>
                    <a:lnTo>
                      <a:pt x="1679688" y="0"/>
                    </a:lnTo>
                    <a:lnTo>
                      <a:pt x="1679688" y="524939"/>
                    </a:lnTo>
                    <a:lnTo>
                      <a:pt x="0" y="524939"/>
                    </a:lnTo>
                    <a:close/>
                  </a:path>
                </a:pathLst>
              </a:custGeom>
              <a:blipFill>
                <a:blip r:embed="rId4">
                  <a:alphaModFix amt="0"/>
                </a:blip>
                <a:stretch>
                  <a:fillRect l="0" t="-20397" r="-12909" b="-20395"/>
                </a:stretch>
              </a:blipFill>
            </p:spPr>
          </p:sp>
          <p:sp>
            <p:nvSpPr>
              <p:cNvPr name="TextBox 37" id="37"/>
              <p:cNvSpPr txBox="true"/>
              <p:nvPr/>
            </p:nvSpPr>
            <p:spPr>
              <a:xfrm>
                <a:off x="0" y="-9525"/>
                <a:ext cx="1679683" cy="534459"/>
              </a:xfrm>
              <a:prstGeom prst="rect">
                <a:avLst/>
              </a:prstGeom>
            </p:spPr>
            <p:txBody>
              <a:bodyPr anchor="ctr" rtlCol="false" tIns="0" lIns="0" bIns="0" rIns="0"/>
              <a:lstStyle/>
              <a:p>
                <a:pPr algn="ctr">
                  <a:lnSpc>
                    <a:spcPts val="1889"/>
                  </a:lnSpc>
                </a:pPr>
                <a:r>
                  <a:rPr lang="en-US" b="true" sz="1575" u="sng">
                    <a:solidFill>
                      <a:srgbClr val="FFFFFF"/>
                    </a:solidFill>
                    <a:latin typeface="Arimo Bold"/>
                    <a:ea typeface="Arimo Bold"/>
                    <a:cs typeface="Arimo Bold"/>
                    <a:sym typeface="Arimo Bold"/>
                    <a:hlinkClick r:id="rId5" tooltip="https://kdm111.github.io/assets/videos/p15_rescue_flow.mp4"/>
                  </a:rPr>
                  <a:t>전체 작업 일람</a:t>
                </a:r>
              </a:p>
            </p:txBody>
          </p:sp>
        </p:grpSp>
      </p:grpSp>
      <p:sp>
        <p:nvSpPr>
          <p:cNvPr name="TextBox 38" id="38"/>
          <p:cNvSpPr txBox="true"/>
          <p:nvPr/>
        </p:nvSpPr>
        <p:spPr>
          <a:xfrm rot="0">
            <a:off x="12795247" y="8576434"/>
            <a:ext cx="4432297" cy="330098"/>
          </a:xfrm>
          <a:prstGeom prst="rect">
            <a:avLst/>
          </a:prstGeom>
        </p:spPr>
        <p:txBody>
          <a:bodyPr anchor="t" rtlCol="false" tIns="0" lIns="0" bIns="0" rIns="0">
            <a:spAutoFit/>
          </a:bodyPr>
          <a:lstStyle/>
          <a:p>
            <a:pPr algn="l">
              <a:lnSpc>
                <a:spcPts val="2620"/>
              </a:lnSpc>
            </a:pPr>
            <a:r>
              <a:rPr lang="en-US" sz="2100" spc="-172">
                <a:solidFill>
                  <a:srgbClr val="666666"/>
                </a:solidFill>
                <a:latin typeface="Arimo"/>
                <a:ea typeface="Arimo"/>
                <a:cs typeface="Arimo"/>
                <a:sym typeface="Arimo"/>
              </a:rPr>
              <a:t>가능한 로봇 중 조건으로 정렬하여  로봇 선택</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grpSp>
        <p:nvGrpSpPr>
          <p:cNvPr name="Group 2" id="2"/>
          <p:cNvGrpSpPr/>
          <p:nvPr/>
        </p:nvGrpSpPr>
        <p:grpSpPr>
          <a:xfrm rot="0">
            <a:off x="762000" y="609600"/>
            <a:ext cx="6350003" cy="355601"/>
            <a:chOff x="0" y="0"/>
            <a:chExt cx="8466671" cy="474134"/>
          </a:xfrm>
        </p:grpSpPr>
        <p:sp>
          <p:nvSpPr>
            <p:cNvPr name="Freeform 3" id="3"/>
            <p:cNvSpPr/>
            <p:nvPr/>
          </p:nvSpPr>
          <p:spPr>
            <a:xfrm flipH="false" flipV="false" rot="0">
              <a:off x="0" y="0"/>
              <a:ext cx="8466666" cy="474139"/>
            </a:xfrm>
            <a:custGeom>
              <a:avLst/>
              <a:gdLst/>
              <a:ahLst/>
              <a:cxnLst/>
              <a:rect r="r" b="b" t="t" l="l"/>
              <a:pathLst>
                <a:path h="474139" w="8466666">
                  <a:moveTo>
                    <a:pt x="0" y="0"/>
                  </a:moveTo>
                  <a:lnTo>
                    <a:pt x="8466666" y="0"/>
                  </a:lnTo>
                  <a:lnTo>
                    <a:pt x="8466666" y="474139"/>
                  </a:lnTo>
                  <a:lnTo>
                    <a:pt x="0" y="474139"/>
                  </a:lnTo>
                  <a:close/>
                </a:path>
              </a:pathLst>
            </a:custGeom>
            <a:blipFill>
              <a:blip r:embed="rId3">
                <a:alphaModFix amt="0"/>
              </a:blip>
              <a:stretch>
                <a:fillRect l="0" t="-297944" r="0" b="-297942"/>
              </a:stretch>
            </a:blipFill>
          </p:spPr>
        </p:sp>
        <p:sp>
          <p:nvSpPr>
            <p:cNvPr name="TextBox 4" id="4"/>
            <p:cNvSpPr txBox="true"/>
            <p:nvPr/>
          </p:nvSpPr>
          <p:spPr>
            <a:xfrm>
              <a:off x="0" y="-19050"/>
              <a:ext cx="8466671" cy="493184"/>
            </a:xfrm>
            <a:prstGeom prst="rect">
              <a:avLst/>
            </a:prstGeom>
          </p:spPr>
          <p:txBody>
            <a:bodyPr anchor="ctr" rtlCol="false" tIns="0" lIns="0" bIns="0" rIns="0"/>
            <a:lstStyle/>
            <a:p>
              <a:pPr algn="l">
                <a:lnSpc>
                  <a:spcPts val="1800"/>
                </a:lnSpc>
              </a:pPr>
              <a:r>
                <a:rPr lang="en-US" sz="1500" b="true">
                  <a:solidFill>
                    <a:srgbClr val="66645F"/>
                  </a:solidFill>
                  <a:latin typeface="Arimo Bold"/>
                  <a:ea typeface="Arimo Bold"/>
                  <a:cs typeface="Arimo Bold"/>
                  <a:sym typeface="Arimo Bold"/>
                </a:rPr>
                <a:t>VICPINKY CARRIER</a:t>
              </a:r>
            </a:p>
          </p:txBody>
        </p:sp>
      </p:grpSp>
      <p:grpSp>
        <p:nvGrpSpPr>
          <p:cNvPr name="Group 5" id="5"/>
          <p:cNvGrpSpPr/>
          <p:nvPr/>
        </p:nvGrpSpPr>
        <p:grpSpPr>
          <a:xfrm rot="0">
            <a:off x="762000" y="932741"/>
            <a:ext cx="16256003" cy="856692"/>
            <a:chOff x="0" y="0"/>
            <a:chExt cx="21674671" cy="1142256"/>
          </a:xfrm>
        </p:grpSpPr>
        <p:sp>
          <p:nvSpPr>
            <p:cNvPr name="Freeform 6" id="6"/>
            <p:cNvSpPr/>
            <p:nvPr/>
          </p:nvSpPr>
          <p:spPr>
            <a:xfrm flipH="false" flipV="false" rot="0">
              <a:off x="0" y="0"/>
              <a:ext cx="21674666" cy="1142261"/>
            </a:xfrm>
            <a:custGeom>
              <a:avLst/>
              <a:gdLst/>
              <a:ahLst/>
              <a:cxnLst/>
              <a:rect r="r" b="b" t="t" l="l"/>
              <a:pathLst>
                <a:path h="1142261" w="21674666">
                  <a:moveTo>
                    <a:pt x="0" y="0"/>
                  </a:moveTo>
                  <a:lnTo>
                    <a:pt x="21674666" y="0"/>
                  </a:lnTo>
                  <a:lnTo>
                    <a:pt x="21674666" y="1142261"/>
                  </a:lnTo>
                  <a:lnTo>
                    <a:pt x="0" y="1142261"/>
                  </a:lnTo>
                  <a:close/>
                </a:path>
              </a:pathLst>
            </a:custGeom>
            <a:blipFill>
              <a:blip r:embed="rId3">
                <a:alphaModFix amt="0"/>
              </a:blip>
              <a:stretch>
                <a:fillRect l="0" t="-328966" r="0" b="-310500"/>
              </a:stretch>
            </a:blipFill>
          </p:spPr>
        </p:sp>
        <p:sp>
          <p:nvSpPr>
            <p:cNvPr name="TextBox 7" id="7"/>
            <p:cNvSpPr txBox="true"/>
            <p:nvPr/>
          </p:nvSpPr>
          <p:spPr>
            <a:xfrm>
              <a:off x="0" y="-19050"/>
              <a:ext cx="21674671" cy="1161306"/>
            </a:xfrm>
            <a:prstGeom prst="rect">
              <a:avLst/>
            </a:prstGeom>
          </p:spPr>
          <p:txBody>
            <a:bodyPr anchor="ctr" rtlCol="false" tIns="0" lIns="0" bIns="0" rIns="0"/>
            <a:lstStyle/>
            <a:p>
              <a:pPr algn="l">
                <a:lnSpc>
                  <a:spcPts val="5040"/>
                </a:lnSpc>
              </a:pPr>
              <a:r>
                <a:rPr lang="en-US" sz="4200" b="true">
                  <a:solidFill>
                    <a:srgbClr val="111111"/>
                  </a:solidFill>
                  <a:latin typeface="Arimo Bold"/>
                  <a:ea typeface="Arimo Bold"/>
                  <a:cs typeface="Arimo Bold"/>
                  <a:sym typeface="Arimo Bold"/>
                </a:rPr>
                <a:t>여러 이기종 로봇을 하나의 시스템으로 통합</a:t>
              </a:r>
            </a:p>
          </p:txBody>
        </p:sp>
      </p:grpSp>
      <p:grpSp>
        <p:nvGrpSpPr>
          <p:cNvPr name="Group 8" id="8"/>
          <p:cNvGrpSpPr/>
          <p:nvPr/>
        </p:nvGrpSpPr>
        <p:grpSpPr>
          <a:xfrm rot="0">
            <a:off x="762000" y="1911784"/>
            <a:ext cx="11477625" cy="6273479"/>
            <a:chOff x="0" y="0"/>
            <a:chExt cx="15303500" cy="8364639"/>
          </a:xfrm>
        </p:grpSpPr>
        <p:sp>
          <p:nvSpPr>
            <p:cNvPr name="Freeform 9" id="9"/>
            <p:cNvSpPr/>
            <p:nvPr/>
          </p:nvSpPr>
          <p:spPr>
            <a:xfrm flipH="false" flipV="false" rot="0">
              <a:off x="0" y="0"/>
              <a:ext cx="15303500" cy="8364677"/>
            </a:xfrm>
            <a:custGeom>
              <a:avLst/>
              <a:gdLst/>
              <a:ahLst/>
              <a:cxnLst/>
              <a:rect r="r" b="b" t="t" l="l"/>
              <a:pathLst>
                <a:path h="8364677" w="15303500">
                  <a:moveTo>
                    <a:pt x="0" y="149023"/>
                  </a:moveTo>
                  <a:cubicBezTo>
                    <a:pt x="0" y="66746"/>
                    <a:pt x="66040" y="0"/>
                    <a:pt x="147447" y="0"/>
                  </a:cubicBezTo>
                  <a:lnTo>
                    <a:pt x="15156053" y="0"/>
                  </a:lnTo>
                  <a:cubicBezTo>
                    <a:pt x="15237461" y="0"/>
                    <a:pt x="15303500" y="66746"/>
                    <a:pt x="15303500" y="149023"/>
                  </a:cubicBezTo>
                  <a:lnTo>
                    <a:pt x="15303500" y="8215654"/>
                  </a:lnTo>
                  <a:cubicBezTo>
                    <a:pt x="15303500" y="8297931"/>
                    <a:pt x="15237461" y="8364677"/>
                    <a:pt x="15156053" y="8364677"/>
                  </a:cubicBezTo>
                  <a:lnTo>
                    <a:pt x="147447" y="8364677"/>
                  </a:lnTo>
                  <a:cubicBezTo>
                    <a:pt x="66040" y="8364677"/>
                    <a:pt x="0" y="8297931"/>
                    <a:pt x="0" y="8215654"/>
                  </a:cubicBezTo>
                  <a:close/>
                </a:path>
              </a:pathLst>
            </a:custGeom>
            <a:solidFill>
              <a:srgbClr val="FFFFFF"/>
            </a:solidFill>
            <a:ln w="19050" cap="sq">
              <a:solidFill>
                <a:srgbClr val="111111"/>
              </a:solidFill>
              <a:prstDash val="solid"/>
              <a:miter/>
            </a:ln>
          </p:spPr>
        </p:sp>
      </p:grpSp>
      <p:grpSp>
        <p:nvGrpSpPr>
          <p:cNvPr name="Group 10" id="10"/>
          <p:cNvGrpSpPr/>
          <p:nvPr/>
        </p:nvGrpSpPr>
        <p:grpSpPr>
          <a:xfrm rot="0">
            <a:off x="1289047" y="2441688"/>
            <a:ext cx="7993317" cy="898522"/>
            <a:chOff x="0" y="0"/>
            <a:chExt cx="10657756" cy="1198029"/>
          </a:xfrm>
        </p:grpSpPr>
        <p:sp>
          <p:nvSpPr>
            <p:cNvPr name="Freeform 11" id="11"/>
            <p:cNvSpPr/>
            <p:nvPr/>
          </p:nvSpPr>
          <p:spPr>
            <a:xfrm flipH="false" flipV="false" rot="0">
              <a:off x="0" y="0"/>
              <a:ext cx="10657726" cy="1197991"/>
            </a:xfrm>
            <a:custGeom>
              <a:avLst/>
              <a:gdLst/>
              <a:ahLst/>
              <a:cxnLst/>
              <a:rect r="r" b="b" t="t" l="l"/>
              <a:pathLst>
                <a:path h="1197991" w="10657726">
                  <a:moveTo>
                    <a:pt x="0" y="147828"/>
                  </a:moveTo>
                  <a:cubicBezTo>
                    <a:pt x="0" y="66167"/>
                    <a:pt x="50740" y="0"/>
                    <a:pt x="113362" y="0"/>
                  </a:cubicBezTo>
                  <a:lnTo>
                    <a:pt x="10544364" y="0"/>
                  </a:lnTo>
                  <a:cubicBezTo>
                    <a:pt x="10606987" y="0"/>
                    <a:pt x="10657726" y="66167"/>
                    <a:pt x="10657726" y="147828"/>
                  </a:cubicBezTo>
                  <a:lnTo>
                    <a:pt x="10657726" y="1050163"/>
                  </a:lnTo>
                  <a:cubicBezTo>
                    <a:pt x="10657726" y="1131824"/>
                    <a:pt x="10606987" y="1197991"/>
                    <a:pt x="10544364" y="1197991"/>
                  </a:cubicBezTo>
                  <a:lnTo>
                    <a:pt x="113362" y="1197991"/>
                  </a:lnTo>
                  <a:cubicBezTo>
                    <a:pt x="50740" y="1197991"/>
                    <a:pt x="0" y="1131824"/>
                    <a:pt x="0" y="1050163"/>
                  </a:cubicBezTo>
                  <a:close/>
                </a:path>
              </a:pathLst>
            </a:custGeom>
            <a:solidFill>
              <a:srgbClr val="F6EEF2"/>
            </a:solidFill>
            <a:ln w="9525" cap="sq">
              <a:solidFill>
                <a:srgbClr val="F6EEF2"/>
              </a:solidFill>
              <a:prstDash val="solid"/>
              <a:miter/>
            </a:ln>
          </p:spPr>
        </p:sp>
      </p:grpSp>
      <p:grpSp>
        <p:nvGrpSpPr>
          <p:cNvPr name="Group 12" id="12"/>
          <p:cNvGrpSpPr/>
          <p:nvPr/>
        </p:nvGrpSpPr>
        <p:grpSpPr>
          <a:xfrm rot="0">
            <a:off x="2525957" y="2611549"/>
            <a:ext cx="5312178" cy="279400"/>
            <a:chOff x="0" y="0"/>
            <a:chExt cx="7082903" cy="372534"/>
          </a:xfrm>
        </p:grpSpPr>
        <p:sp>
          <p:nvSpPr>
            <p:cNvPr name="Freeform 13" id="13"/>
            <p:cNvSpPr/>
            <p:nvPr/>
          </p:nvSpPr>
          <p:spPr>
            <a:xfrm flipH="false" flipV="false" rot="0">
              <a:off x="0" y="0"/>
              <a:ext cx="7082908" cy="372539"/>
            </a:xfrm>
            <a:custGeom>
              <a:avLst/>
              <a:gdLst/>
              <a:ahLst/>
              <a:cxnLst/>
              <a:rect r="r" b="b" t="t" l="l"/>
              <a:pathLst>
                <a:path h="372539" w="7082908">
                  <a:moveTo>
                    <a:pt x="0" y="0"/>
                  </a:moveTo>
                  <a:lnTo>
                    <a:pt x="7082908" y="0"/>
                  </a:lnTo>
                  <a:lnTo>
                    <a:pt x="7082908" y="372539"/>
                  </a:lnTo>
                  <a:lnTo>
                    <a:pt x="0" y="372539"/>
                  </a:lnTo>
                  <a:close/>
                </a:path>
              </a:pathLst>
            </a:custGeom>
            <a:blipFill>
              <a:blip r:embed="rId3">
                <a:alphaModFix amt="0"/>
              </a:blip>
              <a:stretch>
                <a:fillRect l="0" t="-676250" r="-96039" b="-676248"/>
              </a:stretch>
            </a:blipFill>
          </p:spPr>
        </p:sp>
        <p:sp>
          <p:nvSpPr>
            <p:cNvPr name="TextBox 14" id="14"/>
            <p:cNvSpPr txBox="true"/>
            <p:nvPr/>
          </p:nvSpPr>
          <p:spPr>
            <a:xfrm>
              <a:off x="0" y="-19050"/>
              <a:ext cx="7082903" cy="391584"/>
            </a:xfrm>
            <a:prstGeom prst="rect">
              <a:avLst/>
            </a:prstGeom>
          </p:spPr>
          <p:txBody>
            <a:bodyPr anchor="ctr" rtlCol="false" tIns="0" lIns="0" bIns="0" rIns="0"/>
            <a:lstStyle/>
            <a:p>
              <a:pPr algn="ctr">
                <a:lnSpc>
                  <a:spcPts val="1439"/>
                </a:lnSpc>
              </a:pPr>
              <a:r>
                <a:rPr lang="en-US" b="true" sz="1200">
                  <a:solidFill>
                    <a:srgbClr val="111111"/>
                  </a:solidFill>
                  <a:latin typeface="Arimo Bold"/>
                  <a:ea typeface="Arimo Bold"/>
                  <a:cs typeface="Arimo Bold"/>
                  <a:sym typeface="Arimo Bold"/>
                </a:rPr>
                <a:t>사용자 화면(React)</a:t>
              </a:r>
            </a:p>
          </p:txBody>
        </p:sp>
      </p:grpSp>
      <p:grpSp>
        <p:nvGrpSpPr>
          <p:cNvPr name="Group 15" id="15"/>
          <p:cNvGrpSpPr/>
          <p:nvPr/>
        </p:nvGrpSpPr>
        <p:grpSpPr>
          <a:xfrm rot="0">
            <a:off x="1653882" y="2908381"/>
            <a:ext cx="7056328" cy="393700"/>
            <a:chOff x="0" y="0"/>
            <a:chExt cx="9408437" cy="524934"/>
          </a:xfrm>
        </p:grpSpPr>
        <p:sp>
          <p:nvSpPr>
            <p:cNvPr name="Freeform 16" id="16"/>
            <p:cNvSpPr/>
            <p:nvPr/>
          </p:nvSpPr>
          <p:spPr>
            <a:xfrm flipH="false" flipV="false" rot="0">
              <a:off x="0" y="0"/>
              <a:ext cx="9408442" cy="524939"/>
            </a:xfrm>
            <a:custGeom>
              <a:avLst/>
              <a:gdLst/>
              <a:ahLst/>
              <a:cxnLst/>
              <a:rect r="r" b="b" t="t" l="l"/>
              <a:pathLst>
                <a:path h="524939" w="9408442">
                  <a:moveTo>
                    <a:pt x="0" y="0"/>
                  </a:moveTo>
                  <a:lnTo>
                    <a:pt x="9408442" y="0"/>
                  </a:lnTo>
                  <a:lnTo>
                    <a:pt x="9408442" y="524939"/>
                  </a:lnTo>
                  <a:lnTo>
                    <a:pt x="0" y="524939"/>
                  </a:lnTo>
                  <a:close/>
                </a:path>
              </a:pathLst>
            </a:custGeom>
            <a:blipFill>
              <a:blip r:embed="rId3">
                <a:alphaModFix amt="0"/>
              </a:blip>
              <a:stretch>
                <a:fillRect l="0" t="-465406" r="-47583" b="-465404"/>
              </a:stretch>
            </a:blipFill>
          </p:spPr>
        </p:sp>
        <p:sp>
          <p:nvSpPr>
            <p:cNvPr name="TextBox 17" id="17"/>
            <p:cNvSpPr txBox="true"/>
            <p:nvPr/>
          </p:nvSpPr>
          <p:spPr>
            <a:xfrm>
              <a:off x="0" y="-19050"/>
              <a:ext cx="9408437" cy="543984"/>
            </a:xfrm>
            <a:prstGeom prst="rect">
              <a:avLst/>
            </a:prstGeom>
          </p:spPr>
          <p:txBody>
            <a:bodyPr anchor="ctr" rtlCol="false" tIns="0" lIns="0" bIns="0" rIns="0"/>
            <a:lstStyle/>
            <a:p>
              <a:pPr algn="ctr">
                <a:lnSpc>
                  <a:spcPts val="2160"/>
                </a:lnSpc>
              </a:pPr>
              <a:r>
                <a:rPr lang="en-US" sz="1800" b="true">
                  <a:solidFill>
                    <a:srgbClr val="111111"/>
                  </a:solidFill>
                  <a:latin typeface="Arimo Bold"/>
                  <a:ea typeface="Arimo Bold"/>
                  <a:cs typeface="Arimo Bold"/>
                  <a:sym typeface="Arimo Bold"/>
                </a:rPr>
                <a:t>대시보드(로봇 상태, 로봇별 작업, 로봇 추적, 데이터 관리)</a:t>
              </a:r>
            </a:p>
          </p:txBody>
        </p:sp>
      </p:grpSp>
      <p:grpSp>
        <p:nvGrpSpPr>
          <p:cNvPr name="Group 18" id="18"/>
          <p:cNvGrpSpPr/>
          <p:nvPr/>
        </p:nvGrpSpPr>
        <p:grpSpPr>
          <a:xfrm rot="0">
            <a:off x="1289047" y="3749785"/>
            <a:ext cx="7993317" cy="1298739"/>
            <a:chOff x="0" y="0"/>
            <a:chExt cx="10657756" cy="1731651"/>
          </a:xfrm>
        </p:grpSpPr>
        <p:sp>
          <p:nvSpPr>
            <p:cNvPr name="Freeform 19" id="19"/>
            <p:cNvSpPr/>
            <p:nvPr/>
          </p:nvSpPr>
          <p:spPr>
            <a:xfrm flipH="false" flipV="false" rot="0">
              <a:off x="0" y="0"/>
              <a:ext cx="10657845" cy="1731740"/>
            </a:xfrm>
            <a:custGeom>
              <a:avLst/>
              <a:gdLst/>
              <a:ahLst/>
              <a:cxnLst/>
              <a:rect r="r" b="b" t="t" l="l"/>
              <a:pathLst>
                <a:path h="1731740" w="10657845">
                  <a:moveTo>
                    <a:pt x="0" y="115124"/>
                  </a:moveTo>
                  <a:cubicBezTo>
                    <a:pt x="0" y="51552"/>
                    <a:pt x="50546" y="0"/>
                    <a:pt x="112876" y="0"/>
                  </a:cubicBezTo>
                  <a:lnTo>
                    <a:pt x="10544949" y="0"/>
                  </a:lnTo>
                  <a:cubicBezTo>
                    <a:pt x="10607279" y="0"/>
                    <a:pt x="10657845" y="51552"/>
                    <a:pt x="10657845" y="115124"/>
                  </a:cubicBezTo>
                  <a:lnTo>
                    <a:pt x="10657845" y="1616597"/>
                  </a:lnTo>
                  <a:cubicBezTo>
                    <a:pt x="10657845" y="1680169"/>
                    <a:pt x="10607279" y="1731740"/>
                    <a:pt x="10544949" y="1731740"/>
                  </a:cubicBezTo>
                  <a:lnTo>
                    <a:pt x="112876" y="1731740"/>
                  </a:lnTo>
                  <a:cubicBezTo>
                    <a:pt x="50546" y="1731622"/>
                    <a:pt x="0" y="1680169"/>
                    <a:pt x="0" y="1616597"/>
                  </a:cubicBezTo>
                  <a:close/>
                </a:path>
              </a:pathLst>
            </a:custGeom>
            <a:solidFill>
              <a:srgbClr val="F3E7EC"/>
            </a:solidFill>
            <a:ln w="9525" cap="sq">
              <a:solidFill>
                <a:srgbClr val="F3E7EC"/>
              </a:solidFill>
              <a:prstDash val="solid"/>
              <a:miter/>
            </a:ln>
          </p:spPr>
        </p:sp>
      </p:grpSp>
      <p:grpSp>
        <p:nvGrpSpPr>
          <p:cNvPr name="Group 20" id="20"/>
          <p:cNvGrpSpPr/>
          <p:nvPr/>
        </p:nvGrpSpPr>
        <p:grpSpPr>
          <a:xfrm rot="0">
            <a:off x="3328402" y="3805354"/>
            <a:ext cx="3914606" cy="342900"/>
            <a:chOff x="0" y="0"/>
            <a:chExt cx="5219474" cy="457200"/>
          </a:xfrm>
        </p:grpSpPr>
        <p:sp>
          <p:nvSpPr>
            <p:cNvPr name="Freeform 21" id="21"/>
            <p:cNvSpPr/>
            <p:nvPr/>
          </p:nvSpPr>
          <p:spPr>
            <a:xfrm flipH="false" flipV="false" rot="0">
              <a:off x="0" y="0"/>
              <a:ext cx="5219479" cy="457200"/>
            </a:xfrm>
            <a:custGeom>
              <a:avLst/>
              <a:gdLst/>
              <a:ahLst/>
              <a:cxnLst/>
              <a:rect r="r" b="b" t="t" l="l"/>
              <a:pathLst>
                <a:path h="457200" w="5219479">
                  <a:moveTo>
                    <a:pt x="0" y="0"/>
                  </a:moveTo>
                  <a:lnTo>
                    <a:pt x="5219479" y="0"/>
                  </a:lnTo>
                  <a:lnTo>
                    <a:pt x="5219479" y="457200"/>
                  </a:lnTo>
                  <a:lnTo>
                    <a:pt x="0" y="457200"/>
                  </a:lnTo>
                  <a:close/>
                </a:path>
              </a:pathLst>
            </a:custGeom>
            <a:blipFill>
              <a:blip r:embed="rId3">
                <a:alphaModFix amt="0"/>
              </a:blip>
              <a:stretch>
                <a:fillRect l="0" t="-541767" r="-166029" b="-541767"/>
              </a:stretch>
            </a:blipFill>
          </p:spPr>
        </p:sp>
        <p:sp>
          <p:nvSpPr>
            <p:cNvPr name="TextBox 22" id="22"/>
            <p:cNvSpPr txBox="true"/>
            <p:nvPr/>
          </p:nvSpPr>
          <p:spPr>
            <a:xfrm>
              <a:off x="0" y="-19050"/>
              <a:ext cx="5219474" cy="476250"/>
            </a:xfrm>
            <a:prstGeom prst="rect">
              <a:avLst/>
            </a:prstGeom>
          </p:spPr>
          <p:txBody>
            <a:bodyPr anchor="ctr" rtlCol="false" tIns="0" lIns="0" bIns="0" rIns="0"/>
            <a:lstStyle/>
            <a:p>
              <a:pPr algn="ctr">
                <a:lnSpc>
                  <a:spcPts val="1439"/>
                </a:lnSpc>
              </a:pPr>
              <a:r>
                <a:rPr lang="en-US" sz="1200" b="true">
                  <a:solidFill>
                    <a:srgbClr val="934C73"/>
                  </a:solidFill>
                  <a:latin typeface="Arimo Bold"/>
                  <a:ea typeface="Arimo Bold"/>
                  <a:cs typeface="Arimo Bold"/>
                  <a:sym typeface="Arimo Bold"/>
                </a:rPr>
                <a:t>FMS Backend(NestJS)</a:t>
              </a:r>
            </a:p>
          </p:txBody>
        </p:sp>
      </p:grpSp>
      <p:grpSp>
        <p:nvGrpSpPr>
          <p:cNvPr name="Group 23" id="23"/>
          <p:cNvGrpSpPr/>
          <p:nvPr/>
        </p:nvGrpSpPr>
        <p:grpSpPr>
          <a:xfrm rot="0">
            <a:off x="1406829" y="4293510"/>
            <a:ext cx="1698631" cy="619125"/>
            <a:chOff x="0" y="0"/>
            <a:chExt cx="2264842" cy="825500"/>
          </a:xfrm>
        </p:grpSpPr>
        <p:grpSp>
          <p:nvGrpSpPr>
            <p:cNvPr name="Group 24" id="24"/>
            <p:cNvGrpSpPr/>
            <p:nvPr/>
          </p:nvGrpSpPr>
          <p:grpSpPr>
            <a:xfrm rot="0">
              <a:off x="0" y="0"/>
              <a:ext cx="2264842" cy="825500"/>
              <a:chOff x="0" y="0"/>
              <a:chExt cx="2264842" cy="825500"/>
            </a:xfrm>
          </p:grpSpPr>
          <p:sp>
            <p:nvSpPr>
              <p:cNvPr name="Freeform 25" id="25"/>
              <p:cNvSpPr/>
              <p:nvPr/>
            </p:nvSpPr>
            <p:spPr>
              <a:xfrm flipH="false" flipV="false" rot="0">
                <a:off x="0" y="0"/>
                <a:ext cx="2264880" cy="825500"/>
              </a:xfrm>
              <a:custGeom>
                <a:avLst/>
                <a:gdLst/>
                <a:ahLst/>
                <a:cxnLst/>
                <a:rect r="r" b="b" t="t" l="l"/>
                <a:pathLst>
                  <a:path h="825500" w="2264880">
                    <a:moveTo>
                      <a:pt x="0" y="148590"/>
                    </a:moveTo>
                    <a:cubicBezTo>
                      <a:pt x="0" y="66548"/>
                      <a:pt x="52128" y="0"/>
                      <a:pt x="116392" y="0"/>
                    </a:cubicBezTo>
                    <a:lnTo>
                      <a:pt x="2148480" y="0"/>
                    </a:lnTo>
                    <a:cubicBezTo>
                      <a:pt x="2212744" y="0"/>
                      <a:pt x="2264880" y="66548"/>
                      <a:pt x="2264880" y="148590"/>
                    </a:cubicBezTo>
                    <a:lnTo>
                      <a:pt x="2264880" y="676910"/>
                    </a:lnTo>
                    <a:cubicBezTo>
                      <a:pt x="2264880" y="758952"/>
                      <a:pt x="2212744" y="825500"/>
                      <a:pt x="2148480" y="825500"/>
                    </a:cubicBezTo>
                    <a:lnTo>
                      <a:pt x="116392" y="825500"/>
                    </a:lnTo>
                    <a:cubicBezTo>
                      <a:pt x="52128" y="825500"/>
                      <a:pt x="0" y="758952"/>
                      <a:pt x="0" y="676910"/>
                    </a:cubicBezTo>
                    <a:close/>
                  </a:path>
                </a:pathLst>
              </a:custGeom>
              <a:solidFill>
                <a:srgbClr val="FFFFFF"/>
              </a:solidFill>
              <a:ln w="9525" cap="sq">
                <a:solidFill>
                  <a:srgbClr val="FFFFFF"/>
                </a:solidFill>
                <a:prstDash val="solid"/>
                <a:miter/>
              </a:ln>
            </p:spPr>
          </p:sp>
        </p:grpSp>
        <p:grpSp>
          <p:nvGrpSpPr>
            <p:cNvPr name="Group 26" id="26"/>
            <p:cNvGrpSpPr/>
            <p:nvPr/>
          </p:nvGrpSpPr>
          <p:grpSpPr>
            <a:xfrm rot="0">
              <a:off x="320467" y="12700"/>
              <a:ext cx="1659826" cy="812800"/>
              <a:chOff x="0" y="0"/>
              <a:chExt cx="1659826" cy="812800"/>
            </a:xfrm>
          </p:grpSpPr>
          <p:sp>
            <p:nvSpPr>
              <p:cNvPr name="Freeform 27" id="27"/>
              <p:cNvSpPr/>
              <p:nvPr/>
            </p:nvSpPr>
            <p:spPr>
              <a:xfrm flipH="false" flipV="false" rot="0">
                <a:off x="0" y="0"/>
                <a:ext cx="1659823" cy="812800"/>
              </a:xfrm>
              <a:custGeom>
                <a:avLst/>
                <a:gdLst/>
                <a:ahLst/>
                <a:cxnLst/>
                <a:rect r="r" b="b" t="t" l="l"/>
                <a:pathLst>
                  <a:path h="812800" w="1659823">
                    <a:moveTo>
                      <a:pt x="0" y="0"/>
                    </a:moveTo>
                    <a:lnTo>
                      <a:pt x="1659823" y="0"/>
                    </a:lnTo>
                    <a:lnTo>
                      <a:pt x="1659823" y="812800"/>
                    </a:lnTo>
                    <a:lnTo>
                      <a:pt x="0" y="812800"/>
                    </a:lnTo>
                    <a:close/>
                  </a:path>
                </a:pathLst>
              </a:custGeom>
              <a:blipFill>
                <a:blip r:embed="rId3">
                  <a:alphaModFix amt="0"/>
                </a:blip>
                <a:stretch>
                  <a:fillRect l="0" t="-19009" r="-73432" b="-19009"/>
                </a:stretch>
              </a:blipFill>
            </p:spPr>
          </p:sp>
          <p:sp>
            <p:nvSpPr>
              <p:cNvPr name="TextBox 28" id="28"/>
              <p:cNvSpPr txBox="true"/>
              <p:nvPr/>
            </p:nvSpPr>
            <p:spPr>
              <a:xfrm>
                <a:off x="0" y="-19050"/>
                <a:ext cx="1659826" cy="831850"/>
              </a:xfrm>
              <a:prstGeom prst="rect">
                <a:avLst/>
              </a:prstGeom>
            </p:spPr>
            <p:txBody>
              <a:bodyPr anchor="ctr" rtlCol="false" tIns="0" lIns="0" bIns="0" rIns="0"/>
              <a:lstStyle/>
              <a:p>
                <a:pPr algn="ctr">
                  <a:lnSpc>
                    <a:spcPts val="1800"/>
                  </a:lnSpc>
                </a:pPr>
                <a:r>
                  <a:rPr lang="en-US" sz="1500" b="true">
                    <a:solidFill>
                      <a:srgbClr val="111111"/>
                    </a:solidFill>
                    <a:latin typeface="Arimo Bold"/>
                    <a:ea typeface="Arimo Bold"/>
                    <a:cs typeface="Arimo Bold"/>
                    <a:sym typeface="Arimo Bold"/>
                  </a:rPr>
                  <a:t>Fleet Monitor</a:t>
                </a:r>
              </a:p>
            </p:txBody>
          </p:sp>
        </p:grpSp>
      </p:grpSp>
      <p:grpSp>
        <p:nvGrpSpPr>
          <p:cNvPr name="Group 29" id="29"/>
          <p:cNvGrpSpPr/>
          <p:nvPr/>
        </p:nvGrpSpPr>
        <p:grpSpPr>
          <a:xfrm rot="0">
            <a:off x="3388513" y="4293510"/>
            <a:ext cx="1691149" cy="619125"/>
            <a:chOff x="0" y="0"/>
            <a:chExt cx="2254866" cy="825500"/>
          </a:xfrm>
        </p:grpSpPr>
        <p:grpSp>
          <p:nvGrpSpPr>
            <p:cNvPr name="Group 30" id="30"/>
            <p:cNvGrpSpPr/>
            <p:nvPr/>
          </p:nvGrpSpPr>
          <p:grpSpPr>
            <a:xfrm rot="0">
              <a:off x="0" y="0"/>
              <a:ext cx="2254866" cy="825500"/>
              <a:chOff x="0" y="0"/>
              <a:chExt cx="2254866" cy="825500"/>
            </a:xfrm>
          </p:grpSpPr>
          <p:sp>
            <p:nvSpPr>
              <p:cNvPr name="Freeform 31" id="31"/>
              <p:cNvSpPr/>
              <p:nvPr/>
            </p:nvSpPr>
            <p:spPr>
              <a:xfrm flipH="false" flipV="false" rot="0">
                <a:off x="0" y="0"/>
                <a:ext cx="2254904" cy="825500"/>
              </a:xfrm>
              <a:custGeom>
                <a:avLst/>
                <a:gdLst/>
                <a:ahLst/>
                <a:cxnLst/>
                <a:rect r="r" b="b" t="t" l="l"/>
                <a:pathLst>
                  <a:path h="825500" w="2254904">
                    <a:moveTo>
                      <a:pt x="0" y="148590"/>
                    </a:moveTo>
                    <a:cubicBezTo>
                      <a:pt x="0" y="66548"/>
                      <a:pt x="51898" y="0"/>
                      <a:pt x="115879" y="0"/>
                    </a:cubicBezTo>
                    <a:lnTo>
                      <a:pt x="2139016" y="0"/>
                    </a:lnTo>
                    <a:cubicBezTo>
                      <a:pt x="2202998" y="0"/>
                      <a:pt x="2254904" y="66548"/>
                      <a:pt x="2254904" y="148590"/>
                    </a:cubicBezTo>
                    <a:lnTo>
                      <a:pt x="2254904" y="676910"/>
                    </a:lnTo>
                    <a:cubicBezTo>
                      <a:pt x="2254904" y="758952"/>
                      <a:pt x="2202998" y="825500"/>
                      <a:pt x="2139016" y="825500"/>
                    </a:cubicBezTo>
                    <a:lnTo>
                      <a:pt x="115879" y="825500"/>
                    </a:lnTo>
                    <a:cubicBezTo>
                      <a:pt x="51898" y="825500"/>
                      <a:pt x="0" y="758952"/>
                      <a:pt x="0" y="676910"/>
                    </a:cubicBezTo>
                    <a:close/>
                  </a:path>
                </a:pathLst>
              </a:custGeom>
              <a:solidFill>
                <a:srgbClr val="FFFFFF"/>
              </a:solidFill>
              <a:ln w="9525" cap="sq">
                <a:solidFill>
                  <a:srgbClr val="FFFFFF"/>
                </a:solidFill>
                <a:prstDash val="solid"/>
                <a:miter/>
              </a:ln>
            </p:spPr>
          </p:sp>
        </p:grpSp>
        <p:grpSp>
          <p:nvGrpSpPr>
            <p:cNvPr name="Group 32" id="32"/>
            <p:cNvGrpSpPr/>
            <p:nvPr/>
          </p:nvGrpSpPr>
          <p:grpSpPr>
            <a:xfrm rot="0">
              <a:off x="232736" y="6350"/>
              <a:ext cx="1799357" cy="812800"/>
              <a:chOff x="0" y="0"/>
              <a:chExt cx="1799357" cy="812800"/>
            </a:xfrm>
          </p:grpSpPr>
          <p:sp>
            <p:nvSpPr>
              <p:cNvPr name="Freeform 33" id="33"/>
              <p:cNvSpPr/>
              <p:nvPr/>
            </p:nvSpPr>
            <p:spPr>
              <a:xfrm flipH="false" flipV="false" rot="0">
                <a:off x="0" y="0"/>
                <a:ext cx="1799354" cy="812800"/>
              </a:xfrm>
              <a:custGeom>
                <a:avLst/>
                <a:gdLst/>
                <a:ahLst/>
                <a:cxnLst/>
                <a:rect r="r" b="b" t="t" l="l"/>
                <a:pathLst>
                  <a:path h="812800" w="1799354">
                    <a:moveTo>
                      <a:pt x="0" y="0"/>
                    </a:moveTo>
                    <a:lnTo>
                      <a:pt x="1799354" y="0"/>
                    </a:lnTo>
                    <a:lnTo>
                      <a:pt x="1799354" y="812800"/>
                    </a:lnTo>
                    <a:lnTo>
                      <a:pt x="0" y="812800"/>
                    </a:lnTo>
                    <a:close/>
                  </a:path>
                </a:pathLst>
              </a:custGeom>
              <a:blipFill>
                <a:blip r:embed="rId3">
                  <a:alphaModFix amt="0"/>
                </a:blip>
                <a:stretch>
                  <a:fillRect l="0" t="-19009" r="-59983" b="-19009"/>
                </a:stretch>
              </a:blipFill>
            </p:spPr>
          </p:sp>
          <p:sp>
            <p:nvSpPr>
              <p:cNvPr name="TextBox 34" id="34"/>
              <p:cNvSpPr txBox="true"/>
              <p:nvPr/>
            </p:nvSpPr>
            <p:spPr>
              <a:xfrm>
                <a:off x="0" y="-19050"/>
                <a:ext cx="1799357" cy="831850"/>
              </a:xfrm>
              <a:prstGeom prst="rect">
                <a:avLst/>
              </a:prstGeom>
            </p:spPr>
            <p:txBody>
              <a:bodyPr anchor="ctr" rtlCol="false" tIns="0" lIns="0" bIns="0" rIns="0"/>
              <a:lstStyle/>
              <a:p>
                <a:pPr algn="ctr">
                  <a:lnSpc>
                    <a:spcPts val="1800"/>
                  </a:lnSpc>
                </a:pPr>
                <a:r>
                  <a:rPr lang="en-US" sz="1500" b="true">
                    <a:solidFill>
                      <a:srgbClr val="111111"/>
                    </a:solidFill>
                    <a:latin typeface="Arimo Bold"/>
                    <a:ea typeface="Arimo Bold"/>
                    <a:cs typeface="Arimo Bold"/>
                    <a:sym typeface="Arimo Bold"/>
                  </a:rPr>
                  <a:t>Task Manager</a:t>
                </a:r>
              </a:p>
            </p:txBody>
          </p:sp>
        </p:grpSp>
      </p:grpSp>
      <p:grpSp>
        <p:nvGrpSpPr>
          <p:cNvPr name="Group 35" id="35"/>
          <p:cNvGrpSpPr/>
          <p:nvPr/>
        </p:nvGrpSpPr>
        <p:grpSpPr>
          <a:xfrm rot="0">
            <a:off x="5362716" y="4293510"/>
            <a:ext cx="1727351" cy="619125"/>
            <a:chOff x="0" y="0"/>
            <a:chExt cx="2303135" cy="825500"/>
          </a:xfrm>
        </p:grpSpPr>
        <p:grpSp>
          <p:nvGrpSpPr>
            <p:cNvPr name="Group 36" id="36"/>
            <p:cNvGrpSpPr/>
            <p:nvPr/>
          </p:nvGrpSpPr>
          <p:grpSpPr>
            <a:xfrm rot="0">
              <a:off x="0" y="0"/>
              <a:ext cx="2303135" cy="825500"/>
              <a:chOff x="0" y="0"/>
              <a:chExt cx="2303135" cy="825500"/>
            </a:xfrm>
          </p:grpSpPr>
          <p:sp>
            <p:nvSpPr>
              <p:cNvPr name="Freeform 37" id="37"/>
              <p:cNvSpPr/>
              <p:nvPr/>
            </p:nvSpPr>
            <p:spPr>
              <a:xfrm flipH="false" flipV="false" rot="0">
                <a:off x="0" y="0"/>
                <a:ext cx="2303173" cy="825500"/>
              </a:xfrm>
              <a:custGeom>
                <a:avLst/>
                <a:gdLst/>
                <a:ahLst/>
                <a:cxnLst/>
                <a:rect r="r" b="b" t="t" l="l"/>
                <a:pathLst>
                  <a:path h="825500" w="2303173">
                    <a:moveTo>
                      <a:pt x="0" y="148590"/>
                    </a:moveTo>
                    <a:cubicBezTo>
                      <a:pt x="0" y="66548"/>
                      <a:pt x="53009" y="0"/>
                      <a:pt x="118360" y="0"/>
                    </a:cubicBezTo>
                    <a:lnTo>
                      <a:pt x="2184805" y="0"/>
                    </a:lnTo>
                    <a:cubicBezTo>
                      <a:pt x="2250156" y="0"/>
                      <a:pt x="2303173" y="66548"/>
                      <a:pt x="2303173" y="148590"/>
                    </a:cubicBezTo>
                    <a:lnTo>
                      <a:pt x="2303173" y="676910"/>
                    </a:lnTo>
                    <a:cubicBezTo>
                      <a:pt x="2303173" y="758952"/>
                      <a:pt x="2250156" y="825500"/>
                      <a:pt x="2184805" y="825500"/>
                    </a:cubicBezTo>
                    <a:lnTo>
                      <a:pt x="118360" y="825500"/>
                    </a:lnTo>
                    <a:cubicBezTo>
                      <a:pt x="53009" y="825500"/>
                      <a:pt x="0" y="758952"/>
                      <a:pt x="0" y="676910"/>
                    </a:cubicBezTo>
                    <a:close/>
                  </a:path>
                </a:pathLst>
              </a:custGeom>
              <a:solidFill>
                <a:srgbClr val="FFFFFF"/>
              </a:solidFill>
              <a:ln w="9525" cap="sq">
                <a:solidFill>
                  <a:srgbClr val="FFFFFF"/>
                </a:solidFill>
                <a:prstDash val="solid"/>
                <a:miter/>
              </a:ln>
            </p:spPr>
          </p:sp>
        </p:grpSp>
        <p:grpSp>
          <p:nvGrpSpPr>
            <p:cNvPr name="Group 38" id="38"/>
            <p:cNvGrpSpPr/>
            <p:nvPr/>
          </p:nvGrpSpPr>
          <p:grpSpPr>
            <a:xfrm rot="0">
              <a:off x="331831" y="12700"/>
              <a:ext cx="1639473" cy="812800"/>
              <a:chOff x="0" y="0"/>
              <a:chExt cx="1639473" cy="812800"/>
            </a:xfrm>
          </p:grpSpPr>
          <p:sp>
            <p:nvSpPr>
              <p:cNvPr name="Freeform 39" id="39"/>
              <p:cNvSpPr/>
              <p:nvPr/>
            </p:nvSpPr>
            <p:spPr>
              <a:xfrm flipH="false" flipV="false" rot="0">
                <a:off x="0" y="0"/>
                <a:ext cx="1639470" cy="812800"/>
              </a:xfrm>
              <a:custGeom>
                <a:avLst/>
                <a:gdLst/>
                <a:ahLst/>
                <a:cxnLst/>
                <a:rect r="r" b="b" t="t" l="l"/>
                <a:pathLst>
                  <a:path h="812800" w="1639470">
                    <a:moveTo>
                      <a:pt x="0" y="0"/>
                    </a:moveTo>
                    <a:lnTo>
                      <a:pt x="1639470" y="0"/>
                    </a:lnTo>
                    <a:lnTo>
                      <a:pt x="1639470" y="812800"/>
                    </a:lnTo>
                    <a:lnTo>
                      <a:pt x="0" y="812800"/>
                    </a:lnTo>
                    <a:close/>
                  </a:path>
                </a:pathLst>
              </a:custGeom>
              <a:blipFill>
                <a:blip r:embed="rId3">
                  <a:alphaModFix amt="0"/>
                </a:blip>
                <a:stretch>
                  <a:fillRect l="0" t="-19009" r="-75585" b="-19009"/>
                </a:stretch>
              </a:blipFill>
            </p:spPr>
          </p:sp>
          <p:sp>
            <p:nvSpPr>
              <p:cNvPr name="TextBox 40" id="40"/>
              <p:cNvSpPr txBox="true"/>
              <p:nvPr/>
            </p:nvSpPr>
            <p:spPr>
              <a:xfrm>
                <a:off x="0" y="-19050"/>
                <a:ext cx="1639473" cy="831850"/>
              </a:xfrm>
              <a:prstGeom prst="rect">
                <a:avLst/>
              </a:prstGeom>
            </p:spPr>
            <p:txBody>
              <a:bodyPr anchor="ctr" rtlCol="false" tIns="0" lIns="0" bIns="0" rIns="0"/>
              <a:lstStyle/>
              <a:p>
                <a:pPr algn="ctr">
                  <a:lnSpc>
                    <a:spcPts val="1800"/>
                  </a:lnSpc>
                </a:pPr>
                <a:r>
                  <a:rPr lang="en-US" b="true" sz="1500" spc="-102">
                    <a:solidFill>
                      <a:srgbClr val="111111"/>
                    </a:solidFill>
                    <a:latin typeface="Arimo Bold"/>
                    <a:ea typeface="Arimo Bold"/>
                    <a:cs typeface="Arimo Bold"/>
                    <a:sym typeface="Arimo Bold"/>
                  </a:rPr>
                  <a:t>Traffic Manager</a:t>
                </a:r>
              </a:p>
            </p:txBody>
          </p:sp>
        </p:grpSp>
      </p:grpSp>
      <p:grpSp>
        <p:nvGrpSpPr>
          <p:cNvPr name="Group 41" id="41"/>
          <p:cNvGrpSpPr/>
          <p:nvPr/>
        </p:nvGrpSpPr>
        <p:grpSpPr>
          <a:xfrm rot="0">
            <a:off x="7373120" y="4291129"/>
            <a:ext cx="1716039" cy="623888"/>
            <a:chOff x="0" y="0"/>
            <a:chExt cx="2288052" cy="831850"/>
          </a:xfrm>
        </p:grpSpPr>
        <p:grpSp>
          <p:nvGrpSpPr>
            <p:cNvPr name="Group 42" id="42"/>
            <p:cNvGrpSpPr/>
            <p:nvPr/>
          </p:nvGrpSpPr>
          <p:grpSpPr>
            <a:xfrm rot="0">
              <a:off x="0" y="0"/>
              <a:ext cx="2288052" cy="825500"/>
              <a:chOff x="0" y="0"/>
              <a:chExt cx="2288052" cy="825500"/>
            </a:xfrm>
          </p:grpSpPr>
          <p:sp>
            <p:nvSpPr>
              <p:cNvPr name="Freeform 43" id="43"/>
              <p:cNvSpPr/>
              <p:nvPr/>
            </p:nvSpPr>
            <p:spPr>
              <a:xfrm flipH="false" flipV="false" rot="0">
                <a:off x="0" y="0"/>
                <a:ext cx="2288090" cy="825500"/>
              </a:xfrm>
              <a:custGeom>
                <a:avLst/>
                <a:gdLst/>
                <a:ahLst/>
                <a:cxnLst/>
                <a:rect r="r" b="b" t="t" l="l"/>
                <a:pathLst>
                  <a:path h="825500" w="2288090">
                    <a:moveTo>
                      <a:pt x="0" y="148590"/>
                    </a:moveTo>
                    <a:cubicBezTo>
                      <a:pt x="0" y="66548"/>
                      <a:pt x="52662" y="0"/>
                      <a:pt x="117585" y="0"/>
                    </a:cubicBezTo>
                    <a:lnTo>
                      <a:pt x="2170497" y="0"/>
                    </a:lnTo>
                    <a:cubicBezTo>
                      <a:pt x="2235420" y="0"/>
                      <a:pt x="2288090" y="66548"/>
                      <a:pt x="2288090" y="148590"/>
                    </a:cubicBezTo>
                    <a:lnTo>
                      <a:pt x="2288090" y="676910"/>
                    </a:lnTo>
                    <a:cubicBezTo>
                      <a:pt x="2288090" y="758952"/>
                      <a:pt x="2235420" y="825500"/>
                      <a:pt x="2170497" y="825500"/>
                    </a:cubicBezTo>
                    <a:lnTo>
                      <a:pt x="117585" y="825500"/>
                    </a:lnTo>
                    <a:cubicBezTo>
                      <a:pt x="52662" y="825500"/>
                      <a:pt x="0" y="758952"/>
                      <a:pt x="0" y="676910"/>
                    </a:cubicBezTo>
                    <a:close/>
                  </a:path>
                </a:pathLst>
              </a:custGeom>
              <a:solidFill>
                <a:srgbClr val="FFFFFF"/>
              </a:solidFill>
              <a:ln w="9525" cap="sq">
                <a:solidFill>
                  <a:srgbClr val="FFFFFF"/>
                </a:solidFill>
                <a:prstDash val="solid"/>
                <a:miter/>
              </a:ln>
            </p:spPr>
          </p:sp>
        </p:grpSp>
        <p:grpSp>
          <p:nvGrpSpPr>
            <p:cNvPr name="Group 44" id="44"/>
            <p:cNvGrpSpPr/>
            <p:nvPr/>
          </p:nvGrpSpPr>
          <p:grpSpPr>
            <a:xfrm rot="0">
              <a:off x="143141" y="19050"/>
              <a:ext cx="2001769" cy="812800"/>
              <a:chOff x="0" y="0"/>
              <a:chExt cx="2001769" cy="812800"/>
            </a:xfrm>
          </p:grpSpPr>
          <p:sp>
            <p:nvSpPr>
              <p:cNvPr name="Freeform 45" id="45"/>
              <p:cNvSpPr/>
              <p:nvPr/>
            </p:nvSpPr>
            <p:spPr>
              <a:xfrm flipH="false" flipV="false" rot="0">
                <a:off x="0" y="0"/>
                <a:ext cx="2001765" cy="812800"/>
              </a:xfrm>
              <a:custGeom>
                <a:avLst/>
                <a:gdLst/>
                <a:ahLst/>
                <a:cxnLst/>
                <a:rect r="r" b="b" t="t" l="l"/>
                <a:pathLst>
                  <a:path h="812800" w="2001765">
                    <a:moveTo>
                      <a:pt x="0" y="0"/>
                    </a:moveTo>
                    <a:lnTo>
                      <a:pt x="2001765" y="0"/>
                    </a:lnTo>
                    <a:lnTo>
                      <a:pt x="2001765" y="812800"/>
                    </a:lnTo>
                    <a:lnTo>
                      <a:pt x="0" y="812800"/>
                    </a:lnTo>
                    <a:close/>
                  </a:path>
                </a:pathLst>
              </a:custGeom>
              <a:blipFill>
                <a:blip r:embed="rId3">
                  <a:alphaModFix amt="0"/>
                </a:blip>
                <a:stretch>
                  <a:fillRect l="0" t="-19009" r="-43806" b="-19009"/>
                </a:stretch>
              </a:blipFill>
            </p:spPr>
          </p:sp>
          <p:sp>
            <p:nvSpPr>
              <p:cNvPr name="TextBox 46" id="46"/>
              <p:cNvSpPr txBox="true"/>
              <p:nvPr/>
            </p:nvSpPr>
            <p:spPr>
              <a:xfrm>
                <a:off x="0" y="-19050"/>
                <a:ext cx="2001769" cy="831850"/>
              </a:xfrm>
              <a:prstGeom prst="rect">
                <a:avLst/>
              </a:prstGeom>
            </p:spPr>
            <p:txBody>
              <a:bodyPr anchor="ctr" rtlCol="false" tIns="0" lIns="0" bIns="0" rIns="0"/>
              <a:lstStyle/>
              <a:p>
                <a:pPr algn="ctr">
                  <a:lnSpc>
                    <a:spcPts val="1800"/>
                  </a:lnSpc>
                </a:pPr>
                <a:r>
                  <a:rPr lang="en-US" sz="1500" b="true">
                    <a:solidFill>
                      <a:srgbClr val="111111"/>
                    </a:solidFill>
                    <a:latin typeface="Arimo Bold"/>
                    <a:ea typeface="Arimo Bold"/>
                    <a:cs typeface="Arimo Bold"/>
                    <a:sym typeface="Arimo Bold"/>
                  </a:rPr>
                  <a:t>Auto Dispatcher</a:t>
                </a:r>
              </a:p>
            </p:txBody>
          </p:sp>
        </p:grpSp>
      </p:grpSp>
      <p:grpSp>
        <p:nvGrpSpPr>
          <p:cNvPr name="Group 47" id="47"/>
          <p:cNvGrpSpPr/>
          <p:nvPr/>
        </p:nvGrpSpPr>
        <p:grpSpPr>
          <a:xfrm rot="0">
            <a:off x="1289047" y="6683652"/>
            <a:ext cx="7993317" cy="1204140"/>
            <a:chOff x="0" y="0"/>
            <a:chExt cx="10657756" cy="1605519"/>
          </a:xfrm>
        </p:grpSpPr>
        <p:sp>
          <p:nvSpPr>
            <p:cNvPr name="Freeform 48" id="48"/>
            <p:cNvSpPr/>
            <p:nvPr/>
          </p:nvSpPr>
          <p:spPr>
            <a:xfrm flipH="false" flipV="false" rot="0">
              <a:off x="0" y="0"/>
              <a:ext cx="10657728" cy="1605558"/>
            </a:xfrm>
            <a:custGeom>
              <a:avLst/>
              <a:gdLst/>
              <a:ahLst/>
              <a:cxnLst/>
              <a:rect r="r" b="b" t="t" l="l"/>
              <a:pathLst>
                <a:path h="1605558" w="10657728">
                  <a:moveTo>
                    <a:pt x="0" y="223748"/>
                  </a:moveTo>
                  <a:cubicBezTo>
                    <a:pt x="0" y="100169"/>
                    <a:pt x="50838" y="0"/>
                    <a:pt x="113557" y="0"/>
                  </a:cubicBezTo>
                  <a:lnTo>
                    <a:pt x="10544170" y="0"/>
                  </a:lnTo>
                  <a:cubicBezTo>
                    <a:pt x="10606891" y="0"/>
                    <a:pt x="10657728" y="100169"/>
                    <a:pt x="10657728" y="223748"/>
                  </a:cubicBezTo>
                  <a:lnTo>
                    <a:pt x="10657728" y="1381829"/>
                  </a:lnTo>
                  <a:cubicBezTo>
                    <a:pt x="10657728" y="1505408"/>
                    <a:pt x="10606891" y="1605558"/>
                    <a:pt x="10544170" y="1605558"/>
                  </a:cubicBezTo>
                  <a:lnTo>
                    <a:pt x="113557" y="1605558"/>
                  </a:lnTo>
                  <a:cubicBezTo>
                    <a:pt x="50838" y="1605558"/>
                    <a:pt x="0" y="1505408"/>
                    <a:pt x="0" y="1381829"/>
                  </a:cubicBezTo>
                  <a:close/>
                </a:path>
              </a:pathLst>
            </a:custGeom>
            <a:solidFill>
              <a:srgbClr val="F4DFDF"/>
            </a:solidFill>
            <a:ln w="9525" cap="sq">
              <a:solidFill>
                <a:srgbClr val="E5EEE5"/>
              </a:solidFill>
              <a:prstDash val="solid"/>
              <a:miter/>
            </a:ln>
          </p:spPr>
        </p:sp>
      </p:grpSp>
      <p:grpSp>
        <p:nvGrpSpPr>
          <p:cNvPr name="Group 49" id="49"/>
          <p:cNvGrpSpPr/>
          <p:nvPr/>
        </p:nvGrpSpPr>
        <p:grpSpPr>
          <a:xfrm rot="0">
            <a:off x="1279522" y="5458099"/>
            <a:ext cx="8002842" cy="815978"/>
            <a:chOff x="0" y="0"/>
            <a:chExt cx="10670456" cy="1087971"/>
          </a:xfrm>
        </p:grpSpPr>
        <p:sp>
          <p:nvSpPr>
            <p:cNvPr name="Freeform 50" id="50"/>
            <p:cNvSpPr/>
            <p:nvPr/>
          </p:nvSpPr>
          <p:spPr>
            <a:xfrm flipH="false" flipV="false" rot="0">
              <a:off x="0" y="0"/>
              <a:ext cx="10670546" cy="1088009"/>
            </a:xfrm>
            <a:custGeom>
              <a:avLst/>
              <a:gdLst/>
              <a:ahLst/>
              <a:cxnLst/>
              <a:rect r="r" b="b" t="t" l="l"/>
              <a:pathLst>
                <a:path h="1088009" w="10670546">
                  <a:moveTo>
                    <a:pt x="0" y="151638"/>
                  </a:moveTo>
                  <a:cubicBezTo>
                    <a:pt x="0" y="67818"/>
                    <a:pt x="51973" y="0"/>
                    <a:pt x="116210" y="0"/>
                  </a:cubicBezTo>
                  <a:lnTo>
                    <a:pt x="10554314" y="0"/>
                  </a:lnTo>
                  <a:cubicBezTo>
                    <a:pt x="10618453" y="0"/>
                    <a:pt x="10670546" y="67818"/>
                    <a:pt x="10670546" y="151638"/>
                  </a:cubicBezTo>
                  <a:lnTo>
                    <a:pt x="10670546" y="936371"/>
                  </a:lnTo>
                  <a:cubicBezTo>
                    <a:pt x="10670546" y="1020064"/>
                    <a:pt x="10618551" y="1088009"/>
                    <a:pt x="10554314" y="1088009"/>
                  </a:cubicBezTo>
                  <a:lnTo>
                    <a:pt x="116210" y="1088009"/>
                  </a:lnTo>
                  <a:cubicBezTo>
                    <a:pt x="51973" y="1088009"/>
                    <a:pt x="0" y="1020064"/>
                    <a:pt x="0" y="936371"/>
                  </a:cubicBezTo>
                  <a:close/>
                </a:path>
              </a:pathLst>
            </a:custGeom>
            <a:solidFill>
              <a:srgbClr val="FFFFFF"/>
            </a:solidFill>
            <a:ln w="28575" cap="sq">
              <a:solidFill>
                <a:srgbClr val="111111"/>
              </a:solidFill>
              <a:prstDash val="solid"/>
              <a:miter/>
            </a:ln>
          </p:spPr>
        </p:sp>
      </p:grpSp>
      <p:grpSp>
        <p:nvGrpSpPr>
          <p:cNvPr name="Group 51" id="51"/>
          <p:cNvGrpSpPr/>
          <p:nvPr/>
        </p:nvGrpSpPr>
        <p:grpSpPr>
          <a:xfrm rot="0">
            <a:off x="2169482" y="5816877"/>
            <a:ext cx="6222921" cy="419100"/>
            <a:chOff x="0" y="0"/>
            <a:chExt cx="8297228" cy="558800"/>
          </a:xfrm>
        </p:grpSpPr>
        <p:sp>
          <p:nvSpPr>
            <p:cNvPr name="Freeform 52" id="52"/>
            <p:cNvSpPr/>
            <p:nvPr/>
          </p:nvSpPr>
          <p:spPr>
            <a:xfrm flipH="false" flipV="false" rot="0">
              <a:off x="0" y="0"/>
              <a:ext cx="8297233" cy="558800"/>
            </a:xfrm>
            <a:custGeom>
              <a:avLst/>
              <a:gdLst/>
              <a:ahLst/>
              <a:cxnLst/>
              <a:rect r="r" b="b" t="t" l="l"/>
              <a:pathLst>
                <a:path h="558800" w="8297233">
                  <a:moveTo>
                    <a:pt x="0" y="0"/>
                  </a:moveTo>
                  <a:lnTo>
                    <a:pt x="8297233" y="0"/>
                  </a:lnTo>
                  <a:lnTo>
                    <a:pt x="8297233" y="558800"/>
                  </a:lnTo>
                  <a:lnTo>
                    <a:pt x="0" y="558800"/>
                  </a:lnTo>
                  <a:close/>
                </a:path>
              </a:pathLst>
            </a:custGeom>
            <a:blipFill>
              <a:blip r:embed="rId3">
                <a:alphaModFix amt="0"/>
              </a:blip>
              <a:stretch>
                <a:fillRect l="0" t="-434173" r="-67348" b="-434173"/>
              </a:stretch>
            </a:blipFill>
          </p:spPr>
        </p:sp>
        <p:sp>
          <p:nvSpPr>
            <p:cNvPr name="TextBox 53" id="53"/>
            <p:cNvSpPr txBox="true"/>
            <p:nvPr/>
          </p:nvSpPr>
          <p:spPr>
            <a:xfrm>
              <a:off x="0" y="-19050"/>
              <a:ext cx="8297228" cy="577850"/>
            </a:xfrm>
            <a:prstGeom prst="rect">
              <a:avLst/>
            </a:prstGeom>
          </p:spPr>
          <p:txBody>
            <a:bodyPr anchor="ctr" rtlCol="false" tIns="0" lIns="0" bIns="0" rIns="0"/>
            <a:lstStyle/>
            <a:p>
              <a:pPr algn="ctr">
                <a:lnSpc>
                  <a:spcPts val="2160"/>
                </a:lnSpc>
              </a:pPr>
              <a:r>
                <a:rPr lang="en-US" sz="1800" b="true">
                  <a:solidFill>
                    <a:srgbClr val="111111"/>
                  </a:solidFill>
                  <a:latin typeface="Arimo Bold"/>
                  <a:ea typeface="Arimo Bold"/>
                  <a:cs typeface="Arimo Bold"/>
                  <a:sym typeface="Arimo Bold"/>
                </a:rPr>
                <a:t>필요한 데이터만 중계</a:t>
              </a:r>
            </a:p>
          </p:txBody>
        </p:sp>
      </p:grpSp>
      <p:grpSp>
        <p:nvGrpSpPr>
          <p:cNvPr name="Group 54" id="54"/>
          <p:cNvGrpSpPr/>
          <p:nvPr/>
        </p:nvGrpSpPr>
        <p:grpSpPr>
          <a:xfrm rot="0">
            <a:off x="3168893" y="5489850"/>
            <a:ext cx="4224101" cy="342900"/>
            <a:chOff x="0" y="0"/>
            <a:chExt cx="5632134" cy="457200"/>
          </a:xfrm>
        </p:grpSpPr>
        <p:sp>
          <p:nvSpPr>
            <p:cNvPr name="Freeform 55" id="55"/>
            <p:cNvSpPr/>
            <p:nvPr/>
          </p:nvSpPr>
          <p:spPr>
            <a:xfrm flipH="false" flipV="false" rot="0">
              <a:off x="0" y="0"/>
              <a:ext cx="5632139" cy="457200"/>
            </a:xfrm>
            <a:custGeom>
              <a:avLst/>
              <a:gdLst/>
              <a:ahLst/>
              <a:cxnLst/>
              <a:rect r="r" b="b" t="t" l="l"/>
              <a:pathLst>
                <a:path h="457200" w="5632139">
                  <a:moveTo>
                    <a:pt x="0" y="0"/>
                  </a:moveTo>
                  <a:lnTo>
                    <a:pt x="5632139" y="0"/>
                  </a:lnTo>
                  <a:lnTo>
                    <a:pt x="5632139" y="457200"/>
                  </a:lnTo>
                  <a:lnTo>
                    <a:pt x="0" y="457200"/>
                  </a:lnTo>
                  <a:close/>
                </a:path>
              </a:pathLst>
            </a:custGeom>
            <a:blipFill>
              <a:blip r:embed="rId3">
                <a:alphaModFix amt="0"/>
              </a:blip>
              <a:stretch>
                <a:fillRect l="0" t="-541767" r="-146537" b="-541767"/>
              </a:stretch>
            </a:blipFill>
          </p:spPr>
        </p:sp>
        <p:sp>
          <p:nvSpPr>
            <p:cNvPr name="TextBox 56" id="56"/>
            <p:cNvSpPr txBox="true"/>
            <p:nvPr/>
          </p:nvSpPr>
          <p:spPr>
            <a:xfrm>
              <a:off x="0" y="-19050"/>
              <a:ext cx="5632134" cy="476250"/>
            </a:xfrm>
            <a:prstGeom prst="rect">
              <a:avLst/>
            </a:prstGeom>
          </p:spPr>
          <p:txBody>
            <a:bodyPr anchor="ctr" rtlCol="false" tIns="0" lIns="0" bIns="0" rIns="0"/>
            <a:lstStyle/>
            <a:p>
              <a:pPr algn="ctr">
                <a:lnSpc>
                  <a:spcPts val="1439"/>
                </a:lnSpc>
              </a:pPr>
              <a:r>
                <a:rPr lang="en-US" sz="1200" b="true">
                  <a:solidFill>
                    <a:srgbClr val="111111"/>
                  </a:solidFill>
                  <a:latin typeface="Arimo Bold"/>
                  <a:ea typeface="Arimo Bold"/>
                  <a:cs typeface="Arimo Bold"/>
                  <a:sym typeface="Arimo Bold"/>
                </a:rPr>
                <a:t>WebSocket, rosbridge, domain_bridge, Action Relay</a:t>
              </a:r>
            </a:p>
          </p:txBody>
        </p:sp>
      </p:grpSp>
      <p:grpSp>
        <p:nvGrpSpPr>
          <p:cNvPr name="Group 57" id="57"/>
          <p:cNvGrpSpPr/>
          <p:nvPr/>
        </p:nvGrpSpPr>
        <p:grpSpPr>
          <a:xfrm rot="0">
            <a:off x="2459431" y="7077790"/>
            <a:ext cx="1720795" cy="619125"/>
            <a:chOff x="0" y="0"/>
            <a:chExt cx="2294393" cy="825500"/>
          </a:xfrm>
        </p:grpSpPr>
        <p:grpSp>
          <p:nvGrpSpPr>
            <p:cNvPr name="Group 58" id="58"/>
            <p:cNvGrpSpPr/>
            <p:nvPr/>
          </p:nvGrpSpPr>
          <p:grpSpPr>
            <a:xfrm rot="0">
              <a:off x="0" y="0"/>
              <a:ext cx="2294393" cy="825500"/>
              <a:chOff x="0" y="0"/>
              <a:chExt cx="2294393" cy="825500"/>
            </a:xfrm>
          </p:grpSpPr>
          <p:sp>
            <p:nvSpPr>
              <p:cNvPr name="Freeform 59" id="59"/>
              <p:cNvSpPr/>
              <p:nvPr/>
            </p:nvSpPr>
            <p:spPr>
              <a:xfrm flipH="false" flipV="false" rot="0">
                <a:off x="0" y="0"/>
                <a:ext cx="2294431" cy="825500"/>
              </a:xfrm>
              <a:custGeom>
                <a:avLst/>
                <a:gdLst/>
                <a:ahLst/>
                <a:cxnLst/>
                <a:rect r="r" b="b" t="t" l="l"/>
                <a:pathLst>
                  <a:path h="825500" w="2294431">
                    <a:moveTo>
                      <a:pt x="0" y="148590"/>
                    </a:moveTo>
                    <a:cubicBezTo>
                      <a:pt x="0" y="66548"/>
                      <a:pt x="52808" y="0"/>
                      <a:pt x="117911" y="0"/>
                    </a:cubicBezTo>
                    <a:lnTo>
                      <a:pt x="2176512" y="0"/>
                    </a:lnTo>
                    <a:cubicBezTo>
                      <a:pt x="2241615" y="0"/>
                      <a:pt x="2294431" y="66548"/>
                      <a:pt x="2294431" y="148590"/>
                    </a:cubicBezTo>
                    <a:lnTo>
                      <a:pt x="2294431" y="676910"/>
                    </a:lnTo>
                    <a:cubicBezTo>
                      <a:pt x="2294431" y="758952"/>
                      <a:pt x="2241615" y="825500"/>
                      <a:pt x="2176512" y="825500"/>
                    </a:cubicBezTo>
                    <a:lnTo>
                      <a:pt x="117911" y="825500"/>
                    </a:lnTo>
                    <a:cubicBezTo>
                      <a:pt x="52808" y="825500"/>
                      <a:pt x="0" y="758952"/>
                      <a:pt x="0" y="676910"/>
                    </a:cubicBezTo>
                    <a:close/>
                  </a:path>
                </a:pathLst>
              </a:custGeom>
              <a:solidFill>
                <a:srgbClr val="FFFFFF"/>
              </a:solidFill>
              <a:ln w="9525" cap="sq">
                <a:solidFill>
                  <a:srgbClr val="FFFFFF"/>
                </a:solidFill>
                <a:prstDash val="solid"/>
                <a:miter/>
              </a:ln>
            </p:spPr>
          </p:sp>
        </p:grpSp>
        <p:grpSp>
          <p:nvGrpSpPr>
            <p:cNvPr name="Group 60" id="60"/>
            <p:cNvGrpSpPr/>
            <p:nvPr/>
          </p:nvGrpSpPr>
          <p:grpSpPr>
            <a:xfrm rot="0">
              <a:off x="352196" y="6350"/>
              <a:ext cx="1590001" cy="812800"/>
              <a:chOff x="0" y="0"/>
              <a:chExt cx="1590001" cy="812800"/>
            </a:xfrm>
          </p:grpSpPr>
          <p:sp>
            <p:nvSpPr>
              <p:cNvPr name="Freeform 61" id="61"/>
              <p:cNvSpPr/>
              <p:nvPr/>
            </p:nvSpPr>
            <p:spPr>
              <a:xfrm flipH="false" flipV="false" rot="0">
                <a:off x="0" y="0"/>
                <a:ext cx="1589998" cy="812800"/>
              </a:xfrm>
              <a:custGeom>
                <a:avLst/>
                <a:gdLst/>
                <a:ahLst/>
                <a:cxnLst/>
                <a:rect r="r" b="b" t="t" l="l"/>
                <a:pathLst>
                  <a:path h="812800" w="1589998">
                    <a:moveTo>
                      <a:pt x="0" y="0"/>
                    </a:moveTo>
                    <a:lnTo>
                      <a:pt x="1589998" y="0"/>
                    </a:lnTo>
                    <a:lnTo>
                      <a:pt x="1589998" y="812800"/>
                    </a:lnTo>
                    <a:lnTo>
                      <a:pt x="0" y="812800"/>
                    </a:lnTo>
                    <a:close/>
                  </a:path>
                </a:pathLst>
              </a:custGeom>
              <a:blipFill>
                <a:blip r:embed="rId3">
                  <a:alphaModFix amt="0"/>
                </a:blip>
                <a:stretch>
                  <a:fillRect l="0" t="-19009" r="-81048" b="-19009"/>
                </a:stretch>
              </a:blipFill>
            </p:spPr>
          </p:sp>
          <p:sp>
            <p:nvSpPr>
              <p:cNvPr name="TextBox 62" id="62"/>
              <p:cNvSpPr txBox="true"/>
              <p:nvPr/>
            </p:nvSpPr>
            <p:spPr>
              <a:xfrm>
                <a:off x="0" y="-19050"/>
                <a:ext cx="1590001" cy="831850"/>
              </a:xfrm>
              <a:prstGeom prst="rect">
                <a:avLst/>
              </a:prstGeom>
            </p:spPr>
            <p:txBody>
              <a:bodyPr anchor="ctr" rtlCol="false" tIns="0" lIns="0" bIns="0" rIns="0"/>
              <a:lstStyle/>
              <a:p>
                <a:pPr algn="ctr">
                  <a:lnSpc>
                    <a:spcPts val="1800"/>
                  </a:lnSpc>
                </a:pPr>
                <a:r>
                  <a:rPr lang="en-US" sz="1500" b="true">
                    <a:solidFill>
                      <a:srgbClr val="111111"/>
                    </a:solidFill>
                    <a:latin typeface="Arimo Bold"/>
                    <a:ea typeface="Arimo Bold"/>
                    <a:cs typeface="Arimo Bold"/>
                    <a:sym typeface="Arimo Bold"/>
                  </a:rPr>
                  <a:t>TurtleBot x 4</a:t>
                </a:r>
              </a:p>
            </p:txBody>
          </p:sp>
        </p:grpSp>
      </p:grpSp>
      <p:grpSp>
        <p:nvGrpSpPr>
          <p:cNvPr name="Group 63" id="63"/>
          <p:cNvGrpSpPr/>
          <p:nvPr/>
        </p:nvGrpSpPr>
        <p:grpSpPr>
          <a:xfrm rot="0">
            <a:off x="3224743" y="6740802"/>
            <a:ext cx="3914606" cy="342900"/>
            <a:chOff x="0" y="0"/>
            <a:chExt cx="5219474" cy="457200"/>
          </a:xfrm>
        </p:grpSpPr>
        <p:sp>
          <p:nvSpPr>
            <p:cNvPr name="Freeform 64" id="64"/>
            <p:cNvSpPr/>
            <p:nvPr/>
          </p:nvSpPr>
          <p:spPr>
            <a:xfrm flipH="false" flipV="false" rot="0">
              <a:off x="0" y="0"/>
              <a:ext cx="5219479" cy="457200"/>
            </a:xfrm>
            <a:custGeom>
              <a:avLst/>
              <a:gdLst/>
              <a:ahLst/>
              <a:cxnLst/>
              <a:rect r="r" b="b" t="t" l="l"/>
              <a:pathLst>
                <a:path h="457200" w="5219479">
                  <a:moveTo>
                    <a:pt x="0" y="0"/>
                  </a:moveTo>
                  <a:lnTo>
                    <a:pt x="5219479" y="0"/>
                  </a:lnTo>
                  <a:lnTo>
                    <a:pt x="5219479" y="457200"/>
                  </a:lnTo>
                  <a:lnTo>
                    <a:pt x="0" y="457200"/>
                  </a:lnTo>
                  <a:close/>
                </a:path>
              </a:pathLst>
            </a:custGeom>
            <a:blipFill>
              <a:blip r:embed="rId3">
                <a:alphaModFix amt="0"/>
              </a:blip>
              <a:stretch>
                <a:fillRect l="0" t="-541767" r="-166029" b="-541767"/>
              </a:stretch>
            </a:blipFill>
          </p:spPr>
        </p:sp>
        <p:sp>
          <p:nvSpPr>
            <p:cNvPr name="TextBox 65" id="65"/>
            <p:cNvSpPr txBox="true"/>
            <p:nvPr/>
          </p:nvSpPr>
          <p:spPr>
            <a:xfrm>
              <a:off x="0" y="-19050"/>
              <a:ext cx="5219474" cy="476250"/>
            </a:xfrm>
            <a:prstGeom prst="rect">
              <a:avLst/>
            </a:prstGeom>
          </p:spPr>
          <p:txBody>
            <a:bodyPr anchor="ctr" rtlCol="false" tIns="0" lIns="0" bIns="0" rIns="0"/>
            <a:lstStyle/>
            <a:p>
              <a:pPr algn="ctr">
                <a:lnSpc>
                  <a:spcPts val="1439"/>
                </a:lnSpc>
              </a:pPr>
              <a:r>
                <a:rPr lang="en-US" sz="1200" b="true">
                  <a:solidFill>
                    <a:srgbClr val="111111"/>
                  </a:solidFill>
                  <a:latin typeface="Arimo Bold"/>
                  <a:ea typeface="Arimo Bold"/>
                  <a:cs typeface="Arimo Bold"/>
                  <a:sym typeface="Arimo Bold"/>
                </a:rPr>
                <a:t>로봇별 DDS 도메인</a:t>
              </a:r>
            </a:p>
          </p:txBody>
        </p:sp>
      </p:grpSp>
      <p:sp>
        <p:nvSpPr>
          <p:cNvPr name="AutoShape 66" id="66"/>
          <p:cNvSpPr/>
          <p:nvPr/>
        </p:nvSpPr>
        <p:spPr>
          <a:xfrm>
            <a:off x="6500808" y="3340182"/>
            <a:ext cx="0" cy="409604"/>
          </a:xfrm>
          <a:prstGeom prst="line">
            <a:avLst/>
          </a:prstGeom>
          <a:ln cap="flat" w="19050">
            <a:solidFill>
              <a:srgbClr val="000000"/>
            </a:solidFill>
            <a:prstDash val="solid"/>
            <a:headEnd type="triangle" len="med" w="lg"/>
            <a:tailEnd type="triangle" len="med" w="lg"/>
          </a:ln>
        </p:spPr>
      </p:sp>
      <p:sp>
        <p:nvSpPr>
          <p:cNvPr name="AutoShape 67" id="67"/>
          <p:cNvSpPr/>
          <p:nvPr/>
        </p:nvSpPr>
        <p:spPr>
          <a:xfrm>
            <a:off x="6500808" y="5048524"/>
            <a:ext cx="0" cy="409575"/>
          </a:xfrm>
          <a:prstGeom prst="line">
            <a:avLst/>
          </a:prstGeom>
          <a:ln cap="flat" w="19050">
            <a:solidFill>
              <a:srgbClr val="000000"/>
            </a:solidFill>
            <a:prstDash val="solid"/>
            <a:headEnd type="arrow" len="sm" w="med"/>
            <a:tailEnd type="arrow" len="sm" w="med"/>
          </a:ln>
        </p:spPr>
      </p:sp>
      <p:sp>
        <p:nvSpPr>
          <p:cNvPr name="AutoShape 68" id="68"/>
          <p:cNvSpPr/>
          <p:nvPr/>
        </p:nvSpPr>
        <p:spPr>
          <a:xfrm flipH="true">
            <a:off x="6500808" y="6274077"/>
            <a:ext cx="0" cy="409575"/>
          </a:xfrm>
          <a:prstGeom prst="line">
            <a:avLst/>
          </a:prstGeom>
          <a:ln cap="flat" w="19050">
            <a:solidFill>
              <a:srgbClr val="000000"/>
            </a:solidFill>
            <a:prstDash val="solid"/>
            <a:headEnd type="arrow" len="sm" w="med"/>
            <a:tailEnd type="arrow" len="sm" w="med"/>
          </a:ln>
        </p:spPr>
      </p:sp>
      <p:grpSp>
        <p:nvGrpSpPr>
          <p:cNvPr name="Group 69" id="69"/>
          <p:cNvGrpSpPr/>
          <p:nvPr/>
        </p:nvGrpSpPr>
        <p:grpSpPr>
          <a:xfrm rot="0">
            <a:off x="12630420" y="1886381"/>
            <a:ext cx="5009557" cy="6298883"/>
            <a:chOff x="0" y="0"/>
            <a:chExt cx="6679409" cy="8398510"/>
          </a:xfrm>
        </p:grpSpPr>
        <p:sp>
          <p:nvSpPr>
            <p:cNvPr name="Freeform 70" id="70"/>
            <p:cNvSpPr/>
            <p:nvPr/>
          </p:nvSpPr>
          <p:spPr>
            <a:xfrm flipH="false" flipV="false" rot="0">
              <a:off x="0" y="0"/>
              <a:ext cx="6679498" cy="8398599"/>
            </a:xfrm>
            <a:custGeom>
              <a:avLst/>
              <a:gdLst/>
              <a:ahLst/>
              <a:cxnLst/>
              <a:rect r="r" b="b" t="t" l="l"/>
              <a:pathLst>
                <a:path h="8398599" w="6679498">
                  <a:moveTo>
                    <a:pt x="0" y="153835"/>
                  </a:moveTo>
                  <a:cubicBezTo>
                    <a:pt x="0" y="68782"/>
                    <a:pt x="31041" y="0"/>
                    <a:pt x="69425" y="0"/>
                  </a:cubicBezTo>
                  <a:lnTo>
                    <a:pt x="6610026" y="0"/>
                  </a:lnTo>
                  <a:cubicBezTo>
                    <a:pt x="6648350" y="0"/>
                    <a:pt x="6679498" y="68782"/>
                    <a:pt x="6679498" y="153835"/>
                  </a:cubicBezTo>
                  <a:lnTo>
                    <a:pt x="6679498" y="8244768"/>
                  </a:lnTo>
                  <a:cubicBezTo>
                    <a:pt x="6679498" y="8329688"/>
                    <a:pt x="6648410" y="8398599"/>
                    <a:pt x="6610026" y="8398599"/>
                  </a:cubicBezTo>
                  <a:lnTo>
                    <a:pt x="69425" y="8398599"/>
                  </a:lnTo>
                  <a:cubicBezTo>
                    <a:pt x="31041" y="8398470"/>
                    <a:pt x="0" y="8329688"/>
                    <a:pt x="0" y="8244768"/>
                  </a:cubicBezTo>
                  <a:close/>
                </a:path>
              </a:pathLst>
            </a:custGeom>
            <a:blipFill>
              <a:blip r:embed="rId4"/>
              <a:stretch>
                <a:fillRect l="-294" t="0" r="-294" b="0"/>
              </a:stretch>
            </a:blipFill>
            <a:ln w="47625" cap="sq">
              <a:solidFill>
                <a:srgbClr val="111111"/>
              </a:solidFill>
              <a:prstDash val="solid"/>
              <a:miter/>
            </a:ln>
          </p:spPr>
        </p:sp>
      </p:grpSp>
      <p:grpSp>
        <p:nvGrpSpPr>
          <p:cNvPr name="Group 71" id="71"/>
          <p:cNvGrpSpPr/>
          <p:nvPr/>
        </p:nvGrpSpPr>
        <p:grpSpPr>
          <a:xfrm rot="0">
            <a:off x="12772048" y="2142467"/>
            <a:ext cx="1168519" cy="503088"/>
            <a:chOff x="0" y="0"/>
            <a:chExt cx="1558025" cy="670784"/>
          </a:xfrm>
        </p:grpSpPr>
        <p:sp>
          <p:nvSpPr>
            <p:cNvPr name="Freeform 72" id="72"/>
            <p:cNvSpPr/>
            <p:nvPr/>
          </p:nvSpPr>
          <p:spPr>
            <a:xfrm flipH="false" flipV="false" rot="0">
              <a:off x="0" y="0"/>
              <a:ext cx="1558025" cy="670822"/>
            </a:xfrm>
            <a:custGeom>
              <a:avLst/>
              <a:gdLst/>
              <a:ahLst/>
              <a:cxnLst/>
              <a:rect r="r" b="b" t="t" l="l"/>
              <a:pathLst>
                <a:path h="670822" w="1558025">
                  <a:moveTo>
                    <a:pt x="0" y="152548"/>
                  </a:moveTo>
                  <a:cubicBezTo>
                    <a:pt x="0" y="68290"/>
                    <a:pt x="31399" y="0"/>
                    <a:pt x="70141" y="0"/>
                  </a:cubicBezTo>
                  <a:lnTo>
                    <a:pt x="1487884" y="0"/>
                  </a:lnTo>
                  <a:cubicBezTo>
                    <a:pt x="1526626" y="0"/>
                    <a:pt x="1558025" y="68290"/>
                    <a:pt x="1558025" y="152548"/>
                  </a:cubicBezTo>
                  <a:lnTo>
                    <a:pt x="1558025" y="518275"/>
                  </a:lnTo>
                  <a:cubicBezTo>
                    <a:pt x="1558025" y="602533"/>
                    <a:pt x="1526626" y="670822"/>
                    <a:pt x="1487884" y="670822"/>
                  </a:cubicBezTo>
                  <a:lnTo>
                    <a:pt x="70141" y="670822"/>
                  </a:lnTo>
                  <a:cubicBezTo>
                    <a:pt x="31399" y="670822"/>
                    <a:pt x="0" y="602533"/>
                    <a:pt x="0" y="518275"/>
                  </a:cubicBezTo>
                  <a:close/>
                </a:path>
              </a:pathLst>
            </a:custGeom>
            <a:solidFill>
              <a:srgbClr val="111111"/>
            </a:solidFill>
            <a:ln w="9525" cap="sq">
              <a:solidFill>
                <a:srgbClr val="111111"/>
              </a:solidFill>
              <a:prstDash val="solid"/>
              <a:miter/>
            </a:ln>
          </p:spPr>
        </p:sp>
      </p:grpSp>
      <p:grpSp>
        <p:nvGrpSpPr>
          <p:cNvPr name="Group 73" id="73"/>
          <p:cNvGrpSpPr/>
          <p:nvPr/>
        </p:nvGrpSpPr>
        <p:grpSpPr>
          <a:xfrm rot="0">
            <a:off x="12774286" y="2147336"/>
            <a:ext cx="1164042" cy="493347"/>
            <a:chOff x="0" y="0"/>
            <a:chExt cx="1552056" cy="657796"/>
          </a:xfrm>
        </p:grpSpPr>
        <p:sp>
          <p:nvSpPr>
            <p:cNvPr name="Freeform 74" id="74"/>
            <p:cNvSpPr/>
            <p:nvPr/>
          </p:nvSpPr>
          <p:spPr>
            <a:xfrm flipH="false" flipV="false" rot="0">
              <a:off x="0" y="0"/>
              <a:ext cx="1552056" cy="657791"/>
            </a:xfrm>
            <a:custGeom>
              <a:avLst/>
              <a:gdLst/>
              <a:ahLst/>
              <a:cxnLst/>
              <a:rect r="r" b="b" t="t" l="l"/>
              <a:pathLst>
                <a:path h="657791" w="1552056">
                  <a:moveTo>
                    <a:pt x="0" y="0"/>
                  </a:moveTo>
                  <a:lnTo>
                    <a:pt x="1552056" y="0"/>
                  </a:lnTo>
                  <a:lnTo>
                    <a:pt x="1552056" y="657791"/>
                  </a:lnTo>
                  <a:lnTo>
                    <a:pt x="0" y="657791"/>
                  </a:lnTo>
                  <a:close/>
                </a:path>
              </a:pathLst>
            </a:custGeom>
            <a:blipFill>
              <a:blip r:embed="rId3">
                <a:alphaModFix amt="0"/>
              </a:blip>
              <a:stretch>
                <a:fillRect l="0" t="-48900" r="-112750" b="-46723"/>
              </a:stretch>
            </a:blipFill>
          </p:spPr>
        </p:sp>
        <p:sp>
          <p:nvSpPr>
            <p:cNvPr name="TextBox 75" id="75"/>
            <p:cNvSpPr txBox="true"/>
            <p:nvPr/>
          </p:nvSpPr>
          <p:spPr>
            <a:xfrm>
              <a:off x="0" y="-19050"/>
              <a:ext cx="1552056" cy="676846"/>
            </a:xfrm>
            <a:prstGeom prst="rect">
              <a:avLst/>
            </a:prstGeom>
          </p:spPr>
          <p:txBody>
            <a:bodyPr anchor="ctr" rtlCol="false" tIns="0" lIns="0" bIns="0" rIns="0"/>
            <a:lstStyle/>
            <a:p>
              <a:pPr algn="ctr">
                <a:lnSpc>
                  <a:spcPts val="1620"/>
                </a:lnSpc>
              </a:pPr>
              <a:r>
                <a:rPr lang="en-US" b="true" sz="1350" u="sng">
                  <a:solidFill>
                    <a:srgbClr val="FFFFFF"/>
                  </a:solidFill>
                  <a:latin typeface="Arimo Bold"/>
                  <a:ea typeface="Arimo Bold"/>
                  <a:cs typeface="Arimo Bold"/>
                  <a:sym typeface="Arimo Bold"/>
                  <a:hlinkClick r:id="rId5" tooltip="https://kdm111.github.io/assets/videos/p16_robot_tracking.mp4"/>
                </a:rPr>
                <a:t>로봇 추적 화면</a:t>
              </a:r>
            </a:p>
          </p:txBody>
        </p:sp>
      </p:grpSp>
      <p:grpSp>
        <p:nvGrpSpPr>
          <p:cNvPr name="Group 76" id="76"/>
          <p:cNvGrpSpPr/>
          <p:nvPr/>
        </p:nvGrpSpPr>
        <p:grpSpPr>
          <a:xfrm rot="0">
            <a:off x="4597640" y="7074177"/>
            <a:ext cx="1727351" cy="626352"/>
            <a:chOff x="0" y="0"/>
            <a:chExt cx="2303135" cy="835136"/>
          </a:xfrm>
        </p:grpSpPr>
        <p:grpSp>
          <p:nvGrpSpPr>
            <p:cNvPr name="Group 77" id="77"/>
            <p:cNvGrpSpPr/>
            <p:nvPr/>
          </p:nvGrpSpPr>
          <p:grpSpPr>
            <a:xfrm rot="0">
              <a:off x="0" y="0"/>
              <a:ext cx="2303135" cy="825500"/>
              <a:chOff x="0" y="0"/>
              <a:chExt cx="2303135" cy="825500"/>
            </a:xfrm>
          </p:grpSpPr>
          <p:sp>
            <p:nvSpPr>
              <p:cNvPr name="Freeform 78" id="78"/>
              <p:cNvSpPr/>
              <p:nvPr/>
            </p:nvSpPr>
            <p:spPr>
              <a:xfrm flipH="false" flipV="false" rot="0">
                <a:off x="0" y="0"/>
                <a:ext cx="2303173" cy="825500"/>
              </a:xfrm>
              <a:custGeom>
                <a:avLst/>
                <a:gdLst/>
                <a:ahLst/>
                <a:cxnLst/>
                <a:rect r="r" b="b" t="t" l="l"/>
                <a:pathLst>
                  <a:path h="825500" w="2303173">
                    <a:moveTo>
                      <a:pt x="0" y="148590"/>
                    </a:moveTo>
                    <a:cubicBezTo>
                      <a:pt x="0" y="66548"/>
                      <a:pt x="53009" y="0"/>
                      <a:pt x="118360" y="0"/>
                    </a:cubicBezTo>
                    <a:lnTo>
                      <a:pt x="2184805" y="0"/>
                    </a:lnTo>
                    <a:cubicBezTo>
                      <a:pt x="2250156" y="0"/>
                      <a:pt x="2303173" y="66548"/>
                      <a:pt x="2303173" y="148590"/>
                    </a:cubicBezTo>
                    <a:lnTo>
                      <a:pt x="2303173" y="676910"/>
                    </a:lnTo>
                    <a:cubicBezTo>
                      <a:pt x="2303173" y="758952"/>
                      <a:pt x="2250156" y="825500"/>
                      <a:pt x="2184805" y="825500"/>
                    </a:cubicBezTo>
                    <a:lnTo>
                      <a:pt x="118360" y="825500"/>
                    </a:lnTo>
                    <a:cubicBezTo>
                      <a:pt x="53009" y="825500"/>
                      <a:pt x="0" y="758952"/>
                      <a:pt x="0" y="676910"/>
                    </a:cubicBezTo>
                    <a:close/>
                  </a:path>
                </a:pathLst>
              </a:custGeom>
              <a:solidFill>
                <a:srgbClr val="FFFFFF"/>
              </a:solidFill>
              <a:ln w="9525" cap="sq">
                <a:solidFill>
                  <a:srgbClr val="FFFFFF"/>
                </a:solidFill>
                <a:prstDash val="solid"/>
                <a:miter/>
              </a:ln>
            </p:spPr>
          </p:sp>
        </p:grpSp>
        <p:grpSp>
          <p:nvGrpSpPr>
            <p:cNvPr name="Group 79" id="79"/>
            <p:cNvGrpSpPr/>
            <p:nvPr/>
          </p:nvGrpSpPr>
          <p:grpSpPr>
            <a:xfrm rot="0">
              <a:off x="306206" y="22336"/>
              <a:ext cx="1690723" cy="812800"/>
              <a:chOff x="0" y="0"/>
              <a:chExt cx="1690723" cy="812800"/>
            </a:xfrm>
          </p:grpSpPr>
          <p:sp>
            <p:nvSpPr>
              <p:cNvPr name="Freeform 80" id="80"/>
              <p:cNvSpPr/>
              <p:nvPr/>
            </p:nvSpPr>
            <p:spPr>
              <a:xfrm flipH="false" flipV="false" rot="0">
                <a:off x="0" y="0"/>
                <a:ext cx="1690720" cy="812800"/>
              </a:xfrm>
              <a:custGeom>
                <a:avLst/>
                <a:gdLst/>
                <a:ahLst/>
                <a:cxnLst/>
                <a:rect r="r" b="b" t="t" l="l"/>
                <a:pathLst>
                  <a:path h="812800" w="1690720">
                    <a:moveTo>
                      <a:pt x="0" y="0"/>
                    </a:moveTo>
                    <a:lnTo>
                      <a:pt x="1690720" y="0"/>
                    </a:lnTo>
                    <a:lnTo>
                      <a:pt x="1690720" y="812800"/>
                    </a:lnTo>
                    <a:lnTo>
                      <a:pt x="0" y="812800"/>
                    </a:lnTo>
                    <a:close/>
                  </a:path>
                </a:pathLst>
              </a:custGeom>
              <a:blipFill>
                <a:blip r:embed="rId3">
                  <a:alphaModFix amt="0"/>
                </a:blip>
                <a:stretch>
                  <a:fillRect l="0" t="-19009" r="-70262" b="-19009"/>
                </a:stretch>
              </a:blipFill>
            </p:spPr>
          </p:sp>
          <p:sp>
            <p:nvSpPr>
              <p:cNvPr name="TextBox 81" id="81"/>
              <p:cNvSpPr txBox="true"/>
              <p:nvPr/>
            </p:nvSpPr>
            <p:spPr>
              <a:xfrm>
                <a:off x="0" y="-19050"/>
                <a:ext cx="1690723" cy="831850"/>
              </a:xfrm>
              <a:prstGeom prst="rect">
                <a:avLst/>
              </a:prstGeom>
            </p:spPr>
            <p:txBody>
              <a:bodyPr anchor="ctr" rtlCol="false" tIns="0" lIns="0" bIns="0" rIns="0"/>
              <a:lstStyle/>
              <a:p>
                <a:pPr algn="ctr">
                  <a:lnSpc>
                    <a:spcPts val="1800"/>
                  </a:lnSpc>
                </a:pPr>
                <a:r>
                  <a:rPr lang="en-US" b="true" sz="1500" spc="-113">
                    <a:solidFill>
                      <a:srgbClr val="111111"/>
                    </a:solidFill>
                    <a:latin typeface="Arimo Bold"/>
                    <a:ea typeface="Arimo Bold"/>
                    <a:cs typeface="Arimo Bold"/>
                    <a:sym typeface="Arimo Bold"/>
                  </a:rPr>
                  <a:t>VicPinky Carrier</a:t>
                </a:r>
              </a:p>
            </p:txBody>
          </p:sp>
        </p:grpSp>
      </p:grpSp>
      <p:grpSp>
        <p:nvGrpSpPr>
          <p:cNvPr name="Group 82" id="82"/>
          <p:cNvGrpSpPr/>
          <p:nvPr/>
        </p:nvGrpSpPr>
        <p:grpSpPr>
          <a:xfrm rot="0">
            <a:off x="6742406" y="7075984"/>
            <a:ext cx="1700255" cy="622739"/>
            <a:chOff x="0" y="0"/>
            <a:chExt cx="2267007" cy="830318"/>
          </a:xfrm>
        </p:grpSpPr>
        <p:grpSp>
          <p:nvGrpSpPr>
            <p:cNvPr name="Group 83" id="83"/>
            <p:cNvGrpSpPr/>
            <p:nvPr/>
          </p:nvGrpSpPr>
          <p:grpSpPr>
            <a:xfrm rot="0">
              <a:off x="0" y="0"/>
              <a:ext cx="2267007" cy="825500"/>
              <a:chOff x="0" y="0"/>
              <a:chExt cx="2267007" cy="825500"/>
            </a:xfrm>
          </p:grpSpPr>
          <p:sp>
            <p:nvSpPr>
              <p:cNvPr name="Freeform 84" id="84"/>
              <p:cNvSpPr/>
              <p:nvPr/>
            </p:nvSpPr>
            <p:spPr>
              <a:xfrm flipH="false" flipV="false" rot="0">
                <a:off x="0" y="0"/>
                <a:ext cx="2267045" cy="825500"/>
              </a:xfrm>
              <a:custGeom>
                <a:avLst/>
                <a:gdLst/>
                <a:ahLst/>
                <a:cxnLst/>
                <a:rect r="r" b="b" t="t" l="l"/>
                <a:pathLst>
                  <a:path h="825500" w="2267045">
                    <a:moveTo>
                      <a:pt x="0" y="148590"/>
                    </a:moveTo>
                    <a:cubicBezTo>
                      <a:pt x="0" y="66548"/>
                      <a:pt x="52178" y="0"/>
                      <a:pt x="116503" y="0"/>
                    </a:cubicBezTo>
                    <a:lnTo>
                      <a:pt x="2150533" y="0"/>
                    </a:lnTo>
                    <a:cubicBezTo>
                      <a:pt x="2214859" y="0"/>
                      <a:pt x="2267045" y="66548"/>
                      <a:pt x="2267045" y="148590"/>
                    </a:cubicBezTo>
                    <a:lnTo>
                      <a:pt x="2267045" y="676910"/>
                    </a:lnTo>
                    <a:cubicBezTo>
                      <a:pt x="2267045" y="758952"/>
                      <a:pt x="2214859" y="825500"/>
                      <a:pt x="2150533" y="825500"/>
                    </a:cubicBezTo>
                    <a:lnTo>
                      <a:pt x="116503" y="825500"/>
                    </a:lnTo>
                    <a:cubicBezTo>
                      <a:pt x="52178" y="825500"/>
                      <a:pt x="0" y="758952"/>
                      <a:pt x="0" y="676910"/>
                    </a:cubicBezTo>
                    <a:close/>
                  </a:path>
                </a:pathLst>
              </a:custGeom>
              <a:solidFill>
                <a:srgbClr val="FFFFFF"/>
              </a:solidFill>
              <a:ln w="9525" cap="sq">
                <a:solidFill>
                  <a:srgbClr val="FFFFFF"/>
                </a:solidFill>
                <a:prstDash val="solid"/>
                <a:miter/>
              </a:ln>
            </p:spPr>
          </p:sp>
        </p:grpSp>
        <p:grpSp>
          <p:nvGrpSpPr>
            <p:cNvPr name="Group 85" id="85"/>
            <p:cNvGrpSpPr/>
            <p:nvPr/>
          </p:nvGrpSpPr>
          <p:grpSpPr>
            <a:xfrm rot="0">
              <a:off x="355019" y="17518"/>
              <a:ext cx="1570736" cy="812800"/>
              <a:chOff x="0" y="0"/>
              <a:chExt cx="1570736" cy="812800"/>
            </a:xfrm>
          </p:grpSpPr>
          <p:sp>
            <p:nvSpPr>
              <p:cNvPr name="Freeform 86" id="86"/>
              <p:cNvSpPr/>
              <p:nvPr/>
            </p:nvSpPr>
            <p:spPr>
              <a:xfrm flipH="false" flipV="false" rot="0">
                <a:off x="0" y="0"/>
                <a:ext cx="1570733" cy="812800"/>
              </a:xfrm>
              <a:custGeom>
                <a:avLst/>
                <a:gdLst/>
                <a:ahLst/>
                <a:cxnLst/>
                <a:rect r="r" b="b" t="t" l="l"/>
                <a:pathLst>
                  <a:path h="812800" w="1570733">
                    <a:moveTo>
                      <a:pt x="0" y="0"/>
                    </a:moveTo>
                    <a:lnTo>
                      <a:pt x="1570733" y="0"/>
                    </a:lnTo>
                    <a:lnTo>
                      <a:pt x="1570733" y="812800"/>
                    </a:lnTo>
                    <a:lnTo>
                      <a:pt x="0" y="812800"/>
                    </a:lnTo>
                    <a:close/>
                  </a:path>
                </a:pathLst>
              </a:custGeom>
              <a:blipFill>
                <a:blip r:embed="rId3">
                  <a:alphaModFix amt="0"/>
                </a:blip>
                <a:stretch>
                  <a:fillRect l="0" t="-19009" r="-83269" b="-19009"/>
                </a:stretch>
              </a:blipFill>
            </p:spPr>
          </p:sp>
          <p:sp>
            <p:nvSpPr>
              <p:cNvPr name="TextBox 87" id="87"/>
              <p:cNvSpPr txBox="true"/>
              <p:nvPr/>
            </p:nvSpPr>
            <p:spPr>
              <a:xfrm>
                <a:off x="0" y="-19050"/>
                <a:ext cx="1570736" cy="831850"/>
              </a:xfrm>
              <a:prstGeom prst="rect">
                <a:avLst/>
              </a:prstGeom>
            </p:spPr>
            <p:txBody>
              <a:bodyPr anchor="ctr" rtlCol="false" tIns="0" lIns="0" bIns="0" rIns="0"/>
              <a:lstStyle/>
              <a:p>
                <a:pPr algn="ctr">
                  <a:lnSpc>
                    <a:spcPts val="1800"/>
                  </a:lnSpc>
                </a:pPr>
                <a:r>
                  <a:rPr lang="en-US" sz="1500" b="true">
                    <a:solidFill>
                      <a:srgbClr val="111111"/>
                    </a:solidFill>
                    <a:latin typeface="Arimo Bold"/>
                    <a:ea typeface="Arimo Bold"/>
                    <a:cs typeface="Arimo Bold"/>
                    <a:sym typeface="Arimo Bold"/>
                  </a:rPr>
                  <a:t>로봇팔(OMX)</a:t>
                </a:r>
              </a:p>
            </p:txBody>
          </p:sp>
        </p:grpSp>
      </p:grpSp>
      <p:grpSp>
        <p:nvGrpSpPr>
          <p:cNvPr name="Group 88" id="88"/>
          <p:cNvGrpSpPr/>
          <p:nvPr/>
        </p:nvGrpSpPr>
        <p:grpSpPr>
          <a:xfrm rot="0">
            <a:off x="9735208" y="2645555"/>
            <a:ext cx="2297520" cy="2899179"/>
            <a:chOff x="0" y="0"/>
            <a:chExt cx="3264711" cy="4119651"/>
          </a:xfrm>
        </p:grpSpPr>
        <p:sp>
          <p:nvSpPr>
            <p:cNvPr name="Freeform 89" id="89"/>
            <p:cNvSpPr/>
            <p:nvPr/>
          </p:nvSpPr>
          <p:spPr>
            <a:xfrm flipH="false" flipV="false" rot="0">
              <a:off x="0" y="0"/>
              <a:ext cx="3264801" cy="4119689"/>
            </a:xfrm>
            <a:custGeom>
              <a:avLst/>
              <a:gdLst/>
              <a:ahLst/>
              <a:cxnLst/>
              <a:rect r="r" b="b" t="t" l="l"/>
              <a:pathLst>
                <a:path h="4119689" w="3264801">
                  <a:moveTo>
                    <a:pt x="0" y="574184"/>
                  </a:moveTo>
                  <a:cubicBezTo>
                    <a:pt x="0" y="256796"/>
                    <a:pt x="15902" y="0"/>
                    <a:pt x="35555" y="0"/>
                  </a:cubicBezTo>
                  <a:lnTo>
                    <a:pt x="3229177" y="0"/>
                  </a:lnTo>
                  <a:cubicBezTo>
                    <a:pt x="3248801" y="0"/>
                    <a:pt x="3264801" y="256796"/>
                    <a:pt x="3264801" y="574184"/>
                  </a:cubicBezTo>
                  <a:lnTo>
                    <a:pt x="3264801" y="3545611"/>
                  </a:lnTo>
                  <a:cubicBezTo>
                    <a:pt x="3264801" y="3862518"/>
                    <a:pt x="3248830" y="4119689"/>
                    <a:pt x="3229177" y="4119689"/>
                  </a:cubicBezTo>
                  <a:lnTo>
                    <a:pt x="35555" y="4119689"/>
                  </a:lnTo>
                  <a:cubicBezTo>
                    <a:pt x="15902" y="4119689"/>
                    <a:pt x="0" y="3862518"/>
                    <a:pt x="0" y="3545611"/>
                  </a:cubicBezTo>
                  <a:close/>
                </a:path>
              </a:pathLst>
            </a:custGeom>
            <a:solidFill>
              <a:srgbClr val="E1D0D9"/>
            </a:solidFill>
            <a:ln cap="sq">
              <a:noFill/>
              <a:prstDash val="solid"/>
              <a:miter/>
            </a:ln>
          </p:spPr>
        </p:sp>
      </p:grpSp>
      <p:grpSp>
        <p:nvGrpSpPr>
          <p:cNvPr name="Group 90" id="90"/>
          <p:cNvGrpSpPr/>
          <p:nvPr/>
        </p:nvGrpSpPr>
        <p:grpSpPr>
          <a:xfrm rot="0">
            <a:off x="9951344" y="2752822"/>
            <a:ext cx="1702923" cy="311118"/>
            <a:chOff x="0" y="0"/>
            <a:chExt cx="2270564" cy="414824"/>
          </a:xfrm>
        </p:grpSpPr>
        <p:sp>
          <p:nvSpPr>
            <p:cNvPr name="Freeform 91" id="91"/>
            <p:cNvSpPr/>
            <p:nvPr/>
          </p:nvSpPr>
          <p:spPr>
            <a:xfrm flipH="false" flipV="false" rot="0">
              <a:off x="0" y="0"/>
              <a:ext cx="2270569" cy="414829"/>
            </a:xfrm>
            <a:custGeom>
              <a:avLst/>
              <a:gdLst/>
              <a:ahLst/>
              <a:cxnLst/>
              <a:rect r="r" b="b" t="t" l="l"/>
              <a:pathLst>
                <a:path h="414829" w="2270569">
                  <a:moveTo>
                    <a:pt x="0" y="0"/>
                  </a:moveTo>
                  <a:lnTo>
                    <a:pt x="2270569" y="0"/>
                  </a:lnTo>
                  <a:lnTo>
                    <a:pt x="2270569" y="414829"/>
                  </a:lnTo>
                  <a:lnTo>
                    <a:pt x="0" y="414829"/>
                  </a:lnTo>
                  <a:close/>
                </a:path>
              </a:pathLst>
            </a:custGeom>
            <a:blipFill>
              <a:blip r:embed="rId3">
                <a:alphaModFix amt="0"/>
              </a:blip>
              <a:stretch>
                <a:fillRect l="0" t="-607309" r="-511535" b="-597113"/>
              </a:stretch>
            </a:blipFill>
          </p:spPr>
        </p:sp>
        <p:sp>
          <p:nvSpPr>
            <p:cNvPr name="TextBox 92" id="92"/>
            <p:cNvSpPr txBox="true"/>
            <p:nvPr/>
          </p:nvSpPr>
          <p:spPr>
            <a:xfrm>
              <a:off x="0" y="-19050"/>
              <a:ext cx="2270564" cy="433874"/>
            </a:xfrm>
            <a:prstGeom prst="rect">
              <a:avLst/>
            </a:prstGeom>
          </p:spPr>
          <p:txBody>
            <a:bodyPr anchor="ctr" rtlCol="false" tIns="0" lIns="0" bIns="0" rIns="0"/>
            <a:lstStyle/>
            <a:p>
              <a:pPr algn="ctr">
                <a:lnSpc>
                  <a:spcPts val="1439"/>
                </a:lnSpc>
              </a:pPr>
              <a:r>
                <a:rPr lang="en-US" sz="1200" b="true">
                  <a:solidFill>
                    <a:srgbClr val="111111"/>
                  </a:solidFill>
                  <a:latin typeface="Arimo Bold"/>
                  <a:ea typeface="Arimo Bold"/>
                  <a:cs typeface="Arimo Bold"/>
                  <a:sym typeface="Arimo Bold"/>
                </a:rPr>
                <a:t>DB</a:t>
              </a:r>
              <a:r>
                <a:rPr lang="en-US" b="true" sz="1200">
                  <a:solidFill>
                    <a:srgbClr val="111111"/>
                  </a:solidFill>
                  <a:latin typeface="Arimo Bold"/>
                  <a:ea typeface="Arimo Bold"/>
                  <a:cs typeface="Arimo Bold"/>
                  <a:sym typeface="Arimo Bold"/>
                </a:rPr>
                <a:t>(MongoDB)</a:t>
              </a:r>
            </a:p>
          </p:txBody>
        </p:sp>
      </p:grpSp>
      <p:grpSp>
        <p:nvGrpSpPr>
          <p:cNvPr name="Group 93" id="93"/>
          <p:cNvGrpSpPr/>
          <p:nvPr/>
        </p:nvGrpSpPr>
        <p:grpSpPr>
          <a:xfrm rot="0">
            <a:off x="9951344" y="3105231"/>
            <a:ext cx="1730370" cy="2439503"/>
            <a:chOff x="0" y="0"/>
            <a:chExt cx="2307160" cy="3252670"/>
          </a:xfrm>
        </p:grpSpPr>
        <p:sp>
          <p:nvSpPr>
            <p:cNvPr name="Freeform 94" id="94"/>
            <p:cNvSpPr/>
            <p:nvPr/>
          </p:nvSpPr>
          <p:spPr>
            <a:xfrm flipH="false" flipV="false" rot="0">
              <a:off x="0" y="0"/>
              <a:ext cx="2307165" cy="3252675"/>
            </a:xfrm>
            <a:custGeom>
              <a:avLst/>
              <a:gdLst/>
              <a:ahLst/>
              <a:cxnLst/>
              <a:rect r="r" b="b" t="t" l="l"/>
              <a:pathLst>
                <a:path h="3252675" w="2307165">
                  <a:moveTo>
                    <a:pt x="0" y="0"/>
                  </a:moveTo>
                  <a:lnTo>
                    <a:pt x="2307165" y="0"/>
                  </a:lnTo>
                  <a:lnTo>
                    <a:pt x="2307165" y="3252675"/>
                  </a:lnTo>
                  <a:lnTo>
                    <a:pt x="0" y="3252675"/>
                  </a:lnTo>
                  <a:close/>
                </a:path>
              </a:pathLst>
            </a:custGeom>
            <a:blipFill>
              <a:blip r:embed="rId3">
                <a:alphaModFix amt="0"/>
              </a:blip>
              <a:stretch>
                <a:fillRect l="0" t="-75110" r="-501835" b="8751"/>
              </a:stretch>
            </a:blipFill>
          </p:spPr>
        </p:sp>
        <p:sp>
          <p:nvSpPr>
            <p:cNvPr name="TextBox 95" id="95"/>
            <p:cNvSpPr txBox="true"/>
            <p:nvPr/>
          </p:nvSpPr>
          <p:spPr>
            <a:xfrm>
              <a:off x="0" y="-19050"/>
              <a:ext cx="2307160" cy="3271720"/>
            </a:xfrm>
            <a:prstGeom prst="rect">
              <a:avLst/>
            </a:prstGeom>
          </p:spPr>
          <p:txBody>
            <a:bodyPr anchor="ctr" rtlCol="false" tIns="0" lIns="0" bIns="0" rIns="0"/>
            <a:lstStyle/>
            <a:p>
              <a:pPr algn="ctr">
                <a:lnSpc>
                  <a:spcPts val="2160"/>
                </a:lnSpc>
              </a:pPr>
              <a:r>
                <a:rPr lang="en-US" sz="1800" b="true">
                  <a:solidFill>
                    <a:srgbClr val="111111"/>
                  </a:solidFill>
                  <a:latin typeface="Arimo Bold"/>
                  <a:ea typeface="Arimo Bold"/>
                  <a:cs typeface="Arimo Bold"/>
                  <a:sym typeface="Arimo Bold"/>
                </a:rPr>
                <a:t>로봇 정보</a:t>
              </a:r>
            </a:p>
            <a:p>
              <a:pPr algn="ctr">
                <a:lnSpc>
                  <a:spcPts val="2160"/>
                </a:lnSpc>
              </a:pPr>
              <a:r>
                <a:rPr lang="en-US" sz="1800" b="true">
                  <a:solidFill>
                    <a:srgbClr val="111111"/>
                  </a:solidFill>
                  <a:latin typeface="Arimo Bold"/>
                  <a:ea typeface="Arimo Bold"/>
                  <a:cs typeface="Arimo Bold"/>
                  <a:sym typeface="Arimo Bold"/>
                </a:rPr>
                <a:t>작업 이력</a:t>
              </a:r>
            </a:p>
            <a:p>
              <a:pPr algn="ctr">
                <a:lnSpc>
                  <a:spcPts val="2160"/>
                </a:lnSpc>
              </a:pPr>
              <a:r>
                <a:rPr lang="en-US" sz="1800" b="true">
                  <a:solidFill>
                    <a:srgbClr val="111111"/>
                  </a:solidFill>
                  <a:latin typeface="Arimo Bold"/>
                  <a:ea typeface="Arimo Bold"/>
                  <a:cs typeface="Arimo Bold"/>
                  <a:sym typeface="Arimo Bold"/>
                </a:rPr>
                <a:t>지도, 노드, 엣지</a:t>
              </a:r>
            </a:p>
            <a:p>
              <a:pPr algn="ctr">
                <a:lnSpc>
                  <a:spcPts val="2160"/>
                </a:lnSpc>
              </a:pPr>
              <a:r>
                <a:rPr lang="en-US" sz="1800" b="true">
                  <a:solidFill>
                    <a:srgbClr val="111111"/>
                  </a:solidFill>
                  <a:latin typeface="Arimo Bold"/>
                  <a:ea typeface="Arimo Bold"/>
                  <a:cs typeface="Arimo Bold"/>
                  <a:sym typeface="Arimo Bold"/>
                </a:rPr>
                <a:t>로그</a:t>
              </a:r>
            </a:p>
          </p:txBody>
        </p:sp>
      </p:grpSp>
      <p:sp>
        <p:nvSpPr>
          <p:cNvPr name="Freeform 96" id="96"/>
          <p:cNvSpPr/>
          <p:nvPr/>
        </p:nvSpPr>
        <p:spPr>
          <a:xfrm>
            <a:off x="9282364" y="4095145"/>
            <a:ext cx="452844" cy="304010"/>
          </a:xfrm>
          <a:custGeom>
            <a:avLst/>
            <a:gdLst/>
            <a:ahLst/>
            <a:cxnLst/>
            <a:rect r="r" b="b" t="t" l="l"/>
            <a:pathLst>
              <a:path h="304010" w="452844">
                <a:moveTo>
                  <a:pt x="0" y="304009"/>
                </a:moveTo>
                <a:lnTo>
                  <a:pt x="113211" y="304009"/>
                </a:lnTo>
                <a:cubicBezTo>
                  <a:pt x="143237" y="304009"/>
                  <a:pt x="172033" y="292082"/>
                  <a:pt x="193264" y="270851"/>
                </a:cubicBezTo>
                <a:cubicBezTo>
                  <a:pt x="214494" y="249619"/>
                  <a:pt x="226422" y="220824"/>
                  <a:pt x="226422" y="190798"/>
                </a:cubicBezTo>
                <a:lnTo>
                  <a:pt x="226422" y="113211"/>
                </a:lnTo>
                <a:cubicBezTo>
                  <a:pt x="226422" y="50686"/>
                  <a:pt x="277108" y="0"/>
                  <a:pt x="339633" y="0"/>
                </a:cubicBezTo>
                <a:lnTo>
                  <a:pt x="452844" y="0"/>
                </a:lnTo>
              </a:path>
            </a:pathLst>
          </a:custGeom>
          <a:ln cap="flat" w="19050">
            <a:solidFill>
              <a:srgbClr val="000000"/>
            </a:solidFill>
            <a:prstDash val="solid"/>
            <a:headEnd type="arrow" len="sm" w="med"/>
            <a:tailEnd type="arrow" len="sm" w="med"/>
          </a:ln>
        </p:spPr>
      </p:sp>
      <p:sp>
        <p:nvSpPr>
          <p:cNvPr name="TextBox 97" id="97"/>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17</a:t>
            </a:r>
          </a:p>
        </p:txBody>
      </p:sp>
      <p:grpSp>
        <p:nvGrpSpPr>
          <p:cNvPr name="Group 98" id="98"/>
          <p:cNvGrpSpPr/>
          <p:nvPr/>
        </p:nvGrpSpPr>
        <p:grpSpPr>
          <a:xfrm rot="0">
            <a:off x="762000" y="8583168"/>
            <a:ext cx="16877976" cy="941832"/>
            <a:chOff x="0" y="0"/>
            <a:chExt cx="22503968" cy="1255776"/>
          </a:xfrm>
        </p:grpSpPr>
        <p:sp>
          <p:nvSpPr>
            <p:cNvPr name="Freeform 99" id="99"/>
            <p:cNvSpPr/>
            <p:nvPr/>
          </p:nvSpPr>
          <p:spPr>
            <a:xfrm flipH="false" flipV="false" rot="0">
              <a:off x="0" y="0"/>
              <a:ext cx="22503969" cy="1255776"/>
            </a:xfrm>
            <a:custGeom>
              <a:avLst/>
              <a:gdLst/>
              <a:ahLst/>
              <a:cxnLst/>
              <a:rect r="r" b="b" t="t" l="l"/>
              <a:pathLst>
                <a:path h="1255776" w="22503969">
                  <a:moveTo>
                    <a:pt x="0" y="87884"/>
                  </a:moveTo>
                  <a:cubicBezTo>
                    <a:pt x="0" y="39370"/>
                    <a:pt x="40871" y="0"/>
                    <a:pt x="91235" y="0"/>
                  </a:cubicBezTo>
                  <a:lnTo>
                    <a:pt x="22412733" y="0"/>
                  </a:lnTo>
                  <a:cubicBezTo>
                    <a:pt x="22463097" y="0"/>
                    <a:pt x="22503969" y="39370"/>
                    <a:pt x="22503969" y="87884"/>
                  </a:cubicBezTo>
                  <a:lnTo>
                    <a:pt x="22503969" y="1167892"/>
                  </a:lnTo>
                  <a:cubicBezTo>
                    <a:pt x="22503969" y="1216406"/>
                    <a:pt x="22463097" y="1255776"/>
                    <a:pt x="22412733" y="1255776"/>
                  </a:cubicBezTo>
                  <a:lnTo>
                    <a:pt x="91235" y="1255776"/>
                  </a:lnTo>
                  <a:cubicBezTo>
                    <a:pt x="40871" y="1255776"/>
                    <a:pt x="0" y="1216406"/>
                    <a:pt x="0" y="1167892"/>
                  </a:cubicBezTo>
                  <a:close/>
                </a:path>
              </a:pathLst>
            </a:custGeom>
            <a:solidFill>
              <a:srgbClr val="F6EEF2"/>
            </a:solidFill>
          </p:spPr>
        </p:sp>
      </p:grpSp>
      <p:sp>
        <p:nvSpPr>
          <p:cNvPr name="TextBox 100" id="100"/>
          <p:cNvSpPr txBox="true"/>
          <p:nvPr/>
        </p:nvSpPr>
        <p:spPr>
          <a:xfrm rot="0">
            <a:off x="1028700" y="8874328"/>
            <a:ext cx="16232474" cy="321412"/>
          </a:xfrm>
          <a:prstGeom prst="rect">
            <a:avLst/>
          </a:prstGeom>
        </p:spPr>
        <p:txBody>
          <a:bodyPr anchor="t" rtlCol="false" tIns="0" lIns="0" bIns="0" rIns="0">
            <a:spAutoFit/>
          </a:bodyPr>
          <a:lstStyle/>
          <a:p>
            <a:pPr algn="l">
              <a:lnSpc>
                <a:spcPts val="2599"/>
              </a:lnSpc>
            </a:pPr>
            <a:r>
              <a:rPr lang="en-US" sz="1899">
                <a:solidFill>
                  <a:srgbClr val="A14678"/>
                </a:solidFill>
                <a:latin typeface="Arimo"/>
                <a:ea typeface="Arimo"/>
                <a:cs typeface="Arimo"/>
                <a:sym typeface="Arimo"/>
              </a:rPr>
              <a:t>통신 경로 분리  |  센서, 상태, 명령: Socket.IO, rosbridge     카메라 영상: WebRTC</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grpSp>
        <p:nvGrpSpPr>
          <p:cNvPr name="Group 2" id="2"/>
          <p:cNvGrpSpPr/>
          <p:nvPr/>
        </p:nvGrpSpPr>
        <p:grpSpPr>
          <a:xfrm rot="0">
            <a:off x="762000" y="657225"/>
            <a:ext cx="11430000" cy="306642"/>
            <a:chOff x="0" y="0"/>
            <a:chExt cx="15240000" cy="408856"/>
          </a:xfrm>
        </p:grpSpPr>
        <p:sp>
          <p:nvSpPr>
            <p:cNvPr name="Freeform 3" id="3"/>
            <p:cNvSpPr/>
            <p:nvPr/>
          </p:nvSpPr>
          <p:spPr>
            <a:xfrm flipH="false" flipV="false" rot="0">
              <a:off x="0" y="0"/>
              <a:ext cx="15240000" cy="408856"/>
            </a:xfrm>
            <a:custGeom>
              <a:avLst/>
              <a:gdLst/>
              <a:ahLst/>
              <a:cxnLst/>
              <a:rect r="r" b="b" t="t" l="l"/>
              <a:pathLst>
                <a:path h="408856" w="15240000">
                  <a:moveTo>
                    <a:pt x="0" y="0"/>
                  </a:moveTo>
                  <a:lnTo>
                    <a:pt x="15240000" y="0"/>
                  </a:lnTo>
                  <a:lnTo>
                    <a:pt x="15240000" y="408856"/>
                  </a:lnTo>
                  <a:lnTo>
                    <a:pt x="0" y="408856"/>
                  </a:lnTo>
                  <a:close/>
                </a:path>
              </a:pathLst>
            </a:custGeom>
            <a:blipFill>
              <a:blip r:embed="rId3">
                <a:alphaModFix amt="0"/>
              </a:blip>
              <a:stretch>
                <a:fillRect l="0" t="-683434" r="0" b="-669166"/>
              </a:stretch>
            </a:blipFill>
          </p:spPr>
        </p:sp>
        <p:sp>
          <p:nvSpPr>
            <p:cNvPr name="TextBox 4" id="4"/>
            <p:cNvSpPr txBox="true"/>
            <p:nvPr/>
          </p:nvSpPr>
          <p:spPr>
            <a:xfrm>
              <a:off x="0" y="-19050"/>
              <a:ext cx="15240000" cy="427906"/>
            </a:xfrm>
            <a:prstGeom prst="rect">
              <a:avLst/>
            </a:prstGeom>
          </p:spPr>
          <p:txBody>
            <a:bodyPr anchor="ctr" rtlCol="false" tIns="0" lIns="0" bIns="0" rIns="0"/>
            <a:lstStyle/>
            <a:p>
              <a:pPr algn="l">
                <a:lnSpc>
                  <a:spcPts val="1800"/>
                </a:lnSpc>
              </a:pPr>
              <a:r>
                <a:rPr lang="en-US" sz="1500" b="true">
                  <a:solidFill>
                    <a:srgbClr val="666666"/>
                  </a:solidFill>
                  <a:latin typeface="Arimo Bold"/>
                  <a:ea typeface="Arimo Bold"/>
                  <a:cs typeface="Arimo Bold"/>
                  <a:sym typeface="Arimo Bold"/>
                </a:rPr>
                <a:t>VICPINKY CARRIER</a:t>
              </a:r>
            </a:p>
          </p:txBody>
        </p:sp>
      </p:grpSp>
      <p:grpSp>
        <p:nvGrpSpPr>
          <p:cNvPr name="Group 5" id="5"/>
          <p:cNvGrpSpPr/>
          <p:nvPr/>
        </p:nvGrpSpPr>
        <p:grpSpPr>
          <a:xfrm rot="0">
            <a:off x="762000" y="1029967"/>
            <a:ext cx="16764000" cy="736092"/>
            <a:chOff x="0" y="0"/>
            <a:chExt cx="22352000" cy="981456"/>
          </a:xfrm>
        </p:grpSpPr>
        <p:sp>
          <p:nvSpPr>
            <p:cNvPr name="Freeform 6" id="6"/>
            <p:cNvSpPr/>
            <p:nvPr/>
          </p:nvSpPr>
          <p:spPr>
            <a:xfrm flipH="false" flipV="false" rot="0">
              <a:off x="0" y="0"/>
              <a:ext cx="22352000" cy="981456"/>
            </a:xfrm>
            <a:custGeom>
              <a:avLst/>
              <a:gdLst/>
              <a:ahLst/>
              <a:cxnLst/>
              <a:rect r="r" b="b" t="t" l="l"/>
              <a:pathLst>
                <a:path h="981456" w="22352000">
                  <a:moveTo>
                    <a:pt x="0" y="0"/>
                  </a:moveTo>
                  <a:lnTo>
                    <a:pt x="22352000" y="0"/>
                  </a:lnTo>
                  <a:lnTo>
                    <a:pt x="22352000" y="981456"/>
                  </a:lnTo>
                  <a:lnTo>
                    <a:pt x="0" y="981456"/>
                  </a:lnTo>
                  <a:close/>
                </a:path>
              </a:pathLst>
            </a:custGeom>
            <a:blipFill>
              <a:blip r:embed="rId3">
                <a:alphaModFix amt="0"/>
              </a:blip>
              <a:stretch>
                <a:fillRect l="0" t="-393758" r="0" b="-393758"/>
              </a:stretch>
            </a:blipFill>
          </p:spPr>
        </p:sp>
        <p:sp>
          <p:nvSpPr>
            <p:cNvPr name="TextBox 7" id="7"/>
            <p:cNvSpPr txBox="true"/>
            <p:nvPr/>
          </p:nvSpPr>
          <p:spPr>
            <a:xfrm>
              <a:off x="0" y="-19050"/>
              <a:ext cx="22352000" cy="1000506"/>
            </a:xfrm>
            <a:prstGeom prst="rect">
              <a:avLst/>
            </a:prstGeom>
          </p:spPr>
          <p:txBody>
            <a:bodyPr anchor="ctr" rtlCol="false" tIns="0" lIns="0" bIns="0" rIns="0"/>
            <a:lstStyle/>
            <a:p>
              <a:pPr algn="l">
                <a:lnSpc>
                  <a:spcPts val="5040"/>
                </a:lnSpc>
              </a:pPr>
              <a:r>
                <a:rPr lang="en-US" sz="4200" b="true">
                  <a:solidFill>
                    <a:srgbClr val="111111"/>
                  </a:solidFill>
                  <a:latin typeface="Arimo Bold"/>
                  <a:ea typeface="Arimo Bold"/>
                  <a:cs typeface="Arimo Bold"/>
                  <a:sym typeface="Arimo Bold"/>
                </a:rPr>
                <a:t>작업 우선순위와 로봇별 실행 순서를 분리</a:t>
              </a:r>
            </a:p>
          </p:txBody>
        </p:sp>
      </p:grpSp>
      <p:grpSp>
        <p:nvGrpSpPr>
          <p:cNvPr name="Group 8" id="8"/>
          <p:cNvGrpSpPr/>
          <p:nvPr/>
        </p:nvGrpSpPr>
        <p:grpSpPr>
          <a:xfrm rot="0">
            <a:off x="739778" y="2581275"/>
            <a:ext cx="9696450" cy="5378453"/>
            <a:chOff x="0" y="0"/>
            <a:chExt cx="12928600" cy="7171271"/>
          </a:xfrm>
        </p:grpSpPr>
        <p:sp>
          <p:nvSpPr>
            <p:cNvPr name="Freeform 9" id="9"/>
            <p:cNvSpPr/>
            <p:nvPr/>
          </p:nvSpPr>
          <p:spPr>
            <a:xfrm flipH="false" flipV="false" rot="0">
              <a:off x="0" y="0"/>
              <a:ext cx="12928600" cy="7171309"/>
            </a:xfrm>
            <a:custGeom>
              <a:avLst/>
              <a:gdLst/>
              <a:ahLst/>
              <a:cxnLst/>
              <a:rect r="r" b="b" t="t" l="l"/>
              <a:pathLst>
                <a:path h="7171309" w="12928600">
                  <a:moveTo>
                    <a:pt x="0" y="153670"/>
                  </a:moveTo>
                  <a:cubicBezTo>
                    <a:pt x="0" y="68834"/>
                    <a:pt x="68834" y="0"/>
                    <a:pt x="153670" y="0"/>
                  </a:cubicBezTo>
                  <a:lnTo>
                    <a:pt x="12774930" y="0"/>
                  </a:lnTo>
                  <a:cubicBezTo>
                    <a:pt x="12859766" y="0"/>
                    <a:pt x="12928600" y="68834"/>
                    <a:pt x="12928600" y="153670"/>
                  </a:cubicBezTo>
                  <a:lnTo>
                    <a:pt x="12928600" y="7017639"/>
                  </a:lnTo>
                  <a:cubicBezTo>
                    <a:pt x="12928600" y="7102475"/>
                    <a:pt x="12859766" y="7171309"/>
                    <a:pt x="12774930" y="7171309"/>
                  </a:cubicBezTo>
                  <a:lnTo>
                    <a:pt x="153670" y="7171309"/>
                  </a:lnTo>
                  <a:cubicBezTo>
                    <a:pt x="68834" y="7171309"/>
                    <a:pt x="0" y="7102475"/>
                    <a:pt x="0" y="7017639"/>
                  </a:cubicBezTo>
                  <a:close/>
                </a:path>
              </a:pathLst>
            </a:custGeom>
            <a:solidFill>
              <a:srgbClr val="FFFFFF"/>
            </a:solidFill>
            <a:ln w="19050" cap="sq">
              <a:solidFill>
                <a:srgbClr val="111111"/>
              </a:solidFill>
              <a:prstDash val="solid"/>
              <a:miter/>
            </a:ln>
          </p:spPr>
        </p:sp>
      </p:grpSp>
      <p:grpSp>
        <p:nvGrpSpPr>
          <p:cNvPr name="Group 10" id="10"/>
          <p:cNvGrpSpPr/>
          <p:nvPr/>
        </p:nvGrpSpPr>
        <p:grpSpPr>
          <a:xfrm rot="0">
            <a:off x="10772775" y="2581275"/>
            <a:ext cx="6775447" cy="5378453"/>
            <a:chOff x="0" y="0"/>
            <a:chExt cx="9033929" cy="7171271"/>
          </a:xfrm>
        </p:grpSpPr>
        <p:sp>
          <p:nvSpPr>
            <p:cNvPr name="Freeform 11" id="11"/>
            <p:cNvSpPr/>
            <p:nvPr/>
          </p:nvSpPr>
          <p:spPr>
            <a:xfrm flipH="false" flipV="false" rot="0">
              <a:off x="0" y="0"/>
              <a:ext cx="9033890" cy="7171309"/>
            </a:xfrm>
            <a:custGeom>
              <a:avLst/>
              <a:gdLst/>
              <a:ahLst/>
              <a:cxnLst/>
              <a:rect r="r" b="b" t="t" l="l"/>
              <a:pathLst>
                <a:path h="7171309" w="9033890">
                  <a:moveTo>
                    <a:pt x="0" y="153670"/>
                  </a:moveTo>
                  <a:cubicBezTo>
                    <a:pt x="0" y="68834"/>
                    <a:pt x="68834" y="0"/>
                    <a:pt x="153670" y="0"/>
                  </a:cubicBezTo>
                  <a:lnTo>
                    <a:pt x="8880221" y="0"/>
                  </a:lnTo>
                  <a:cubicBezTo>
                    <a:pt x="8965057" y="0"/>
                    <a:pt x="9033890" y="68834"/>
                    <a:pt x="9033890" y="153670"/>
                  </a:cubicBezTo>
                  <a:lnTo>
                    <a:pt x="9033890" y="7017639"/>
                  </a:lnTo>
                  <a:cubicBezTo>
                    <a:pt x="9033890" y="7102475"/>
                    <a:pt x="8965057" y="7171309"/>
                    <a:pt x="8880221" y="7171309"/>
                  </a:cubicBezTo>
                  <a:lnTo>
                    <a:pt x="153670" y="7171309"/>
                  </a:lnTo>
                  <a:cubicBezTo>
                    <a:pt x="68834" y="7171309"/>
                    <a:pt x="0" y="7102475"/>
                    <a:pt x="0" y="7017639"/>
                  </a:cubicBezTo>
                  <a:close/>
                </a:path>
              </a:pathLst>
            </a:custGeom>
            <a:solidFill>
              <a:srgbClr val="FFFFFF"/>
            </a:solidFill>
            <a:ln w="19050" cap="sq">
              <a:solidFill>
                <a:srgbClr val="111111"/>
              </a:solidFill>
              <a:prstDash val="solid"/>
              <a:miter/>
            </a:ln>
          </p:spPr>
        </p:sp>
      </p:grpSp>
      <p:grpSp>
        <p:nvGrpSpPr>
          <p:cNvPr name="Group 12" id="12"/>
          <p:cNvGrpSpPr/>
          <p:nvPr/>
        </p:nvGrpSpPr>
        <p:grpSpPr>
          <a:xfrm rot="0">
            <a:off x="1143000" y="2894333"/>
            <a:ext cx="8636003" cy="315468"/>
            <a:chOff x="0" y="0"/>
            <a:chExt cx="11514671" cy="420624"/>
          </a:xfrm>
        </p:grpSpPr>
        <p:sp>
          <p:nvSpPr>
            <p:cNvPr name="Freeform 13" id="13"/>
            <p:cNvSpPr/>
            <p:nvPr/>
          </p:nvSpPr>
          <p:spPr>
            <a:xfrm flipH="false" flipV="false" rot="0">
              <a:off x="0" y="0"/>
              <a:ext cx="11514666" cy="420624"/>
            </a:xfrm>
            <a:custGeom>
              <a:avLst/>
              <a:gdLst/>
              <a:ahLst/>
              <a:cxnLst/>
              <a:rect r="r" b="b" t="t" l="l"/>
              <a:pathLst>
                <a:path h="420624" w="11514666">
                  <a:moveTo>
                    <a:pt x="0" y="0"/>
                  </a:moveTo>
                  <a:lnTo>
                    <a:pt x="11514666" y="0"/>
                  </a:lnTo>
                  <a:lnTo>
                    <a:pt x="11514666" y="420624"/>
                  </a:lnTo>
                  <a:lnTo>
                    <a:pt x="0" y="420624"/>
                  </a:lnTo>
                  <a:close/>
                </a:path>
              </a:pathLst>
            </a:custGeom>
            <a:blipFill>
              <a:blip r:embed="rId3">
                <a:alphaModFix amt="0"/>
              </a:blip>
              <a:stretch>
                <a:fillRect l="0" t="-483407" r="0" b="-483407"/>
              </a:stretch>
            </a:blipFill>
          </p:spPr>
        </p:sp>
        <p:sp>
          <p:nvSpPr>
            <p:cNvPr name="TextBox 14" id="14"/>
            <p:cNvSpPr txBox="true"/>
            <p:nvPr/>
          </p:nvSpPr>
          <p:spPr>
            <a:xfrm>
              <a:off x="0" y="-19050"/>
              <a:ext cx="11514671" cy="439674"/>
            </a:xfrm>
            <a:prstGeom prst="rect">
              <a:avLst/>
            </a:prstGeom>
          </p:spPr>
          <p:txBody>
            <a:bodyPr anchor="ctr" rtlCol="false" tIns="0" lIns="0" bIns="0" rIns="0"/>
            <a:lstStyle/>
            <a:p>
              <a:pPr algn="l">
                <a:lnSpc>
                  <a:spcPts val="2160"/>
                </a:lnSpc>
              </a:pPr>
              <a:r>
                <a:rPr lang="en-US" sz="1800" b="true">
                  <a:solidFill>
                    <a:srgbClr val="A14678"/>
                  </a:solidFill>
                  <a:latin typeface="Arimo Bold"/>
                  <a:ea typeface="Arimo Bold"/>
                  <a:cs typeface="Arimo Bold"/>
                  <a:sym typeface="Arimo Bold"/>
                </a:rPr>
                <a:t>작업 배정과 정상 실행</a:t>
              </a:r>
            </a:p>
          </p:txBody>
        </p:sp>
      </p:grpSp>
      <p:grpSp>
        <p:nvGrpSpPr>
          <p:cNvPr name="Group 15" id="15"/>
          <p:cNvGrpSpPr/>
          <p:nvPr/>
        </p:nvGrpSpPr>
        <p:grpSpPr>
          <a:xfrm rot="0">
            <a:off x="1133475" y="3521078"/>
            <a:ext cx="2559053" cy="1212847"/>
            <a:chOff x="0" y="0"/>
            <a:chExt cx="3412071" cy="1617129"/>
          </a:xfrm>
        </p:grpSpPr>
        <p:sp>
          <p:nvSpPr>
            <p:cNvPr name="Freeform 16" id="16"/>
            <p:cNvSpPr/>
            <p:nvPr/>
          </p:nvSpPr>
          <p:spPr>
            <a:xfrm flipH="false" flipV="false" rot="0">
              <a:off x="0" y="0"/>
              <a:ext cx="3412109" cy="1617091"/>
            </a:xfrm>
            <a:custGeom>
              <a:avLst/>
              <a:gdLst/>
              <a:ahLst/>
              <a:cxnLst/>
              <a:rect r="r" b="b" t="t" l="l"/>
              <a:pathLst>
                <a:path h="1617091" w="3412109">
                  <a:moveTo>
                    <a:pt x="0" y="154813"/>
                  </a:moveTo>
                  <a:cubicBezTo>
                    <a:pt x="0" y="69342"/>
                    <a:pt x="69342" y="0"/>
                    <a:pt x="154813" y="0"/>
                  </a:cubicBezTo>
                  <a:lnTo>
                    <a:pt x="3257296" y="0"/>
                  </a:lnTo>
                  <a:cubicBezTo>
                    <a:pt x="3342767" y="0"/>
                    <a:pt x="3412109" y="69342"/>
                    <a:pt x="3412109" y="154813"/>
                  </a:cubicBezTo>
                  <a:lnTo>
                    <a:pt x="3412109" y="1462278"/>
                  </a:lnTo>
                  <a:cubicBezTo>
                    <a:pt x="3412109" y="1547749"/>
                    <a:pt x="3342767" y="1617091"/>
                    <a:pt x="3257296" y="1617091"/>
                  </a:cubicBezTo>
                  <a:lnTo>
                    <a:pt x="154813" y="1617091"/>
                  </a:lnTo>
                  <a:cubicBezTo>
                    <a:pt x="69342" y="1617091"/>
                    <a:pt x="0" y="1547876"/>
                    <a:pt x="0" y="1462278"/>
                  </a:cubicBezTo>
                  <a:close/>
                </a:path>
              </a:pathLst>
            </a:custGeom>
            <a:solidFill>
              <a:srgbClr val="F6EEF2"/>
            </a:solidFill>
          </p:spPr>
        </p:sp>
      </p:grpSp>
      <p:grpSp>
        <p:nvGrpSpPr>
          <p:cNvPr name="Group 17" id="17"/>
          <p:cNvGrpSpPr/>
          <p:nvPr/>
        </p:nvGrpSpPr>
        <p:grpSpPr>
          <a:xfrm rot="0">
            <a:off x="1143000" y="3735705"/>
            <a:ext cx="2540003" cy="403098"/>
            <a:chOff x="0" y="0"/>
            <a:chExt cx="3386671" cy="537464"/>
          </a:xfrm>
        </p:grpSpPr>
        <p:sp>
          <p:nvSpPr>
            <p:cNvPr name="Freeform 18" id="18"/>
            <p:cNvSpPr/>
            <p:nvPr/>
          </p:nvSpPr>
          <p:spPr>
            <a:xfrm flipH="false" flipV="false" rot="0">
              <a:off x="0" y="0"/>
              <a:ext cx="3386666" cy="537464"/>
            </a:xfrm>
            <a:custGeom>
              <a:avLst/>
              <a:gdLst/>
              <a:ahLst/>
              <a:cxnLst/>
              <a:rect r="r" b="b" t="t" l="l"/>
              <a:pathLst>
                <a:path h="537464" w="3386666">
                  <a:moveTo>
                    <a:pt x="0" y="0"/>
                  </a:moveTo>
                  <a:lnTo>
                    <a:pt x="3386666" y="0"/>
                  </a:lnTo>
                  <a:lnTo>
                    <a:pt x="3386666" y="537464"/>
                  </a:lnTo>
                  <a:lnTo>
                    <a:pt x="0" y="537464"/>
                  </a:lnTo>
                  <a:close/>
                </a:path>
              </a:pathLst>
            </a:custGeom>
            <a:blipFill>
              <a:blip r:embed="rId3">
                <a:alphaModFix amt="0"/>
              </a:blip>
              <a:stretch>
                <a:fillRect l="0" t="-72779" r="0" b="-72779"/>
              </a:stretch>
            </a:blipFill>
          </p:spPr>
        </p:sp>
        <p:sp>
          <p:nvSpPr>
            <p:cNvPr name="TextBox 19" id="19"/>
            <p:cNvSpPr txBox="true"/>
            <p:nvPr/>
          </p:nvSpPr>
          <p:spPr>
            <a:xfrm>
              <a:off x="0" y="-19050"/>
              <a:ext cx="3386671" cy="556514"/>
            </a:xfrm>
            <a:prstGeom prst="rect">
              <a:avLst/>
            </a:prstGeom>
          </p:spPr>
          <p:txBody>
            <a:bodyPr anchor="ctr" rtlCol="false" tIns="0" lIns="0" bIns="0" rIns="0"/>
            <a:lstStyle/>
            <a:p>
              <a:pPr algn="ctr">
                <a:lnSpc>
                  <a:spcPts val="2759"/>
                </a:lnSpc>
              </a:pPr>
              <a:r>
                <a:rPr lang="en-US" sz="2299" b="true">
                  <a:solidFill>
                    <a:srgbClr val="111111"/>
                  </a:solidFill>
                  <a:latin typeface="Arimo Bold"/>
                  <a:ea typeface="Arimo Bold"/>
                  <a:cs typeface="Arimo Bold"/>
                  <a:sym typeface="Arimo Bold"/>
                </a:rPr>
                <a:t>작업 등록</a:t>
              </a:r>
            </a:p>
          </p:txBody>
        </p:sp>
      </p:grpSp>
      <p:grpSp>
        <p:nvGrpSpPr>
          <p:cNvPr name="Group 20" id="20"/>
          <p:cNvGrpSpPr/>
          <p:nvPr/>
        </p:nvGrpSpPr>
        <p:grpSpPr>
          <a:xfrm rot="0">
            <a:off x="1143000" y="4189095"/>
            <a:ext cx="2540003" cy="345596"/>
            <a:chOff x="0" y="0"/>
            <a:chExt cx="3386671" cy="460795"/>
          </a:xfrm>
        </p:grpSpPr>
        <p:sp>
          <p:nvSpPr>
            <p:cNvPr name="Freeform 21" id="21"/>
            <p:cNvSpPr/>
            <p:nvPr/>
          </p:nvSpPr>
          <p:spPr>
            <a:xfrm flipH="false" flipV="false" rot="0">
              <a:off x="0" y="0"/>
              <a:ext cx="3386666" cy="460795"/>
            </a:xfrm>
            <a:custGeom>
              <a:avLst/>
              <a:gdLst/>
              <a:ahLst/>
              <a:cxnLst/>
              <a:rect r="r" b="b" t="t" l="l"/>
              <a:pathLst>
                <a:path h="460795" w="3386666">
                  <a:moveTo>
                    <a:pt x="0" y="0"/>
                  </a:moveTo>
                  <a:lnTo>
                    <a:pt x="3386666" y="0"/>
                  </a:lnTo>
                  <a:lnTo>
                    <a:pt x="3386666" y="460795"/>
                  </a:lnTo>
                  <a:lnTo>
                    <a:pt x="0" y="460795"/>
                  </a:lnTo>
                  <a:close/>
                </a:path>
              </a:pathLst>
            </a:custGeom>
            <a:blipFill>
              <a:blip r:embed="rId3">
                <a:alphaModFix amt="0"/>
              </a:blip>
              <a:stretch>
                <a:fillRect l="0" t="-100102" r="0" b="-86313"/>
              </a:stretch>
            </a:blipFill>
          </p:spPr>
        </p:sp>
        <p:sp>
          <p:nvSpPr>
            <p:cNvPr name="TextBox 22" id="22"/>
            <p:cNvSpPr txBox="true"/>
            <p:nvPr/>
          </p:nvSpPr>
          <p:spPr>
            <a:xfrm>
              <a:off x="0" y="-19050"/>
              <a:ext cx="3386671" cy="479845"/>
            </a:xfrm>
            <a:prstGeom prst="rect">
              <a:avLst/>
            </a:prstGeom>
          </p:spPr>
          <p:txBody>
            <a:bodyPr anchor="ctr" rtlCol="false" tIns="0" lIns="0" bIns="0" rIns="0"/>
            <a:lstStyle/>
            <a:p>
              <a:pPr algn="ctr">
                <a:lnSpc>
                  <a:spcPts val="2039"/>
                </a:lnSpc>
              </a:pPr>
              <a:r>
                <a:rPr lang="en-US" sz="1699">
                  <a:solidFill>
                    <a:srgbClr val="666666"/>
                  </a:solidFill>
                  <a:latin typeface="Arimo"/>
                  <a:ea typeface="Arimo"/>
                  <a:cs typeface="Arimo"/>
                  <a:sym typeface="Arimo"/>
                </a:rPr>
                <a:t>단일 / 연속 / 시나리오</a:t>
              </a:r>
            </a:p>
          </p:txBody>
        </p:sp>
      </p:grpSp>
      <p:grpSp>
        <p:nvGrpSpPr>
          <p:cNvPr name="Group 23" id="23"/>
          <p:cNvGrpSpPr/>
          <p:nvPr/>
        </p:nvGrpSpPr>
        <p:grpSpPr>
          <a:xfrm rot="0">
            <a:off x="4181475" y="3521078"/>
            <a:ext cx="2559053" cy="1212847"/>
            <a:chOff x="0" y="0"/>
            <a:chExt cx="3412071" cy="1617129"/>
          </a:xfrm>
        </p:grpSpPr>
        <p:sp>
          <p:nvSpPr>
            <p:cNvPr name="Freeform 24" id="24"/>
            <p:cNvSpPr/>
            <p:nvPr/>
          </p:nvSpPr>
          <p:spPr>
            <a:xfrm flipH="false" flipV="false" rot="0">
              <a:off x="0" y="0"/>
              <a:ext cx="3412109" cy="1617091"/>
            </a:xfrm>
            <a:custGeom>
              <a:avLst/>
              <a:gdLst/>
              <a:ahLst/>
              <a:cxnLst/>
              <a:rect r="r" b="b" t="t" l="l"/>
              <a:pathLst>
                <a:path h="1617091" w="3412109">
                  <a:moveTo>
                    <a:pt x="0" y="154813"/>
                  </a:moveTo>
                  <a:cubicBezTo>
                    <a:pt x="0" y="69342"/>
                    <a:pt x="69342" y="0"/>
                    <a:pt x="154813" y="0"/>
                  </a:cubicBezTo>
                  <a:lnTo>
                    <a:pt x="3257296" y="0"/>
                  </a:lnTo>
                  <a:cubicBezTo>
                    <a:pt x="3342767" y="0"/>
                    <a:pt x="3412109" y="69342"/>
                    <a:pt x="3412109" y="154813"/>
                  </a:cubicBezTo>
                  <a:lnTo>
                    <a:pt x="3412109" y="1462278"/>
                  </a:lnTo>
                  <a:cubicBezTo>
                    <a:pt x="3412109" y="1547749"/>
                    <a:pt x="3342767" y="1617091"/>
                    <a:pt x="3257296" y="1617091"/>
                  </a:cubicBezTo>
                  <a:lnTo>
                    <a:pt x="154813" y="1617091"/>
                  </a:lnTo>
                  <a:cubicBezTo>
                    <a:pt x="69342" y="1617091"/>
                    <a:pt x="0" y="1547876"/>
                    <a:pt x="0" y="1462278"/>
                  </a:cubicBezTo>
                  <a:close/>
                </a:path>
              </a:pathLst>
            </a:custGeom>
            <a:solidFill>
              <a:srgbClr val="F3E7EC"/>
            </a:solidFill>
          </p:spPr>
        </p:sp>
      </p:grpSp>
      <p:grpSp>
        <p:nvGrpSpPr>
          <p:cNvPr name="Group 25" id="25"/>
          <p:cNvGrpSpPr/>
          <p:nvPr/>
        </p:nvGrpSpPr>
        <p:grpSpPr>
          <a:xfrm rot="0">
            <a:off x="4318002" y="3705985"/>
            <a:ext cx="2295525" cy="462538"/>
            <a:chOff x="0" y="0"/>
            <a:chExt cx="3060700" cy="616717"/>
          </a:xfrm>
        </p:grpSpPr>
        <p:sp>
          <p:nvSpPr>
            <p:cNvPr name="Freeform 26" id="26"/>
            <p:cNvSpPr/>
            <p:nvPr/>
          </p:nvSpPr>
          <p:spPr>
            <a:xfrm flipH="false" flipV="false" rot="0">
              <a:off x="0" y="0"/>
              <a:ext cx="3060696" cy="616717"/>
            </a:xfrm>
            <a:custGeom>
              <a:avLst/>
              <a:gdLst/>
              <a:ahLst/>
              <a:cxnLst/>
              <a:rect r="r" b="b" t="t" l="l"/>
              <a:pathLst>
                <a:path h="616717" w="3060696">
                  <a:moveTo>
                    <a:pt x="0" y="0"/>
                  </a:moveTo>
                  <a:lnTo>
                    <a:pt x="3060696" y="0"/>
                  </a:lnTo>
                  <a:lnTo>
                    <a:pt x="3060696" y="616717"/>
                  </a:lnTo>
                  <a:lnTo>
                    <a:pt x="0" y="616717"/>
                  </a:lnTo>
                  <a:close/>
                </a:path>
              </a:pathLst>
            </a:custGeom>
            <a:blipFill>
              <a:blip r:embed="rId3">
                <a:alphaModFix amt="0"/>
              </a:blip>
              <a:stretch>
                <a:fillRect l="0" t="-63426" r="-10650" b="-50575"/>
              </a:stretch>
            </a:blipFill>
          </p:spPr>
        </p:sp>
        <p:sp>
          <p:nvSpPr>
            <p:cNvPr name="TextBox 27" id="27"/>
            <p:cNvSpPr txBox="true"/>
            <p:nvPr/>
          </p:nvSpPr>
          <p:spPr>
            <a:xfrm>
              <a:off x="0" y="-19050"/>
              <a:ext cx="3060700" cy="635767"/>
            </a:xfrm>
            <a:prstGeom prst="rect">
              <a:avLst/>
            </a:prstGeom>
          </p:spPr>
          <p:txBody>
            <a:bodyPr anchor="ctr" rtlCol="false" tIns="0" lIns="0" bIns="0" rIns="0"/>
            <a:lstStyle/>
            <a:p>
              <a:pPr algn="ctr">
                <a:lnSpc>
                  <a:spcPts val="2759"/>
                </a:lnSpc>
              </a:pPr>
              <a:r>
                <a:rPr lang="en-US" sz="2299" b="true">
                  <a:solidFill>
                    <a:srgbClr val="111111"/>
                  </a:solidFill>
                  <a:latin typeface="Arimo Bold"/>
                  <a:ea typeface="Arimo Bold"/>
                  <a:cs typeface="Arimo Bold"/>
                  <a:sym typeface="Arimo Bold"/>
                </a:rPr>
                <a:t>전체 작업 큐</a:t>
              </a:r>
            </a:p>
          </p:txBody>
        </p:sp>
      </p:grpSp>
      <p:grpSp>
        <p:nvGrpSpPr>
          <p:cNvPr name="Group 28" id="28"/>
          <p:cNvGrpSpPr/>
          <p:nvPr/>
        </p:nvGrpSpPr>
        <p:grpSpPr>
          <a:xfrm rot="0">
            <a:off x="4318002" y="4189095"/>
            <a:ext cx="2305050" cy="345596"/>
            <a:chOff x="0" y="0"/>
            <a:chExt cx="3073400" cy="460795"/>
          </a:xfrm>
        </p:grpSpPr>
        <p:sp>
          <p:nvSpPr>
            <p:cNvPr name="Freeform 29" id="29"/>
            <p:cNvSpPr/>
            <p:nvPr/>
          </p:nvSpPr>
          <p:spPr>
            <a:xfrm flipH="false" flipV="false" rot="0">
              <a:off x="0" y="0"/>
              <a:ext cx="3073396" cy="460795"/>
            </a:xfrm>
            <a:custGeom>
              <a:avLst/>
              <a:gdLst/>
              <a:ahLst/>
              <a:cxnLst/>
              <a:rect r="r" b="b" t="t" l="l"/>
              <a:pathLst>
                <a:path h="460795" w="3073396">
                  <a:moveTo>
                    <a:pt x="0" y="0"/>
                  </a:moveTo>
                  <a:lnTo>
                    <a:pt x="3073396" y="0"/>
                  </a:lnTo>
                  <a:lnTo>
                    <a:pt x="3073396" y="460795"/>
                  </a:lnTo>
                  <a:lnTo>
                    <a:pt x="0" y="460795"/>
                  </a:lnTo>
                  <a:close/>
                </a:path>
              </a:pathLst>
            </a:custGeom>
            <a:blipFill>
              <a:blip r:embed="rId3">
                <a:alphaModFix amt="0"/>
              </a:blip>
              <a:stretch>
                <a:fillRect l="0" t="-100102" r="-10193" b="-86313"/>
              </a:stretch>
            </a:blipFill>
          </p:spPr>
        </p:sp>
        <p:sp>
          <p:nvSpPr>
            <p:cNvPr name="TextBox 30" id="30"/>
            <p:cNvSpPr txBox="true"/>
            <p:nvPr/>
          </p:nvSpPr>
          <p:spPr>
            <a:xfrm>
              <a:off x="0" y="-19050"/>
              <a:ext cx="3073400" cy="479845"/>
            </a:xfrm>
            <a:prstGeom prst="rect">
              <a:avLst/>
            </a:prstGeom>
          </p:spPr>
          <p:txBody>
            <a:bodyPr anchor="ctr" rtlCol="false" tIns="0" lIns="0" bIns="0" rIns="0"/>
            <a:lstStyle/>
            <a:p>
              <a:pPr algn="ctr">
                <a:lnSpc>
                  <a:spcPts val="2039"/>
                </a:lnSpc>
              </a:pPr>
              <a:r>
                <a:rPr lang="en-US" sz="1699" spc="-132">
                  <a:solidFill>
                    <a:srgbClr val="666666"/>
                  </a:solidFill>
                  <a:latin typeface="Arimo"/>
                  <a:ea typeface="Arimo"/>
                  <a:cs typeface="Arimo"/>
                  <a:sym typeface="Arimo"/>
                </a:rPr>
                <a:t>작업 우선순위에 따른 정렬</a:t>
              </a:r>
            </a:p>
          </p:txBody>
        </p:sp>
      </p:grpSp>
      <p:grpSp>
        <p:nvGrpSpPr>
          <p:cNvPr name="Group 31" id="31"/>
          <p:cNvGrpSpPr/>
          <p:nvPr/>
        </p:nvGrpSpPr>
        <p:grpSpPr>
          <a:xfrm rot="0">
            <a:off x="7229475" y="3521078"/>
            <a:ext cx="2813047" cy="1212847"/>
            <a:chOff x="0" y="0"/>
            <a:chExt cx="3750729" cy="1617129"/>
          </a:xfrm>
        </p:grpSpPr>
        <p:sp>
          <p:nvSpPr>
            <p:cNvPr name="Freeform 32" id="32"/>
            <p:cNvSpPr/>
            <p:nvPr/>
          </p:nvSpPr>
          <p:spPr>
            <a:xfrm flipH="false" flipV="false" rot="0">
              <a:off x="0" y="0"/>
              <a:ext cx="3750691" cy="1617091"/>
            </a:xfrm>
            <a:custGeom>
              <a:avLst/>
              <a:gdLst/>
              <a:ahLst/>
              <a:cxnLst/>
              <a:rect r="r" b="b" t="t" l="l"/>
              <a:pathLst>
                <a:path h="1617091" w="3750691">
                  <a:moveTo>
                    <a:pt x="0" y="154813"/>
                  </a:moveTo>
                  <a:cubicBezTo>
                    <a:pt x="0" y="69342"/>
                    <a:pt x="69342" y="0"/>
                    <a:pt x="154813" y="0"/>
                  </a:cubicBezTo>
                  <a:lnTo>
                    <a:pt x="3595878" y="0"/>
                  </a:lnTo>
                  <a:cubicBezTo>
                    <a:pt x="3681349" y="0"/>
                    <a:pt x="3750691" y="69342"/>
                    <a:pt x="3750691" y="154813"/>
                  </a:cubicBezTo>
                  <a:lnTo>
                    <a:pt x="3750691" y="1462278"/>
                  </a:lnTo>
                  <a:cubicBezTo>
                    <a:pt x="3750691" y="1547749"/>
                    <a:pt x="3681349" y="1617091"/>
                    <a:pt x="3595878" y="1617091"/>
                  </a:cubicBezTo>
                  <a:lnTo>
                    <a:pt x="154813" y="1617091"/>
                  </a:lnTo>
                  <a:cubicBezTo>
                    <a:pt x="69342" y="1617091"/>
                    <a:pt x="0" y="1547876"/>
                    <a:pt x="0" y="1462278"/>
                  </a:cubicBezTo>
                  <a:close/>
                </a:path>
              </a:pathLst>
            </a:custGeom>
            <a:solidFill>
              <a:srgbClr val="F6EEF2"/>
            </a:solidFill>
          </p:spPr>
        </p:sp>
      </p:grpSp>
      <p:grpSp>
        <p:nvGrpSpPr>
          <p:cNvPr name="Group 33" id="33"/>
          <p:cNvGrpSpPr/>
          <p:nvPr/>
        </p:nvGrpSpPr>
        <p:grpSpPr>
          <a:xfrm rot="0">
            <a:off x="7239000" y="3735705"/>
            <a:ext cx="2793997" cy="462538"/>
            <a:chOff x="0" y="0"/>
            <a:chExt cx="3725329" cy="616717"/>
          </a:xfrm>
        </p:grpSpPr>
        <p:sp>
          <p:nvSpPr>
            <p:cNvPr name="Freeform 34" id="34"/>
            <p:cNvSpPr/>
            <p:nvPr/>
          </p:nvSpPr>
          <p:spPr>
            <a:xfrm flipH="false" flipV="false" rot="0">
              <a:off x="0" y="0"/>
              <a:ext cx="3725334" cy="616717"/>
            </a:xfrm>
            <a:custGeom>
              <a:avLst/>
              <a:gdLst/>
              <a:ahLst/>
              <a:cxnLst/>
              <a:rect r="r" b="b" t="t" l="l"/>
              <a:pathLst>
                <a:path h="616717" w="3725334">
                  <a:moveTo>
                    <a:pt x="0" y="0"/>
                  </a:moveTo>
                  <a:lnTo>
                    <a:pt x="3725334" y="0"/>
                  </a:lnTo>
                  <a:lnTo>
                    <a:pt x="3725334" y="616717"/>
                  </a:lnTo>
                  <a:lnTo>
                    <a:pt x="0" y="616717"/>
                  </a:lnTo>
                  <a:close/>
                </a:path>
              </a:pathLst>
            </a:custGeom>
            <a:blipFill>
              <a:blip r:embed="rId3">
                <a:alphaModFix amt="0"/>
              </a:blip>
              <a:stretch>
                <a:fillRect l="0" t="-74126" r="0" b="-61275"/>
              </a:stretch>
            </a:blipFill>
          </p:spPr>
        </p:sp>
        <p:sp>
          <p:nvSpPr>
            <p:cNvPr name="TextBox 35" id="35"/>
            <p:cNvSpPr txBox="true"/>
            <p:nvPr/>
          </p:nvSpPr>
          <p:spPr>
            <a:xfrm>
              <a:off x="0" y="-19050"/>
              <a:ext cx="3725329" cy="635767"/>
            </a:xfrm>
            <a:prstGeom prst="rect">
              <a:avLst/>
            </a:prstGeom>
          </p:spPr>
          <p:txBody>
            <a:bodyPr anchor="ctr" rtlCol="false" tIns="0" lIns="0" bIns="0" rIns="0"/>
            <a:lstStyle/>
            <a:p>
              <a:pPr algn="ctr">
                <a:lnSpc>
                  <a:spcPts val="2759"/>
                </a:lnSpc>
              </a:pPr>
              <a:r>
                <a:rPr lang="en-US" sz="2299" b="true">
                  <a:solidFill>
                    <a:srgbClr val="111111"/>
                  </a:solidFill>
                  <a:latin typeface="Arimo Bold"/>
                  <a:ea typeface="Arimo Bold"/>
                  <a:cs typeface="Arimo Bold"/>
                  <a:sym typeface="Arimo Bold"/>
                </a:rPr>
                <a:t>로봇 배정</a:t>
              </a:r>
            </a:p>
          </p:txBody>
        </p:sp>
      </p:grpSp>
      <p:grpSp>
        <p:nvGrpSpPr>
          <p:cNvPr name="Group 36" id="36"/>
          <p:cNvGrpSpPr/>
          <p:nvPr/>
        </p:nvGrpSpPr>
        <p:grpSpPr>
          <a:xfrm rot="0">
            <a:off x="7239000" y="4127502"/>
            <a:ext cx="2793997" cy="345596"/>
            <a:chOff x="0" y="0"/>
            <a:chExt cx="3725329" cy="460795"/>
          </a:xfrm>
        </p:grpSpPr>
        <p:sp>
          <p:nvSpPr>
            <p:cNvPr name="Freeform 37" id="37"/>
            <p:cNvSpPr/>
            <p:nvPr/>
          </p:nvSpPr>
          <p:spPr>
            <a:xfrm flipH="false" flipV="false" rot="0">
              <a:off x="0" y="0"/>
              <a:ext cx="3725334" cy="460795"/>
            </a:xfrm>
            <a:custGeom>
              <a:avLst/>
              <a:gdLst/>
              <a:ahLst/>
              <a:cxnLst/>
              <a:rect r="r" b="b" t="t" l="l"/>
              <a:pathLst>
                <a:path h="460795" w="3725334">
                  <a:moveTo>
                    <a:pt x="0" y="0"/>
                  </a:moveTo>
                  <a:lnTo>
                    <a:pt x="3725334" y="0"/>
                  </a:lnTo>
                  <a:lnTo>
                    <a:pt x="3725334" y="460795"/>
                  </a:lnTo>
                  <a:lnTo>
                    <a:pt x="0" y="460795"/>
                  </a:lnTo>
                  <a:close/>
                </a:path>
              </a:pathLst>
            </a:custGeom>
            <a:blipFill>
              <a:blip r:embed="rId3">
                <a:alphaModFix amt="0"/>
              </a:blip>
              <a:stretch>
                <a:fillRect l="0" t="-114422" r="0" b="-100633"/>
              </a:stretch>
            </a:blipFill>
          </p:spPr>
        </p:sp>
        <p:sp>
          <p:nvSpPr>
            <p:cNvPr name="TextBox 38" id="38"/>
            <p:cNvSpPr txBox="true"/>
            <p:nvPr/>
          </p:nvSpPr>
          <p:spPr>
            <a:xfrm>
              <a:off x="0" y="-19050"/>
              <a:ext cx="3725329" cy="479845"/>
            </a:xfrm>
            <a:prstGeom prst="rect">
              <a:avLst/>
            </a:prstGeom>
          </p:spPr>
          <p:txBody>
            <a:bodyPr anchor="ctr" rtlCol="false" tIns="0" lIns="0" bIns="0" rIns="0"/>
            <a:lstStyle/>
            <a:p>
              <a:pPr algn="ctr">
                <a:lnSpc>
                  <a:spcPts val="2039"/>
                </a:lnSpc>
              </a:pPr>
              <a:r>
                <a:rPr lang="en-US" sz="1699">
                  <a:solidFill>
                    <a:srgbClr val="666666"/>
                  </a:solidFill>
                  <a:latin typeface="Arimo"/>
                  <a:ea typeface="Arimo"/>
                  <a:cs typeface="Arimo"/>
                  <a:sym typeface="Arimo"/>
                </a:rPr>
                <a:t>로봇 상태와 작업량 순 정렬</a:t>
              </a:r>
            </a:p>
          </p:txBody>
        </p:sp>
      </p:grpSp>
      <p:grpSp>
        <p:nvGrpSpPr>
          <p:cNvPr name="Group 39" id="39"/>
          <p:cNvGrpSpPr/>
          <p:nvPr/>
        </p:nvGrpSpPr>
        <p:grpSpPr>
          <a:xfrm rot="0">
            <a:off x="7229475" y="5730878"/>
            <a:ext cx="2813047" cy="1212847"/>
            <a:chOff x="0" y="0"/>
            <a:chExt cx="3750729" cy="1617129"/>
          </a:xfrm>
        </p:grpSpPr>
        <p:sp>
          <p:nvSpPr>
            <p:cNvPr name="Freeform 40" id="40"/>
            <p:cNvSpPr/>
            <p:nvPr/>
          </p:nvSpPr>
          <p:spPr>
            <a:xfrm flipH="false" flipV="false" rot="0">
              <a:off x="0" y="0"/>
              <a:ext cx="3750691" cy="1617091"/>
            </a:xfrm>
            <a:custGeom>
              <a:avLst/>
              <a:gdLst/>
              <a:ahLst/>
              <a:cxnLst/>
              <a:rect r="r" b="b" t="t" l="l"/>
              <a:pathLst>
                <a:path h="1617091" w="3750691">
                  <a:moveTo>
                    <a:pt x="0" y="154813"/>
                  </a:moveTo>
                  <a:cubicBezTo>
                    <a:pt x="0" y="69342"/>
                    <a:pt x="69342" y="0"/>
                    <a:pt x="154813" y="0"/>
                  </a:cubicBezTo>
                  <a:lnTo>
                    <a:pt x="3595878" y="0"/>
                  </a:lnTo>
                  <a:cubicBezTo>
                    <a:pt x="3681349" y="0"/>
                    <a:pt x="3750691" y="69342"/>
                    <a:pt x="3750691" y="154813"/>
                  </a:cubicBezTo>
                  <a:lnTo>
                    <a:pt x="3750691" y="1462278"/>
                  </a:lnTo>
                  <a:cubicBezTo>
                    <a:pt x="3750691" y="1547749"/>
                    <a:pt x="3681349" y="1617091"/>
                    <a:pt x="3595878" y="1617091"/>
                  </a:cubicBezTo>
                  <a:lnTo>
                    <a:pt x="154813" y="1617091"/>
                  </a:lnTo>
                  <a:cubicBezTo>
                    <a:pt x="69342" y="1617091"/>
                    <a:pt x="0" y="1547876"/>
                    <a:pt x="0" y="1462278"/>
                  </a:cubicBezTo>
                  <a:close/>
                </a:path>
              </a:pathLst>
            </a:custGeom>
            <a:solidFill>
              <a:srgbClr val="A14678"/>
            </a:solidFill>
          </p:spPr>
        </p:sp>
      </p:grpSp>
      <p:grpSp>
        <p:nvGrpSpPr>
          <p:cNvPr name="Group 41" id="41"/>
          <p:cNvGrpSpPr/>
          <p:nvPr/>
        </p:nvGrpSpPr>
        <p:grpSpPr>
          <a:xfrm rot="0">
            <a:off x="7239000" y="5945505"/>
            <a:ext cx="2793997" cy="403098"/>
            <a:chOff x="0" y="0"/>
            <a:chExt cx="3725329" cy="537464"/>
          </a:xfrm>
        </p:grpSpPr>
        <p:sp>
          <p:nvSpPr>
            <p:cNvPr name="Freeform 42" id="42"/>
            <p:cNvSpPr/>
            <p:nvPr/>
          </p:nvSpPr>
          <p:spPr>
            <a:xfrm flipH="false" flipV="false" rot="0">
              <a:off x="0" y="0"/>
              <a:ext cx="3725334" cy="537464"/>
            </a:xfrm>
            <a:custGeom>
              <a:avLst/>
              <a:gdLst/>
              <a:ahLst/>
              <a:cxnLst/>
              <a:rect r="r" b="b" t="t" l="l"/>
              <a:pathLst>
                <a:path h="537464" w="3725334">
                  <a:moveTo>
                    <a:pt x="0" y="0"/>
                  </a:moveTo>
                  <a:lnTo>
                    <a:pt x="3725334" y="0"/>
                  </a:lnTo>
                  <a:lnTo>
                    <a:pt x="3725334" y="537464"/>
                  </a:lnTo>
                  <a:lnTo>
                    <a:pt x="0" y="537464"/>
                  </a:lnTo>
                  <a:close/>
                </a:path>
              </a:pathLst>
            </a:custGeom>
            <a:blipFill>
              <a:blip r:embed="rId3">
                <a:alphaModFix amt="0"/>
              </a:blip>
              <a:stretch>
                <a:fillRect l="0" t="-85056" r="0" b="-85056"/>
              </a:stretch>
            </a:blipFill>
          </p:spPr>
        </p:sp>
        <p:sp>
          <p:nvSpPr>
            <p:cNvPr name="TextBox 43" id="43"/>
            <p:cNvSpPr txBox="true"/>
            <p:nvPr/>
          </p:nvSpPr>
          <p:spPr>
            <a:xfrm>
              <a:off x="0" y="-19050"/>
              <a:ext cx="3725329" cy="556514"/>
            </a:xfrm>
            <a:prstGeom prst="rect">
              <a:avLst/>
            </a:prstGeom>
          </p:spPr>
          <p:txBody>
            <a:bodyPr anchor="ctr" rtlCol="false" tIns="0" lIns="0" bIns="0" rIns="0"/>
            <a:lstStyle/>
            <a:p>
              <a:pPr algn="ctr">
                <a:lnSpc>
                  <a:spcPts val="2759"/>
                </a:lnSpc>
              </a:pPr>
              <a:r>
                <a:rPr lang="en-US" sz="2299" b="true">
                  <a:solidFill>
                    <a:srgbClr val="FFFFFF"/>
                  </a:solidFill>
                  <a:latin typeface="Arimo Bold"/>
                  <a:ea typeface="Arimo Bold"/>
                  <a:cs typeface="Arimo Bold"/>
                  <a:sym typeface="Arimo Bold"/>
                </a:rPr>
                <a:t>로봇별 작업 큐</a:t>
              </a:r>
            </a:p>
          </p:txBody>
        </p:sp>
      </p:grpSp>
      <p:grpSp>
        <p:nvGrpSpPr>
          <p:cNvPr name="Group 44" id="44"/>
          <p:cNvGrpSpPr/>
          <p:nvPr/>
        </p:nvGrpSpPr>
        <p:grpSpPr>
          <a:xfrm rot="0">
            <a:off x="7239000" y="6398895"/>
            <a:ext cx="2793997" cy="345596"/>
            <a:chOff x="0" y="0"/>
            <a:chExt cx="3725329" cy="460795"/>
          </a:xfrm>
        </p:grpSpPr>
        <p:sp>
          <p:nvSpPr>
            <p:cNvPr name="Freeform 45" id="45"/>
            <p:cNvSpPr/>
            <p:nvPr/>
          </p:nvSpPr>
          <p:spPr>
            <a:xfrm flipH="false" flipV="false" rot="0">
              <a:off x="0" y="0"/>
              <a:ext cx="3725334" cy="460795"/>
            </a:xfrm>
            <a:custGeom>
              <a:avLst/>
              <a:gdLst/>
              <a:ahLst/>
              <a:cxnLst/>
              <a:rect r="r" b="b" t="t" l="l"/>
              <a:pathLst>
                <a:path h="460795" w="3725334">
                  <a:moveTo>
                    <a:pt x="0" y="0"/>
                  </a:moveTo>
                  <a:lnTo>
                    <a:pt x="3725334" y="0"/>
                  </a:lnTo>
                  <a:lnTo>
                    <a:pt x="3725334" y="460795"/>
                  </a:lnTo>
                  <a:lnTo>
                    <a:pt x="0" y="460795"/>
                  </a:lnTo>
                  <a:close/>
                </a:path>
              </a:pathLst>
            </a:custGeom>
            <a:blipFill>
              <a:blip r:embed="rId3">
                <a:alphaModFix amt="0"/>
              </a:blip>
              <a:stretch>
                <a:fillRect l="0" t="-114422" r="0" b="-100633"/>
              </a:stretch>
            </a:blipFill>
          </p:spPr>
        </p:sp>
        <p:sp>
          <p:nvSpPr>
            <p:cNvPr name="TextBox 46" id="46"/>
            <p:cNvSpPr txBox="true"/>
            <p:nvPr/>
          </p:nvSpPr>
          <p:spPr>
            <a:xfrm>
              <a:off x="0" y="-19050"/>
              <a:ext cx="3725329" cy="479845"/>
            </a:xfrm>
            <a:prstGeom prst="rect">
              <a:avLst/>
            </a:prstGeom>
          </p:spPr>
          <p:txBody>
            <a:bodyPr anchor="ctr" rtlCol="false" tIns="0" lIns="0" bIns="0" rIns="0"/>
            <a:lstStyle/>
            <a:p>
              <a:pPr algn="ctr">
                <a:lnSpc>
                  <a:spcPts val="2039"/>
                </a:lnSpc>
              </a:pPr>
              <a:r>
                <a:rPr lang="en-US" sz="1699">
                  <a:solidFill>
                    <a:srgbClr val="DDDDDD"/>
                  </a:solidFill>
                  <a:latin typeface="Arimo"/>
                  <a:ea typeface="Arimo"/>
                  <a:cs typeface="Arimo"/>
                  <a:sym typeface="Arimo"/>
                </a:rPr>
                <a:t>각 </a:t>
              </a:r>
              <a:r>
                <a:rPr lang="en-US" sz="1699">
                  <a:solidFill>
                    <a:srgbClr val="DDDDDD"/>
                  </a:solidFill>
                  <a:latin typeface="Arimo"/>
                  <a:ea typeface="Arimo"/>
                  <a:cs typeface="Arimo"/>
                  <a:sym typeface="Arimo"/>
                </a:rPr>
                <a:t>로봇 작업 실행 순서</a:t>
              </a:r>
            </a:p>
          </p:txBody>
        </p:sp>
      </p:grpSp>
      <p:grpSp>
        <p:nvGrpSpPr>
          <p:cNvPr name="Group 47" id="47"/>
          <p:cNvGrpSpPr/>
          <p:nvPr/>
        </p:nvGrpSpPr>
        <p:grpSpPr>
          <a:xfrm rot="0">
            <a:off x="4181475" y="5730878"/>
            <a:ext cx="2559053" cy="1212847"/>
            <a:chOff x="0" y="0"/>
            <a:chExt cx="3412071" cy="1617129"/>
          </a:xfrm>
        </p:grpSpPr>
        <p:sp>
          <p:nvSpPr>
            <p:cNvPr name="Freeform 48" id="48"/>
            <p:cNvSpPr/>
            <p:nvPr/>
          </p:nvSpPr>
          <p:spPr>
            <a:xfrm flipH="false" flipV="false" rot="0">
              <a:off x="0" y="0"/>
              <a:ext cx="3412109" cy="1617091"/>
            </a:xfrm>
            <a:custGeom>
              <a:avLst/>
              <a:gdLst/>
              <a:ahLst/>
              <a:cxnLst/>
              <a:rect r="r" b="b" t="t" l="l"/>
              <a:pathLst>
                <a:path h="1617091" w="3412109">
                  <a:moveTo>
                    <a:pt x="0" y="154813"/>
                  </a:moveTo>
                  <a:cubicBezTo>
                    <a:pt x="0" y="69342"/>
                    <a:pt x="69342" y="0"/>
                    <a:pt x="154813" y="0"/>
                  </a:cubicBezTo>
                  <a:lnTo>
                    <a:pt x="3257296" y="0"/>
                  </a:lnTo>
                  <a:cubicBezTo>
                    <a:pt x="3342767" y="0"/>
                    <a:pt x="3412109" y="69342"/>
                    <a:pt x="3412109" y="154813"/>
                  </a:cubicBezTo>
                  <a:lnTo>
                    <a:pt x="3412109" y="1462278"/>
                  </a:lnTo>
                  <a:cubicBezTo>
                    <a:pt x="3412109" y="1547749"/>
                    <a:pt x="3342767" y="1617091"/>
                    <a:pt x="3257296" y="1617091"/>
                  </a:cubicBezTo>
                  <a:lnTo>
                    <a:pt x="154813" y="1617091"/>
                  </a:lnTo>
                  <a:cubicBezTo>
                    <a:pt x="69342" y="1617091"/>
                    <a:pt x="0" y="1547876"/>
                    <a:pt x="0" y="1462278"/>
                  </a:cubicBezTo>
                  <a:close/>
                </a:path>
              </a:pathLst>
            </a:custGeom>
            <a:solidFill>
              <a:srgbClr val="F4DFDF"/>
            </a:solidFill>
          </p:spPr>
        </p:sp>
      </p:grpSp>
      <p:grpSp>
        <p:nvGrpSpPr>
          <p:cNvPr name="Group 49" id="49"/>
          <p:cNvGrpSpPr/>
          <p:nvPr/>
        </p:nvGrpSpPr>
        <p:grpSpPr>
          <a:xfrm rot="0">
            <a:off x="4191000" y="5945505"/>
            <a:ext cx="2540003" cy="403098"/>
            <a:chOff x="0" y="0"/>
            <a:chExt cx="3386671" cy="537464"/>
          </a:xfrm>
        </p:grpSpPr>
        <p:sp>
          <p:nvSpPr>
            <p:cNvPr name="Freeform 50" id="50"/>
            <p:cNvSpPr/>
            <p:nvPr/>
          </p:nvSpPr>
          <p:spPr>
            <a:xfrm flipH="false" flipV="false" rot="0">
              <a:off x="0" y="0"/>
              <a:ext cx="3386666" cy="537464"/>
            </a:xfrm>
            <a:custGeom>
              <a:avLst/>
              <a:gdLst/>
              <a:ahLst/>
              <a:cxnLst/>
              <a:rect r="r" b="b" t="t" l="l"/>
              <a:pathLst>
                <a:path h="537464" w="3386666">
                  <a:moveTo>
                    <a:pt x="0" y="0"/>
                  </a:moveTo>
                  <a:lnTo>
                    <a:pt x="3386666" y="0"/>
                  </a:lnTo>
                  <a:lnTo>
                    <a:pt x="3386666" y="537464"/>
                  </a:lnTo>
                  <a:lnTo>
                    <a:pt x="0" y="537464"/>
                  </a:lnTo>
                  <a:close/>
                </a:path>
              </a:pathLst>
            </a:custGeom>
            <a:blipFill>
              <a:blip r:embed="rId3">
                <a:alphaModFix amt="0"/>
              </a:blip>
              <a:stretch>
                <a:fillRect l="0" t="-72779" r="0" b="-72779"/>
              </a:stretch>
            </a:blipFill>
          </p:spPr>
        </p:sp>
        <p:sp>
          <p:nvSpPr>
            <p:cNvPr name="TextBox 51" id="51"/>
            <p:cNvSpPr txBox="true"/>
            <p:nvPr/>
          </p:nvSpPr>
          <p:spPr>
            <a:xfrm>
              <a:off x="0" y="-19050"/>
              <a:ext cx="3386671" cy="556514"/>
            </a:xfrm>
            <a:prstGeom prst="rect">
              <a:avLst/>
            </a:prstGeom>
          </p:spPr>
          <p:txBody>
            <a:bodyPr anchor="ctr" rtlCol="false" tIns="0" lIns="0" bIns="0" rIns="0"/>
            <a:lstStyle/>
            <a:p>
              <a:pPr algn="ctr">
                <a:lnSpc>
                  <a:spcPts val="2759"/>
                </a:lnSpc>
              </a:pPr>
              <a:r>
                <a:rPr lang="en-US" sz="2299" b="true">
                  <a:solidFill>
                    <a:srgbClr val="111111"/>
                  </a:solidFill>
                  <a:latin typeface="Arimo Bold"/>
                  <a:ea typeface="Arimo Bold"/>
                  <a:cs typeface="Arimo Bold"/>
                  <a:sym typeface="Arimo Bold"/>
                </a:rPr>
                <a:t>실행·상태 반영</a:t>
              </a:r>
            </a:p>
          </p:txBody>
        </p:sp>
      </p:grpSp>
      <p:grpSp>
        <p:nvGrpSpPr>
          <p:cNvPr name="Group 52" id="52"/>
          <p:cNvGrpSpPr/>
          <p:nvPr/>
        </p:nvGrpSpPr>
        <p:grpSpPr>
          <a:xfrm rot="0">
            <a:off x="1133475" y="5730878"/>
            <a:ext cx="2559053" cy="1212847"/>
            <a:chOff x="0" y="0"/>
            <a:chExt cx="3412071" cy="1617129"/>
          </a:xfrm>
        </p:grpSpPr>
        <p:sp>
          <p:nvSpPr>
            <p:cNvPr name="Freeform 53" id="53"/>
            <p:cNvSpPr/>
            <p:nvPr/>
          </p:nvSpPr>
          <p:spPr>
            <a:xfrm flipH="false" flipV="false" rot="0">
              <a:off x="0" y="0"/>
              <a:ext cx="3412109" cy="1617091"/>
            </a:xfrm>
            <a:custGeom>
              <a:avLst/>
              <a:gdLst/>
              <a:ahLst/>
              <a:cxnLst/>
              <a:rect r="r" b="b" t="t" l="l"/>
              <a:pathLst>
                <a:path h="1617091" w="3412109">
                  <a:moveTo>
                    <a:pt x="0" y="154813"/>
                  </a:moveTo>
                  <a:cubicBezTo>
                    <a:pt x="0" y="69342"/>
                    <a:pt x="69342" y="0"/>
                    <a:pt x="154813" y="0"/>
                  </a:cubicBezTo>
                  <a:lnTo>
                    <a:pt x="3257296" y="0"/>
                  </a:lnTo>
                  <a:cubicBezTo>
                    <a:pt x="3342767" y="0"/>
                    <a:pt x="3412109" y="69342"/>
                    <a:pt x="3412109" y="154813"/>
                  </a:cubicBezTo>
                  <a:lnTo>
                    <a:pt x="3412109" y="1462278"/>
                  </a:lnTo>
                  <a:cubicBezTo>
                    <a:pt x="3412109" y="1547749"/>
                    <a:pt x="3342767" y="1617091"/>
                    <a:pt x="3257296" y="1617091"/>
                  </a:cubicBezTo>
                  <a:lnTo>
                    <a:pt x="154813" y="1617091"/>
                  </a:lnTo>
                  <a:cubicBezTo>
                    <a:pt x="69342" y="1617091"/>
                    <a:pt x="0" y="1547876"/>
                    <a:pt x="0" y="1462278"/>
                  </a:cubicBezTo>
                  <a:close/>
                </a:path>
              </a:pathLst>
            </a:custGeom>
            <a:solidFill>
              <a:srgbClr val="F4DFDF"/>
            </a:solidFill>
          </p:spPr>
        </p:sp>
      </p:grpSp>
      <p:grpSp>
        <p:nvGrpSpPr>
          <p:cNvPr name="Group 54" id="54"/>
          <p:cNvGrpSpPr/>
          <p:nvPr/>
        </p:nvGrpSpPr>
        <p:grpSpPr>
          <a:xfrm rot="0">
            <a:off x="1143000" y="5945505"/>
            <a:ext cx="2540003" cy="403098"/>
            <a:chOff x="0" y="0"/>
            <a:chExt cx="3386671" cy="537464"/>
          </a:xfrm>
        </p:grpSpPr>
        <p:sp>
          <p:nvSpPr>
            <p:cNvPr name="Freeform 55" id="55"/>
            <p:cNvSpPr/>
            <p:nvPr/>
          </p:nvSpPr>
          <p:spPr>
            <a:xfrm flipH="false" flipV="false" rot="0">
              <a:off x="0" y="0"/>
              <a:ext cx="3386666" cy="537464"/>
            </a:xfrm>
            <a:custGeom>
              <a:avLst/>
              <a:gdLst/>
              <a:ahLst/>
              <a:cxnLst/>
              <a:rect r="r" b="b" t="t" l="l"/>
              <a:pathLst>
                <a:path h="537464" w="3386666">
                  <a:moveTo>
                    <a:pt x="0" y="0"/>
                  </a:moveTo>
                  <a:lnTo>
                    <a:pt x="3386666" y="0"/>
                  </a:lnTo>
                  <a:lnTo>
                    <a:pt x="3386666" y="537464"/>
                  </a:lnTo>
                  <a:lnTo>
                    <a:pt x="0" y="537464"/>
                  </a:lnTo>
                  <a:close/>
                </a:path>
              </a:pathLst>
            </a:custGeom>
            <a:blipFill>
              <a:blip r:embed="rId3">
                <a:alphaModFix amt="0"/>
              </a:blip>
              <a:stretch>
                <a:fillRect l="0" t="-72779" r="0" b="-72779"/>
              </a:stretch>
            </a:blipFill>
          </p:spPr>
        </p:sp>
        <p:sp>
          <p:nvSpPr>
            <p:cNvPr name="TextBox 56" id="56"/>
            <p:cNvSpPr txBox="true"/>
            <p:nvPr/>
          </p:nvSpPr>
          <p:spPr>
            <a:xfrm>
              <a:off x="0" y="-19050"/>
              <a:ext cx="3386671" cy="556514"/>
            </a:xfrm>
            <a:prstGeom prst="rect">
              <a:avLst/>
            </a:prstGeom>
          </p:spPr>
          <p:txBody>
            <a:bodyPr anchor="ctr" rtlCol="false" tIns="0" lIns="0" bIns="0" rIns="0"/>
            <a:lstStyle/>
            <a:p>
              <a:pPr algn="ctr">
                <a:lnSpc>
                  <a:spcPts val="2759"/>
                </a:lnSpc>
              </a:pPr>
              <a:r>
                <a:rPr lang="en-US" sz="2299" b="true">
                  <a:solidFill>
                    <a:srgbClr val="111111"/>
                  </a:solidFill>
                  <a:latin typeface="Arimo Bold"/>
                  <a:ea typeface="Arimo Bold"/>
                  <a:cs typeface="Arimo Bold"/>
                  <a:sym typeface="Arimo Bold"/>
                </a:rPr>
                <a:t>완료</a:t>
              </a:r>
            </a:p>
          </p:txBody>
        </p:sp>
      </p:grpSp>
      <p:grpSp>
        <p:nvGrpSpPr>
          <p:cNvPr name="Group 57" id="57"/>
          <p:cNvGrpSpPr/>
          <p:nvPr/>
        </p:nvGrpSpPr>
        <p:grpSpPr>
          <a:xfrm rot="0">
            <a:off x="1143000" y="6398895"/>
            <a:ext cx="2540003" cy="297942"/>
            <a:chOff x="0" y="0"/>
            <a:chExt cx="3386671" cy="397256"/>
          </a:xfrm>
        </p:grpSpPr>
        <p:sp>
          <p:nvSpPr>
            <p:cNvPr name="Freeform 58" id="58"/>
            <p:cNvSpPr/>
            <p:nvPr/>
          </p:nvSpPr>
          <p:spPr>
            <a:xfrm flipH="false" flipV="false" rot="0">
              <a:off x="0" y="0"/>
              <a:ext cx="3386666" cy="397256"/>
            </a:xfrm>
            <a:custGeom>
              <a:avLst/>
              <a:gdLst/>
              <a:ahLst/>
              <a:cxnLst/>
              <a:rect r="r" b="b" t="t" l="l"/>
              <a:pathLst>
                <a:path h="397256" w="3386666">
                  <a:moveTo>
                    <a:pt x="0" y="0"/>
                  </a:moveTo>
                  <a:lnTo>
                    <a:pt x="3386666" y="0"/>
                  </a:lnTo>
                  <a:lnTo>
                    <a:pt x="3386666" y="397256"/>
                  </a:lnTo>
                  <a:lnTo>
                    <a:pt x="0" y="397256"/>
                  </a:lnTo>
                  <a:close/>
                </a:path>
              </a:pathLst>
            </a:custGeom>
            <a:blipFill>
              <a:blip r:embed="rId3">
                <a:alphaModFix amt="0"/>
              </a:blip>
              <a:stretch>
                <a:fillRect l="0" t="-116113" r="0" b="-116113"/>
              </a:stretch>
            </a:blipFill>
          </p:spPr>
        </p:sp>
        <p:sp>
          <p:nvSpPr>
            <p:cNvPr name="TextBox 59" id="59"/>
            <p:cNvSpPr txBox="true"/>
            <p:nvPr/>
          </p:nvSpPr>
          <p:spPr>
            <a:xfrm>
              <a:off x="0" y="-19050"/>
              <a:ext cx="3386671" cy="416306"/>
            </a:xfrm>
            <a:prstGeom prst="rect">
              <a:avLst/>
            </a:prstGeom>
          </p:spPr>
          <p:txBody>
            <a:bodyPr anchor="ctr" rtlCol="false" tIns="0" lIns="0" bIns="0" rIns="0"/>
            <a:lstStyle/>
            <a:p>
              <a:pPr algn="ctr">
                <a:lnSpc>
                  <a:spcPts val="2039"/>
                </a:lnSpc>
              </a:pPr>
              <a:r>
                <a:rPr lang="en-US" sz="1699">
                  <a:solidFill>
                    <a:srgbClr val="666666"/>
                  </a:solidFill>
                  <a:latin typeface="Arimo"/>
                  <a:ea typeface="Arimo"/>
                  <a:cs typeface="Arimo"/>
                  <a:sym typeface="Arimo"/>
                </a:rPr>
                <a:t>후속 작업 확인</a:t>
              </a:r>
            </a:p>
          </p:txBody>
        </p:sp>
      </p:grpSp>
      <p:grpSp>
        <p:nvGrpSpPr>
          <p:cNvPr name="Group 60" id="60"/>
          <p:cNvGrpSpPr/>
          <p:nvPr/>
        </p:nvGrpSpPr>
        <p:grpSpPr>
          <a:xfrm rot="0">
            <a:off x="11150603" y="2894333"/>
            <a:ext cx="1762214" cy="360350"/>
            <a:chOff x="0" y="0"/>
            <a:chExt cx="2349618" cy="480467"/>
          </a:xfrm>
        </p:grpSpPr>
        <p:sp>
          <p:nvSpPr>
            <p:cNvPr name="Freeform 61" id="61"/>
            <p:cNvSpPr/>
            <p:nvPr/>
          </p:nvSpPr>
          <p:spPr>
            <a:xfrm flipH="false" flipV="false" rot="0">
              <a:off x="0" y="0"/>
              <a:ext cx="2349617" cy="480467"/>
            </a:xfrm>
            <a:custGeom>
              <a:avLst/>
              <a:gdLst/>
              <a:ahLst/>
              <a:cxnLst/>
              <a:rect r="r" b="b" t="t" l="l"/>
              <a:pathLst>
                <a:path h="480467" w="2349617">
                  <a:moveTo>
                    <a:pt x="0" y="0"/>
                  </a:moveTo>
                  <a:lnTo>
                    <a:pt x="2349617" y="0"/>
                  </a:lnTo>
                  <a:lnTo>
                    <a:pt x="2349617" y="480467"/>
                  </a:lnTo>
                  <a:lnTo>
                    <a:pt x="0" y="480467"/>
                  </a:lnTo>
                  <a:close/>
                </a:path>
              </a:pathLst>
            </a:custGeom>
            <a:blipFill>
              <a:blip r:embed="rId3">
                <a:alphaModFix amt="0"/>
              </a:blip>
              <a:stretch>
                <a:fillRect l="0" t="-278986" r="-238722" b="-266531"/>
              </a:stretch>
            </a:blipFill>
          </p:spPr>
        </p:sp>
        <p:sp>
          <p:nvSpPr>
            <p:cNvPr name="TextBox 62" id="62"/>
            <p:cNvSpPr txBox="true"/>
            <p:nvPr/>
          </p:nvSpPr>
          <p:spPr>
            <a:xfrm>
              <a:off x="0" y="-19050"/>
              <a:ext cx="2349618" cy="499517"/>
            </a:xfrm>
            <a:prstGeom prst="rect">
              <a:avLst/>
            </a:prstGeom>
          </p:spPr>
          <p:txBody>
            <a:bodyPr anchor="ctr" rtlCol="false" tIns="0" lIns="0" bIns="0" rIns="0"/>
            <a:lstStyle/>
            <a:p>
              <a:pPr algn="l">
                <a:lnSpc>
                  <a:spcPts val="2160"/>
                </a:lnSpc>
              </a:pPr>
              <a:r>
                <a:rPr lang="en-US" sz="1800" b="true">
                  <a:solidFill>
                    <a:srgbClr val="111111"/>
                  </a:solidFill>
                  <a:latin typeface="Arimo Bold"/>
                  <a:ea typeface="Arimo Bold"/>
                  <a:cs typeface="Arimo Bold"/>
                  <a:sym typeface="Arimo Bold"/>
                </a:rPr>
                <a:t>작업 진행 화면 UI</a:t>
              </a:r>
            </a:p>
          </p:txBody>
        </p:sp>
      </p:grpSp>
      <p:grpSp>
        <p:nvGrpSpPr>
          <p:cNvPr name="Group 63" id="63"/>
          <p:cNvGrpSpPr/>
          <p:nvPr/>
        </p:nvGrpSpPr>
        <p:grpSpPr>
          <a:xfrm rot="0">
            <a:off x="11150603" y="3426457"/>
            <a:ext cx="2793997" cy="280416"/>
            <a:chOff x="0" y="0"/>
            <a:chExt cx="3725329" cy="373888"/>
          </a:xfrm>
        </p:grpSpPr>
        <p:sp>
          <p:nvSpPr>
            <p:cNvPr name="Freeform 64" id="64"/>
            <p:cNvSpPr/>
            <p:nvPr/>
          </p:nvSpPr>
          <p:spPr>
            <a:xfrm flipH="false" flipV="false" rot="0">
              <a:off x="0" y="0"/>
              <a:ext cx="3725334" cy="373888"/>
            </a:xfrm>
            <a:custGeom>
              <a:avLst/>
              <a:gdLst/>
              <a:ahLst/>
              <a:cxnLst/>
              <a:rect r="r" b="b" t="t" l="l"/>
              <a:pathLst>
                <a:path h="373888" w="3725334">
                  <a:moveTo>
                    <a:pt x="0" y="0"/>
                  </a:moveTo>
                  <a:lnTo>
                    <a:pt x="3725334" y="0"/>
                  </a:lnTo>
                  <a:lnTo>
                    <a:pt x="3725334" y="373888"/>
                  </a:lnTo>
                  <a:lnTo>
                    <a:pt x="0" y="373888"/>
                  </a:lnTo>
                  <a:close/>
                </a:path>
              </a:pathLst>
            </a:custGeom>
            <a:blipFill>
              <a:blip r:embed="rId3">
                <a:alphaModFix amt="0"/>
              </a:blip>
              <a:stretch>
                <a:fillRect l="0" t="-144144" r="0" b="-144144"/>
              </a:stretch>
            </a:blipFill>
          </p:spPr>
        </p:sp>
        <p:sp>
          <p:nvSpPr>
            <p:cNvPr name="TextBox 65" id="65"/>
            <p:cNvSpPr txBox="true"/>
            <p:nvPr/>
          </p:nvSpPr>
          <p:spPr>
            <a:xfrm>
              <a:off x="0" y="-19050"/>
              <a:ext cx="3725329" cy="392938"/>
            </a:xfrm>
            <a:prstGeom prst="rect">
              <a:avLst/>
            </a:prstGeom>
          </p:spPr>
          <p:txBody>
            <a:bodyPr anchor="ctr" rtlCol="false" tIns="0" lIns="0" bIns="0" rIns="0"/>
            <a:lstStyle/>
            <a:p>
              <a:pPr algn="l">
                <a:lnSpc>
                  <a:spcPts val="1920"/>
                </a:lnSpc>
              </a:pPr>
              <a:r>
                <a:rPr lang="en-US" sz="1600" b="true">
                  <a:solidFill>
                    <a:srgbClr val="A14678"/>
                  </a:solidFill>
                  <a:latin typeface="Arimo Bold"/>
                  <a:ea typeface="Arimo Bold"/>
                  <a:cs typeface="Arimo Bold"/>
                  <a:sym typeface="Arimo Bold"/>
                </a:rPr>
                <a:t>연속 작업 진행</a:t>
              </a:r>
            </a:p>
          </p:txBody>
        </p:sp>
      </p:grpSp>
      <p:grpSp>
        <p:nvGrpSpPr>
          <p:cNvPr name="Group 66" id="66"/>
          <p:cNvGrpSpPr/>
          <p:nvPr/>
        </p:nvGrpSpPr>
        <p:grpSpPr>
          <a:xfrm rot="0">
            <a:off x="14287500" y="3426457"/>
            <a:ext cx="2793997" cy="280416"/>
            <a:chOff x="0" y="0"/>
            <a:chExt cx="3725329" cy="373888"/>
          </a:xfrm>
        </p:grpSpPr>
        <p:sp>
          <p:nvSpPr>
            <p:cNvPr name="Freeform 67" id="67"/>
            <p:cNvSpPr/>
            <p:nvPr/>
          </p:nvSpPr>
          <p:spPr>
            <a:xfrm flipH="false" flipV="false" rot="0">
              <a:off x="0" y="0"/>
              <a:ext cx="3725334" cy="373888"/>
            </a:xfrm>
            <a:custGeom>
              <a:avLst/>
              <a:gdLst/>
              <a:ahLst/>
              <a:cxnLst/>
              <a:rect r="r" b="b" t="t" l="l"/>
              <a:pathLst>
                <a:path h="373888" w="3725334">
                  <a:moveTo>
                    <a:pt x="0" y="0"/>
                  </a:moveTo>
                  <a:lnTo>
                    <a:pt x="3725334" y="0"/>
                  </a:lnTo>
                  <a:lnTo>
                    <a:pt x="3725334" y="373888"/>
                  </a:lnTo>
                  <a:lnTo>
                    <a:pt x="0" y="373888"/>
                  </a:lnTo>
                  <a:close/>
                </a:path>
              </a:pathLst>
            </a:custGeom>
            <a:blipFill>
              <a:blip r:embed="rId3">
                <a:alphaModFix amt="0"/>
              </a:blip>
              <a:stretch>
                <a:fillRect l="0" t="-144144" r="0" b="-144144"/>
              </a:stretch>
            </a:blipFill>
          </p:spPr>
        </p:sp>
        <p:sp>
          <p:nvSpPr>
            <p:cNvPr name="TextBox 68" id="68"/>
            <p:cNvSpPr txBox="true"/>
            <p:nvPr/>
          </p:nvSpPr>
          <p:spPr>
            <a:xfrm>
              <a:off x="0" y="-19050"/>
              <a:ext cx="3725329" cy="392938"/>
            </a:xfrm>
            <a:prstGeom prst="rect">
              <a:avLst/>
            </a:prstGeom>
          </p:spPr>
          <p:txBody>
            <a:bodyPr anchor="ctr" rtlCol="false" tIns="0" lIns="0" bIns="0" rIns="0"/>
            <a:lstStyle/>
            <a:p>
              <a:pPr algn="l">
                <a:lnSpc>
                  <a:spcPts val="1920"/>
                </a:lnSpc>
              </a:pPr>
              <a:r>
                <a:rPr lang="en-US" sz="1600" b="true">
                  <a:solidFill>
                    <a:srgbClr val="A14678"/>
                  </a:solidFill>
                  <a:latin typeface="Arimo Bold"/>
                  <a:ea typeface="Arimo Bold"/>
                  <a:cs typeface="Arimo Bold"/>
                  <a:sym typeface="Arimo Bold"/>
                </a:rPr>
                <a:t>현재 수행 작업</a:t>
              </a:r>
            </a:p>
          </p:txBody>
        </p:sp>
      </p:grpSp>
      <p:pic>
        <p:nvPicPr>
          <p:cNvPr name="Picture 69" id="69" descr="tb3_01 이동 → 구호 → 이동 연속 작업. 관제 기능 테스트, 로봇 상태 모사.">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0" r="0" b="0"/>
          <a:stretch>
            <a:fillRect/>
          </a:stretch>
        </p:blipFill>
        <p:spPr>
          <a:xfrm flipH="false" flipV="false" rot="0">
            <a:off x="11150603" y="3873503"/>
            <a:ext cx="6019800" cy="2633662"/>
          </a:xfrm>
          <a:prstGeom prst="rect">
            <a:avLst/>
          </a:prstGeom>
        </p:spPr>
      </p:pic>
      <p:sp>
        <p:nvSpPr>
          <p:cNvPr name="AutoShape 70" id="70"/>
          <p:cNvSpPr/>
          <p:nvPr/>
        </p:nvSpPr>
        <p:spPr>
          <a:xfrm rot="7259">
            <a:off x="11144212" y="6599234"/>
            <a:ext cx="6032573" cy="0"/>
          </a:xfrm>
          <a:prstGeom prst="line">
            <a:avLst/>
          </a:prstGeom>
          <a:ln cap="rnd" w="9525">
            <a:solidFill>
              <a:srgbClr val="DDDDDD"/>
            </a:solidFill>
            <a:prstDash val="solid"/>
            <a:headEnd type="none" len="sm" w="sm"/>
            <a:tailEnd type="none" len="sm" w="sm"/>
          </a:ln>
        </p:spPr>
      </p:sp>
      <p:grpSp>
        <p:nvGrpSpPr>
          <p:cNvPr name="Group 71" id="71"/>
          <p:cNvGrpSpPr/>
          <p:nvPr/>
        </p:nvGrpSpPr>
        <p:grpSpPr>
          <a:xfrm rot="0">
            <a:off x="11150603" y="6845932"/>
            <a:ext cx="6019800" cy="368046"/>
            <a:chOff x="0" y="0"/>
            <a:chExt cx="8026400" cy="490728"/>
          </a:xfrm>
        </p:grpSpPr>
        <p:sp>
          <p:nvSpPr>
            <p:cNvPr name="Freeform 72" id="72"/>
            <p:cNvSpPr/>
            <p:nvPr/>
          </p:nvSpPr>
          <p:spPr>
            <a:xfrm flipH="false" flipV="false" rot="0">
              <a:off x="0" y="0"/>
              <a:ext cx="8026400" cy="490728"/>
            </a:xfrm>
            <a:custGeom>
              <a:avLst/>
              <a:gdLst/>
              <a:ahLst/>
              <a:cxnLst/>
              <a:rect r="r" b="b" t="t" l="l"/>
              <a:pathLst>
                <a:path h="490728" w="8026400">
                  <a:moveTo>
                    <a:pt x="0" y="0"/>
                  </a:moveTo>
                  <a:lnTo>
                    <a:pt x="8026400" y="0"/>
                  </a:lnTo>
                  <a:lnTo>
                    <a:pt x="8026400" y="490728"/>
                  </a:lnTo>
                  <a:lnTo>
                    <a:pt x="0" y="490728"/>
                  </a:lnTo>
                  <a:close/>
                </a:path>
              </a:pathLst>
            </a:custGeom>
            <a:blipFill>
              <a:blip r:embed="rId3">
                <a:alphaModFix amt="0"/>
              </a:blip>
              <a:stretch>
                <a:fillRect l="0" t="-268699" r="0" b="-268699"/>
              </a:stretch>
            </a:blipFill>
          </p:spPr>
        </p:sp>
        <p:sp>
          <p:nvSpPr>
            <p:cNvPr name="TextBox 73" id="73"/>
            <p:cNvSpPr txBox="true"/>
            <p:nvPr/>
          </p:nvSpPr>
          <p:spPr>
            <a:xfrm>
              <a:off x="0" y="-9525"/>
              <a:ext cx="8026400" cy="500253"/>
            </a:xfrm>
            <a:prstGeom prst="rect">
              <a:avLst/>
            </a:prstGeom>
          </p:spPr>
          <p:txBody>
            <a:bodyPr anchor="ctr" rtlCol="false" tIns="0" lIns="0" bIns="0" rIns="0"/>
            <a:lstStyle/>
            <a:p>
              <a:pPr algn="l">
                <a:lnSpc>
                  <a:spcPts val="2520"/>
                </a:lnSpc>
              </a:pPr>
              <a:r>
                <a:rPr lang="en-US" sz="2100" b="true">
                  <a:solidFill>
                    <a:srgbClr val="111111"/>
                  </a:solidFill>
                  <a:latin typeface="Arimo Bold"/>
                  <a:ea typeface="Arimo Bold"/>
                  <a:cs typeface="Arimo Bold"/>
                  <a:sym typeface="Arimo Bold"/>
                </a:rPr>
                <a:t>완료된 단계와 현재 수행 작업을</a:t>
              </a:r>
            </a:p>
          </p:txBody>
        </p:sp>
      </p:grpSp>
      <p:grpSp>
        <p:nvGrpSpPr>
          <p:cNvPr name="Group 74" id="74"/>
          <p:cNvGrpSpPr/>
          <p:nvPr/>
        </p:nvGrpSpPr>
        <p:grpSpPr>
          <a:xfrm rot="0">
            <a:off x="11150603" y="7226932"/>
            <a:ext cx="6019800" cy="368046"/>
            <a:chOff x="0" y="0"/>
            <a:chExt cx="8026400" cy="490728"/>
          </a:xfrm>
        </p:grpSpPr>
        <p:sp>
          <p:nvSpPr>
            <p:cNvPr name="Freeform 75" id="75"/>
            <p:cNvSpPr/>
            <p:nvPr/>
          </p:nvSpPr>
          <p:spPr>
            <a:xfrm flipH="false" flipV="false" rot="0">
              <a:off x="0" y="0"/>
              <a:ext cx="8026400" cy="490728"/>
            </a:xfrm>
            <a:custGeom>
              <a:avLst/>
              <a:gdLst/>
              <a:ahLst/>
              <a:cxnLst/>
              <a:rect r="r" b="b" t="t" l="l"/>
              <a:pathLst>
                <a:path h="490728" w="8026400">
                  <a:moveTo>
                    <a:pt x="0" y="0"/>
                  </a:moveTo>
                  <a:lnTo>
                    <a:pt x="8026400" y="0"/>
                  </a:lnTo>
                  <a:lnTo>
                    <a:pt x="8026400" y="490728"/>
                  </a:lnTo>
                  <a:lnTo>
                    <a:pt x="0" y="490728"/>
                  </a:lnTo>
                  <a:close/>
                </a:path>
              </a:pathLst>
            </a:custGeom>
            <a:blipFill>
              <a:blip r:embed="rId3">
                <a:alphaModFix amt="0"/>
              </a:blip>
              <a:stretch>
                <a:fillRect l="0" t="-268699" r="0" b="-268699"/>
              </a:stretch>
            </a:blipFill>
          </p:spPr>
        </p:sp>
        <p:sp>
          <p:nvSpPr>
            <p:cNvPr name="TextBox 76" id="76"/>
            <p:cNvSpPr txBox="true"/>
            <p:nvPr/>
          </p:nvSpPr>
          <p:spPr>
            <a:xfrm>
              <a:off x="0" y="-9525"/>
              <a:ext cx="8026400" cy="500253"/>
            </a:xfrm>
            <a:prstGeom prst="rect">
              <a:avLst/>
            </a:prstGeom>
          </p:spPr>
          <p:txBody>
            <a:bodyPr anchor="ctr" rtlCol="false" tIns="0" lIns="0" bIns="0" rIns="0"/>
            <a:lstStyle/>
            <a:p>
              <a:pPr algn="l">
                <a:lnSpc>
                  <a:spcPts val="2520"/>
                </a:lnSpc>
              </a:pPr>
              <a:r>
                <a:rPr lang="en-US" sz="2100" b="true">
                  <a:solidFill>
                    <a:srgbClr val="111111"/>
                  </a:solidFill>
                  <a:latin typeface="Arimo Bold"/>
                  <a:ea typeface="Arimo Bold"/>
                  <a:cs typeface="Arimo Bold"/>
                  <a:sym typeface="Arimo Bold"/>
                </a:rPr>
                <a:t>같은 화면에서 확인</a:t>
              </a:r>
            </a:p>
          </p:txBody>
        </p:sp>
      </p:grpSp>
      <p:grpSp>
        <p:nvGrpSpPr>
          <p:cNvPr name="Group 77" id="77"/>
          <p:cNvGrpSpPr/>
          <p:nvPr/>
        </p:nvGrpSpPr>
        <p:grpSpPr>
          <a:xfrm rot="0">
            <a:off x="739778" y="8232772"/>
            <a:ext cx="16808453" cy="1377953"/>
            <a:chOff x="0" y="0"/>
            <a:chExt cx="22411271" cy="1837271"/>
          </a:xfrm>
        </p:grpSpPr>
        <p:sp>
          <p:nvSpPr>
            <p:cNvPr name="Freeform 78" id="78"/>
            <p:cNvSpPr/>
            <p:nvPr/>
          </p:nvSpPr>
          <p:spPr>
            <a:xfrm flipH="false" flipV="false" rot="0">
              <a:off x="0" y="0"/>
              <a:ext cx="22411310" cy="1837309"/>
            </a:xfrm>
            <a:custGeom>
              <a:avLst/>
              <a:gdLst/>
              <a:ahLst/>
              <a:cxnLst/>
              <a:rect r="r" b="b" t="t" l="l"/>
              <a:pathLst>
                <a:path h="1837309" w="22411310">
                  <a:moveTo>
                    <a:pt x="0" y="157480"/>
                  </a:moveTo>
                  <a:cubicBezTo>
                    <a:pt x="0" y="70485"/>
                    <a:pt x="70485" y="0"/>
                    <a:pt x="157480" y="0"/>
                  </a:cubicBezTo>
                  <a:lnTo>
                    <a:pt x="22253829" y="0"/>
                  </a:lnTo>
                  <a:cubicBezTo>
                    <a:pt x="22340824" y="0"/>
                    <a:pt x="22411310" y="70485"/>
                    <a:pt x="22411310" y="157480"/>
                  </a:cubicBezTo>
                  <a:lnTo>
                    <a:pt x="22411310" y="1679829"/>
                  </a:lnTo>
                  <a:cubicBezTo>
                    <a:pt x="22411310" y="1766824"/>
                    <a:pt x="22340824" y="1837309"/>
                    <a:pt x="22253829" y="1837309"/>
                  </a:cubicBezTo>
                  <a:lnTo>
                    <a:pt x="157480" y="1837309"/>
                  </a:lnTo>
                  <a:cubicBezTo>
                    <a:pt x="70485" y="1837309"/>
                    <a:pt x="0" y="1766824"/>
                    <a:pt x="0" y="1679829"/>
                  </a:cubicBezTo>
                  <a:close/>
                </a:path>
              </a:pathLst>
            </a:custGeom>
            <a:solidFill>
              <a:srgbClr val="FFFFFF"/>
            </a:solidFill>
            <a:ln w="19050" cap="sq">
              <a:solidFill>
                <a:srgbClr val="111111"/>
              </a:solidFill>
              <a:prstDash val="solid"/>
              <a:miter/>
            </a:ln>
          </p:spPr>
        </p:sp>
      </p:grpSp>
      <p:grpSp>
        <p:nvGrpSpPr>
          <p:cNvPr name="Group 79" id="79"/>
          <p:cNvGrpSpPr/>
          <p:nvPr/>
        </p:nvGrpSpPr>
        <p:grpSpPr>
          <a:xfrm rot="0">
            <a:off x="1117597" y="8532495"/>
            <a:ext cx="2286000" cy="297942"/>
            <a:chOff x="0" y="0"/>
            <a:chExt cx="3048000" cy="397256"/>
          </a:xfrm>
        </p:grpSpPr>
        <p:sp>
          <p:nvSpPr>
            <p:cNvPr name="Freeform 80" id="80"/>
            <p:cNvSpPr/>
            <p:nvPr/>
          </p:nvSpPr>
          <p:spPr>
            <a:xfrm flipH="false" flipV="false" rot="0">
              <a:off x="0" y="0"/>
              <a:ext cx="3048000" cy="397256"/>
            </a:xfrm>
            <a:custGeom>
              <a:avLst/>
              <a:gdLst/>
              <a:ahLst/>
              <a:cxnLst/>
              <a:rect r="r" b="b" t="t" l="l"/>
              <a:pathLst>
                <a:path h="397256" w="3048000">
                  <a:moveTo>
                    <a:pt x="0" y="0"/>
                  </a:moveTo>
                  <a:lnTo>
                    <a:pt x="3048000" y="0"/>
                  </a:lnTo>
                  <a:lnTo>
                    <a:pt x="3048000" y="397256"/>
                  </a:lnTo>
                  <a:lnTo>
                    <a:pt x="0" y="397256"/>
                  </a:lnTo>
                  <a:close/>
                </a:path>
              </a:pathLst>
            </a:custGeom>
            <a:blipFill>
              <a:blip r:embed="rId3">
                <a:alphaModFix amt="0"/>
              </a:blip>
              <a:stretch>
                <a:fillRect l="0" t="-99501" r="0" b="-99501"/>
              </a:stretch>
            </a:blipFill>
          </p:spPr>
        </p:sp>
        <p:sp>
          <p:nvSpPr>
            <p:cNvPr name="TextBox 81" id="81"/>
            <p:cNvSpPr txBox="true"/>
            <p:nvPr/>
          </p:nvSpPr>
          <p:spPr>
            <a:xfrm>
              <a:off x="0" y="-19050"/>
              <a:ext cx="3048000" cy="416306"/>
            </a:xfrm>
            <a:prstGeom prst="rect">
              <a:avLst/>
            </a:prstGeom>
          </p:spPr>
          <p:txBody>
            <a:bodyPr anchor="ctr" rtlCol="false" tIns="0" lIns="0" bIns="0" rIns="0"/>
            <a:lstStyle/>
            <a:p>
              <a:pPr algn="l">
                <a:lnSpc>
                  <a:spcPts val="2039"/>
                </a:lnSpc>
              </a:pPr>
              <a:r>
                <a:rPr lang="en-US" sz="1699" b="true">
                  <a:solidFill>
                    <a:srgbClr val="A14678"/>
                  </a:solidFill>
                  <a:latin typeface="Arimo Bold"/>
                  <a:ea typeface="Arimo Bold"/>
                  <a:cs typeface="Arimo Bold"/>
                  <a:sym typeface="Arimo Bold"/>
                </a:rPr>
                <a:t>후보 로봇 비교</a:t>
              </a:r>
            </a:p>
          </p:txBody>
        </p:sp>
      </p:grpSp>
      <p:grpSp>
        <p:nvGrpSpPr>
          <p:cNvPr name="Group 82" id="82"/>
          <p:cNvGrpSpPr/>
          <p:nvPr/>
        </p:nvGrpSpPr>
        <p:grpSpPr>
          <a:xfrm rot="0">
            <a:off x="2912207" y="8437605"/>
            <a:ext cx="3035985" cy="511096"/>
            <a:chOff x="0" y="0"/>
            <a:chExt cx="4047980" cy="681461"/>
          </a:xfrm>
        </p:grpSpPr>
        <p:sp>
          <p:nvSpPr>
            <p:cNvPr name="Freeform 83" id="83"/>
            <p:cNvSpPr/>
            <p:nvPr/>
          </p:nvSpPr>
          <p:spPr>
            <a:xfrm flipH="false" flipV="false" rot="0">
              <a:off x="0" y="0"/>
              <a:ext cx="4047985" cy="681461"/>
            </a:xfrm>
            <a:custGeom>
              <a:avLst/>
              <a:gdLst/>
              <a:ahLst/>
              <a:cxnLst/>
              <a:rect r="r" b="b" t="t" l="l"/>
              <a:pathLst>
                <a:path h="681461" w="4047985">
                  <a:moveTo>
                    <a:pt x="0" y="0"/>
                  </a:moveTo>
                  <a:lnTo>
                    <a:pt x="4047985" y="0"/>
                  </a:lnTo>
                  <a:lnTo>
                    <a:pt x="4047985" y="681461"/>
                  </a:lnTo>
                  <a:lnTo>
                    <a:pt x="0" y="681461"/>
                  </a:lnTo>
                  <a:close/>
                </a:path>
              </a:pathLst>
            </a:custGeom>
            <a:blipFill>
              <a:blip r:embed="rId3">
                <a:alphaModFix amt="0"/>
              </a:blip>
              <a:stretch>
                <a:fillRect l="0" t="-63654" r="7970" b="-49382"/>
              </a:stretch>
            </a:blipFill>
          </p:spPr>
        </p:sp>
        <p:sp>
          <p:nvSpPr>
            <p:cNvPr name="TextBox 84" id="84"/>
            <p:cNvSpPr txBox="true"/>
            <p:nvPr/>
          </p:nvSpPr>
          <p:spPr>
            <a:xfrm>
              <a:off x="0" y="-19050"/>
              <a:ext cx="4047980" cy="700511"/>
            </a:xfrm>
            <a:prstGeom prst="rect">
              <a:avLst/>
            </a:prstGeom>
          </p:spPr>
          <p:txBody>
            <a:bodyPr anchor="ctr" rtlCol="false" tIns="0" lIns="0" bIns="0" rIns="0"/>
            <a:lstStyle/>
            <a:p>
              <a:pPr algn="l">
                <a:lnSpc>
                  <a:spcPts val="3000"/>
                </a:lnSpc>
              </a:pPr>
              <a:r>
                <a:rPr lang="en-US" sz="2500" b="true">
                  <a:solidFill>
                    <a:srgbClr val="111111"/>
                  </a:solidFill>
                  <a:latin typeface="Arimo Bold"/>
                  <a:ea typeface="Arimo Bold"/>
                  <a:cs typeface="Arimo Bold"/>
                  <a:sym typeface="Arimo Bold"/>
                </a:rPr>
                <a:t>배정된 </a:t>
              </a:r>
              <a:r>
                <a:rPr lang="en-US" sz="2500" b="true">
                  <a:solidFill>
                    <a:srgbClr val="111111"/>
                  </a:solidFill>
                  <a:latin typeface="Arimo Bold"/>
                  <a:ea typeface="Arimo Bold"/>
                  <a:cs typeface="Arimo Bold"/>
                  <a:sym typeface="Arimo Bold"/>
                </a:rPr>
                <a:t>작업 수 적은 순</a:t>
              </a:r>
            </a:p>
          </p:txBody>
        </p:sp>
      </p:grpSp>
      <p:grpSp>
        <p:nvGrpSpPr>
          <p:cNvPr name="Group 85" id="85"/>
          <p:cNvGrpSpPr/>
          <p:nvPr/>
        </p:nvGrpSpPr>
        <p:grpSpPr>
          <a:xfrm rot="0">
            <a:off x="6200738" y="8437605"/>
            <a:ext cx="2706034" cy="511096"/>
            <a:chOff x="0" y="0"/>
            <a:chExt cx="3608046" cy="681461"/>
          </a:xfrm>
        </p:grpSpPr>
        <p:sp>
          <p:nvSpPr>
            <p:cNvPr name="Freeform 86" id="86"/>
            <p:cNvSpPr/>
            <p:nvPr/>
          </p:nvSpPr>
          <p:spPr>
            <a:xfrm flipH="false" flipV="false" rot="0">
              <a:off x="0" y="0"/>
              <a:ext cx="3608051" cy="681461"/>
            </a:xfrm>
            <a:custGeom>
              <a:avLst/>
              <a:gdLst/>
              <a:ahLst/>
              <a:cxnLst/>
              <a:rect r="r" b="b" t="t" l="l"/>
              <a:pathLst>
                <a:path h="681461" w="3608051">
                  <a:moveTo>
                    <a:pt x="0" y="0"/>
                  </a:moveTo>
                  <a:lnTo>
                    <a:pt x="3608051" y="0"/>
                  </a:lnTo>
                  <a:lnTo>
                    <a:pt x="3608051" y="681461"/>
                  </a:lnTo>
                  <a:lnTo>
                    <a:pt x="0" y="681461"/>
                  </a:lnTo>
                  <a:close/>
                </a:path>
              </a:pathLst>
            </a:custGeom>
            <a:blipFill>
              <a:blip r:embed="rId3">
                <a:alphaModFix amt="0"/>
              </a:blip>
              <a:stretch>
                <a:fillRect l="0" t="-63654" r="-3250" b="-49382"/>
              </a:stretch>
            </a:blipFill>
          </p:spPr>
        </p:sp>
        <p:sp>
          <p:nvSpPr>
            <p:cNvPr name="TextBox 87" id="87"/>
            <p:cNvSpPr txBox="true"/>
            <p:nvPr/>
          </p:nvSpPr>
          <p:spPr>
            <a:xfrm>
              <a:off x="0" y="-19050"/>
              <a:ext cx="3608046" cy="700511"/>
            </a:xfrm>
            <a:prstGeom prst="rect">
              <a:avLst/>
            </a:prstGeom>
          </p:spPr>
          <p:txBody>
            <a:bodyPr anchor="ctr" rtlCol="false" tIns="0" lIns="0" bIns="0" rIns="0"/>
            <a:lstStyle/>
            <a:p>
              <a:pPr algn="l">
                <a:lnSpc>
                  <a:spcPts val="3000"/>
                </a:lnSpc>
              </a:pPr>
              <a:r>
                <a:rPr lang="en-US" sz="2500" b="true">
                  <a:solidFill>
                    <a:srgbClr val="111111"/>
                  </a:solidFill>
                  <a:latin typeface="Arimo Bold"/>
                  <a:ea typeface="Arimo Bold"/>
                  <a:cs typeface="Arimo Bold"/>
                  <a:sym typeface="Arimo Bold"/>
                </a:rPr>
                <a:t>배터리 잔량 높은 순</a:t>
              </a:r>
            </a:p>
          </p:txBody>
        </p:sp>
      </p:grpSp>
      <p:grpSp>
        <p:nvGrpSpPr>
          <p:cNvPr name="Group 88" id="88"/>
          <p:cNvGrpSpPr/>
          <p:nvPr/>
        </p:nvGrpSpPr>
        <p:grpSpPr>
          <a:xfrm rot="0">
            <a:off x="9163947" y="8437605"/>
            <a:ext cx="4776131" cy="511096"/>
            <a:chOff x="0" y="0"/>
            <a:chExt cx="6368175" cy="681461"/>
          </a:xfrm>
        </p:grpSpPr>
        <p:sp>
          <p:nvSpPr>
            <p:cNvPr name="Freeform 89" id="89"/>
            <p:cNvSpPr/>
            <p:nvPr/>
          </p:nvSpPr>
          <p:spPr>
            <a:xfrm flipH="false" flipV="false" rot="0">
              <a:off x="0" y="0"/>
              <a:ext cx="6368171" cy="681461"/>
            </a:xfrm>
            <a:custGeom>
              <a:avLst/>
              <a:gdLst/>
              <a:ahLst/>
              <a:cxnLst/>
              <a:rect r="r" b="b" t="t" l="l"/>
              <a:pathLst>
                <a:path h="681461" w="6368171">
                  <a:moveTo>
                    <a:pt x="0" y="0"/>
                  </a:moveTo>
                  <a:lnTo>
                    <a:pt x="6368171" y="0"/>
                  </a:lnTo>
                  <a:lnTo>
                    <a:pt x="6368171" y="681461"/>
                  </a:lnTo>
                  <a:lnTo>
                    <a:pt x="0" y="681461"/>
                  </a:lnTo>
                  <a:close/>
                </a:path>
              </a:pathLst>
            </a:custGeom>
            <a:blipFill>
              <a:blip r:embed="rId3">
                <a:alphaModFix amt="0"/>
              </a:blip>
              <a:stretch>
                <a:fillRect l="0" t="-170173" r="-16998" b="-155901"/>
              </a:stretch>
            </a:blipFill>
          </p:spPr>
        </p:sp>
        <p:sp>
          <p:nvSpPr>
            <p:cNvPr name="TextBox 90" id="90"/>
            <p:cNvSpPr txBox="true"/>
            <p:nvPr/>
          </p:nvSpPr>
          <p:spPr>
            <a:xfrm>
              <a:off x="0" y="-19050"/>
              <a:ext cx="6368175" cy="700511"/>
            </a:xfrm>
            <a:prstGeom prst="rect">
              <a:avLst/>
            </a:prstGeom>
          </p:spPr>
          <p:txBody>
            <a:bodyPr anchor="ctr" rtlCol="false" tIns="0" lIns="0" bIns="0" rIns="0"/>
            <a:lstStyle/>
            <a:p>
              <a:pPr algn="l">
                <a:lnSpc>
                  <a:spcPts val="3000"/>
                </a:lnSpc>
              </a:pPr>
              <a:r>
                <a:rPr lang="en-US" sz="2500" b="true">
                  <a:solidFill>
                    <a:srgbClr val="111111"/>
                  </a:solidFill>
                  <a:latin typeface="Arimo Bold"/>
                  <a:ea typeface="Arimo Bold"/>
                  <a:cs typeface="Arimo Bold"/>
                  <a:sym typeface="Arimo Bold"/>
                </a:rPr>
                <a:t>목적지에 </a:t>
              </a:r>
              <a:r>
                <a:rPr lang="en-US" sz="2500" b="true">
                  <a:solidFill>
                    <a:srgbClr val="111111"/>
                  </a:solidFill>
                  <a:latin typeface="Arimo Bold"/>
                  <a:ea typeface="Arimo Bold"/>
                  <a:cs typeface="Arimo Bold"/>
                  <a:sym typeface="Arimo Bold"/>
                </a:rPr>
                <a:t>가까운 순</a:t>
              </a:r>
            </a:p>
          </p:txBody>
        </p:sp>
      </p:grpSp>
      <p:grpSp>
        <p:nvGrpSpPr>
          <p:cNvPr name="Group 91" id="91"/>
          <p:cNvGrpSpPr/>
          <p:nvPr/>
        </p:nvGrpSpPr>
        <p:grpSpPr>
          <a:xfrm rot="0">
            <a:off x="1117597" y="9066533"/>
            <a:ext cx="16002000" cy="360350"/>
            <a:chOff x="0" y="0"/>
            <a:chExt cx="21336000" cy="480467"/>
          </a:xfrm>
        </p:grpSpPr>
        <p:sp>
          <p:nvSpPr>
            <p:cNvPr name="Freeform 92" id="92"/>
            <p:cNvSpPr/>
            <p:nvPr/>
          </p:nvSpPr>
          <p:spPr>
            <a:xfrm flipH="false" flipV="false" rot="0">
              <a:off x="0" y="0"/>
              <a:ext cx="21336000" cy="480467"/>
            </a:xfrm>
            <a:custGeom>
              <a:avLst/>
              <a:gdLst/>
              <a:ahLst/>
              <a:cxnLst/>
              <a:rect r="r" b="b" t="t" l="l"/>
              <a:pathLst>
                <a:path h="480467" w="21336000">
                  <a:moveTo>
                    <a:pt x="0" y="0"/>
                  </a:moveTo>
                  <a:lnTo>
                    <a:pt x="21336000" y="0"/>
                  </a:lnTo>
                  <a:lnTo>
                    <a:pt x="21336000" y="480467"/>
                  </a:lnTo>
                  <a:lnTo>
                    <a:pt x="0" y="480467"/>
                  </a:lnTo>
                  <a:close/>
                </a:path>
              </a:pathLst>
            </a:custGeom>
            <a:blipFill>
              <a:blip r:embed="rId3">
                <a:alphaModFix amt="0"/>
              </a:blip>
              <a:stretch>
                <a:fillRect l="0" t="-821496" r="0" b="-809040"/>
              </a:stretch>
            </a:blipFill>
          </p:spPr>
        </p:sp>
        <p:sp>
          <p:nvSpPr>
            <p:cNvPr name="TextBox 93" id="93"/>
            <p:cNvSpPr txBox="true"/>
            <p:nvPr/>
          </p:nvSpPr>
          <p:spPr>
            <a:xfrm>
              <a:off x="0" y="-19050"/>
              <a:ext cx="21336000" cy="499517"/>
            </a:xfrm>
            <a:prstGeom prst="rect">
              <a:avLst/>
            </a:prstGeom>
          </p:spPr>
          <p:txBody>
            <a:bodyPr anchor="ctr" rtlCol="false" tIns="0" lIns="0" bIns="0" rIns="0"/>
            <a:lstStyle/>
            <a:p>
              <a:pPr algn="l">
                <a:lnSpc>
                  <a:spcPts val="2160"/>
                </a:lnSpc>
              </a:pPr>
              <a:r>
                <a:rPr lang="en-US" sz="1800">
                  <a:solidFill>
                    <a:srgbClr val="666666"/>
                  </a:solidFill>
                  <a:latin typeface="Arimo"/>
                  <a:ea typeface="Arimo"/>
                  <a:cs typeface="Arimo"/>
                  <a:sym typeface="Arimo"/>
                </a:rPr>
                <a:t>로봇 상태 </a:t>
              </a:r>
              <a:r>
                <a:rPr lang="en-US" sz="1800">
                  <a:solidFill>
                    <a:srgbClr val="666666"/>
                  </a:solidFill>
                  <a:latin typeface="Arimo"/>
                  <a:ea typeface="Arimo"/>
                  <a:cs typeface="Arimo"/>
                  <a:sym typeface="Arimo"/>
                </a:rPr>
                <a:t>오프라인, 오류 발생(ERROR), 일시정지(PAUSED) 제외</a:t>
              </a:r>
            </a:p>
          </p:txBody>
        </p:sp>
      </p:grpSp>
      <p:sp>
        <p:nvSpPr>
          <p:cNvPr name="AutoShape 94" id="94"/>
          <p:cNvSpPr/>
          <p:nvPr/>
        </p:nvSpPr>
        <p:spPr>
          <a:xfrm>
            <a:off x="3692528" y="4127502"/>
            <a:ext cx="326260" cy="0"/>
          </a:xfrm>
          <a:prstGeom prst="line">
            <a:avLst/>
          </a:prstGeom>
          <a:ln cap="flat" w="19050">
            <a:solidFill>
              <a:srgbClr val="000000"/>
            </a:solidFill>
            <a:prstDash val="solid"/>
            <a:headEnd type="none" len="sm" w="sm"/>
            <a:tailEnd type="triangle" len="med" w="lg"/>
          </a:ln>
        </p:spPr>
      </p:sp>
      <p:sp>
        <p:nvSpPr>
          <p:cNvPr name="AutoShape 95" id="95"/>
          <p:cNvSpPr/>
          <p:nvPr/>
        </p:nvSpPr>
        <p:spPr>
          <a:xfrm>
            <a:off x="6740528" y="4127502"/>
            <a:ext cx="386043" cy="41021"/>
          </a:xfrm>
          <a:prstGeom prst="line">
            <a:avLst/>
          </a:prstGeom>
          <a:ln cap="flat" w="19050">
            <a:solidFill>
              <a:srgbClr val="000000"/>
            </a:solidFill>
            <a:prstDash val="solid"/>
            <a:headEnd type="none" len="sm" w="sm"/>
            <a:tailEnd type="triangle" len="med" w="lg"/>
          </a:ln>
        </p:spPr>
      </p:sp>
      <p:sp>
        <p:nvSpPr>
          <p:cNvPr name="AutoShape 96" id="96"/>
          <p:cNvSpPr/>
          <p:nvPr/>
        </p:nvSpPr>
        <p:spPr>
          <a:xfrm>
            <a:off x="8635998" y="4733896"/>
            <a:ext cx="57067" cy="1031862"/>
          </a:xfrm>
          <a:prstGeom prst="line">
            <a:avLst/>
          </a:prstGeom>
          <a:ln cap="flat" w="19050">
            <a:solidFill>
              <a:srgbClr val="000000"/>
            </a:solidFill>
            <a:prstDash val="solid"/>
            <a:headEnd type="none" len="sm" w="sm"/>
            <a:tailEnd type="triangle" len="med" w="lg"/>
          </a:ln>
        </p:spPr>
      </p:sp>
      <p:sp>
        <p:nvSpPr>
          <p:cNvPr name="AutoShape 97" id="97"/>
          <p:cNvSpPr/>
          <p:nvPr/>
        </p:nvSpPr>
        <p:spPr>
          <a:xfrm flipH="true" flipV="true">
            <a:off x="6740528" y="6260449"/>
            <a:ext cx="488947" cy="76853"/>
          </a:xfrm>
          <a:prstGeom prst="line">
            <a:avLst/>
          </a:prstGeom>
          <a:ln cap="flat" w="19050">
            <a:solidFill>
              <a:srgbClr val="000000"/>
            </a:solidFill>
            <a:prstDash val="solid"/>
            <a:headEnd type="none" len="sm" w="sm"/>
            <a:tailEnd type="triangle" len="med" w="lg"/>
          </a:ln>
        </p:spPr>
      </p:sp>
      <p:sp>
        <p:nvSpPr>
          <p:cNvPr name="AutoShape 98" id="98"/>
          <p:cNvSpPr/>
          <p:nvPr/>
        </p:nvSpPr>
        <p:spPr>
          <a:xfrm flipH="true" flipV="true">
            <a:off x="3692557" y="6337302"/>
            <a:ext cx="488918" cy="0"/>
          </a:xfrm>
          <a:prstGeom prst="line">
            <a:avLst/>
          </a:prstGeom>
          <a:ln cap="flat" w="19050">
            <a:solidFill>
              <a:srgbClr val="000000"/>
            </a:solidFill>
            <a:prstDash val="solid"/>
            <a:headEnd type="none" len="sm" w="sm"/>
            <a:tailEnd type="triangle" len="med" w="lg"/>
          </a:ln>
        </p:spPr>
      </p:sp>
      <p:sp>
        <p:nvSpPr>
          <p:cNvPr name="AutoShape 99" id="99"/>
          <p:cNvSpPr/>
          <p:nvPr/>
        </p:nvSpPr>
        <p:spPr>
          <a:xfrm flipV="true">
            <a:off x="5948192" y="8693153"/>
            <a:ext cx="252546" cy="0"/>
          </a:xfrm>
          <a:prstGeom prst="line">
            <a:avLst/>
          </a:prstGeom>
          <a:ln cap="flat" w="19050">
            <a:solidFill>
              <a:srgbClr val="000000"/>
            </a:solidFill>
            <a:prstDash val="solid"/>
            <a:headEnd type="none" len="sm" w="sm"/>
            <a:tailEnd type="triangle" len="med" w="lg"/>
          </a:ln>
        </p:spPr>
      </p:sp>
      <p:sp>
        <p:nvSpPr>
          <p:cNvPr name="AutoShape 100" id="100"/>
          <p:cNvSpPr/>
          <p:nvPr/>
        </p:nvSpPr>
        <p:spPr>
          <a:xfrm flipV="true">
            <a:off x="8906772" y="8693153"/>
            <a:ext cx="257175" cy="0"/>
          </a:xfrm>
          <a:prstGeom prst="line">
            <a:avLst/>
          </a:prstGeom>
          <a:ln cap="flat" w="19050">
            <a:solidFill>
              <a:srgbClr val="000000"/>
            </a:solidFill>
            <a:prstDash val="solid"/>
            <a:headEnd type="none" len="sm" w="sm"/>
            <a:tailEnd type="triangle" len="med" w="lg"/>
          </a:ln>
        </p:spPr>
      </p:sp>
      <p:sp>
        <p:nvSpPr>
          <p:cNvPr name="TextBox 101" id="101"/>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18</a:t>
            </a:r>
          </a:p>
        </p:txBody>
      </p:sp>
      <p:grpSp>
        <p:nvGrpSpPr>
          <p:cNvPr name="Group 102" id="102"/>
          <p:cNvGrpSpPr/>
          <p:nvPr/>
        </p:nvGrpSpPr>
        <p:grpSpPr>
          <a:xfrm rot="0">
            <a:off x="15728956" y="2813942"/>
            <a:ext cx="1441447" cy="476250"/>
            <a:chOff x="0" y="0"/>
            <a:chExt cx="1921929" cy="635000"/>
          </a:xfrm>
        </p:grpSpPr>
        <p:grpSp>
          <p:nvGrpSpPr>
            <p:cNvPr name="Group 103" id="103"/>
            <p:cNvGrpSpPr/>
            <p:nvPr/>
          </p:nvGrpSpPr>
          <p:grpSpPr>
            <a:xfrm rot="0">
              <a:off x="0" y="0"/>
              <a:ext cx="1921929" cy="635000"/>
              <a:chOff x="0" y="0"/>
              <a:chExt cx="1921929" cy="635000"/>
            </a:xfrm>
          </p:grpSpPr>
          <p:sp>
            <p:nvSpPr>
              <p:cNvPr name="Freeform 104" id="104"/>
              <p:cNvSpPr/>
              <p:nvPr/>
            </p:nvSpPr>
            <p:spPr>
              <a:xfrm flipH="false" flipV="false" rot="0">
                <a:off x="0" y="0"/>
                <a:ext cx="1921891" cy="635000"/>
              </a:xfrm>
              <a:custGeom>
                <a:avLst/>
                <a:gdLst/>
                <a:ahLst/>
                <a:cxnLst/>
                <a:rect r="r" b="b" t="t" l="l"/>
                <a:pathLst>
                  <a:path h="635000" w="1921891">
                    <a:moveTo>
                      <a:pt x="0" y="114300"/>
                    </a:moveTo>
                    <a:cubicBezTo>
                      <a:pt x="0" y="51181"/>
                      <a:pt x="51181" y="0"/>
                      <a:pt x="114300" y="0"/>
                    </a:cubicBezTo>
                    <a:lnTo>
                      <a:pt x="1807591" y="0"/>
                    </a:lnTo>
                    <a:cubicBezTo>
                      <a:pt x="1870710" y="0"/>
                      <a:pt x="1921891" y="51181"/>
                      <a:pt x="1921891" y="114300"/>
                    </a:cubicBezTo>
                    <a:lnTo>
                      <a:pt x="1921891" y="520700"/>
                    </a:lnTo>
                    <a:cubicBezTo>
                      <a:pt x="1921891" y="583819"/>
                      <a:pt x="1870710" y="635000"/>
                      <a:pt x="1807591" y="635000"/>
                    </a:cubicBezTo>
                    <a:lnTo>
                      <a:pt x="114300" y="635000"/>
                    </a:lnTo>
                    <a:cubicBezTo>
                      <a:pt x="51181" y="635000"/>
                      <a:pt x="0" y="583819"/>
                      <a:pt x="0" y="520700"/>
                    </a:cubicBezTo>
                    <a:close/>
                  </a:path>
                </a:pathLst>
              </a:custGeom>
              <a:solidFill>
                <a:srgbClr val="101010"/>
              </a:solidFill>
            </p:spPr>
          </p:sp>
        </p:grpSp>
        <p:grpSp>
          <p:nvGrpSpPr>
            <p:cNvPr name="Group 105" id="105"/>
            <p:cNvGrpSpPr/>
            <p:nvPr/>
          </p:nvGrpSpPr>
          <p:grpSpPr>
            <a:xfrm rot="0">
              <a:off x="121123" y="55033"/>
              <a:ext cx="1679683" cy="524934"/>
              <a:chOff x="0" y="0"/>
              <a:chExt cx="1679683" cy="524934"/>
            </a:xfrm>
          </p:grpSpPr>
          <p:sp>
            <p:nvSpPr>
              <p:cNvPr name="Freeform 106" id="106"/>
              <p:cNvSpPr/>
              <p:nvPr/>
            </p:nvSpPr>
            <p:spPr>
              <a:xfrm flipH="false" flipV="false" rot="0">
                <a:off x="0" y="0"/>
                <a:ext cx="1679688" cy="524939"/>
              </a:xfrm>
              <a:custGeom>
                <a:avLst/>
                <a:gdLst/>
                <a:ahLst/>
                <a:cxnLst/>
                <a:rect r="r" b="b" t="t" l="l"/>
                <a:pathLst>
                  <a:path h="524939" w="1679688">
                    <a:moveTo>
                      <a:pt x="0" y="0"/>
                    </a:moveTo>
                    <a:lnTo>
                      <a:pt x="1679688" y="0"/>
                    </a:lnTo>
                    <a:lnTo>
                      <a:pt x="1679688" y="524939"/>
                    </a:lnTo>
                    <a:lnTo>
                      <a:pt x="0" y="524939"/>
                    </a:lnTo>
                    <a:close/>
                  </a:path>
                </a:pathLst>
              </a:custGeom>
              <a:blipFill>
                <a:blip r:embed="rId3">
                  <a:alphaModFix amt="0"/>
                </a:blip>
                <a:stretch>
                  <a:fillRect l="0" t="-20397" r="-12909" b="-20395"/>
                </a:stretch>
              </a:blipFill>
            </p:spPr>
          </p:sp>
          <p:sp>
            <p:nvSpPr>
              <p:cNvPr name="TextBox 107" id="107"/>
              <p:cNvSpPr txBox="true"/>
              <p:nvPr/>
            </p:nvSpPr>
            <p:spPr>
              <a:xfrm>
                <a:off x="0" y="-9525"/>
                <a:ext cx="1679683" cy="534459"/>
              </a:xfrm>
              <a:prstGeom prst="rect">
                <a:avLst/>
              </a:prstGeom>
            </p:spPr>
            <p:txBody>
              <a:bodyPr anchor="ctr" rtlCol="false" tIns="0" lIns="0" bIns="0" rIns="0"/>
              <a:lstStyle/>
              <a:p>
                <a:pPr algn="ctr">
                  <a:lnSpc>
                    <a:spcPts val="1889"/>
                  </a:lnSpc>
                </a:pPr>
                <a:r>
                  <a:rPr lang="en-US" b="true" sz="1575" u="sng">
                    <a:solidFill>
                      <a:srgbClr val="FFFFFF"/>
                    </a:solidFill>
                    <a:latin typeface="Arimo Bold"/>
                    <a:ea typeface="Arimo Bold"/>
                    <a:cs typeface="Arimo Bold"/>
                    <a:sym typeface="Arimo Bold"/>
                    <a:hlinkClick r:id="rId7" tooltip="https://kdm111.github.io/assets/videos/p17_task_queue.mp4"/>
                  </a:rPr>
                  <a:t>동영상 보기</a:t>
                </a:r>
              </a:p>
            </p:txBody>
          </p:sp>
        </p:grpSp>
      </p:grpSp>
    </p:spTree>
  </p:cSld>
  <p:clrMapOvr>
    <a:masterClrMapping/>
  </p:clrMapOvr>
  <p:timing>
    <p:tnLst>
      <p:par>
        <p:cTn dur="indefinite" restart="never" nodeType="tmRoot">
          <p:childTnLst>
            <p:video>
              <p:cMediaNode vol="100000">
                <p:cTn fill="hold" display="false">
                  <p:stCondLst>
                    <p:cond delay="indefinite"/>
                  </p:stCondLst>
                </p:cTn>
                <p:tgtEl>
                  <p:spTgt spid="69"/>
                </p:tgtEl>
              </p:cMediaNode>
            </p:video>
          </p:childTnLst>
        </p:cTn>
      </p:par>
    </p:tnLst>
  </p:timing>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sp>
        <p:nvSpPr>
          <p:cNvPr name="TextBox 2" id="2"/>
          <p:cNvSpPr txBox="true"/>
          <p:nvPr/>
        </p:nvSpPr>
        <p:spPr>
          <a:xfrm rot="0">
            <a:off x="16952976" y="9663303"/>
            <a:ext cx="576072" cy="255901"/>
          </a:xfrm>
          <a:prstGeom prst="rect">
            <a:avLst/>
          </a:prstGeom>
        </p:spPr>
        <p:txBody>
          <a:bodyPr anchor="t" rtlCol="false" tIns="0" lIns="0" bIns="0" rIns="0">
            <a:spAutoFit/>
          </a:bodyPr>
          <a:lstStyle/>
          <a:p>
            <a:pPr algn="r">
              <a:lnSpc>
                <a:spcPts val="1913"/>
              </a:lnSpc>
            </a:pPr>
            <a:r>
              <a:rPr lang="en-US" sz="1398">
                <a:solidFill>
                  <a:srgbClr val="66645F"/>
                </a:solidFill>
                <a:latin typeface="Arimo"/>
                <a:ea typeface="Arimo"/>
                <a:cs typeface="Arimo"/>
                <a:sym typeface="Arimo"/>
              </a:rPr>
              <a:t>19</a:t>
            </a:r>
          </a:p>
        </p:txBody>
      </p:sp>
      <p:grpSp>
        <p:nvGrpSpPr>
          <p:cNvPr name="Group 3" id="3"/>
          <p:cNvGrpSpPr/>
          <p:nvPr/>
        </p:nvGrpSpPr>
        <p:grpSpPr>
          <a:xfrm rot="0">
            <a:off x="1010412" y="2104993"/>
            <a:ext cx="16230600" cy="932688"/>
            <a:chOff x="0" y="0"/>
            <a:chExt cx="21640800" cy="1243584"/>
          </a:xfrm>
        </p:grpSpPr>
        <p:grpSp>
          <p:nvGrpSpPr>
            <p:cNvPr name="Group 4" id="4"/>
            <p:cNvGrpSpPr/>
            <p:nvPr/>
          </p:nvGrpSpPr>
          <p:grpSpPr>
            <a:xfrm rot="0">
              <a:off x="0" y="0"/>
              <a:ext cx="21640800" cy="1243584"/>
              <a:chOff x="0" y="0"/>
              <a:chExt cx="21640800" cy="1243584"/>
            </a:xfrm>
          </p:grpSpPr>
          <p:sp>
            <p:nvSpPr>
              <p:cNvPr name="Freeform 5" id="5"/>
              <p:cNvSpPr/>
              <p:nvPr/>
            </p:nvSpPr>
            <p:spPr>
              <a:xfrm flipH="false" flipV="false" rot="0">
                <a:off x="0" y="0"/>
                <a:ext cx="21640798" cy="1243584"/>
              </a:xfrm>
              <a:custGeom>
                <a:avLst/>
                <a:gdLst/>
                <a:ahLst/>
                <a:cxnLst/>
                <a:rect r="r" b="b" t="t" l="l"/>
                <a:pathLst>
                  <a:path h="1243584" w="21640798">
                    <a:moveTo>
                      <a:pt x="0" y="86995"/>
                    </a:moveTo>
                    <a:cubicBezTo>
                      <a:pt x="0" y="38989"/>
                      <a:pt x="38879" y="0"/>
                      <a:pt x="86751" y="0"/>
                    </a:cubicBezTo>
                    <a:lnTo>
                      <a:pt x="21554049" y="0"/>
                    </a:lnTo>
                    <a:cubicBezTo>
                      <a:pt x="21602047" y="0"/>
                      <a:pt x="21640798" y="38989"/>
                      <a:pt x="21640798" y="86995"/>
                    </a:cubicBezTo>
                    <a:lnTo>
                      <a:pt x="21640798" y="1156589"/>
                    </a:lnTo>
                    <a:cubicBezTo>
                      <a:pt x="21640798" y="1204722"/>
                      <a:pt x="21601920" y="1243584"/>
                      <a:pt x="21554049" y="1243584"/>
                    </a:cubicBezTo>
                    <a:lnTo>
                      <a:pt x="86751" y="1243584"/>
                    </a:lnTo>
                    <a:cubicBezTo>
                      <a:pt x="38879" y="1243584"/>
                      <a:pt x="0" y="1204595"/>
                      <a:pt x="0" y="1156589"/>
                    </a:cubicBezTo>
                    <a:close/>
                  </a:path>
                </a:pathLst>
              </a:custGeom>
              <a:solidFill>
                <a:srgbClr val="F6EEF2"/>
              </a:solidFill>
            </p:spPr>
          </p:sp>
        </p:grpSp>
        <p:sp>
          <p:nvSpPr>
            <p:cNvPr name="TextBox 6" id="6"/>
            <p:cNvSpPr txBox="true"/>
            <p:nvPr/>
          </p:nvSpPr>
          <p:spPr>
            <a:xfrm rot="0">
              <a:off x="461995" y="426212"/>
              <a:ext cx="20704653" cy="438404"/>
            </a:xfrm>
            <a:prstGeom prst="rect">
              <a:avLst/>
            </a:prstGeom>
          </p:spPr>
          <p:txBody>
            <a:bodyPr anchor="t" rtlCol="false" tIns="0" lIns="0" bIns="0" rIns="0">
              <a:spAutoFit/>
            </a:bodyPr>
            <a:lstStyle/>
            <a:p>
              <a:pPr algn="l">
                <a:lnSpc>
                  <a:spcPts val="2736"/>
                </a:lnSpc>
              </a:pPr>
              <a:r>
                <a:rPr lang="en-US" sz="2000" b="true">
                  <a:solidFill>
                    <a:srgbClr val="A14678"/>
                  </a:solidFill>
                  <a:latin typeface="Arimo Bold"/>
                  <a:ea typeface="Arimo Bold"/>
                  <a:cs typeface="Arimo Bold"/>
                  <a:sym typeface="Arimo Bold"/>
                </a:rPr>
                <a:t>명령</a:t>
              </a:r>
              <a:r>
                <a:rPr lang="en-US" sz="2000" b="true">
                  <a:solidFill>
                    <a:srgbClr val="A14678"/>
                  </a:solidFill>
                  <a:latin typeface="Arimo Bold"/>
                  <a:ea typeface="Arimo Bold"/>
                  <a:cs typeface="Arimo Bold"/>
                  <a:sym typeface="Arimo Bold"/>
                </a:rPr>
                <a:t> 저장     →     명령 단계 선택     →     명령 전송     →     명령 완료 조건 확인     →     다음 명령 전송</a:t>
              </a:r>
            </a:p>
          </p:txBody>
        </p:sp>
      </p:grpSp>
      <p:grpSp>
        <p:nvGrpSpPr>
          <p:cNvPr name="Group 7" id="7"/>
          <p:cNvGrpSpPr/>
          <p:nvPr/>
        </p:nvGrpSpPr>
        <p:grpSpPr>
          <a:xfrm rot="0">
            <a:off x="1005840" y="4178808"/>
            <a:ext cx="9631002" cy="667512"/>
            <a:chOff x="0" y="0"/>
            <a:chExt cx="12841336" cy="890016"/>
          </a:xfrm>
        </p:grpSpPr>
        <p:sp>
          <p:nvSpPr>
            <p:cNvPr name="Freeform 8" id="8"/>
            <p:cNvSpPr/>
            <p:nvPr/>
          </p:nvSpPr>
          <p:spPr>
            <a:xfrm flipH="false" flipV="false" rot="0">
              <a:off x="0" y="0"/>
              <a:ext cx="12841337" cy="890016"/>
            </a:xfrm>
            <a:custGeom>
              <a:avLst/>
              <a:gdLst/>
              <a:ahLst/>
              <a:cxnLst/>
              <a:rect r="r" b="b" t="t" l="l"/>
              <a:pathLst>
                <a:path h="890016" w="12841337">
                  <a:moveTo>
                    <a:pt x="0" y="62357"/>
                  </a:moveTo>
                  <a:cubicBezTo>
                    <a:pt x="0" y="27940"/>
                    <a:pt x="16533" y="0"/>
                    <a:pt x="36898" y="0"/>
                  </a:cubicBezTo>
                  <a:lnTo>
                    <a:pt x="12804439" y="0"/>
                  </a:lnTo>
                  <a:cubicBezTo>
                    <a:pt x="12824804" y="0"/>
                    <a:pt x="12841337" y="27940"/>
                    <a:pt x="12841337" y="62357"/>
                  </a:cubicBezTo>
                  <a:lnTo>
                    <a:pt x="12841337" y="827659"/>
                  </a:lnTo>
                  <a:cubicBezTo>
                    <a:pt x="12841337" y="862076"/>
                    <a:pt x="12824804" y="890016"/>
                    <a:pt x="12804439" y="890016"/>
                  </a:cubicBezTo>
                  <a:lnTo>
                    <a:pt x="36898" y="890016"/>
                  </a:lnTo>
                  <a:cubicBezTo>
                    <a:pt x="16533" y="890016"/>
                    <a:pt x="0" y="862076"/>
                    <a:pt x="0" y="827659"/>
                  </a:cubicBezTo>
                  <a:close/>
                </a:path>
              </a:pathLst>
            </a:custGeom>
            <a:solidFill>
              <a:srgbClr val="FFFFFF"/>
            </a:solidFill>
          </p:spPr>
        </p:sp>
      </p:grpSp>
      <p:sp>
        <p:nvSpPr>
          <p:cNvPr name="TextBox 9" id="9"/>
          <p:cNvSpPr txBox="true"/>
          <p:nvPr/>
        </p:nvSpPr>
        <p:spPr>
          <a:xfrm rot="0">
            <a:off x="1360102" y="4287012"/>
            <a:ext cx="3076485" cy="338328"/>
          </a:xfrm>
          <a:prstGeom prst="rect">
            <a:avLst/>
          </a:prstGeom>
        </p:spPr>
        <p:txBody>
          <a:bodyPr anchor="t" rtlCol="false" tIns="0" lIns="0" bIns="0" rIns="0">
            <a:spAutoFit/>
          </a:bodyPr>
          <a:lstStyle/>
          <a:p>
            <a:pPr algn="l">
              <a:lnSpc>
                <a:spcPts val="2736"/>
              </a:lnSpc>
            </a:pPr>
            <a:r>
              <a:rPr lang="en-US" sz="2000" b="true">
                <a:solidFill>
                  <a:srgbClr val="A14678"/>
                </a:solidFill>
                <a:latin typeface="Arimo Bold"/>
                <a:ea typeface="Arimo Bold"/>
                <a:cs typeface="Arimo Bold"/>
                <a:sym typeface="Arimo Bold"/>
              </a:rPr>
              <a:t>이동, 구호 명령</a:t>
            </a:r>
          </a:p>
        </p:txBody>
      </p:sp>
      <p:sp>
        <p:nvSpPr>
          <p:cNvPr name="TextBox 10" id="10"/>
          <p:cNvSpPr txBox="true"/>
          <p:nvPr/>
        </p:nvSpPr>
        <p:spPr>
          <a:xfrm rot="0">
            <a:off x="4660331" y="4287012"/>
            <a:ext cx="5976511" cy="321412"/>
          </a:xfrm>
          <a:prstGeom prst="rect">
            <a:avLst/>
          </a:prstGeom>
        </p:spPr>
        <p:txBody>
          <a:bodyPr anchor="t" rtlCol="false" tIns="0" lIns="0" bIns="0" rIns="0">
            <a:spAutoFit/>
          </a:bodyPr>
          <a:lstStyle/>
          <a:p>
            <a:pPr algn="l">
              <a:lnSpc>
                <a:spcPts val="2599"/>
              </a:lnSpc>
            </a:pPr>
            <a:r>
              <a:rPr lang="en-US" sz="1899">
                <a:solidFill>
                  <a:srgbClr val="111111"/>
                </a:solidFill>
                <a:latin typeface="Arimo"/>
                <a:ea typeface="Arimo"/>
                <a:cs typeface="Arimo"/>
                <a:sym typeface="Arimo"/>
              </a:rPr>
              <a:t>터틀봇 </a:t>
            </a:r>
            <a:r>
              <a:rPr lang="en-US" sz="1899">
                <a:solidFill>
                  <a:srgbClr val="111111"/>
                </a:solidFill>
                <a:latin typeface="Arimo"/>
                <a:ea typeface="Arimo"/>
                <a:cs typeface="Arimo"/>
                <a:sym typeface="Arimo"/>
              </a:rPr>
              <a:t>: NavigateToPose 결과 / 테스트봇: 위치 도착 판정</a:t>
            </a:r>
          </a:p>
        </p:txBody>
      </p:sp>
      <p:grpSp>
        <p:nvGrpSpPr>
          <p:cNvPr name="Group 11" id="11"/>
          <p:cNvGrpSpPr/>
          <p:nvPr/>
        </p:nvGrpSpPr>
        <p:grpSpPr>
          <a:xfrm rot="0">
            <a:off x="1005840" y="4965192"/>
            <a:ext cx="9631002" cy="667512"/>
            <a:chOff x="0" y="0"/>
            <a:chExt cx="12841336" cy="890016"/>
          </a:xfrm>
        </p:grpSpPr>
        <p:sp>
          <p:nvSpPr>
            <p:cNvPr name="Freeform 12" id="12"/>
            <p:cNvSpPr/>
            <p:nvPr/>
          </p:nvSpPr>
          <p:spPr>
            <a:xfrm flipH="false" flipV="false" rot="0">
              <a:off x="0" y="0"/>
              <a:ext cx="12841337" cy="890016"/>
            </a:xfrm>
            <a:custGeom>
              <a:avLst/>
              <a:gdLst/>
              <a:ahLst/>
              <a:cxnLst/>
              <a:rect r="r" b="b" t="t" l="l"/>
              <a:pathLst>
                <a:path h="890016" w="12841337">
                  <a:moveTo>
                    <a:pt x="0" y="62357"/>
                  </a:moveTo>
                  <a:cubicBezTo>
                    <a:pt x="0" y="27940"/>
                    <a:pt x="16533" y="0"/>
                    <a:pt x="36898" y="0"/>
                  </a:cubicBezTo>
                  <a:lnTo>
                    <a:pt x="12804439" y="0"/>
                  </a:lnTo>
                  <a:cubicBezTo>
                    <a:pt x="12824804" y="0"/>
                    <a:pt x="12841337" y="27940"/>
                    <a:pt x="12841337" y="62357"/>
                  </a:cubicBezTo>
                  <a:lnTo>
                    <a:pt x="12841337" y="827659"/>
                  </a:lnTo>
                  <a:cubicBezTo>
                    <a:pt x="12841337" y="862076"/>
                    <a:pt x="12824804" y="890016"/>
                    <a:pt x="12804439" y="890016"/>
                  </a:cubicBezTo>
                  <a:lnTo>
                    <a:pt x="36898" y="890016"/>
                  </a:lnTo>
                  <a:cubicBezTo>
                    <a:pt x="16533" y="890016"/>
                    <a:pt x="0" y="862076"/>
                    <a:pt x="0" y="827659"/>
                  </a:cubicBezTo>
                  <a:close/>
                </a:path>
              </a:pathLst>
            </a:custGeom>
            <a:solidFill>
              <a:srgbClr val="FFFFFF"/>
            </a:solidFill>
          </p:spPr>
        </p:sp>
      </p:grpSp>
      <p:sp>
        <p:nvSpPr>
          <p:cNvPr name="TextBox 13" id="13"/>
          <p:cNvSpPr txBox="true"/>
          <p:nvPr/>
        </p:nvSpPr>
        <p:spPr>
          <a:xfrm rot="0">
            <a:off x="1360102" y="5073396"/>
            <a:ext cx="3076485" cy="338328"/>
          </a:xfrm>
          <a:prstGeom prst="rect">
            <a:avLst/>
          </a:prstGeom>
        </p:spPr>
        <p:txBody>
          <a:bodyPr anchor="t" rtlCol="false" tIns="0" lIns="0" bIns="0" rIns="0">
            <a:spAutoFit/>
          </a:bodyPr>
          <a:lstStyle/>
          <a:p>
            <a:pPr algn="l">
              <a:lnSpc>
                <a:spcPts val="2736"/>
              </a:lnSpc>
            </a:pPr>
            <a:r>
              <a:rPr lang="en-US" sz="2000" b="true">
                <a:solidFill>
                  <a:srgbClr val="A14678"/>
                </a:solidFill>
                <a:latin typeface="Arimo Bold"/>
                <a:ea typeface="Arimo Bold"/>
                <a:cs typeface="Arimo Bold"/>
                <a:sym typeface="Arimo Bold"/>
              </a:rPr>
              <a:t>공급 명령,  승, 하차 명령</a:t>
            </a:r>
          </a:p>
        </p:txBody>
      </p:sp>
      <p:sp>
        <p:nvSpPr>
          <p:cNvPr name="TextBox 14" id="14"/>
          <p:cNvSpPr txBox="true"/>
          <p:nvPr/>
        </p:nvSpPr>
        <p:spPr>
          <a:xfrm rot="0">
            <a:off x="4660331" y="5073396"/>
            <a:ext cx="5976511" cy="321412"/>
          </a:xfrm>
          <a:prstGeom prst="rect">
            <a:avLst/>
          </a:prstGeom>
        </p:spPr>
        <p:txBody>
          <a:bodyPr anchor="t" rtlCol="false" tIns="0" lIns="0" bIns="0" rIns="0">
            <a:spAutoFit/>
          </a:bodyPr>
          <a:lstStyle/>
          <a:p>
            <a:pPr algn="l">
              <a:lnSpc>
                <a:spcPts val="2599"/>
              </a:lnSpc>
            </a:pPr>
            <a:r>
              <a:rPr lang="en-US" sz="1899">
                <a:solidFill>
                  <a:srgbClr val="111111"/>
                </a:solidFill>
                <a:latin typeface="Arimo"/>
                <a:ea typeface="Arimo"/>
                <a:cs typeface="Arimo"/>
                <a:sym typeface="Arimo"/>
              </a:rPr>
              <a:t>응답의 실패 상태, 결과 필드 조건을 검사</a:t>
            </a:r>
          </a:p>
        </p:txBody>
      </p:sp>
      <p:grpSp>
        <p:nvGrpSpPr>
          <p:cNvPr name="Group 15" id="15"/>
          <p:cNvGrpSpPr/>
          <p:nvPr/>
        </p:nvGrpSpPr>
        <p:grpSpPr>
          <a:xfrm rot="0">
            <a:off x="1005840" y="5751576"/>
            <a:ext cx="9631002" cy="667512"/>
            <a:chOff x="0" y="0"/>
            <a:chExt cx="12841336" cy="890016"/>
          </a:xfrm>
        </p:grpSpPr>
        <p:sp>
          <p:nvSpPr>
            <p:cNvPr name="Freeform 16" id="16"/>
            <p:cNvSpPr/>
            <p:nvPr/>
          </p:nvSpPr>
          <p:spPr>
            <a:xfrm flipH="false" flipV="false" rot="0">
              <a:off x="0" y="0"/>
              <a:ext cx="12841337" cy="890016"/>
            </a:xfrm>
            <a:custGeom>
              <a:avLst/>
              <a:gdLst/>
              <a:ahLst/>
              <a:cxnLst/>
              <a:rect r="r" b="b" t="t" l="l"/>
              <a:pathLst>
                <a:path h="890016" w="12841337">
                  <a:moveTo>
                    <a:pt x="0" y="62357"/>
                  </a:moveTo>
                  <a:cubicBezTo>
                    <a:pt x="0" y="27940"/>
                    <a:pt x="16533" y="0"/>
                    <a:pt x="36898" y="0"/>
                  </a:cubicBezTo>
                  <a:lnTo>
                    <a:pt x="12804439" y="0"/>
                  </a:lnTo>
                  <a:cubicBezTo>
                    <a:pt x="12824804" y="0"/>
                    <a:pt x="12841337" y="27940"/>
                    <a:pt x="12841337" y="62357"/>
                  </a:cubicBezTo>
                  <a:lnTo>
                    <a:pt x="12841337" y="827659"/>
                  </a:lnTo>
                  <a:cubicBezTo>
                    <a:pt x="12841337" y="862076"/>
                    <a:pt x="12824804" y="890016"/>
                    <a:pt x="12804439" y="890016"/>
                  </a:cubicBezTo>
                  <a:lnTo>
                    <a:pt x="36898" y="890016"/>
                  </a:lnTo>
                  <a:cubicBezTo>
                    <a:pt x="16533" y="890016"/>
                    <a:pt x="0" y="862076"/>
                    <a:pt x="0" y="827659"/>
                  </a:cubicBezTo>
                  <a:close/>
                </a:path>
              </a:pathLst>
            </a:custGeom>
            <a:solidFill>
              <a:srgbClr val="FFFFFF"/>
            </a:solidFill>
          </p:spPr>
        </p:sp>
      </p:grpSp>
      <p:sp>
        <p:nvSpPr>
          <p:cNvPr name="TextBox 17" id="17"/>
          <p:cNvSpPr txBox="true"/>
          <p:nvPr/>
        </p:nvSpPr>
        <p:spPr>
          <a:xfrm rot="0">
            <a:off x="1360102" y="5859780"/>
            <a:ext cx="1691897" cy="338328"/>
          </a:xfrm>
          <a:prstGeom prst="rect">
            <a:avLst/>
          </a:prstGeom>
        </p:spPr>
        <p:txBody>
          <a:bodyPr anchor="t" rtlCol="false" tIns="0" lIns="0" bIns="0" rIns="0">
            <a:spAutoFit/>
          </a:bodyPr>
          <a:lstStyle/>
          <a:p>
            <a:pPr algn="l">
              <a:lnSpc>
                <a:spcPts val="2736"/>
              </a:lnSpc>
            </a:pPr>
            <a:r>
              <a:rPr lang="en-US" sz="2000" b="true">
                <a:solidFill>
                  <a:srgbClr val="A14678"/>
                </a:solidFill>
                <a:latin typeface="Arimo Bold"/>
                <a:ea typeface="Arimo Bold"/>
                <a:cs typeface="Arimo Bold"/>
                <a:sym typeface="Arimo Bold"/>
              </a:rPr>
              <a:t>일시정지</a:t>
            </a:r>
            <a:r>
              <a:rPr lang="en-US" sz="2000" b="true">
                <a:solidFill>
                  <a:srgbClr val="A14678"/>
                </a:solidFill>
                <a:latin typeface="Arimo Bold"/>
                <a:ea typeface="Arimo Bold"/>
                <a:cs typeface="Arimo Bold"/>
                <a:sym typeface="Arimo Bold"/>
              </a:rPr>
              <a:t> 명령</a:t>
            </a:r>
          </a:p>
        </p:txBody>
      </p:sp>
      <p:sp>
        <p:nvSpPr>
          <p:cNvPr name="TextBox 18" id="18"/>
          <p:cNvSpPr txBox="true"/>
          <p:nvPr/>
        </p:nvSpPr>
        <p:spPr>
          <a:xfrm rot="0">
            <a:off x="4660331" y="5859780"/>
            <a:ext cx="5976511" cy="321412"/>
          </a:xfrm>
          <a:prstGeom prst="rect">
            <a:avLst/>
          </a:prstGeom>
        </p:spPr>
        <p:txBody>
          <a:bodyPr anchor="t" rtlCol="false" tIns="0" lIns="0" bIns="0" rIns="0">
            <a:spAutoFit/>
          </a:bodyPr>
          <a:lstStyle/>
          <a:p>
            <a:pPr algn="l">
              <a:lnSpc>
                <a:spcPts val="2599"/>
              </a:lnSpc>
            </a:pPr>
            <a:r>
              <a:rPr lang="en-US" sz="1899">
                <a:solidFill>
                  <a:srgbClr val="111111"/>
                </a:solidFill>
                <a:latin typeface="Arimo"/>
                <a:ea typeface="Arimo"/>
                <a:cs typeface="Arimo"/>
                <a:sym typeface="Arimo"/>
              </a:rPr>
              <a:t>발행 후 진행, 다음 명령 신호까지 대기</a:t>
            </a:r>
          </a:p>
        </p:txBody>
      </p:sp>
      <p:grpSp>
        <p:nvGrpSpPr>
          <p:cNvPr name="Group 19" id="19"/>
          <p:cNvGrpSpPr/>
          <p:nvPr/>
        </p:nvGrpSpPr>
        <p:grpSpPr>
          <a:xfrm rot="0">
            <a:off x="1005840" y="6537960"/>
            <a:ext cx="9631002" cy="667512"/>
            <a:chOff x="0" y="0"/>
            <a:chExt cx="12841336" cy="890016"/>
          </a:xfrm>
        </p:grpSpPr>
        <p:sp>
          <p:nvSpPr>
            <p:cNvPr name="Freeform 20" id="20"/>
            <p:cNvSpPr/>
            <p:nvPr/>
          </p:nvSpPr>
          <p:spPr>
            <a:xfrm flipH="false" flipV="false" rot="0">
              <a:off x="0" y="0"/>
              <a:ext cx="12841337" cy="890016"/>
            </a:xfrm>
            <a:custGeom>
              <a:avLst/>
              <a:gdLst/>
              <a:ahLst/>
              <a:cxnLst/>
              <a:rect r="r" b="b" t="t" l="l"/>
              <a:pathLst>
                <a:path h="890016" w="12841337">
                  <a:moveTo>
                    <a:pt x="0" y="62357"/>
                  </a:moveTo>
                  <a:cubicBezTo>
                    <a:pt x="0" y="27940"/>
                    <a:pt x="16533" y="0"/>
                    <a:pt x="36898" y="0"/>
                  </a:cubicBezTo>
                  <a:lnTo>
                    <a:pt x="12804439" y="0"/>
                  </a:lnTo>
                  <a:cubicBezTo>
                    <a:pt x="12824804" y="0"/>
                    <a:pt x="12841337" y="27940"/>
                    <a:pt x="12841337" y="62357"/>
                  </a:cubicBezTo>
                  <a:lnTo>
                    <a:pt x="12841337" y="827659"/>
                  </a:lnTo>
                  <a:cubicBezTo>
                    <a:pt x="12841337" y="862076"/>
                    <a:pt x="12824804" y="890016"/>
                    <a:pt x="12804439" y="890016"/>
                  </a:cubicBezTo>
                  <a:lnTo>
                    <a:pt x="36898" y="890016"/>
                  </a:lnTo>
                  <a:cubicBezTo>
                    <a:pt x="16533" y="890016"/>
                    <a:pt x="0" y="862076"/>
                    <a:pt x="0" y="827659"/>
                  </a:cubicBezTo>
                  <a:close/>
                </a:path>
              </a:pathLst>
            </a:custGeom>
            <a:solidFill>
              <a:srgbClr val="FFFFFF"/>
            </a:solidFill>
          </p:spPr>
        </p:sp>
      </p:grpSp>
      <p:sp>
        <p:nvSpPr>
          <p:cNvPr name="TextBox 21" id="21"/>
          <p:cNvSpPr txBox="true"/>
          <p:nvPr/>
        </p:nvSpPr>
        <p:spPr>
          <a:xfrm rot="0">
            <a:off x="1360102" y="6646164"/>
            <a:ext cx="3076485" cy="338328"/>
          </a:xfrm>
          <a:prstGeom prst="rect">
            <a:avLst/>
          </a:prstGeom>
        </p:spPr>
        <p:txBody>
          <a:bodyPr anchor="t" rtlCol="false" tIns="0" lIns="0" bIns="0" rIns="0">
            <a:spAutoFit/>
          </a:bodyPr>
          <a:lstStyle/>
          <a:p>
            <a:pPr algn="l">
              <a:lnSpc>
                <a:spcPts val="2736"/>
              </a:lnSpc>
            </a:pPr>
            <a:r>
              <a:rPr lang="en-US" sz="2000" b="true">
                <a:solidFill>
                  <a:srgbClr val="A14678"/>
                </a:solidFill>
                <a:latin typeface="Arimo Bold"/>
                <a:ea typeface="Arimo Bold"/>
                <a:cs typeface="Arimo Bold"/>
                <a:sym typeface="Arimo Bold"/>
              </a:rPr>
              <a:t>연속 작업 명령, 커스텀 명령</a:t>
            </a:r>
          </a:p>
        </p:txBody>
      </p:sp>
      <p:sp>
        <p:nvSpPr>
          <p:cNvPr name="TextBox 22" id="22"/>
          <p:cNvSpPr txBox="true"/>
          <p:nvPr/>
        </p:nvSpPr>
        <p:spPr>
          <a:xfrm rot="0">
            <a:off x="4660331" y="6646164"/>
            <a:ext cx="5976511" cy="321412"/>
          </a:xfrm>
          <a:prstGeom prst="rect">
            <a:avLst/>
          </a:prstGeom>
        </p:spPr>
        <p:txBody>
          <a:bodyPr anchor="t" rtlCol="false" tIns="0" lIns="0" bIns="0" rIns="0">
            <a:spAutoFit/>
          </a:bodyPr>
          <a:lstStyle/>
          <a:p>
            <a:pPr algn="l">
              <a:lnSpc>
                <a:spcPts val="2599"/>
              </a:lnSpc>
            </a:pPr>
            <a:r>
              <a:rPr lang="en-US" sz="1899">
                <a:solidFill>
                  <a:srgbClr val="111111"/>
                </a:solidFill>
                <a:latin typeface="Arimo"/>
                <a:ea typeface="Arimo"/>
                <a:cs typeface="Arimo"/>
                <a:sym typeface="Arimo"/>
              </a:rPr>
              <a:t>로봇별 FIFO와 시나리오 순번을 분리해 다음 작업 실행</a:t>
            </a:r>
          </a:p>
        </p:txBody>
      </p:sp>
      <p:grpSp>
        <p:nvGrpSpPr>
          <p:cNvPr name="Group 23" id="23"/>
          <p:cNvGrpSpPr/>
          <p:nvPr/>
        </p:nvGrpSpPr>
        <p:grpSpPr>
          <a:xfrm rot="0">
            <a:off x="1028700" y="8206740"/>
            <a:ext cx="16212312" cy="1051560"/>
            <a:chOff x="0" y="0"/>
            <a:chExt cx="21616416" cy="1402080"/>
          </a:xfrm>
        </p:grpSpPr>
        <p:sp>
          <p:nvSpPr>
            <p:cNvPr name="Freeform 24" id="24"/>
            <p:cNvSpPr/>
            <p:nvPr/>
          </p:nvSpPr>
          <p:spPr>
            <a:xfrm flipH="false" flipV="false" rot="0">
              <a:off x="0" y="0"/>
              <a:ext cx="21616415" cy="1402080"/>
            </a:xfrm>
            <a:custGeom>
              <a:avLst/>
              <a:gdLst/>
              <a:ahLst/>
              <a:cxnLst/>
              <a:rect r="r" b="b" t="t" l="l"/>
              <a:pathLst>
                <a:path h="1402080" w="21616415">
                  <a:moveTo>
                    <a:pt x="0" y="98171"/>
                  </a:moveTo>
                  <a:cubicBezTo>
                    <a:pt x="0" y="43942"/>
                    <a:pt x="43769" y="0"/>
                    <a:pt x="97785" y="0"/>
                  </a:cubicBezTo>
                  <a:lnTo>
                    <a:pt x="21518631" y="0"/>
                  </a:lnTo>
                  <a:cubicBezTo>
                    <a:pt x="21572646" y="0"/>
                    <a:pt x="21616415" y="43942"/>
                    <a:pt x="21616415" y="98171"/>
                  </a:cubicBezTo>
                  <a:lnTo>
                    <a:pt x="21616415" y="1303909"/>
                  </a:lnTo>
                  <a:cubicBezTo>
                    <a:pt x="21616415" y="1358138"/>
                    <a:pt x="21572646" y="1402080"/>
                    <a:pt x="21518631" y="1402080"/>
                  </a:cubicBezTo>
                  <a:lnTo>
                    <a:pt x="97785" y="1402080"/>
                  </a:lnTo>
                  <a:cubicBezTo>
                    <a:pt x="43769" y="1402080"/>
                    <a:pt x="0" y="1358138"/>
                    <a:pt x="0" y="1303909"/>
                  </a:cubicBezTo>
                  <a:close/>
                </a:path>
              </a:pathLst>
            </a:custGeom>
            <a:solidFill>
              <a:srgbClr val="F6EEF2"/>
            </a:solidFill>
          </p:spPr>
        </p:sp>
      </p:grpSp>
      <p:sp>
        <p:nvSpPr>
          <p:cNvPr name="TextBox 25" id="25"/>
          <p:cNvSpPr txBox="true"/>
          <p:nvPr/>
        </p:nvSpPr>
        <p:spPr>
          <a:xfrm rot="0">
            <a:off x="1338373" y="8408289"/>
            <a:ext cx="15592965" cy="600837"/>
          </a:xfrm>
          <a:prstGeom prst="rect">
            <a:avLst/>
          </a:prstGeom>
        </p:spPr>
        <p:txBody>
          <a:bodyPr anchor="t" rtlCol="false" tIns="0" lIns="0" bIns="0" rIns="0">
            <a:spAutoFit/>
          </a:bodyPr>
          <a:lstStyle/>
          <a:p>
            <a:pPr algn="l">
              <a:lnSpc>
                <a:spcPts val="2393"/>
              </a:lnSpc>
            </a:pPr>
            <a:r>
              <a:rPr lang="en-US" sz="1749">
                <a:solidFill>
                  <a:srgbClr val="66645F"/>
                </a:solidFill>
                <a:latin typeface="Arimo"/>
                <a:ea typeface="Arimo"/>
                <a:cs typeface="Arimo"/>
                <a:sym typeface="Arimo"/>
              </a:rPr>
              <a:t>실행 상태 추적  |  명령 이력은 MongoDB에 저장하고 Socket.IO로 화면에 반영</a:t>
            </a:r>
          </a:p>
          <a:p>
            <a:pPr algn="l">
              <a:lnSpc>
                <a:spcPts val="2393"/>
              </a:lnSpc>
            </a:pPr>
            <a:r>
              <a:rPr lang="en-US" sz="1749">
                <a:solidFill>
                  <a:srgbClr val="66645F"/>
                </a:solidFill>
                <a:latin typeface="Arimo"/>
                <a:ea typeface="Arimo"/>
                <a:cs typeface="Arimo"/>
                <a:sym typeface="Arimo"/>
              </a:rPr>
              <a:t>결과 처리 시 활성 작업과 종료·일시정지 상태를 확인해 후속 진행을 제한</a:t>
            </a:r>
          </a:p>
        </p:txBody>
      </p:sp>
      <p:grpSp>
        <p:nvGrpSpPr>
          <p:cNvPr name="Group 26" id="26"/>
          <p:cNvGrpSpPr/>
          <p:nvPr/>
        </p:nvGrpSpPr>
        <p:grpSpPr>
          <a:xfrm rot="0">
            <a:off x="762000" y="657225"/>
            <a:ext cx="11430000" cy="306642"/>
            <a:chOff x="0" y="0"/>
            <a:chExt cx="15240000" cy="408856"/>
          </a:xfrm>
        </p:grpSpPr>
        <p:sp>
          <p:nvSpPr>
            <p:cNvPr name="Freeform 27" id="27"/>
            <p:cNvSpPr/>
            <p:nvPr/>
          </p:nvSpPr>
          <p:spPr>
            <a:xfrm flipH="false" flipV="false" rot="0">
              <a:off x="0" y="0"/>
              <a:ext cx="15240000" cy="408856"/>
            </a:xfrm>
            <a:custGeom>
              <a:avLst/>
              <a:gdLst/>
              <a:ahLst/>
              <a:cxnLst/>
              <a:rect r="r" b="b" t="t" l="l"/>
              <a:pathLst>
                <a:path h="408856" w="15240000">
                  <a:moveTo>
                    <a:pt x="0" y="0"/>
                  </a:moveTo>
                  <a:lnTo>
                    <a:pt x="15240000" y="0"/>
                  </a:lnTo>
                  <a:lnTo>
                    <a:pt x="15240000" y="408856"/>
                  </a:lnTo>
                  <a:lnTo>
                    <a:pt x="0" y="408856"/>
                  </a:lnTo>
                  <a:close/>
                </a:path>
              </a:pathLst>
            </a:custGeom>
            <a:blipFill>
              <a:blip r:embed="rId3">
                <a:alphaModFix amt="0"/>
              </a:blip>
              <a:stretch>
                <a:fillRect l="0" t="-683434" r="0" b="-669166"/>
              </a:stretch>
            </a:blipFill>
          </p:spPr>
        </p:sp>
        <p:sp>
          <p:nvSpPr>
            <p:cNvPr name="TextBox 28" id="28"/>
            <p:cNvSpPr txBox="true"/>
            <p:nvPr/>
          </p:nvSpPr>
          <p:spPr>
            <a:xfrm>
              <a:off x="0" y="-19050"/>
              <a:ext cx="15240000" cy="427906"/>
            </a:xfrm>
            <a:prstGeom prst="rect">
              <a:avLst/>
            </a:prstGeom>
          </p:spPr>
          <p:txBody>
            <a:bodyPr anchor="ctr" rtlCol="false" tIns="0" lIns="0" bIns="0" rIns="0"/>
            <a:lstStyle/>
            <a:p>
              <a:pPr algn="l">
                <a:lnSpc>
                  <a:spcPts val="1800"/>
                </a:lnSpc>
              </a:pPr>
              <a:r>
                <a:rPr lang="en-US" sz="1500" b="true">
                  <a:solidFill>
                    <a:srgbClr val="666666"/>
                  </a:solidFill>
                  <a:latin typeface="Arimo Bold"/>
                  <a:ea typeface="Arimo Bold"/>
                  <a:cs typeface="Arimo Bold"/>
                  <a:sym typeface="Arimo Bold"/>
                </a:rPr>
                <a:t>VICPINKY CARRIER</a:t>
              </a:r>
            </a:p>
          </p:txBody>
        </p:sp>
      </p:grpSp>
      <p:grpSp>
        <p:nvGrpSpPr>
          <p:cNvPr name="Group 29" id="29"/>
          <p:cNvGrpSpPr/>
          <p:nvPr/>
        </p:nvGrpSpPr>
        <p:grpSpPr>
          <a:xfrm rot="0">
            <a:off x="762000" y="1029967"/>
            <a:ext cx="16764000" cy="856692"/>
            <a:chOff x="0" y="0"/>
            <a:chExt cx="22352000" cy="1142256"/>
          </a:xfrm>
        </p:grpSpPr>
        <p:sp>
          <p:nvSpPr>
            <p:cNvPr name="Freeform 30" id="30"/>
            <p:cNvSpPr/>
            <p:nvPr/>
          </p:nvSpPr>
          <p:spPr>
            <a:xfrm flipH="false" flipV="false" rot="0">
              <a:off x="0" y="0"/>
              <a:ext cx="22352000" cy="1142256"/>
            </a:xfrm>
            <a:custGeom>
              <a:avLst/>
              <a:gdLst/>
              <a:ahLst/>
              <a:cxnLst/>
              <a:rect r="r" b="b" t="t" l="l"/>
              <a:pathLst>
                <a:path h="1142256" w="22352000">
                  <a:moveTo>
                    <a:pt x="0" y="0"/>
                  </a:moveTo>
                  <a:lnTo>
                    <a:pt x="22352000" y="0"/>
                  </a:lnTo>
                  <a:lnTo>
                    <a:pt x="22352000" y="1142256"/>
                  </a:lnTo>
                  <a:lnTo>
                    <a:pt x="0" y="1142256"/>
                  </a:lnTo>
                  <a:close/>
                </a:path>
              </a:pathLst>
            </a:custGeom>
            <a:blipFill>
              <a:blip r:embed="rId3">
                <a:alphaModFix amt="0"/>
              </a:blip>
              <a:stretch>
                <a:fillRect l="0" t="-338327" r="0" b="-324250"/>
              </a:stretch>
            </a:blipFill>
          </p:spPr>
        </p:sp>
        <p:sp>
          <p:nvSpPr>
            <p:cNvPr name="TextBox 31" id="31"/>
            <p:cNvSpPr txBox="true"/>
            <p:nvPr/>
          </p:nvSpPr>
          <p:spPr>
            <a:xfrm>
              <a:off x="0" y="-19050"/>
              <a:ext cx="22352000" cy="1161306"/>
            </a:xfrm>
            <a:prstGeom prst="rect">
              <a:avLst/>
            </a:prstGeom>
          </p:spPr>
          <p:txBody>
            <a:bodyPr anchor="ctr" rtlCol="false" tIns="0" lIns="0" bIns="0" rIns="0"/>
            <a:lstStyle/>
            <a:p>
              <a:pPr algn="l">
                <a:lnSpc>
                  <a:spcPts val="5040"/>
                </a:lnSpc>
              </a:pPr>
              <a:r>
                <a:rPr lang="en-US" sz="4200" b="true">
                  <a:solidFill>
                    <a:srgbClr val="111111"/>
                  </a:solidFill>
                  <a:latin typeface="Arimo Bold"/>
                  <a:ea typeface="Arimo Bold"/>
                  <a:cs typeface="Arimo Bold"/>
                  <a:sym typeface="Arimo Bold"/>
                </a:rPr>
                <a:t>명령을 보낸 뒤 명령 완료 조건을 확인하며 진행</a:t>
              </a:r>
            </a:p>
          </p:txBody>
        </p:sp>
      </p:grpSp>
      <p:grpSp>
        <p:nvGrpSpPr>
          <p:cNvPr name="Group 32" id="32"/>
          <p:cNvGrpSpPr/>
          <p:nvPr/>
        </p:nvGrpSpPr>
        <p:grpSpPr>
          <a:xfrm rot="0">
            <a:off x="10990296" y="3411726"/>
            <a:ext cx="6250716" cy="4514345"/>
            <a:chOff x="0" y="0"/>
            <a:chExt cx="9929586" cy="7171271"/>
          </a:xfrm>
        </p:grpSpPr>
        <p:sp>
          <p:nvSpPr>
            <p:cNvPr name="Freeform 33" id="33" descr="2026-09-21 직접 화면 녹화. 가상 로봇 TEST-BOT을 사용한 실제 FMS 실행. recordings/2026-09-21/clips/19_완료_조건_확인.mp4">
              <a:hlinkClick r:id="rId5" tooltip="시연 영상 재생"/>
            </p:cNvPr>
            <p:cNvSpPr/>
            <p:nvPr/>
          </p:nvSpPr>
          <p:spPr>
            <a:xfrm flipH="false" flipV="false" rot="0">
              <a:off x="0" y="0"/>
              <a:ext cx="9929675" cy="7171309"/>
            </a:xfrm>
            <a:custGeom>
              <a:avLst/>
              <a:gdLst/>
              <a:ahLst/>
              <a:cxnLst/>
              <a:rect r="r" b="b" t="t" l="l"/>
              <a:pathLst>
                <a:path h="7171309" w="9929675">
                  <a:moveTo>
                    <a:pt x="0" y="147574"/>
                  </a:moveTo>
                  <a:cubicBezTo>
                    <a:pt x="0" y="66040"/>
                    <a:pt x="72587" y="0"/>
                    <a:pt x="162205" y="0"/>
                  </a:cubicBezTo>
                  <a:lnTo>
                    <a:pt x="9767478" y="0"/>
                  </a:lnTo>
                  <a:cubicBezTo>
                    <a:pt x="9856956" y="0"/>
                    <a:pt x="9929675" y="66040"/>
                    <a:pt x="9929675" y="147574"/>
                  </a:cubicBezTo>
                  <a:lnTo>
                    <a:pt x="9929675" y="7023735"/>
                  </a:lnTo>
                  <a:cubicBezTo>
                    <a:pt x="9929675" y="7105142"/>
                    <a:pt x="9857095" y="7171309"/>
                    <a:pt x="9767478" y="7171309"/>
                  </a:cubicBezTo>
                  <a:lnTo>
                    <a:pt x="162205" y="7171309"/>
                  </a:lnTo>
                  <a:cubicBezTo>
                    <a:pt x="72587" y="7171309"/>
                    <a:pt x="0" y="7105269"/>
                    <a:pt x="0" y="7023735"/>
                  </a:cubicBezTo>
                  <a:close/>
                </a:path>
              </a:pathLst>
            </a:custGeom>
            <a:blipFill>
              <a:blip r:embed="rId4"/>
              <a:stretch>
                <a:fillRect l="-14196" t="0" r="-14196" b="0"/>
              </a:stretch>
            </a:blipFill>
            <a:ln w="38100" cap="sq">
              <a:solidFill>
                <a:srgbClr val="111111"/>
              </a:solidFill>
              <a:prstDash val="solid"/>
              <a:miter/>
            </a:ln>
          </p:spPr>
        </p:sp>
      </p:grpSp>
      <p:grpSp>
        <p:nvGrpSpPr>
          <p:cNvPr name="Group 34" id="34"/>
          <p:cNvGrpSpPr/>
          <p:nvPr/>
        </p:nvGrpSpPr>
        <p:grpSpPr>
          <a:xfrm rot="0">
            <a:off x="11103832" y="3537980"/>
            <a:ext cx="1353319" cy="537801"/>
            <a:chOff x="0" y="0"/>
            <a:chExt cx="2149818" cy="854324"/>
          </a:xfrm>
        </p:grpSpPr>
        <p:sp>
          <p:nvSpPr>
            <p:cNvPr name="Freeform 35" id="35"/>
            <p:cNvSpPr/>
            <p:nvPr/>
          </p:nvSpPr>
          <p:spPr>
            <a:xfrm flipH="false" flipV="false" rot="0">
              <a:off x="0" y="0"/>
              <a:ext cx="2149775" cy="854324"/>
            </a:xfrm>
            <a:custGeom>
              <a:avLst/>
              <a:gdLst/>
              <a:ahLst/>
              <a:cxnLst/>
              <a:rect r="r" b="b" t="t" l="l"/>
              <a:pathLst>
                <a:path h="854324" w="2149775">
                  <a:moveTo>
                    <a:pt x="0" y="153778"/>
                  </a:moveTo>
                  <a:cubicBezTo>
                    <a:pt x="0" y="68859"/>
                    <a:pt x="57250" y="0"/>
                    <a:pt x="127853" y="0"/>
                  </a:cubicBezTo>
                  <a:lnTo>
                    <a:pt x="2021923" y="0"/>
                  </a:lnTo>
                  <a:cubicBezTo>
                    <a:pt x="2092526" y="0"/>
                    <a:pt x="2149775" y="68859"/>
                    <a:pt x="2149775" y="153778"/>
                  </a:cubicBezTo>
                  <a:lnTo>
                    <a:pt x="2149775" y="700546"/>
                  </a:lnTo>
                  <a:cubicBezTo>
                    <a:pt x="2149775" y="785466"/>
                    <a:pt x="2092526" y="854324"/>
                    <a:pt x="2021923" y="854324"/>
                  </a:cubicBezTo>
                  <a:lnTo>
                    <a:pt x="127853" y="854324"/>
                  </a:lnTo>
                  <a:cubicBezTo>
                    <a:pt x="57250" y="854324"/>
                    <a:pt x="0" y="785466"/>
                    <a:pt x="0" y="700546"/>
                  </a:cubicBezTo>
                  <a:close/>
                </a:path>
              </a:pathLst>
            </a:custGeom>
            <a:solidFill>
              <a:srgbClr val="101010"/>
            </a:solidFill>
          </p:spPr>
        </p:sp>
      </p:grpSp>
      <p:grpSp>
        <p:nvGrpSpPr>
          <p:cNvPr name="Group 36" id="36"/>
          <p:cNvGrpSpPr/>
          <p:nvPr/>
        </p:nvGrpSpPr>
        <p:grpSpPr>
          <a:xfrm rot="0">
            <a:off x="11158544" y="3641657"/>
            <a:ext cx="1243896" cy="330448"/>
            <a:chOff x="0" y="0"/>
            <a:chExt cx="1975993" cy="524934"/>
          </a:xfrm>
        </p:grpSpPr>
        <p:sp>
          <p:nvSpPr>
            <p:cNvPr name="Freeform 37" id="37"/>
            <p:cNvSpPr/>
            <p:nvPr/>
          </p:nvSpPr>
          <p:spPr>
            <a:xfrm flipH="false" flipV="false" rot="0">
              <a:off x="0" y="0"/>
              <a:ext cx="1975998" cy="524939"/>
            </a:xfrm>
            <a:custGeom>
              <a:avLst/>
              <a:gdLst/>
              <a:ahLst/>
              <a:cxnLst/>
              <a:rect r="r" b="b" t="t" l="l"/>
              <a:pathLst>
                <a:path h="524939" w="1975998">
                  <a:moveTo>
                    <a:pt x="0" y="0"/>
                  </a:moveTo>
                  <a:lnTo>
                    <a:pt x="1975998" y="0"/>
                  </a:lnTo>
                  <a:lnTo>
                    <a:pt x="1975998" y="524939"/>
                  </a:lnTo>
                  <a:lnTo>
                    <a:pt x="0" y="524939"/>
                  </a:lnTo>
                  <a:close/>
                </a:path>
              </a:pathLst>
            </a:custGeom>
            <a:blipFill>
              <a:blip r:embed="rId3">
                <a:alphaModFix amt="0"/>
              </a:blip>
              <a:stretch>
                <a:fillRect l="0" t="-20397" r="4021" b="-20395"/>
              </a:stretch>
            </a:blipFill>
          </p:spPr>
        </p:sp>
        <p:sp>
          <p:nvSpPr>
            <p:cNvPr name="TextBox 38" id="38">
              <a:hlinkClick r:id="rId5" tooltip="시연 영상 재생"/>
            </p:cNvPr>
            <p:cNvSpPr txBox="true"/>
            <p:nvPr/>
          </p:nvSpPr>
          <p:spPr>
            <a:xfrm>
              <a:off x="0" y="-9525"/>
              <a:ext cx="1975993" cy="534459"/>
            </a:xfrm>
            <a:prstGeom prst="rect">
              <a:avLst/>
            </a:prstGeom>
          </p:spPr>
          <p:txBody>
            <a:bodyPr anchor="ctr" rtlCol="false" tIns="0" lIns="0" bIns="0" rIns="0"/>
            <a:lstStyle/>
            <a:p>
              <a:pPr algn="ctr">
                <a:lnSpc>
                  <a:spcPts val="1889"/>
                </a:lnSpc>
              </a:pPr>
              <a:r>
                <a:rPr lang="en-US" b="true" sz="1575" u="sng">
                  <a:solidFill>
                    <a:srgbClr val="FFFFFF"/>
                  </a:solidFill>
                  <a:latin typeface="Arimo Bold"/>
                  <a:ea typeface="Arimo Bold"/>
                  <a:cs typeface="Arimo Bold"/>
                  <a:sym typeface="Arimo Bold"/>
                </a:rPr>
                <a:t>명령 확인</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grpSp>
        <p:nvGrpSpPr>
          <p:cNvPr name="Group 2" id="2"/>
          <p:cNvGrpSpPr/>
          <p:nvPr/>
        </p:nvGrpSpPr>
        <p:grpSpPr>
          <a:xfrm rot="0">
            <a:off x="762000" y="657225"/>
            <a:ext cx="11430000" cy="306642"/>
            <a:chOff x="0" y="0"/>
            <a:chExt cx="15240000" cy="408856"/>
          </a:xfrm>
        </p:grpSpPr>
        <p:sp>
          <p:nvSpPr>
            <p:cNvPr name="Freeform 3" id="3"/>
            <p:cNvSpPr/>
            <p:nvPr/>
          </p:nvSpPr>
          <p:spPr>
            <a:xfrm flipH="false" flipV="false" rot="0">
              <a:off x="0" y="0"/>
              <a:ext cx="15240000" cy="408856"/>
            </a:xfrm>
            <a:custGeom>
              <a:avLst/>
              <a:gdLst/>
              <a:ahLst/>
              <a:cxnLst/>
              <a:rect r="r" b="b" t="t" l="l"/>
              <a:pathLst>
                <a:path h="408856" w="15240000">
                  <a:moveTo>
                    <a:pt x="0" y="0"/>
                  </a:moveTo>
                  <a:lnTo>
                    <a:pt x="15240000" y="0"/>
                  </a:lnTo>
                  <a:lnTo>
                    <a:pt x="15240000" y="408856"/>
                  </a:lnTo>
                  <a:lnTo>
                    <a:pt x="0" y="408856"/>
                  </a:lnTo>
                  <a:close/>
                </a:path>
              </a:pathLst>
            </a:custGeom>
            <a:blipFill>
              <a:blip r:embed="rId3">
                <a:alphaModFix amt="0"/>
              </a:blip>
              <a:stretch>
                <a:fillRect l="0" t="-683434" r="0" b="-669166"/>
              </a:stretch>
            </a:blipFill>
          </p:spPr>
        </p:sp>
        <p:sp>
          <p:nvSpPr>
            <p:cNvPr name="TextBox 4" id="4"/>
            <p:cNvSpPr txBox="true"/>
            <p:nvPr/>
          </p:nvSpPr>
          <p:spPr>
            <a:xfrm>
              <a:off x="0" y="-19050"/>
              <a:ext cx="15240000" cy="427906"/>
            </a:xfrm>
            <a:prstGeom prst="rect">
              <a:avLst/>
            </a:prstGeom>
          </p:spPr>
          <p:txBody>
            <a:bodyPr anchor="ctr" rtlCol="false" tIns="0" lIns="0" bIns="0" rIns="0"/>
            <a:lstStyle/>
            <a:p>
              <a:pPr algn="l">
                <a:lnSpc>
                  <a:spcPts val="1800"/>
                </a:lnSpc>
              </a:pPr>
              <a:r>
                <a:rPr lang="en-US" sz="1500" b="true">
                  <a:solidFill>
                    <a:srgbClr val="666666"/>
                  </a:solidFill>
                  <a:latin typeface="Arimo Bold"/>
                  <a:ea typeface="Arimo Bold"/>
                  <a:cs typeface="Arimo Bold"/>
                  <a:sym typeface="Arimo Bold"/>
                </a:rPr>
                <a:t>VICPINKY CARRIER</a:t>
              </a:r>
            </a:p>
          </p:txBody>
        </p:sp>
      </p:grpSp>
      <p:grpSp>
        <p:nvGrpSpPr>
          <p:cNvPr name="Group 5" id="5"/>
          <p:cNvGrpSpPr/>
          <p:nvPr/>
        </p:nvGrpSpPr>
        <p:grpSpPr>
          <a:xfrm rot="0">
            <a:off x="762000" y="1029967"/>
            <a:ext cx="16764000" cy="856692"/>
            <a:chOff x="0" y="0"/>
            <a:chExt cx="22352000" cy="1142256"/>
          </a:xfrm>
        </p:grpSpPr>
        <p:sp>
          <p:nvSpPr>
            <p:cNvPr name="Freeform 6" id="6"/>
            <p:cNvSpPr/>
            <p:nvPr/>
          </p:nvSpPr>
          <p:spPr>
            <a:xfrm flipH="false" flipV="false" rot="0">
              <a:off x="0" y="0"/>
              <a:ext cx="22352000" cy="1142256"/>
            </a:xfrm>
            <a:custGeom>
              <a:avLst/>
              <a:gdLst/>
              <a:ahLst/>
              <a:cxnLst/>
              <a:rect r="r" b="b" t="t" l="l"/>
              <a:pathLst>
                <a:path h="1142256" w="22352000">
                  <a:moveTo>
                    <a:pt x="0" y="0"/>
                  </a:moveTo>
                  <a:lnTo>
                    <a:pt x="22352000" y="0"/>
                  </a:lnTo>
                  <a:lnTo>
                    <a:pt x="22352000" y="1142256"/>
                  </a:lnTo>
                  <a:lnTo>
                    <a:pt x="0" y="1142256"/>
                  </a:lnTo>
                  <a:close/>
                </a:path>
              </a:pathLst>
            </a:custGeom>
            <a:blipFill>
              <a:blip r:embed="rId3">
                <a:alphaModFix amt="0"/>
              </a:blip>
              <a:stretch>
                <a:fillRect l="0" t="-338327" r="0" b="-324250"/>
              </a:stretch>
            </a:blipFill>
          </p:spPr>
        </p:sp>
        <p:sp>
          <p:nvSpPr>
            <p:cNvPr name="TextBox 7" id="7"/>
            <p:cNvSpPr txBox="true"/>
            <p:nvPr/>
          </p:nvSpPr>
          <p:spPr>
            <a:xfrm>
              <a:off x="0" y="-19050"/>
              <a:ext cx="22352000" cy="1161306"/>
            </a:xfrm>
            <a:prstGeom prst="rect">
              <a:avLst/>
            </a:prstGeom>
          </p:spPr>
          <p:txBody>
            <a:bodyPr anchor="ctr" rtlCol="false" tIns="0" lIns="0" bIns="0" rIns="0"/>
            <a:lstStyle/>
            <a:p>
              <a:pPr algn="l">
                <a:lnSpc>
                  <a:spcPts val="5040"/>
                </a:lnSpc>
              </a:pPr>
              <a:r>
                <a:rPr lang="en-US" sz="4200" b="true">
                  <a:solidFill>
                    <a:srgbClr val="111111"/>
                  </a:solidFill>
                  <a:latin typeface="Arimo Bold"/>
                  <a:ea typeface="Arimo Bold"/>
                  <a:cs typeface="Arimo Bold"/>
                  <a:sym typeface="Arimo Bold"/>
                </a:rPr>
                <a:t>실패 이력을 남기고 단일 작업을 재배정</a:t>
              </a:r>
            </a:p>
          </p:txBody>
        </p:sp>
      </p:grpSp>
      <p:grpSp>
        <p:nvGrpSpPr>
          <p:cNvPr name="Group 8" id="8"/>
          <p:cNvGrpSpPr/>
          <p:nvPr/>
        </p:nvGrpSpPr>
        <p:grpSpPr>
          <a:xfrm rot="0">
            <a:off x="739778" y="2581275"/>
            <a:ext cx="9696450" cy="5378453"/>
            <a:chOff x="0" y="0"/>
            <a:chExt cx="12928600" cy="7171271"/>
          </a:xfrm>
        </p:grpSpPr>
        <p:sp>
          <p:nvSpPr>
            <p:cNvPr name="Freeform 9" id="9"/>
            <p:cNvSpPr/>
            <p:nvPr/>
          </p:nvSpPr>
          <p:spPr>
            <a:xfrm flipH="false" flipV="false" rot="0">
              <a:off x="0" y="0"/>
              <a:ext cx="12928600" cy="7171309"/>
            </a:xfrm>
            <a:custGeom>
              <a:avLst/>
              <a:gdLst/>
              <a:ahLst/>
              <a:cxnLst/>
              <a:rect r="r" b="b" t="t" l="l"/>
              <a:pathLst>
                <a:path h="7171309" w="12928600">
                  <a:moveTo>
                    <a:pt x="0" y="147574"/>
                  </a:moveTo>
                  <a:cubicBezTo>
                    <a:pt x="0" y="66040"/>
                    <a:pt x="66040" y="0"/>
                    <a:pt x="147574" y="0"/>
                  </a:cubicBezTo>
                  <a:lnTo>
                    <a:pt x="12781153" y="0"/>
                  </a:lnTo>
                  <a:cubicBezTo>
                    <a:pt x="12862560" y="0"/>
                    <a:pt x="12928600" y="66040"/>
                    <a:pt x="12928600" y="147574"/>
                  </a:cubicBezTo>
                  <a:lnTo>
                    <a:pt x="12928600" y="7023735"/>
                  </a:lnTo>
                  <a:cubicBezTo>
                    <a:pt x="12928600" y="7105142"/>
                    <a:pt x="12862560" y="7171309"/>
                    <a:pt x="12781026" y="7171309"/>
                  </a:cubicBezTo>
                  <a:lnTo>
                    <a:pt x="147574" y="7171309"/>
                  </a:lnTo>
                  <a:cubicBezTo>
                    <a:pt x="66040" y="7171309"/>
                    <a:pt x="0" y="7105269"/>
                    <a:pt x="0" y="7023735"/>
                  </a:cubicBezTo>
                  <a:close/>
                </a:path>
              </a:pathLst>
            </a:custGeom>
            <a:solidFill>
              <a:srgbClr val="FFFFFF"/>
            </a:solidFill>
            <a:ln w="19050" cap="sq">
              <a:solidFill>
                <a:srgbClr val="111111"/>
              </a:solidFill>
              <a:prstDash val="solid"/>
              <a:miter/>
            </a:ln>
          </p:spPr>
        </p:sp>
      </p:grpSp>
      <p:grpSp>
        <p:nvGrpSpPr>
          <p:cNvPr name="Group 10" id="10"/>
          <p:cNvGrpSpPr/>
          <p:nvPr/>
        </p:nvGrpSpPr>
        <p:grpSpPr>
          <a:xfrm rot="0">
            <a:off x="10772775" y="2581275"/>
            <a:ext cx="6775447" cy="5378453"/>
            <a:chOff x="0" y="0"/>
            <a:chExt cx="9033929" cy="7171271"/>
          </a:xfrm>
        </p:grpSpPr>
        <p:sp>
          <p:nvSpPr>
            <p:cNvPr name="Freeform 11" id="11" descr="/Users/junsupark/Desktop/personal_project/portfolio_test/p14_editable/p14_reassignment.gif"/>
            <p:cNvSpPr/>
            <p:nvPr/>
          </p:nvSpPr>
          <p:spPr>
            <a:xfrm flipH="false" flipV="false" rot="0">
              <a:off x="0" y="0"/>
              <a:ext cx="9034018" cy="7171309"/>
            </a:xfrm>
            <a:custGeom>
              <a:avLst/>
              <a:gdLst/>
              <a:ahLst/>
              <a:cxnLst/>
              <a:rect r="r" b="b" t="t" l="l"/>
              <a:pathLst>
                <a:path h="7171309" w="9034018">
                  <a:moveTo>
                    <a:pt x="0" y="147574"/>
                  </a:moveTo>
                  <a:cubicBezTo>
                    <a:pt x="0" y="66040"/>
                    <a:pt x="66040" y="0"/>
                    <a:pt x="147574" y="0"/>
                  </a:cubicBezTo>
                  <a:lnTo>
                    <a:pt x="8886444" y="0"/>
                  </a:lnTo>
                  <a:cubicBezTo>
                    <a:pt x="8967851" y="0"/>
                    <a:pt x="9034018" y="66040"/>
                    <a:pt x="9034018" y="147574"/>
                  </a:cubicBezTo>
                  <a:lnTo>
                    <a:pt x="9034018" y="7023735"/>
                  </a:lnTo>
                  <a:cubicBezTo>
                    <a:pt x="9034018" y="7105142"/>
                    <a:pt x="8967977" y="7171309"/>
                    <a:pt x="8886444" y="7171309"/>
                  </a:cubicBezTo>
                  <a:lnTo>
                    <a:pt x="147574" y="7171309"/>
                  </a:lnTo>
                  <a:cubicBezTo>
                    <a:pt x="66040" y="7171309"/>
                    <a:pt x="0" y="7105269"/>
                    <a:pt x="0" y="7023735"/>
                  </a:cubicBezTo>
                  <a:close/>
                </a:path>
              </a:pathLst>
            </a:custGeom>
            <a:blipFill>
              <a:blip r:embed="rId4"/>
              <a:stretch>
                <a:fillRect l="-12016" t="0" r="-12016" b="0"/>
              </a:stretch>
            </a:blipFill>
            <a:ln w="38100" cap="sq">
              <a:solidFill>
                <a:srgbClr val="111111"/>
              </a:solidFill>
              <a:prstDash val="solid"/>
              <a:miter/>
            </a:ln>
          </p:spPr>
        </p:sp>
      </p:grpSp>
      <p:grpSp>
        <p:nvGrpSpPr>
          <p:cNvPr name="Group 12" id="12"/>
          <p:cNvGrpSpPr/>
          <p:nvPr/>
        </p:nvGrpSpPr>
        <p:grpSpPr>
          <a:xfrm rot="0">
            <a:off x="1143000" y="2894333"/>
            <a:ext cx="8636003" cy="315468"/>
            <a:chOff x="0" y="0"/>
            <a:chExt cx="11514671" cy="420624"/>
          </a:xfrm>
        </p:grpSpPr>
        <p:sp>
          <p:nvSpPr>
            <p:cNvPr name="Freeform 13" id="13"/>
            <p:cNvSpPr/>
            <p:nvPr/>
          </p:nvSpPr>
          <p:spPr>
            <a:xfrm flipH="false" flipV="false" rot="0">
              <a:off x="0" y="0"/>
              <a:ext cx="11514666" cy="420624"/>
            </a:xfrm>
            <a:custGeom>
              <a:avLst/>
              <a:gdLst/>
              <a:ahLst/>
              <a:cxnLst/>
              <a:rect r="r" b="b" t="t" l="l"/>
              <a:pathLst>
                <a:path h="420624" w="11514666">
                  <a:moveTo>
                    <a:pt x="0" y="0"/>
                  </a:moveTo>
                  <a:lnTo>
                    <a:pt x="11514666" y="0"/>
                  </a:lnTo>
                  <a:lnTo>
                    <a:pt x="11514666" y="420624"/>
                  </a:lnTo>
                  <a:lnTo>
                    <a:pt x="0" y="420624"/>
                  </a:lnTo>
                  <a:close/>
                </a:path>
              </a:pathLst>
            </a:custGeom>
            <a:blipFill>
              <a:blip r:embed="rId3">
                <a:alphaModFix amt="0"/>
              </a:blip>
              <a:stretch>
                <a:fillRect l="0" t="-483407" r="0" b="-483407"/>
              </a:stretch>
            </a:blipFill>
          </p:spPr>
        </p:sp>
        <p:sp>
          <p:nvSpPr>
            <p:cNvPr name="TextBox 14" id="14"/>
            <p:cNvSpPr txBox="true"/>
            <p:nvPr/>
          </p:nvSpPr>
          <p:spPr>
            <a:xfrm>
              <a:off x="0" y="-19050"/>
              <a:ext cx="11514671" cy="439674"/>
            </a:xfrm>
            <a:prstGeom prst="rect">
              <a:avLst/>
            </a:prstGeom>
          </p:spPr>
          <p:txBody>
            <a:bodyPr anchor="ctr" rtlCol="false" tIns="0" lIns="0" bIns="0" rIns="0"/>
            <a:lstStyle/>
            <a:p>
              <a:pPr algn="l">
                <a:lnSpc>
                  <a:spcPts val="2160"/>
                </a:lnSpc>
              </a:pPr>
              <a:r>
                <a:rPr lang="en-US" sz="1800" b="true">
                  <a:solidFill>
                    <a:srgbClr val="A14678"/>
                  </a:solidFill>
                  <a:latin typeface="Arimo Bold"/>
                  <a:ea typeface="Arimo Bold"/>
                  <a:cs typeface="Arimo Bold"/>
                  <a:sym typeface="Arimo Bold"/>
                </a:rPr>
                <a:t>수행 중인 단일 작업의 오류 처리</a:t>
              </a:r>
            </a:p>
          </p:txBody>
        </p:sp>
      </p:grpSp>
      <p:grpSp>
        <p:nvGrpSpPr>
          <p:cNvPr name="Group 15" id="15"/>
          <p:cNvGrpSpPr/>
          <p:nvPr/>
        </p:nvGrpSpPr>
        <p:grpSpPr>
          <a:xfrm rot="0">
            <a:off x="1133475" y="3521078"/>
            <a:ext cx="2813047" cy="1212847"/>
            <a:chOff x="0" y="0"/>
            <a:chExt cx="3750729" cy="1617129"/>
          </a:xfrm>
        </p:grpSpPr>
        <p:sp>
          <p:nvSpPr>
            <p:cNvPr name="Freeform 16" id="16"/>
            <p:cNvSpPr/>
            <p:nvPr/>
          </p:nvSpPr>
          <p:spPr>
            <a:xfrm flipH="false" flipV="false" rot="0">
              <a:off x="0" y="0"/>
              <a:ext cx="3750691" cy="1617091"/>
            </a:xfrm>
            <a:custGeom>
              <a:avLst/>
              <a:gdLst/>
              <a:ahLst/>
              <a:cxnLst/>
              <a:rect r="r" b="b" t="t" l="l"/>
              <a:pathLst>
                <a:path h="1617091" w="3750691">
                  <a:moveTo>
                    <a:pt x="0" y="148590"/>
                  </a:moveTo>
                  <a:cubicBezTo>
                    <a:pt x="0" y="66548"/>
                    <a:pt x="66548" y="0"/>
                    <a:pt x="148590" y="0"/>
                  </a:cubicBezTo>
                  <a:lnTo>
                    <a:pt x="3602101" y="0"/>
                  </a:lnTo>
                  <a:cubicBezTo>
                    <a:pt x="3684143" y="0"/>
                    <a:pt x="3750691" y="66548"/>
                    <a:pt x="3750691" y="148590"/>
                  </a:cubicBezTo>
                  <a:lnTo>
                    <a:pt x="3750691" y="1468501"/>
                  </a:lnTo>
                  <a:cubicBezTo>
                    <a:pt x="3750691" y="1550543"/>
                    <a:pt x="3684143" y="1617091"/>
                    <a:pt x="3602101" y="1617091"/>
                  </a:cubicBezTo>
                  <a:lnTo>
                    <a:pt x="148590" y="1617091"/>
                  </a:lnTo>
                  <a:cubicBezTo>
                    <a:pt x="66548" y="1617091"/>
                    <a:pt x="0" y="1550543"/>
                    <a:pt x="0" y="1468501"/>
                  </a:cubicBezTo>
                  <a:close/>
                </a:path>
              </a:pathLst>
            </a:custGeom>
            <a:solidFill>
              <a:srgbClr val="F5DFDF"/>
            </a:solidFill>
            <a:ln w="19050" cap="sq">
              <a:solidFill>
                <a:srgbClr val="F5DFDF"/>
              </a:solidFill>
              <a:prstDash val="solid"/>
              <a:miter/>
            </a:ln>
          </p:spPr>
        </p:sp>
      </p:grpSp>
      <p:grpSp>
        <p:nvGrpSpPr>
          <p:cNvPr name="Group 17" id="17"/>
          <p:cNvGrpSpPr/>
          <p:nvPr/>
        </p:nvGrpSpPr>
        <p:grpSpPr>
          <a:xfrm rot="0">
            <a:off x="1143000" y="3735705"/>
            <a:ext cx="2793997" cy="403098"/>
            <a:chOff x="0" y="0"/>
            <a:chExt cx="3725329" cy="537464"/>
          </a:xfrm>
        </p:grpSpPr>
        <p:sp>
          <p:nvSpPr>
            <p:cNvPr name="Freeform 18" id="18"/>
            <p:cNvSpPr/>
            <p:nvPr/>
          </p:nvSpPr>
          <p:spPr>
            <a:xfrm flipH="false" flipV="false" rot="0">
              <a:off x="0" y="0"/>
              <a:ext cx="3725334" cy="537464"/>
            </a:xfrm>
            <a:custGeom>
              <a:avLst/>
              <a:gdLst/>
              <a:ahLst/>
              <a:cxnLst/>
              <a:rect r="r" b="b" t="t" l="l"/>
              <a:pathLst>
                <a:path h="537464" w="3725334">
                  <a:moveTo>
                    <a:pt x="0" y="0"/>
                  </a:moveTo>
                  <a:lnTo>
                    <a:pt x="3725334" y="0"/>
                  </a:lnTo>
                  <a:lnTo>
                    <a:pt x="3725334" y="537464"/>
                  </a:lnTo>
                  <a:lnTo>
                    <a:pt x="0" y="537464"/>
                  </a:lnTo>
                  <a:close/>
                </a:path>
              </a:pathLst>
            </a:custGeom>
            <a:blipFill>
              <a:blip r:embed="rId3">
                <a:alphaModFix amt="0"/>
              </a:blip>
              <a:stretch>
                <a:fillRect l="0" t="-85056" r="0" b="-85056"/>
              </a:stretch>
            </a:blipFill>
          </p:spPr>
        </p:sp>
        <p:sp>
          <p:nvSpPr>
            <p:cNvPr name="TextBox 19" id="19"/>
            <p:cNvSpPr txBox="true"/>
            <p:nvPr/>
          </p:nvSpPr>
          <p:spPr>
            <a:xfrm>
              <a:off x="0" y="-19050"/>
              <a:ext cx="3725329" cy="556514"/>
            </a:xfrm>
            <a:prstGeom prst="rect">
              <a:avLst/>
            </a:prstGeom>
          </p:spPr>
          <p:txBody>
            <a:bodyPr anchor="ctr" rtlCol="false" tIns="0" lIns="0" bIns="0" rIns="0"/>
            <a:lstStyle/>
            <a:p>
              <a:pPr algn="ctr">
                <a:lnSpc>
                  <a:spcPts val="2759"/>
                </a:lnSpc>
              </a:pPr>
              <a:r>
                <a:rPr lang="en-US" sz="2299" b="true">
                  <a:solidFill>
                    <a:srgbClr val="111111"/>
                  </a:solidFill>
                  <a:latin typeface="Arimo Bold"/>
                  <a:ea typeface="Arimo Bold"/>
                  <a:cs typeface="Arimo Bold"/>
                  <a:sym typeface="Arimo Bold"/>
                </a:rPr>
                <a:t>TB3-01 오류</a:t>
              </a:r>
            </a:p>
          </p:txBody>
        </p:sp>
      </p:grpSp>
      <p:grpSp>
        <p:nvGrpSpPr>
          <p:cNvPr name="Group 20" id="20"/>
          <p:cNvGrpSpPr/>
          <p:nvPr/>
        </p:nvGrpSpPr>
        <p:grpSpPr>
          <a:xfrm rot="0">
            <a:off x="1143000" y="4189095"/>
            <a:ext cx="2793997" cy="297942"/>
            <a:chOff x="0" y="0"/>
            <a:chExt cx="3725329" cy="397256"/>
          </a:xfrm>
        </p:grpSpPr>
        <p:sp>
          <p:nvSpPr>
            <p:cNvPr name="Freeform 21" id="21"/>
            <p:cNvSpPr/>
            <p:nvPr/>
          </p:nvSpPr>
          <p:spPr>
            <a:xfrm flipH="false" flipV="false" rot="0">
              <a:off x="0" y="0"/>
              <a:ext cx="3725334" cy="397256"/>
            </a:xfrm>
            <a:custGeom>
              <a:avLst/>
              <a:gdLst/>
              <a:ahLst/>
              <a:cxnLst/>
              <a:rect r="r" b="b" t="t" l="l"/>
              <a:pathLst>
                <a:path h="397256" w="3725334">
                  <a:moveTo>
                    <a:pt x="0" y="0"/>
                  </a:moveTo>
                  <a:lnTo>
                    <a:pt x="3725334" y="0"/>
                  </a:lnTo>
                  <a:lnTo>
                    <a:pt x="3725334" y="397256"/>
                  </a:lnTo>
                  <a:lnTo>
                    <a:pt x="0" y="397256"/>
                  </a:lnTo>
                  <a:close/>
                </a:path>
              </a:pathLst>
            </a:custGeom>
            <a:blipFill>
              <a:blip r:embed="rId3">
                <a:alphaModFix amt="0"/>
              </a:blip>
              <a:stretch>
                <a:fillRect l="0" t="-132723" r="0" b="-132723"/>
              </a:stretch>
            </a:blipFill>
          </p:spPr>
        </p:sp>
        <p:sp>
          <p:nvSpPr>
            <p:cNvPr name="TextBox 22" id="22"/>
            <p:cNvSpPr txBox="true"/>
            <p:nvPr/>
          </p:nvSpPr>
          <p:spPr>
            <a:xfrm>
              <a:off x="0" y="-19050"/>
              <a:ext cx="3725329" cy="416306"/>
            </a:xfrm>
            <a:prstGeom prst="rect">
              <a:avLst/>
            </a:prstGeom>
          </p:spPr>
          <p:txBody>
            <a:bodyPr anchor="ctr" rtlCol="false" tIns="0" lIns="0" bIns="0" rIns="0"/>
            <a:lstStyle/>
            <a:p>
              <a:pPr algn="ctr">
                <a:lnSpc>
                  <a:spcPts val="2039"/>
                </a:lnSpc>
              </a:pPr>
              <a:r>
                <a:rPr lang="en-US" sz="1699">
                  <a:solidFill>
                    <a:srgbClr val="666666"/>
                  </a:solidFill>
                  <a:latin typeface="Arimo"/>
                  <a:ea typeface="Arimo"/>
                  <a:cs typeface="Arimo"/>
                  <a:sym typeface="Arimo"/>
                </a:rPr>
                <a:t>수행 중 단일 작업</a:t>
              </a:r>
            </a:p>
          </p:txBody>
        </p:sp>
      </p:grpSp>
      <p:grpSp>
        <p:nvGrpSpPr>
          <p:cNvPr name="Group 23" id="23"/>
          <p:cNvGrpSpPr/>
          <p:nvPr/>
        </p:nvGrpSpPr>
        <p:grpSpPr>
          <a:xfrm rot="0">
            <a:off x="4943475" y="3521078"/>
            <a:ext cx="5099047" cy="1212847"/>
            <a:chOff x="0" y="0"/>
            <a:chExt cx="6798729" cy="1617129"/>
          </a:xfrm>
        </p:grpSpPr>
        <p:sp>
          <p:nvSpPr>
            <p:cNvPr name="Freeform 24" id="24"/>
            <p:cNvSpPr/>
            <p:nvPr/>
          </p:nvSpPr>
          <p:spPr>
            <a:xfrm flipH="false" flipV="false" rot="0">
              <a:off x="0" y="0"/>
              <a:ext cx="6798691" cy="1617091"/>
            </a:xfrm>
            <a:custGeom>
              <a:avLst/>
              <a:gdLst/>
              <a:ahLst/>
              <a:cxnLst/>
              <a:rect r="r" b="b" t="t" l="l"/>
              <a:pathLst>
                <a:path h="1617091" w="6798691">
                  <a:moveTo>
                    <a:pt x="0" y="148590"/>
                  </a:moveTo>
                  <a:cubicBezTo>
                    <a:pt x="0" y="66548"/>
                    <a:pt x="66548" y="0"/>
                    <a:pt x="148590" y="0"/>
                  </a:cubicBezTo>
                  <a:lnTo>
                    <a:pt x="6650101" y="0"/>
                  </a:lnTo>
                  <a:cubicBezTo>
                    <a:pt x="6732143" y="0"/>
                    <a:pt x="6798691" y="66548"/>
                    <a:pt x="6798691" y="148590"/>
                  </a:cubicBezTo>
                  <a:lnTo>
                    <a:pt x="6798691" y="1468501"/>
                  </a:lnTo>
                  <a:cubicBezTo>
                    <a:pt x="6798691" y="1550543"/>
                    <a:pt x="6732143" y="1617091"/>
                    <a:pt x="6650101" y="1617091"/>
                  </a:cubicBezTo>
                  <a:lnTo>
                    <a:pt x="148590" y="1617091"/>
                  </a:lnTo>
                  <a:cubicBezTo>
                    <a:pt x="66548" y="1617091"/>
                    <a:pt x="0" y="1550543"/>
                    <a:pt x="0" y="1468501"/>
                  </a:cubicBezTo>
                  <a:close/>
                </a:path>
              </a:pathLst>
            </a:custGeom>
            <a:solidFill>
              <a:srgbClr val="F5DFDF"/>
            </a:solidFill>
            <a:ln w="19050" cap="sq">
              <a:solidFill>
                <a:srgbClr val="F5DFDF"/>
              </a:solidFill>
              <a:prstDash val="solid"/>
              <a:miter/>
            </a:ln>
          </p:spPr>
        </p:sp>
      </p:grpSp>
      <p:grpSp>
        <p:nvGrpSpPr>
          <p:cNvPr name="Group 25" id="25"/>
          <p:cNvGrpSpPr/>
          <p:nvPr/>
        </p:nvGrpSpPr>
        <p:grpSpPr>
          <a:xfrm rot="0">
            <a:off x="4953000" y="3735705"/>
            <a:ext cx="5079997" cy="462538"/>
            <a:chOff x="0" y="0"/>
            <a:chExt cx="6773329" cy="616717"/>
          </a:xfrm>
        </p:grpSpPr>
        <p:sp>
          <p:nvSpPr>
            <p:cNvPr name="Freeform 26" id="26"/>
            <p:cNvSpPr/>
            <p:nvPr/>
          </p:nvSpPr>
          <p:spPr>
            <a:xfrm flipH="false" flipV="false" rot="0">
              <a:off x="0" y="0"/>
              <a:ext cx="6773334" cy="616717"/>
            </a:xfrm>
            <a:custGeom>
              <a:avLst/>
              <a:gdLst/>
              <a:ahLst/>
              <a:cxnLst/>
              <a:rect r="r" b="b" t="t" l="l"/>
              <a:pathLst>
                <a:path h="616717" w="6773334">
                  <a:moveTo>
                    <a:pt x="0" y="0"/>
                  </a:moveTo>
                  <a:lnTo>
                    <a:pt x="6773334" y="0"/>
                  </a:lnTo>
                  <a:lnTo>
                    <a:pt x="6773334" y="616717"/>
                  </a:lnTo>
                  <a:lnTo>
                    <a:pt x="0" y="616717"/>
                  </a:lnTo>
                  <a:close/>
                </a:path>
              </a:pathLst>
            </a:custGeom>
            <a:blipFill>
              <a:blip r:embed="rId3">
                <a:alphaModFix amt="0"/>
              </a:blip>
              <a:stretch>
                <a:fillRect l="0" t="-170427" r="0" b="-157576"/>
              </a:stretch>
            </a:blipFill>
          </p:spPr>
        </p:sp>
        <p:sp>
          <p:nvSpPr>
            <p:cNvPr name="TextBox 27" id="27"/>
            <p:cNvSpPr txBox="true"/>
            <p:nvPr/>
          </p:nvSpPr>
          <p:spPr>
            <a:xfrm>
              <a:off x="0" y="-19050"/>
              <a:ext cx="6773329" cy="635767"/>
            </a:xfrm>
            <a:prstGeom prst="rect">
              <a:avLst/>
            </a:prstGeom>
          </p:spPr>
          <p:txBody>
            <a:bodyPr anchor="ctr" rtlCol="false" tIns="0" lIns="0" bIns="0" rIns="0"/>
            <a:lstStyle/>
            <a:p>
              <a:pPr algn="ctr">
                <a:lnSpc>
                  <a:spcPts val="2759"/>
                </a:lnSpc>
              </a:pPr>
              <a:r>
                <a:rPr lang="en-US" sz="2299" b="true">
                  <a:solidFill>
                    <a:srgbClr val="111111"/>
                  </a:solidFill>
                  <a:latin typeface="Arimo Bold"/>
                  <a:ea typeface="Arimo Bold"/>
                  <a:cs typeface="Arimo Bold"/>
                  <a:sym typeface="Arimo Bold"/>
                </a:rPr>
                <a:t>기존 실행 작업 FAILED 처리</a:t>
              </a:r>
            </a:p>
          </p:txBody>
        </p:sp>
      </p:grpSp>
      <p:grpSp>
        <p:nvGrpSpPr>
          <p:cNvPr name="Group 28" id="28"/>
          <p:cNvGrpSpPr/>
          <p:nvPr/>
        </p:nvGrpSpPr>
        <p:grpSpPr>
          <a:xfrm rot="0">
            <a:off x="4953000" y="4189095"/>
            <a:ext cx="5079997" cy="297942"/>
            <a:chOff x="0" y="0"/>
            <a:chExt cx="6773329" cy="397256"/>
          </a:xfrm>
        </p:grpSpPr>
        <p:sp>
          <p:nvSpPr>
            <p:cNvPr name="Freeform 29" id="29"/>
            <p:cNvSpPr/>
            <p:nvPr/>
          </p:nvSpPr>
          <p:spPr>
            <a:xfrm flipH="false" flipV="false" rot="0">
              <a:off x="0" y="0"/>
              <a:ext cx="6773334" cy="397256"/>
            </a:xfrm>
            <a:custGeom>
              <a:avLst/>
              <a:gdLst/>
              <a:ahLst/>
              <a:cxnLst/>
              <a:rect r="r" b="b" t="t" l="l"/>
              <a:pathLst>
                <a:path h="397256" w="6773334">
                  <a:moveTo>
                    <a:pt x="0" y="0"/>
                  </a:moveTo>
                  <a:lnTo>
                    <a:pt x="6773334" y="0"/>
                  </a:lnTo>
                  <a:lnTo>
                    <a:pt x="6773334" y="397256"/>
                  </a:lnTo>
                  <a:lnTo>
                    <a:pt x="0" y="397256"/>
                  </a:lnTo>
                  <a:close/>
                </a:path>
              </a:pathLst>
            </a:custGeom>
            <a:blipFill>
              <a:blip r:embed="rId3">
                <a:alphaModFix amt="0"/>
              </a:blip>
              <a:stretch>
                <a:fillRect l="0" t="-282225" r="0" b="-282225"/>
              </a:stretch>
            </a:blipFill>
          </p:spPr>
        </p:sp>
        <p:sp>
          <p:nvSpPr>
            <p:cNvPr name="TextBox 30" id="30"/>
            <p:cNvSpPr txBox="true"/>
            <p:nvPr/>
          </p:nvSpPr>
          <p:spPr>
            <a:xfrm>
              <a:off x="0" y="-19050"/>
              <a:ext cx="6773329" cy="416306"/>
            </a:xfrm>
            <a:prstGeom prst="rect">
              <a:avLst/>
            </a:prstGeom>
          </p:spPr>
          <p:txBody>
            <a:bodyPr anchor="ctr" rtlCol="false" tIns="0" lIns="0" bIns="0" rIns="0"/>
            <a:lstStyle/>
            <a:p>
              <a:pPr algn="ctr">
                <a:lnSpc>
                  <a:spcPts val="2039"/>
                </a:lnSpc>
              </a:pPr>
              <a:r>
                <a:rPr lang="en-US" sz="1699">
                  <a:solidFill>
                    <a:srgbClr val="666666"/>
                  </a:solidFill>
                  <a:latin typeface="Arimo"/>
                  <a:ea typeface="Arimo"/>
                  <a:cs typeface="Arimo"/>
                  <a:sym typeface="Arimo"/>
                </a:rPr>
                <a:t>실패 이력 보존</a:t>
              </a:r>
            </a:p>
          </p:txBody>
        </p:sp>
      </p:grpSp>
      <p:grpSp>
        <p:nvGrpSpPr>
          <p:cNvPr name="Group 31" id="31"/>
          <p:cNvGrpSpPr/>
          <p:nvPr/>
        </p:nvGrpSpPr>
        <p:grpSpPr>
          <a:xfrm rot="0">
            <a:off x="4943475" y="5730878"/>
            <a:ext cx="5099047" cy="1212847"/>
            <a:chOff x="0" y="0"/>
            <a:chExt cx="6798729" cy="1617129"/>
          </a:xfrm>
        </p:grpSpPr>
        <p:sp>
          <p:nvSpPr>
            <p:cNvPr name="Freeform 32" id="32"/>
            <p:cNvSpPr/>
            <p:nvPr/>
          </p:nvSpPr>
          <p:spPr>
            <a:xfrm flipH="false" flipV="false" rot="0">
              <a:off x="0" y="0"/>
              <a:ext cx="6798691" cy="1617091"/>
            </a:xfrm>
            <a:custGeom>
              <a:avLst/>
              <a:gdLst/>
              <a:ahLst/>
              <a:cxnLst/>
              <a:rect r="r" b="b" t="t" l="l"/>
              <a:pathLst>
                <a:path h="1617091" w="6798691">
                  <a:moveTo>
                    <a:pt x="0" y="148590"/>
                  </a:moveTo>
                  <a:cubicBezTo>
                    <a:pt x="0" y="66548"/>
                    <a:pt x="66548" y="0"/>
                    <a:pt x="148590" y="0"/>
                  </a:cubicBezTo>
                  <a:lnTo>
                    <a:pt x="6650101" y="0"/>
                  </a:lnTo>
                  <a:cubicBezTo>
                    <a:pt x="6732143" y="0"/>
                    <a:pt x="6798691" y="66548"/>
                    <a:pt x="6798691" y="148590"/>
                  </a:cubicBezTo>
                  <a:lnTo>
                    <a:pt x="6798691" y="1468501"/>
                  </a:lnTo>
                  <a:cubicBezTo>
                    <a:pt x="6798691" y="1550543"/>
                    <a:pt x="6732143" y="1617091"/>
                    <a:pt x="6650101" y="1617091"/>
                  </a:cubicBezTo>
                  <a:lnTo>
                    <a:pt x="148590" y="1617091"/>
                  </a:lnTo>
                  <a:cubicBezTo>
                    <a:pt x="66548" y="1617091"/>
                    <a:pt x="0" y="1550543"/>
                    <a:pt x="0" y="1468501"/>
                  </a:cubicBezTo>
                  <a:close/>
                </a:path>
              </a:pathLst>
            </a:custGeom>
            <a:solidFill>
              <a:srgbClr val="F3E7ED"/>
            </a:solidFill>
            <a:ln w="19050" cap="sq">
              <a:solidFill>
                <a:srgbClr val="F3E7ED"/>
              </a:solidFill>
              <a:prstDash val="solid"/>
              <a:miter/>
            </a:ln>
          </p:spPr>
        </p:sp>
      </p:grpSp>
      <p:grpSp>
        <p:nvGrpSpPr>
          <p:cNvPr name="Group 33" id="33"/>
          <p:cNvGrpSpPr/>
          <p:nvPr/>
        </p:nvGrpSpPr>
        <p:grpSpPr>
          <a:xfrm rot="0">
            <a:off x="4953000" y="5945505"/>
            <a:ext cx="5079997" cy="462538"/>
            <a:chOff x="0" y="0"/>
            <a:chExt cx="6773329" cy="616717"/>
          </a:xfrm>
        </p:grpSpPr>
        <p:sp>
          <p:nvSpPr>
            <p:cNvPr name="Freeform 34" id="34"/>
            <p:cNvSpPr/>
            <p:nvPr/>
          </p:nvSpPr>
          <p:spPr>
            <a:xfrm flipH="false" flipV="false" rot="0">
              <a:off x="0" y="0"/>
              <a:ext cx="6773334" cy="616717"/>
            </a:xfrm>
            <a:custGeom>
              <a:avLst/>
              <a:gdLst/>
              <a:ahLst/>
              <a:cxnLst/>
              <a:rect r="r" b="b" t="t" l="l"/>
              <a:pathLst>
                <a:path h="616717" w="6773334">
                  <a:moveTo>
                    <a:pt x="0" y="0"/>
                  </a:moveTo>
                  <a:lnTo>
                    <a:pt x="6773334" y="0"/>
                  </a:lnTo>
                  <a:lnTo>
                    <a:pt x="6773334" y="616717"/>
                  </a:lnTo>
                  <a:lnTo>
                    <a:pt x="0" y="616717"/>
                  </a:lnTo>
                  <a:close/>
                </a:path>
              </a:pathLst>
            </a:custGeom>
            <a:blipFill>
              <a:blip r:embed="rId3">
                <a:alphaModFix amt="0"/>
              </a:blip>
              <a:stretch>
                <a:fillRect l="0" t="-170427" r="0" b="-157576"/>
              </a:stretch>
            </a:blipFill>
          </p:spPr>
        </p:sp>
        <p:sp>
          <p:nvSpPr>
            <p:cNvPr name="TextBox 35" id="35"/>
            <p:cNvSpPr txBox="true"/>
            <p:nvPr/>
          </p:nvSpPr>
          <p:spPr>
            <a:xfrm>
              <a:off x="0" y="-19050"/>
              <a:ext cx="6773329" cy="635767"/>
            </a:xfrm>
            <a:prstGeom prst="rect">
              <a:avLst/>
            </a:prstGeom>
          </p:spPr>
          <p:txBody>
            <a:bodyPr anchor="ctr" rtlCol="false" tIns="0" lIns="0" bIns="0" rIns="0"/>
            <a:lstStyle/>
            <a:p>
              <a:pPr algn="ctr">
                <a:lnSpc>
                  <a:spcPts val="2759"/>
                </a:lnSpc>
              </a:pPr>
              <a:r>
                <a:rPr lang="en-US" sz="2299" b="true">
                  <a:solidFill>
                    <a:srgbClr val="111111"/>
                  </a:solidFill>
                  <a:latin typeface="Arimo Bold"/>
                  <a:ea typeface="Arimo Bold"/>
                  <a:cs typeface="Arimo Bold"/>
                  <a:sym typeface="Arimo Bold"/>
                </a:rPr>
                <a:t>새 작업 생성 후 자동 배정</a:t>
              </a:r>
            </a:p>
          </p:txBody>
        </p:sp>
      </p:grpSp>
      <p:grpSp>
        <p:nvGrpSpPr>
          <p:cNvPr name="Group 36" id="36"/>
          <p:cNvGrpSpPr/>
          <p:nvPr/>
        </p:nvGrpSpPr>
        <p:grpSpPr>
          <a:xfrm rot="0">
            <a:off x="4953000" y="6398895"/>
            <a:ext cx="5079997" cy="297942"/>
            <a:chOff x="0" y="0"/>
            <a:chExt cx="6773329" cy="397256"/>
          </a:xfrm>
        </p:grpSpPr>
        <p:sp>
          <p:nvSpPr>
            <p:cNvPr name="Freeform 37" id="37"/>
            <p:cNvSpPr/>
            <p:nvPr/>
          </p:nvSpPr>
          <p:spPr>
            <a:xfrm flipH="false" flipV="false" rot="0">
              <a:off x="0" y="0"/>
              <a:ext cx="6773334" cy="397256"/>
            </a:xfrm>
            <a:custGeom>
              <a:avLst/>
              <a:gdLst/>
              <a:ahLst/>
              <a:cxnLst/>
              <a:rect r="r" b="b" t="t" l="l"/>
              <a:pathLst>
                <a:path h="397256" w="6773334">
                  <a:moveTo>
                    <a:pt x="0" y="0"/>
                  </a:moveTo>
                  <a:lnTo>
                    <a:pt x="6773334" y="0"/>
                  </a:lnTo>
                  <a:lnTo>
                    <a:pt x="6773334" y="397256"/>
                  </a:lnTo>
                  <a:lnTo>
                    <a:pt x="0" y="397256"/>
                  </a:lnTo>
                  <a:close/>
                </a:path>
              </a:pathLst>
            </a:custGeom>
            <a:blipFill>
              <a:blip r:embed="rId3">
                <a:alphaModFix amt="0"/>
              </a:blip>
              <a:stretch>
                <a:fillRect l="0" t="-282225" r="0" b="-282225"/>
              </a:stretch>
            </a:blipFill>
          </p:spPr>
        </p:sp>
        <p:sp>
          <p:nvSpPr>
            <p:cNvPr name="TextBox 38" id="38"/>
            <p:cNvSpPr txBox="true"/>
            <p:nvPr/>
          </p:nvSpPr>
          <p:spPr>
            <a:xfrm>
              <a:off x="0" y="-19050"/>
              <a:ext cx="6773329" cy="416306"/>
            </a:xfrm>
            <a:prstGeom prst="rect">
              <a:avLst/>
            </a:prstGeom>
          </p:spPr>
          <p:txBody>
            <a:bodyPr anchor="ctr" rtlCol="false" tIns="0" lIns="0" bIns="0" rIns="0"/>
            <a:lstStyle/>
            <a:p>
              <a:pPr algn="ctr">
                <a:lnSpc>
                  <a:spcPts val="2039"/>
                </a:lnSpc>
              </a:pPr>
              <a:r>
                <a:rPr lang="en-US" sz="1699">
                  <a:solidFill>
                    <a:srgbClr val="666666"/>
                  </a:solidFill>
                  <a:latin typeface="Arimo"/>
                  <a:ea typeface="Arimo"/>
                  <a:cs typeface="Arimo"/>
                  <a:sym typeface="Arimo"/>
                </a:rPr>
                <a:t>같은 내용으로 새 작업 등록</a:t>
              </a:r>
            </a:p>
          </p:txBody>
        </p:sp>
      </p:grpSp>
      <p:grpSp>
        <p:nvGrpSpPr>
          <p:cNvPr name="Group 39" id="39"/>
          <p:cNvGrpSpPr/>
          <p:nvPr/>
        </p:nvGrpSpPr>
        <p:grpSpPr>
          <a:xfrm rot="0">
            <a:off x="1133475" y="5730878"/>
            <a:ext cx="2813047" cy="1212847"/>
            <a:chOff x="0" y="0"/>
            <a:chExt cx="3750729" cy="1617129"/>
          </a:xfrm>
        </p:grpSpPr>
        <p:sp>
          <p:nvSpPr>
            <p:cNvPr name="Freeform 40" id="40"/>
            <p:cNvSpPr/>
            <p:nvPr/>
          </p:nvSpPr>
          <p:spPr>
            <a:xfrm flipH="false" flipV="false" rot="0">
              <a:off x="0" y="0"/>
              <a:ext cx="3750691" cy="1617091"/>
            </a:xfrm>
            <a:custGeom>
              <a:avLst/>
              <a:gdLst/>
              <a:ahLst/>
              <a:cxnLst/>
              <a:rect r="r" b="b" t="t" l="l"/>
              <a:pathLst>
                <a:path h="1617091" w="3750691">
                  <a:moveTo>
                    <a:pt x="0" y="148590"/>
                  </a:moveTo>
                  <a:cubicBezTo>
                    <a:pt x="0" y="66548"/>
                    <a:pt x="66548" y="0"/>
                    <a:pt x="148590" y="0"/>
                  </a:cubicBezTo>
                  <a:lnTo>
                    <a:pt x="3602101" y="0"/>
                  </a:lnTo>
                  <a:cubicBezTo>
                    <a:pt x="3684143" y="0"/>
                    <a:pt x="3750691" y="66548"/>
                    <a:pt x="3750691" y="148590"/>
                  </a:cubicBezTo>
                  <a:lnTo>
                    <a:pt x="3750691" y="1468501"/>
                  </a:lnTo>
                  <a:cubicBezTo>
                    <a:pt x="3750691" y="1550543"/>
                    <a:pt x="3684143" y="1617091"/>
                    <a:pt x="3602101" y="1617091"/>
                  </a:cubicBezTo>
                  <a:lnTo>
                    <a:pt x="148590" y="1617091"/>
                  </a:lnTo>
                  <a:cubicBezTo>
                    <a:pt x="66548" y="1617091"/>
                    <a:pt x="0" y="1550543"/>
                    <a:pt x="0" y="1468501"/>
                  </a:cubicBezTo>
                  <a:close/>
                </a:path>
              </a:pathLst>
            </a:custGeom>
            <a:solidFill>
              <a:srgbClr val="F6EEF2"/>
            </a:solidFill>
            <a:ln w="19050" cap="sq">
              <a:solidFill>
                <a:srgbClr val="F6EEF2"/>
              </a:solidFill>
              <a:prstDash val="solid"/>
              <a:miter/>
            </a:ln>
          </p:spPr>
        </p:sp>
      </p:grpSp>
      <p:grpSp>
        <p:nvGrpSpPr>
          <p:cNvPr name="Group 41" id="41"/>
          <p:cNvGrpSpPr/>
          <p:nvPr/>
        </p:nvGrpSpPr>
        <p:grpSpPr>
          <a:xfrm rot="0">
            <a:off x="1143000" y="5945505"/>
            <a:ext cx="2793997" cy="403098"/>
            <a:chOff x="0" y="0"/>
            <a:chExt cx="3725329" cy="537464"/>
          </a:xfrm>
        </p:grpSpPr>
        <p:sp>
          <p:nvSpPr>
            <p:cNvPr name="Freeform 42" id="42"/>
            <p:cNvSpPr/>
            <p:nvPr/>
          </p:nvSpPr>
          <p:spPr>
            <a:xfrm flipH="false" flipV="false" rot="0">
              <a:off x="0" y="0"/>
              <a:ext cx="3725334" cy="537464"/>
            </a:xfrm>
            <a:custGeom>
              <a:avLst/>
              <a:gdLst/>
              <a:ahLst/>
              <a:cxnLst/>
              <a:rect r="r" b="b" t="t" l="l"/>
              <a:pathLst>
                <a:path h="537464" w="3725334">
                  <a:moveTo>
                    <a:pt x="0" y="0"/>
                  </a:moveTo>
                  <a:lnTo>
                    <a:pt x="3725334" y="0"/>
                  </a:lnTo>
                  <a:lnTo>
                    <a:pt x="3725334" y="537464"/>
                  </a:lnTo>
                  <a:lnTo>
                    <a:pt x="0" y="537464"/>
                  </a:lnTo>
                  <a:close/>
                </a:path>
              </a:pathLst>
            </a:custGeom>
            <a:blipFill>
              <a:blip r:embed="rId3">
                <a:alphaModFix amt="0"/>
              </a:blip>
              <a:stretch>
                <a:fillRect l="0" t="-85056" r="0" b="-85056"/>
              </a:stretch>
            </a:blipFill>
          </p:spPr>
        </p:sp>
        <p:sp>
          <p:nvSpPr>
            <p:cNvPr name="TextBox 43" id="43"/>
            <p:cNvSpPr txBox="true"/>
            <p:nvPr/>
          </p:nvSpPr>
          <p:spPr>
            <a:xfrm>
              <a:off x="0" y="-19050"/>
              <a:ext cx="3725329" cy="556514"/>
            </a:xfrm>
            <a:prstGeom prst="rect">
              <a:avLst/>
            </a:prstGeom>
          </p:spPr>
          <p:txBody>
            <a:bodyPr anchor="ctr" rtlCol="false" tIns="0" lIns="0" bIns="0" rIns="0"/>
            <a:lstStyle/>
            <a:p>
              <a:pPr algn="ctr">
                <a:lnSpc>
                  <a:spcPts val="2759"/>
                </a:lnSpc>
              </a:pPr>
              <a:r>
                <a:rPr lang="en-US" sz="2299" b="true">
                  <a:solidFill>
                    <a:srgbClr val="111111"/>
                  </a:solidFill>
                  <a:latin typeface="Arimo Bold"/>
                  <a:ea typeface="Arimo Bold"/>
                  <a:cs typeface="Arimo Bold"/>
                  <a:sym typeface="Arimo Bold"/>
                </a:rPr>
                <a:t>TB3-02 수행</a:t>
              </a:r>
            </a:p>
          </p:txBody>
        </p:sp>
      </p:grpSp>
      <p:grpSp>
        <p:nvGrpSpPr>
          <p:cNvPr name="Group 44" id="44"/>
          <p:cNvGrpSpPr/>
          <p:nvPr/>
        </p:nvGrpSpPr>
        <p:grpSpPr>
          <a:xfrm rot="0">
            <a:off x="1143000" y="6398895"/>
            <a:ext cx="2793997" cy="297942"/>
            <a:chOff x="0" y="0"/>
            <a:chExt cx="3725329" cy="397256"/>
          </a:xfrm>
        </p:grpSpPr>
        <p:sp>
          <p:nvSpPr>
            <p:cNvPr name="Freeform 45" id="45"/>
            <p:cNvSpPr/>
            <p:nvPr/>
          </p:nvSpPr>
          <p:spPr>
            <a:xfrm flipH="false" flipV="false" rot="0">
              <a:off x="0" y="0"/>
              <a:ext cx="3725334" cy="397256"/>
            </a:xfrm>
            <a:custGeom>
              <a:avLst/>
              <a:gdLst/>
              <a:ahLst/>
              <a:cxnLst/>
              <a:rect r="r" b="b" t="t" l="l"/>
              <a:pathLst>
                <a:path h="397256" w="3725334">
                  <a:moveTo>
                    <a:pt x="0" y="0"/>
                  </a:moveTo>
                  <a:lnTo>
                    <a:pt x="3725334" y="0"/>
                  </a:lnTo>
                  <a:lnTo>
                    <a:pt x="3725334" y="397256"/>
                  </a:lnTo>
                  <a:lnTo>
                    <a:pt x="0" y="397256"/>
                  </a:lnTo>
                  <a:close/>
                </a:path>
              </a:pathLst>
            </a:custGeom>
            <a:blipFill>
              <a:blip r:embed="rId3">
                <a:alphaModFix amt="0"/>
              </a:blip>
              <a:stretch>
                <a:fillRect l="0" t="-132723" r="0" b="-132723"/>
              </a:stretch>
            </a:blipFill>
          </p:spPr>
        </p:sp>
        <p:sp>
          <p:nvSpPr>
            <p:cNvPr name="TextBox 46" id="46"/>
            <p:cNvSpPr txBox="true"/>
            <p:nvPr/>
          </p:nvSpPr>
          <p:spPr>
            <a:xfrm>
              <a:off x="0" y="-19050"/>
              <a:ext cx="3725329" cy="416306"/>
            </a:xfrm>
            <a:prstGeom prst="rect">
              <a:avLst/>
            </a:prstGeom>
          </p:spPr>
          <p:txBody>
            <a:bodyPr anchor="ctr" rtlCol="false" tIns="0" lIns="0" bIns="0" rIns="0"/>
            <a:lstStyle/>
            <a:p>
              <a:pPr algn="ctr">
                <a:lnSpc>
                  <a:spcPts val="2039"/>
                </a:lnSpc>
              </a:pPr>
              <a:r>
                <a:rPr lang="en-US" sz="1699">
                  <a:solidFill>
                    <a:srgbClr val="666666"/>
                  </a:solidFill>
                  <a:latin typeface="Arimo"/>
                  <a:ea typeface="Arimo"/>
                  <a:cs typeface="Arimo"/>
                  <a:sym typeface="Arimo"/>
                </a:rPr>
                <a:t>가용 후보에 재배정</a:t>
              </a:r>
            </a:p>
          </p:txBody>
        </p:sp>
      </p:grpSp>
      <p:grpSp>
        <p:nvGrpSpPr>
          <p:cNvPr name="Group 47" id="47"/>
          <p:cNvGrpSpPr/>
          <p:nvPr/>
        </p:nvGrpSpPr>
        <p:grpSpPr>
          <a:xfrm rot="0">
            <a:off x="739778" y="8232772"/>
            <a:ext cx="16808453" cy="1390617"/>
            <a:chOff x="0" y="0"/>
            <a:chExt cx="22411271" cy="1854156"/>
          </a:xfrm>
        </p:grpSpPr>
        <p:sp>
          <p:nvSpPr>
            <p:cNvPr name="Freeform 48" id="48"/>
            <p:cNvSpPr/>
            <p:nvPr/>
          </p:nvSpPr>
          <p:spPr>
            <a:xfrm flipH="false" flipV="false" rot="0">
              <a:off x="0" y="0"/>
              <a:ext cx="22411182" cy="1854066"/>
            </a:xfrm>
            <a:custGeom>
              <a:avLst/>
              <a:gdLst/>
              <a:ahLst/>
              <a:cxnLst/>
              <a:rect r="r" b="b" t="t" l="l"/>
              <a:pathLst>
                <a:path h="1854066" w="22411182">
                  <a:moveTo>
                    <a:pt x="0" y="152519"/>
                  </a:moveTo>
                  <a:cubicBezTo>
                    <a:pt x="0" y="68313"/>
                    <a:pt x="67691" y="0"/>
                    <a:pt x="151130" y="0"/>
                  </a:cubicBezTo>
                  <a:lnTo>
                    <a:pt x="22260052" y="0"/>
                  </a:lnTo>
                  <a:cubicBezTo>
                    <a:pt x="22343490" y="0"/>
                    <a:pt x="22411182" y="68313"/>
                    <a:pt x="22411182" y="152519"/>
                  </a:cubicBezTo>
                  <a:lnTo>
                    <a:pt x="22411182" y="1701547"/>
                  </a:lnTo>
                  <a:cubicBezTo>
                    <a:pt x="22411182" y="1785753"/>
                    <a:pt x="22343490" y="1854066"/>
                    <a:pt x="22260052" y="1854066"/>
                  </a:cubicBezTo>
                  <a:lnTo>
                    <a:pt x="151130" y="1854066"/>
                  </a:lnTo>
                  <a:cubicBezTo>
                    <a:pt x="67691" y="1854066"/>
                    <a:pt x="0" y="1785753"/>
                    <a:pt x="0" y="1701547"/>
                  </a:cubicBezTo>
                  <a:close/>
                </a:path>
              </a:pathLst>
            </a:custGeom>
            <a:solidFill>
              <a:srgbClr val="F6EEF2"/>
            </a:solidFill>
            <a:ln w="44450" cap="sq">
              <a:solidFill>
                <a:srgbClr val="F6EEF2"/>
              </a:solidFill>
              <a:prstDash val="solid"/>
              <a:miter/>
            </a:ln>
          </p:spPr>
        </p:sp>
      </p:grpSp>
      <p:grpSp>
        <p:nvGrpSpPr>
          <p:cNvPr name="Group 49" id="49"/>
          <p:cNvGrpSpPr/>
          <p:nvPr/>
        </p:nvGrpSpPr>
        <p:grpSpPr>
          <a:xfrm rot="0">
            <a:off x="1133475" y="8784439"/>
            <a:ext cx="2371138" cy="345596"/>
            <a:chOff x="0" y="0"/>
            <a:chExt cx="3161517" cy="460795"/>
          </a:xfrm>
        </p:grpSpPr>
        <p:sp>
          <p:nvSpPr>
            <p:cNvPr name="Freeform 50" id="50"/>
            <p:cNvSpPr/>
            <p:nvPr/>
          </p:nvSpPr>
          <p:spPr>
            <a:xfrm flipH="false" flipV="false" rot="0">
              <a:off x="0" y="0"/>
              <a:ext cx="3161517" cy="460795"/>
            </a:xfrm>
            <a:custGeom>
              <a:avLst/>
              <a:gdLst/>
              <a:ahLst/>
              <a:cxnLst/>
              <a:rect r="r" b="b" t="t" l="l"/>
              <a:pathLst>
                <a:path h="460795" w="3161517">
                  <a:moveTo>
                    <a:pt x="0" y="0"/>
                  </a:moveTo>
                  <a:lnTo>
                    <a:pt x="3161517" y="0"/>
                  </a:lnTo>
                  <a:lnTo>
                    <a:pt x="3161517" y="460795"/>
                  </a:lnTo>
                  <a:lnTo>
                    <a:pt x="0" y="460795"/>
                  </a:lnTo>
                  <a:close/>
                </a:path>
              </a:pathLst>
            </a:custGeom>
            <a:blipFill>
              <a:blip r:embed="rId3">
                <a:alphaModFix amt="0"/>
              </a:blip>
              <a:stretch>
                <a:fillRect l="0" t="-85781" r="3590" b="-71992"/>
              </a:stretch>
            </a:blipFill>
          </p:spPr>
        </p:sp>
        <p:sp>
          <p:nvSpPr>
            <p:cNvPr name="TextBox 51" id="51"/>
            <p:cNvSpPr txBox="true"/>
            <p:nvPr/>
          </p:nvSpPr>
          <p:spPr>
            <a:xfrm>
              <a:off x="0" y="-19050"/>
              <a:ext cx="3161517" cy="479845"/>
            </a:xfrm>
            <a:prstGeom prst="rect">
              <a:avLst/>
            </a:prstGeom>
          </p:spPr>
          <p:txBody>
            <a:bodyPr anchor="ctr" rtlCol="false" tIns="0" lIns="0" bIns="0" rIns="0"/>
            <a:lstStyle/>
            <a:p>
              <a:pPr algn="l">
                <a:lnSpc>
                  <a:spcPts val="2039"/>
                </a:lnSpc>
              </a:pPr>
              <a:r>
                <a:rPr lang="en-US" sz="1699" b="true">
                  <a:solidFill>
                    <a:srgbClr val="A14678"/>
                  </a:solidFill>
                  <a:latin typeface="Arimo Bold"/>
                  <a:ea typeface="Arimo Bold"/>
                  <a:cs typeface="Arimo Bold"/>
                  <a:sym typeface="Arimo Bold"/>
                </a:rPr>
                <a:t>연속 / 시나리오 오류 발생</a:t>
              </a:r>
            </a:p>
          </p:txBody>
        </p:sp>
      </p:grpSp>
      <p:grpSp>
        <p:nvGrpSpPr>
          <p:cNvPr name="Group 52" id="52"/>
          <p:cNvGrpSpPr/>
          <p:nvPr/>
        </p:nvGrpSpPr>
        <p:grpSpPr>
          <a:xfrm rot="0">
            <a:off x="2868994" y="7209257"/>
            <a:ext cx="5438018" cy="511096"/>
            <a:chOff x="0" y="0"/>
            <a:chExt cx="7250691" cy="681461"/>
          </a:xfrm>
        </p:grpSpPr>
        <p:sp>
          <p:nvSpPr>
            <p:cNvPr name="Freeform 53" id="53"/>
            <p:cNvSpPr/>
            <p:nvPr/>
          </p:nvSpPr>
          <p:spPr>
            <a:xfrm flipH="false" flipV="false" rot="0">
              <a:off x="0" y="0"/>
              <a:ext cx="7250691" cy="681461"/>
            </a:xfrm>
            <a:custGeom>
              <a:avLst/>
              <a:gdLst/>
              <a:ahLst/>
              <a:cxnLst/>
              <a:rect r="r" b="b" t="t" l="l"/>
              <a:pathLst>
                <a:path h="681461" w="7250691">
                  <a:moveTo>
                    <a:pt x="0" y="0"/>
                  </a:moveTo>
                  <a:lnTo>
                    <a:pt x="7250691" y="0"/>
                  </a:lnTo>
                  <a:lnTo>
                    <a:pt x="7250691" y="681461"/>
                  </a:lnTo>
                  <a:lnTo>
                    <a:pt x="0" y="681461"/>
                  </a:lnTo>
                  <a:close/>
                </a:path>
              </a:pathLst>
            </a:custGeom>
            <a:blipFill>
              <a:blip r:embed="rId3">
                <a:alphaModFix amt="0"/>
              </a:blip>
              <a:stretch>
                <a:fillRect l="0" t="-465520" r="-145218" b="-451248"/>
              </a:stretch>
            </a:blipFill>
          </p:spPr>
        </p:sp>
        <p:sp>
          <p:nvSpPr>
            <p:cNvPr name="TextBox 54" id="54"/>
            <p:cNvSpPr txBox="true"/>
            <p:nvPr/>
          </p:nvSpPr>
          <p:spPr>
            <a:xfrm>
              <a:off x="0" y="-19050"/>
              <a:ext cx="7250691" cy="700511"/>
            </a:xfrm>
            <a:prstGeom prst="rect">
              <a:avLst/>
            </a:prstGeom>
          </p:spPr>
          <p:txBody>
            <a:bodyPr anchor="ctr" rtlCol="false" tIns="0" lIns="0" bIns="0" rIns="0"/>
            <a:lstStyle/>
            <a:p>
              <a:pPr algn="ctr">
                <a:lnSpc>
                  <a:spcPts val="3000"/>
                </a:lnSpc>
              </a:pPr>
              <a:r>
                <a:rPr lang="en-US" sz="2500" b="true">
                  <a:solidFill>
                    <a:srgbClr val="111111"/>
                  </a:solidFill>
                  <a:latin typeface="Arimo Bold"/>
                  <a:ea typeface="Arimo Bold"/>
                  <a:cs typeface="Arimo Bold"/>
                  <a:sym typeface="Arimo Bold"/>
                </a:rPr>
                <a:t>자동 배정 실행 시 작업 순서</a:t>
              </a:r>
            </a:p>
          </p:txBody>
        </p:sp>
      </p:grpSp>
      <p:sp>
        <p:nvSpPr>
          <p:cNvPr name="AutoShape 55" id="55"/>
          <p:cNvSpPr/>
          <p:nvPr/>
        </p:nvSpPr>
        <p:spPr>
          <a:xfrm>
            <a:off x="4006942" y="4127502"/>
            <a:ext cx="936533" cy="0"/>
          </a:xfrm>
          <a:prstGeom prst="line">
            <a:avLst/>
          </a:prstGeom>
          <a:ln cap="flat" w="28575">
            <a:solidFill>
              <a:srgbClr val="000000"/>
            </a:solidFill>
            <a:prstDash val="solid"/>
            <a:headEnd type="none" len="sm" w="sm"/>
            <a:tailEnd type="triangle" len="med" w="lg"/>
          </a:ln>
        </p:spPr>
      </p:sp>
      <p:sp>
        <p:nvSpPr>
          <p:cNvPr name="AutoShape 56" id="56"/>
          <p:cNvSpPr/>
          <p:nvPr/>
        </p:nvSpPr>
        <p:spPr>
          <a:xfrm flipH="true">
            <a:off x="7392914" y="4733896"/>
            <a:ext cx="100084" cy="936318"/>
          </a:xfrm>
          <a:prstGeom prst="line">
            <a:avLst/>
          </a:prstGeom>
          <a:ln cap="flat" w="28575">
            <a:solidFill>
              <a:srgbClr val="000000"/>
            </a:solidFill>
            <a:prstDash val="solid"/>
            <a:headEnd type="none" len="sm" w="sm"/>
            <a:tailEnd type="triangle" len="med" w="lg"/>
          </a:ln>
        </p:spPr>
      </p:sp>
      <p:sp>
        <p:nvSpPr>
          <p:cNvPr name="AutoShape 57" id="57"/>
          <p:cNvSpPr/>
          <p:nvPr/>
        </p:nvSpPr>
        <p:spPr>
          <a:xfrm flipH="true">
            <a:off x="3990948" y="6337302"/>
            <a:ext cx="952527" cy="11301"/>
          </a:xfrm>
          <a:prstGeom prst="line">
            <a:avLst/>
          </a:prstGeom>
          <a:ln cap="flat" w="28575">
            <a:solidFill>
              <a:srgbClr val="000000"/>
            </a:solidFill>
            <a:prstDash val="solid"/>
            <a:headEnd type="none" len="sm" w="sm"/>
            <a:tailEnd type="triangle" len="med" w="lg"/>
          </a:ln>
        </p:spPr>
      </p:sp>
      <p:grpSp>
        <p:nvGrpSpPr>
          <p:cNvPr name="Group 58" id="58"/>
          <p:cNvGrpSpPr/>
          <p:nvPr/>
        </p:nvGrpSpPr>
        <p:grpSpPr>
          <a:xfrm rot="0">
            <a:off x="3746800" y="8493128"/>
            <a:ext cx="12064406" cy="917491"/>
            <a:chOff x="0" y="0"/>
            <a:chExt cx="16085875" cy="1223321"/>
          </a:xfrm>
        </p:grpSpPr>
        <p:grpSp>
          <p:nvGrpSpPr>
            <p:cNvPr name="Group 59" id="59"/>
            <p:cNvGrpSpPr/>
            <p:nvPr/>
          </p:nvGrpSpPr>
          <p:grpSpPr>
            <a:xfrm rot="0">
              <a:off x="0" y="639121"/>
              <a:ext cx="16085875" cy="584200"/>
              <a:chOff x="0" y="0"/>
              <a:chExt cx="16085875" cy="584200"/>
            </a:xfrm>
          </p:grpSpPr>
          <p:sp>
            <p:nvSpPr>
              <p:cNvPr name="Freeform 60" id="60"/>
              <p:cNvSpPr/>
              <p:nvPr/>
            </p:nvSpPr>
            <p:spPr>
              <a:xfrm flipH="false" flipV="false" rot="0">
                <a:off x="0" y="0"/>
                <a:ext cx="16085876" cy="584200"/>
              </a:xfrm>
              <a:custGeom>
                <a:avLst/>
                <a:gdLst/>
                <a:ahLst/>
                <a:cxnLst/>
                <a:rect r="r" b="b" t="t" l="l"/>
                <a:pathLst>
                  <a:path h="584200" w="16085876">
                    <a:moveTo>
                      <a:pt x="0" y="0"/>
                    </a:moveTo>
                    <a:lnTo>
                      <a:pt x="16085876" y="0"/>
                    </a:lnTo>
                    <a:lnTo>
                      <a:pt x="16085876" y="584200"/>
                    </a:lnTo>
                    <a:lnTo>
                      <a:pt x="0" y="584200"/>
                    </a:lnTo>
                    <a:close/>
                  </a:path>
                </a:pathLst>
              </a:custGeom>
              <a:blipFill>
                <a:blip r:embed="rId3">
                  <a:alphaModFix amt="0"/>
                </a:blip>
                <a:stretch>
                  <a:fillRect l="0" t="-543022" r="-10531" b="-543022"/>
                </a:stretch>
              </a:blipFill>
            </p:spPr>
          </p:sp>
          <p:sp>
            <p:nvSpPr>
              <p:cNvPr name="TextBox 61" id="61"/>
              <p:cNvSpPr txBox="true"/>
              <p:nvPr/>
            </p:nvSpPr>
            <p:spPr>
              <a:xfrm>
                <a:off x="0" y="-9525"/>
                <a:ext cx="16085875" cy="593725"/>
              </a:xfrm>
              <a:prstGeom prst="rect">
                <a:avLst/>
              </a:prstGeom>
            </p:spPr>
            <p:txBody>
              <a:bodyPr anchor="ctr" rtlCol="false" tIns="0" lIns="0" bIns="0" rIns="0"/>
              <a:lstStyle/>
              <a:p>
                <a:pPr algn="l">
                  <a:lnSpc>
                    <a:spcPts val="2400"/>
                  </a:lnSpc>
                </a:pPr>
                <a:r>
                  <a:rPr lang="en-US" sz="2000">
                    <a:solidFill>
                      <a:srgbClr val="66645F"/>
                    </a:solidFill>
                    <a:latin typeface="Arimo"/>
                    <a:ea typeface="Arimo"/>
                    <a:cs typeface="Arimo"/>
                    <a:sym typeface="Arimo"/>
                  </a:rPr>
                  <a:t>완료 이력은 보존하고</a:t>
                </a:r>
                <a:r>
                  <a:rPr lang="en-US" sz="2000">
                    <a:solidFill>
                      <a:srgbClr val="66645F"/>
                    </a:solidFill>
                    <a:latin typeface="Arimo"/>
                    <a:ea typeface="Arimo"/>
                    <a:cs typeface="Arimo"/>
                    <a:sym typeface="Arimo"/>
                  </a:rPr>
                  <a:t> 남은 작업은 실패로 정리</a:t>
                </a:r>
              </a:p>
            </p:txBody>
          </p:sp>
        </p:grpSp>
        <p:grpSp>
          <p:nvGrpSpPr>
            <p:cNvPr name="Group 62" id="62"/>
            <p:cNvGrpSpPr/>
            <p:nvPr/>
          </p:nvGrpSpPr>
          <p:grpSpPr>
            <a:xfrm rot="0">
              <a:off x="0" y="0"/>
              <a:ext cx="16085875" cy="584200"/>
              <a:chOff x="0" y="0"/>
              <a:chExt cx="16085875" cy="584200"/>
            </a:xfrm>
          </p:grpSpPr>
          <p:sp>
            <p:nvSpPr>
              <p:cNvPr name="Freeform 63" id="63"/>
              <p:cNvSpPr/>
              <p:nvPr/>
            </p:nvSpPr>
            <p:spPr>
              <a:xfrm flipH="false" flipV="false" rot="0">
                <a:off x="0" y="0"/>
                <a:ext cx="16085876" cy="584200"/>
              </a:xfrm>
              <a:custGeom>
                <a:avLst/>
                <a:gdLst/>
                <a:ahLst/>
                <a:cxnLst/>
                <a:rect r="r" b="b" t="t" l="l"/>
                <a:pathLst>
                  <a:path h="584200" w="16085876">
                    <a:moveTo>
                      <a:pt x="0" y="0"/>
                    </a:moveTo>
                    <a:lnTo>
                      <a:pt x="16085876" y="0"/>
                    </a:lnTo>
                    <a:lnTo>
                      <a:pt x="16085876" y="584200"/>
                    </a:lnTo>
                    <a:lnTo>
                      <a:pt x="0" y="584200"/>
                    </a:lnTo>
                    <a:close/>
                  </a:path>
                </a:pathLst>
              </a:custGeom>
              <a:blipFill>
                <a:blip r:embed="rId3">
                  <a:alphaModFix amt="0"/>
                </a:blip>
                <a:stretch>
                  <a:fillRect l="0" t="-543022" r="-10531" b="-543022"/>
                </a:stretch>
              </a:blipFill>
            </p:spPr>
          </p:sp>
          <p:sp>
            <p:nvSpPr>
              <p:cNvPr name="TextBox 64" id="64"/>
              <p:cNvSpPr txBox="true"/>
              <p:nvPr/>
            </p:nvSpPr>
            <p:spPr>
              <a:xfrm>
                <a:off x="0" y="-9525"/>
                <a:ext cx="16085875" cy="593725"/>
              </a:xfrm>
              <a:prstGeom prst="rect">
                <a:avLst/>
              </a:prstGeom>
            </p:spPr>
            <p:txBody>
              <a:bodyPr anchor="ctr" rtlCol="false" tIns="0" lIns="0" bIns="0" rIns="0"/>
              <a:lstStyle/>
              <a:p>
                <a:pPr algn="l">
                  <a:lnSpc>
                    <a:spcPts val="2400"/>
                  </a:lnSpc>
                </a:pPr>
                <a:r>
                  <a:rPr lang="en-US" sz="2000">
                    <a:solidFill>
                      <a:srgbClr val="66645F"/>
                    </a:solidFill>
                    <a:latin typeface="Arimo"/>
                    <a:ea typeface="Arimo"/>
                    <a:cs typeface="Arimo"/>
                    <a:sym typeface="Arimo"/>
                  </a:rPr>
                  <a:t>한 로봇에게 여러 작업을 동시에 할당했을 경우</a:t>
                </a:r>
              </a:p>
            </p:txBody>
          </p:sp>
        </p:grpSp>
      </p:grpSp>
      <p:sp>
        <p:nvSpPr>
          <p:cNvPr name="TextBox 65" id="65"/>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20</a:t>
            </a:r>
          </a:p>
        </p:txBody>
      </p:sp>
      <p:grpSp>
        <p:nvGrpSpPr>
          <p:cNvPr name="Group 66" id="66"/>
          <p:cNvGrpSpPr/>
          <p:nvPr/>
        </p:nvGrpSpPr>
        <p:grpSpPr>
          <a:xfrm rot="0">
            <a:off x="10895842" y="2731696"/>
            <a:ext cx="2416075" cy="640743"/>
            <a:chOff x="0" y="0"/>
            <a:chExt cx="3221433" cy="854324"/>
          </a:xfrm>
        </p:grpSpPr>
        <p:grpSp>
          <p:nvGrpSpPr>
            <p:cNvPr name="Group 67" id="67"/>
            <p:cNvGrpSpPr/>
            <p:nvPr/>
          </p:nvGrpSpPr>
          <p:grpSpPr>
            <a:xfrm rot="0">
              <a:off x="0" y="0"/>
              <a:ext cx="3221433" cy="854324"/>
              <a:chOff x="0" y="0"/>
              <a:chExt cx="3221433" cy="854324"/>
            </a:xfrm>
          </p:grpSpPr>
          <p:sp>
            <p:nvSpPr>
              <p:cNvPr name="Freeform 68" id="68"/>
              <p:cNvSpPr/>
              <p:nvPr/>
            </p:nvSpPr>
            <p:spPr>
              <a:xfrm flipH="false" flipV="false" rot="0">
                <a:off x="0" y="0"/>
                <a:ext cx="3221369" cy="854324"/>
              </a:xfrm>
              <a:custGeom>
                <a:avLst/>
                <a:gdLst/>
                <a:ahLst/>
                <a:cxnLst/>
                <a:rect r="r" b="b" t="t" l="l"/>
                <a:pathLst>
                  <a:path h="854324" w="3221369">
                    <a:moveTo>
                      <a:pt x="0" y="153778"/>
                    </a:moveTo>
                    <a:cubicBezTo>
                      <a:pt x="0" y="68859"/>
                      <a:pt x="85787" y="0"/>
                      <a:pt x="191583" y="0"/>
                    </a:cubicBezTo>
                    <a:lnTo>
                      <a:pt x="3029786" y="0"/>
                    </a:lnTo>
                    <a:cubicBezTo>
                      <a:pt x="3135582" y="0"/>
                      <a:pt x="3221369" y="68859"/>
                      <a:pt x="3221369" y="153778"/>
                    </a:cubicBezTo>
                    <a:lnTo>
                      <a:pt x="3221369" y="700546"/>
                    </a:lnTo>
                    <a:cubicBezTo>
                      <a:pt x="3221369" y="785466"/>
                      <a:pt x="3135582" y="854324"/>
                      <a:pt x="3029786" y="854324"/>
                    </a:cubicBezTo>
                    <a:lnTo>
                      <a:pt x="191583" y="854324"/>
                    </a:lnTo>
                    <a:cubicBezTo>
                      <a:pt x="85787" y="854324"/>
                      <a:pt x="0" y="785466"/>
                      <a:pt x="0" y="700546"/>
                    </a:cubicBezTo>
                    <a:close/>
                  </a:path>
                </a:pathLst>
              </a:custGeom>
              <a:solidFill>
                <a:srgbClr val="101010"/>
              </a:solidFill>
            </p:spPr>
          </p:sp>
        </p:grpSp>
        <p:grpSp>
          <p:nvGrpSpPr>
            <p:cNvPr name="Group 69" id="69"/>
            <p:cNvGrpSpPr/>
            <p:nvPr/>
          </p:nvGrpSpPr>
          <p:grpSpPr>
            <a:xfrm rot="0">
              <a:off x="158146" y="164695"/>
              <a:ext cx="2905141" cy="524934"/>
              <a:chOff x="0" y="0"/>
              <a:chExt cx="2905141" cy="524934"/>
            </a:xfrm>
          </p:grpSpPr>
          <p:sp>
            <p:nvSpPr>
              <p:cNvPr name="Freeform 70" id="70"/>
              <p:cNvSpPr/>
              <p:nvPr/>
            </p:nvSpPr>
            <p:spPr>
              <a:xfrm flipH="false" flipV="false" rot="0">
                <a:off x="0" y="0"/>
                <a:ext cx="2905146" cy="524939"/>
              </a:xfrm>
              <a:custGeom>
                <a:avLst/>
                <a:gdLst/>
                <a:ahLst/>
                <a:cxnLst/>
                <a:rect r="r" b="b" t="t" l="l"/>
                <a:pathLst>
                  <a:path h="524939" w="2905146">
                    <a:moveTo>
                      <a:pt x="0" y="0"/>
                    </a:moveTo>
                    <a:lnTo>
                      <a:pt x="2905146" y="0"/>
                    </a:lnTo>
                    <a:lnTo>
                      <a:pt x="2905146" y="524939"/>
                    </a:lnTo>
                    <a:lnTo>
                      <a:pt x="0" y="524939"/>
                    </a:lnTo>
                    <a:close/>
                  </a:path>
                </a:pathLst>
              </a:custGeom>
              <a:blipFill>
                <a:blip r:embed="rId3">
                  <a:alphaModFix amt="0"/>
                </a:blip>
                <a:stretch>
                  <a:fillRect l="0" t="-20397" r="34718" b="-20395"/>
                </a:stretch>
              </a:blipFill>
            </p:spPr>
          </p:sp>
          <p:sp>
            <p:nvSpPr>
              <p:cNvPr name="TextBox 71" id="71"/>
              <p:cNvSpPr txBox="true"/>
              <p:nvPr/>
            </p:nvSpPr>
            <p:spPr>
              <a:xfrm>
                <a:off x="0" y="-9525"/>
                <a:ext cx="2905141" cy="534459"/>
              </a:xfrm>
              <a:prstGeom prst="rect">
                <a:avLst/>
              </a:prstGeom>
            </p:spPr>
            <p:txBody>
              <a:bodyPr anchor="ctr" rtlCol="false" tIns="0" lIns="0" bIns="0" rIns="0"/>
              <a:lstStyle/>
              <a:p>
                <a:pPr algn="ctr">
                  <a:lnSpc>
                    <a:spcPts val="1889"/>
                  </a:lnSpc>
                </a:pPr>
                <a:r>
                  <a:rPr lang="en-US" b="true" sz="1575" u="sng">
                    <a:solidFill>
                      <a:srgbClr val="FFFFFF"/>
                    </a:solidFill>
                    <a:latin typeface="Arimo Bold"/>
                    <a:ea typeface="Arimo Bold"/>
                    <a:cs typeface="Arimo Bold"/>
                    <a:sym typeface="Arimo Bold"/>
                    <a:hlinkClick r:id="rId5" tooltip="https://kdm111.github.io/assets/videos/p18_reassignment.mp4"/>
                  </a:rPr>
                  <a:t>오류 발생 + 작업 배정</a:t>
                </a:r>
              </a:p>
            </p:txBody>
          </p:sp>
        </p:gr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sp>
        <p:nvSpPr>
          <p:cNvPr name="TextBox 2" id="2"/>
          <p:cNvSpPr txBox="true"/>
          <p:nvPr/>
        </p:nvSpPr>
        <p:spPr>
          <a:xfrm rot="0">
            <a:off x="762000" y="729615"/>
            <a:ext cx="15875003" cy="299085"/>
          </a:xfrm>
          <a:prstGeom prst="rect">
            <a:avLst/>
          </a:prstGeom>
        </p:spPr>
        <p:txBody>
          <a:bodyPr anchor="t" rtlCol="false" tIns="0" lIns="0" bIns="0" rIns="0">
            <a:spAutoFit/>
          </a:bodyPr>
          <a:lstStyle/>
          <a:p>
            <a:pPr algn="l">
              <a:lnSpc>
                <a:spcPts val="1944"/>
              </a:lnSpc>
            </a:pPr>
            <a:r>
              <a:rPr lang="en-US" sz="1500" b="true">
                <a:solidFill>
                  <a:srgbClr val="666666"/>
                </a:solidFill>
                <a:latin typeface="Arimo Bold"/>
                <a:ea typeface="Arimo Bold"/>
                <a:cs typeface="Arimo Bold"/>
                <a:sym typeface="Arimo Bold"/>
              </a:rPr>
              <a:t>VICPINKY CARRIER</a:t>
            </a:r>
          </a:p>
        </p:txBody>
      </p:sp>
      <p:sp>
        <p:nvSpPr>
          <p:cNvPr name="TextBox 3" id="3"/>
          <p:cNvSpPr txBox="true"/>
          <p:nvPr/>
        </p:nvSpPr>
        <p:spPr>
          <a:xfrm rot="0">
            <a:off x="762000" y="1035053"/>
            <a:ext cx="16764000" cy="691744"/>
          </a:xfrm>
          <a:prstGeom prst="rect">
            <a:avLst/>
          </a:prstGeom>
        </p:spPr>
        <p:txBody>
          <a:bodyPr anchor="t" rtlCol="false" tIns="0" lIns="0" bIns="0" rIns="0">
            <a:spAutoFit/>
          </a:bodyPr>
          <a:lstStyle/>
          <a:p>
            <a:pPr algn="l">
              <a:lnSpc>
                <a:spcPts val="5443"/>
              </a:lnSpc>
            </a:pPr>
            <a:r>
              <a:rPr lang="en-US" sz="4200" b="true">
                <a:solidFill>
                  <a:srgbClr val="111111"/>
                </a:solidFill>
                <a:latin typeface="Arimo Bold"/>
                <a:ea typeface="Arimo Bold"/>
                <a:cs typeface="Arimo Bold"/>
                <a:sym typeface="Arimo Bold"/>
              </a:rPr>
              <a:t>노드 점유 진행과 경로 우선순위로 통행 조율</a:t>
            </a:r>
          </a:p>
        </p:txBody>
      </p:sp>
      <p:grpSp>
        <p:nvGrpSpPr>
          <p:cNvPr name="Group 4" id="4"/>
          <p:cNvGrpSpPr/>
          <p:nvPr/>
        </p:nvGrpSpPr>
        <p:grpSpPr>
          <a:xfrm rot="0">
            <a:off x="8909047" y="2108616"/>
            <a:ext cx="8626478" cy="6222578"/>
            <a:chOff x="0" y="0"/>
            <a:chExt cx="11501971" cy="8296770"/>
          </a:xfrm>
        </p:grpSpPr>
        <p:sp>
          <p:nvSpPr>
            <p:cNvPr name="Freeform 5" id="5"/>
            <p:cNvSpPr/>
            <p:nvPr/>
          </p:nvSpPr>
          <p:spPr>
            <a:xfrm flipH="false" flipV="false" rot="0">
              <a:off x="0" y="0"/>
              <a:ext cx="11502009" cy="8296727"/>
            </a:xfrm>
            <a:custGeom>
              <a:avLst/>
              <a:gdLst/>
              <a:ahLst/>
              <a:cxnLst/>
              <a:rect r="r" b="b" t="t" l="l"/>
              <a:pathLst>
                <a:path h="8296727" w="11502009">
                  <a:moveTo>
                    <a:pt x="0" y="174059"/>
                  </a:moveTo>
                  <a:cubicBezTo>
                    <a:pt x="0" y="77872"/>
                    <a:pt x="97556" y="0"/>
                    <a:pt x="218056" y="0"/>
                  </a:cubicBezTo>
                  <a:lnTo>
                    <a:pt x="11283969" y="0"/>
                  </a:lnTo>
                  <a:cubicBezTo>
                    <a:pt x="11404468" y="0"/>
                    <a:pt x="11502009" y="77872"/>
                    <a:pt x="11502009" y="174059"/>
                  </a:cubicBezTo>
                  <a:lnTo>
                    <a:pt x="11502009" y="8122668"/>
                  </a:lnTo>
                  <a:cubicBezTo>
                    <a:pt x="11502009" y="8218854"/>
                    <a:pt x="11404468" y="8296727"/>
                    <a:pt x="11283969" y="8296727"/>
                  </a:cubicBezTo>
                  <a:lnTo>
                    <a:pt x="218056" y="8296727"/>
                  </a:lnTo>
                  <a:cubicBezTo>
                    <a:pt x="97556" y="8296727"/>
                    <a:pt x="0" y="8218854"/>
                    <a:pt x="0" y="8122668"/>
                  </a:cubicBezTo>
                  <a:close/>
                </a:path>
              </a:pathLst>
            </a:custGeom>
            <a:solidFill>
              <a:srgbClr val="FFFFFF"/>
            </a:solidFill>
            <a:ln w="19050" cap="sq">
              <a:solidFill>
                <a:srgbClr val="111111"/>
              </a:solidFill>
              <a:prstDash val="solid"/>
              <a:miter/>
            </a:ln>
          </p:spPr>
        </p:sp>
      </p:grpSp>
      <p:grpSp>
        <p:nvGrpSpPr>
          <p:cNvPr name="Group 6" id="6"/>
          <p:cNvGrpSpPr/>
          <p:nvPr/>
        </p:nvGrpSpPr>
        <p:grpSpPr>
          <a:xfrm rot="0">
            <a:off x="762000" y="8435969"/>
            <a:ext cx="8020050" cy="984247"/>
            <a:chOff x="0" y="0"/>
            <a:chExt cx="10693400" cy="1312329"/>
          </a:xfrm>
        </p:grpSpPr>
        <p:sp>
          <p:nvSpPr>
            <p:cNvPr name="Freeform 7" id="7"/>
            <p:cNvSpPr/>
            <p:nvPr/>
          </p:nvSpPr>
          <p:spPr>
            <a:xfrm flipH="false" flipV="false" rot="0">
              <a:off x="0" y="0"/>
              <a:ext cx="10693488" cy="1312418"/>
            </a:xfrm>
            <a:custGeom>
              <a:avLst/>
              <a:gdLst/>
              <a:ahLst/>
              <a:cxnLst/>
              <a:rect r="r" b="b" t="t" l="l"/>
              <a:pathLst>
                <a:path h="1312418" w="10693488">
                  <a:moveTo>
                    <a:pt x="0" y="155448"/>
                  </a:moveTo>
                  <a:cubicBezTo>
                    <a:pt x="0" y="69596"/>
                    <a:pt x="68511" y="0"/>
                    <a:pt x="153025" y="0"/>
                  </a:cubicBezTo>
                  <a:lnTo>
                    <a:pt x="10540462" y="0"/>
                  </a:lnTo>
                  <a:cubicBezTo>
                    <a:pt x="10624976" y="0"/>
                    <a:pt x="10693488" y="69596"/>
                    <a:pt x="10693488" y="155448"/>
                  </a:cubicBezTo>
                  <a:lnTo>
                    <a:pt x="10693488" y="1156970"/>
                  </a:lnTo>
                  <a:cubicBezTo>
                    <a:pt x="10693488" y="1242822"/>
                    <a:pt x="10624976" y="1312418"/>
                    <a:pt x="10540462" y="1312418"/>
                  </a:cubicBezTo>
                  <a:lnTo>
                    <a:pt x="153025" y="1312418"/>
                  </a:lnTo>
                  <a:cubicBezTo>
                    <a:pt x="68511" y="1312291"/>
                    <a:pt x="0" y="1242695"/>
                    <a:pt x="0" y="1156970"/>
                  </a:cubicBezTo>
                  <a:close/>
                </a:path>
              </a:pathLst>
            </a:custGeom>
            <a:solidFill>
              <a:srgbClr val="F6EEF2"/>
            </a:solidFill>
          </p:spPr>
        </p:sp>
      </p:grpSp>
      <p:sp>
        <p:nvSpPr>
          <p:cNvPr name="TextBox 8" id="8"/>
          <p:cNvSpPr txBox="true"/>
          <p:nvPr/>
        </p:nvSpPr>
        <p:spPr>
          <a:xfrm rot="0">
            <a:off x="1012822" y="8572500"/>
            <a:ext cx="7645403" cy="373222"/>
          </a:xfrm>
          <a:prstGeom prst="rect">
            <a:avLst/>
          </a:prstGeom>
        </p:spPr>
        <p:txBody>
          <a:bodyPr anchor="t" rtlCol="false" tIns="0" lIns="0" bIns="0" rIns="0">
            <a:spAutoFit/>
          </a:bodyPr>
          <a:lstStyle/>
          <a:p>
            <a:pPr algn="l">
              <a:lnSpc>
                <a:spcPts val="2851"/>
              </a:lnSpc>
            </a:pPr>
            <a:r>
              <a:rPr lang="en-US" sz="2200" b="true">
                <a:solidFill>
                  <a:srgbClr val="A14678"/>
                </a:solidFill>
                <a:latin typeface="Arimo Bold"/>
                <a:ea typeface="Arimo Bold"/>
                <a:cs typeface="Arimo Bold"/>
                <a:sym typeface="Arimo Bold"/>
              </a:rPr>
              <a:t>경로 생성 : </a:t>
            </a:r>
            <a:r>
              <a:rPr lang="en-US" sz="2200" b="true">
                <a:solidFill>
                  <a:srgbClr val="A14678"/>
                </a:solidFill>
                <a:latin typeface="Arimo Bold"/>
                <a:ea typeface="Arimo Bold"/>
                <a:cs typeface="Arimo Bold"/>
                <a:sym typeface="Arimo Bold"/>
              </a:rPr>
              <a:t>Dijkstra</a:t>
            </a:r>
          </a:p>
        </p:txBody>
      </p:sp>
      <p:sp>
        <p:nvSpPr>
          <p:cNvPr name="TextBox 9" id="9"/>
          <p:cNvSpPr txBox="true"/>
          <p:nvPr/>
        </p:nvSpPr>
        <p:spPr>
          <a:xfrm rot="0">
            <a:off x="1012822" y="9026519"/>
            <a:ext cx="7645403" cy="310204"/>
          </a:xfrm>
          <a:prstGeom prst="rect">
            <a:avLst/>
          </a:prstGeom>
        </p:spPr>
        <p:txBody>
          <a:bodyPr anchor="t" rtlCol="false" tIns="0" lIns="0" bIns="0" rIns="0">
            <a:spAutoFit/>
          </a:bodyPr>
          <a:lstStyle/>
          <a:p>
            <a:pPr algn="l">
              <a:lnSpc>
                <a:spcPts val="2463"/>
              </a:lnSpc>
            </a:pPr>
            <a:r>
              <a:rPr lang="en-US" sz="1900">
                <a:solidFill>
                  <a:srgbClr val="111111"/>
                </a:solidFill>
                <a:latin typeface="Arimo"/>
                <a:ea typeface="Arimo"/>
                <a:cs typeface="Arimo"/>
                <a:sym typeface="Arimo"/>
              </a:rPr>
              <a:t>잠긴 중간 노드를 제외해 경로 선택</a:t>
            </a:r>
          </a:p>
        </p:txBody>
      </p:sp>
      <p:grpSp>
        <p:nvGrpSpPr>
          <p:cNvPr name="Group 10" id="10"/>
          <p:cNvGrpSpPr/>
          <p:nvPr/>
        </p:nvGrpSpPr>
        <p:grpSpPr>
          <a:xfrm rot="0">
            <a:off x="8909047" y="8435969"/>
            <a:ext cx="8626478" cy="984247"/>
            <a:chOff x="0" y="0"/>
            <a:chExt cx="11501971" cy="1312329"/>
          </a:xfrm>
        </p:grpSpPr>
        <p:sp>
          <p:nvSpPr>
            <p:cNvPr name="Freeform 11" id="11"/>
            <p:cNvSpPr/>
            <p:nvPr/>
          </p:nvSpPr>
          <p:spPr>
            <a:xfrm flipH="false" flipV="false" rot="0">
              <a:off x="0" y="0"/>
              <a:ext cx="11502059" cy="1312418"/>
            </a:xfrm>
            <a:custGeom>
              <a:avLst/>
              <a:gdLst/>
              <a:ahLst/>
              <a:cxnLst/>
              <a:rect r="r" b="b" t="t" l="l"/>
              <a:pathLst>
                <a:path h="1312418" w="11502059">
                  <a:moveTo>
                    <a:pt x="0" y="155448"/>
                  </a:moveTo>
                  <a:cubicBezTo>
                    <a:pt x="0" y="69596"/>
                    <a:pt x="73692" y="0"/>
                    <a:pt x="164596" y="0"/>
                  </a:cubicBezTo>
                  <a:lnTo>
                    <a:pt x="11337469" y="0"/>
                  </a:lnTo>
                  <a:cubicBezTo>
                    <a:pt x="11428373" y="0"/>
                    <a:pt x="11502059" y="69596"/>
                    <a:pt x="11502059" y="155448"/>
                  </a:cubicBezTo>
                  <a:lnTo>
                    <a:pt x="11502059" y="1156970"/>
                  </a:lnTo>
                  <a:cubicBezTo>
                    <a:pt x="11502059" y="1242822"/>
                    <a:pt x="11428373" y="1312418"/>
                    <a:pt x="11337469" y="1312418"/>
                  </a:cubicBezTo>
                  <a:lnTo>
                    <a:pt x="164596" y="1312418"/>
                  </a:lnTo>
                  <a:cubicBezTo>
                    <a:pt x="73692" y="1312291"/>
                    <a:pt x="0" y="1242695"/>
                    <a:pt x="0" y="1156970"/>
                  </a:cubicBezTo>
                  <a:close/>
                </a:path>
              </a:pathLst>
            </a:custGeom>
            <a:solidFill>
              <a:srgbClr val="F6EEF2"/>
            </a:solidFill>
          </p:spPr>
        </p:sp>
      </p:grpSp>
      <p:sp>
        <p:nvSpPr>
          <p:cNvPr name="TextBox 12" id="12"/>
          <p:cNvSpPr txBox="true"/>
          <p:nvPr/>
        </p:nvSpPr>
        <p:spPr>
          <a:xfrm rot="0">
            <a:off x="9043992" y="8572500"/>
            <a:ext cx="7645403" cy="373222"/>
          </a:xfrm>
          <a:prstGeom prst="rect">
            <a:avLst/>
          </a:prstGeom>
        </p:spPr>
        <p:txBody>
          <a:bodyPr anchor="t" rtlCol="false" tIns="0" lIns="0" bIns="0" rIns="0">
            <a:spAutoFit/>
          </a:bodyPr>
          <a:lstStyle/>
          <a:p>
            <a:pPr algn="l">
              <a:lnSpc>
                <a:spcPts val="2851"/>
              </a:lnSpc>
            </a:pPr>
            <a:r>
              <a:rPr lang="en-US" sz="2200" b="true">
                <a:solidFill>
                  <a:srgbClr val="A14678"/>
                </a:solidFill>
                <a:latin typeface="Arimo Bold"/>
                <a:ea typeface="Arimo Bold"/>
                <a:cs typeface="Arimo Bold"/>
                <a:sym typeface="Arimo Bold"/>
              </a:rPr>
              <a:t>경로 주행 시 : </a:t>
            </a:r>
            <a:r>
              <a:rPr lang="en-US" sz="2200" b="true">
                <a:solidFill>
                  <a:srgbClr val="A14678"/>
                </a:solidFill>
                <a:latin typeface="Arimo Bold"/>
                <a:ea typeface="Arimo Bold"/>
                <a:cs typeface="Arimo Bold"/>
                <a:sym typeface="Arimo Bold"/>
              </a:rPr>
              <a:t>다음 노드 조회</a:t>
            </a:r>
          </a:p>
        </p:txBody>
      </p:sp>
      <p:sp>
        <p:nvSpPr>
          <p:cNvPr name="TextBox 13" id="13"/>
          <p:cNvSpPr txBox="true"/>
          <p:nvPr/>
        </p:nvSpPr>
        <p:spPr>
          <a:xfrm rot="0">
            <a:off x="9043992" y="9026519"/>
            <a:ext cx="7645403" cy="310204"/>
          </a:xfrm>
          <a:prstGeom prst="rect">
            <a:avLst/>
          </a:prstGeom>
        </p:spPr>
        <p:txBody>
          <a:bodyPr anchor="t" rtlCol="false" tIns="0" lIns="0" bIns="0" rIns="0">
            <a:spAutoFit/>
          </a:bodyPr>
          <a:lstStyle/>
          <a:p>
            <a:pPr algn="l">
              <a:lnSpc>
                <a:spcPts val="2463"/>
              </a:lnSpc>
            </a:pPr>
            <a:r>
              <a:rPr lang="en-US" sz="1900">
                <a:solidFill>
                  <a:srgbClr val="111111"/>
                </a:solidFill>
                <a:latin typeface="Arimo"/>
                <a:ea typeface="Arimo"/>
                <a:cs typeface="Arimo"/>
                <a:sym typeface="Arimo"/>
              </a:rPr>
              <a:t>경로 </a:t>
            </a:r>
            <a:r>
              <a:rPr lang="en-US" sz="1900">
                <a:solidFill>
                  <a:srgbClr val="111111"/>
                </a:solidFill>
                <a:latin typeface="Arimo"/>
                <a:ea typeface="Arimo"/>
                <a:cs typeface="Arimo"/>
                <a:sym typeface="Arimo"/>
              </a:rPr>
              <a:t>우선권에 따라 대기 혹은 재출발 결정</a:t>
            </a:r>
          </a:p>
        </p:txBody>
      </p:sp>
      <p:sp>
        <p:nvSpPr>
          <p:cNvPr name="TextBox 14" id="14"/>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21</a:t>
            </a:r>
          </a:p>
        </p:txBody>
      </p:sp>
      <p:sp>
        <p:nvSpPr>
          <p:cNvPr name="TextBox 15" id="15"/>
          <p:cNvSpPr txBox="true"/>
          <p:nvPr/>
        </p:nvSpPr>
        <p:spPr>
          <a:xfrm rot="0">
            <a:off x="9043992" y="2330444"/>
            <a:ext cx="8356597" cy="417195"/>
          </a:xfrm>
          <a:prstGeom prst="rect">
            <a:avLst/>
          </a:prstGeom>
        </p:spPr>
        <p:txBody>
          <a:bodyPr anchor="t" rtlCol="false" tIns="0" lIns="0" bIns="0" rIns="0">
            <a:spAutoFit/>
          </a:bodyPr>
          <a:lstStyle/>
          <a:p>
            <a:pPr algn="l">
              <a:lnSpc>
                <a:spcPts val="3239"/>
              </a:lnSpc>
            </a:pPr>
            <a:r>
              <a:rPr lang="en-US" sz="2499" b="true">
                <a:solidFill>
                  <a:srgbClr val="111111"/>
                </a:solidFill>
                <a:latin typeface="Arimo Bold"/>
                <a:ea typeface="Arimo Bold"/>
                <a:cs typeface="Arimo Bold"/>
                <a:sym typeface="Arimo Bold"/>
              </a:rPr>
              <a:t>경로 우선권 결정 순서</a:t>
            </a:r>
          </a:p>
        </p:txBody>
      </p:sp>
      <p:grpSp>
        <p:nvGrpSpPr>
          <p:cNvPr name="Group 16" id="16"/>
          <p:cNvGrpSpPr/>
          <p:nvPr/>
        </p:nvGrpSpPr>
        <p:grpSpPr>
          <a:xfrm rot="0">
            <a:off x="9037639" y="2920994"/>
            <a:ext cx="3086100" cy="558803"/>
            <a:chOff x="0" y="0"/>
            <a:chExt cx="4114800" cy="745071"/>
          </a:xfrm>
        </p:grpSpPr>
        <p:sp>
          <p:nvSpPr>
            <p:cNvPr name="Freeform 17" id="17"/>
            <p:cNvSpPr/>
            <p:nvPr/>
          </p:nvSpPr>
          <p:spPr>
            <a:xfrm flipH="false" flipV="false" rot="0">
              <a:off x="0" y="0"/>
              <a:ext cx="4114800" cy="744982"/>
            </a:xfrm>
            <a:custGeom>
              <a:avLst/>
              <a:gdLst/>
              <a:ahLst/>
              <a:cxnLst/>
              <a:rect r="r" b="b" t="t" l="l"/>
              <a:pathLst>
                <a:path h="744982" w="4114800">
                  <a:moveTo>
                    <a:pt x="0" y="138557"/>
                  </a:moveTo>
                  <a:cubicBezTo>
                    <a:pt x="0" y="62103"/>
                    <a:pt x="62103" y="0"/>
                    <a:pt x="138557" y="0"/>
                  </a:cubicBezTo>
                  <a:lnTo>
                    <a:pt x="3976243" y="0"/>
                  </a:lnTo>
                  <a:cubicBezTo>
                    <a:pt x="4052697" y="0"/>
                    <a:pt x="4114800" y="62103"/>
                    <a:pt x="4114800" y="138557"/>
                  </a:cubicBezTo>
                  <a:lnTo>
                    <a:pt x="4114800" y="606425"/>
                  </a:lnTo>
                  <a:cubicBezTo>
                    <a:pt x="4114800" y="683006"/>
                    <a:pt x="4052697" y="744982"/>
                    <a:pt x="3976243" y="744982"/>
                  </a:cubicBezTo>
                  <a:lnTo>
                    <a:pt x="138557" y="744982"/>
                  </a:lnTo>
                  <a:cubicBezTo>
                    <a:pt x="62103" y="745109"/>
                    <a:pt x="0" y="683006"/>
                    <a:pt x="0" y="606425"/>
                  </a:cubicBezTo>
                  <a:close/>
                </a:path>
              </a:pathLst>
            </a:custGeom>
            <a:solidFill>
              <a:srgbClr val="F6EEF2"/>
            </a:solidFill>
            <a:ln w="12700" cap="sq">
              <a:solidFill>
                <a:srgbClr val="DCCBD3"/>
              </a:solidFill>
              <a:prstDash val="solid"/>
              <a:miter/>
            </a:ln>
          </p:spPr>
        </p:sp>
      </p:grpSp>
      <p:sp>
        <p:nvSpPr>
          <p:cNvPr name="TextBox 18" id="18"/>
          <p:cNvSpPr txBox="true"/>
          <p:nvPr/>
        </p:nvSpPr>
        <p:spPr>
          <a:xfrm rot="0">
            <a:off x="9145586" y="3038465"/>
            <a:ext cx="2870197" cy="354330"/>
          </a:xfrm>
          <a:prstGeom prst="rect">
            <a:avLst/>
          </a:prstGeom>
        </p:spPr>
        <p:txBody>
          <a:bodyPr anchor="t" rtlCol="false" tIns="0" lIns="0" bIns="0" rIns="0">
            <a:spAutoFit/>
          </a:bodyPr>
          <a:lstStyle/>
          <a:p>
            <a:pPr algn="ctr">
              <a:lnSpc>
                <a:spcPts val="2462"/>
              </a:lnSpc>
            </a:pPr>
            <a:r>
              <a:rPr lang="en-US" sz="1899" b="true">
                <a:solidFill>
                  <a:srgbClr val="A14678"/>
                </a:solidFill>
                <a:latin typeface="Arimo Bold"/>
                <a:ea typeface="Arimo Bold"/>
                <a:cs typeface="Arimo Bold"/>
                <a:sym typeface="Arimo Bold"/>
              </a:rPr>
              <a:t>작업 유형 우선순위</a:t>
            </a:r>
          </a:p>
        </p:txBody>
      </p:sp>
      <p:grpSp>
        <p:nvGrpSpPr>
          <p:cNvPr name="Group 19" id="19"/>
          <p:cNvGrpSpPr/>
          <p:nvPr/>
        </p:nvGrpSpPr>
        <p:grpSpPr>
          <a:xfrm rot="0">
            <a:off x="12682542" y="2920994"/>
            <a:ext cx="2146297" cy="558803"/>
            <a:chOff x="0" y="0"/>
            <a:chExt cx="2861729" cy="745071"/>
          </a:xfrm>
        </p:grpSpPr>
        <p:sp>
          <p:nvSpPr>
            <p:cNvPr name="Freeform 20" id="20"/>
            <p:cNvSpPr/>
            <p:nvPr/>
          </p:nvSpPr>
          <p:spPr>
            <a:xfrm flipH="false" flipV="false" rot="0">
              <a:off x="0" y="0"/>
              <a:ext cx="2861564" cy="744982"/>
            </a:xfrm>
            <a:custGeom>
              <a:avLst/>
              <a:gdLst/>
              <a:ahLst/>
              <a:cxnLst/>
              <a:rect r="r" b="b" t="t" l="l"/>
              <a:pathLst>
                <a:path h="744982" w="2861564">
                  <a:moveTo>
                    <a:pt x="0" y="138557"/>
                  </a:moveTo>
                  <a:cubicBezTo>
                    <a:pt x="0" y="62103"/>
                    <a:pt x="62103" y="0"/>
                    <a:pt x="138557" y="0"/>
                  </a:cubicBezTo>
                  <a:lnTo>
                    <a:pt x="2723007" y="0"/>
                  </a:lnTo>
                  <a:cubicBezTo>
                    <a:pt x="2799588" y="0"/>
                    <a:pt x="2861564" y="62103"/>
                    <a:pt x="2861564" y="138557"/>
                  </a:cubicBezTo>
                  <a:lnTo>
                    <a:pt x="2861564" y="606425"/>
                  </a:lnTo>
                  <a:cubicBezTo>
                    <a:pt x="2861564" y="683006"/>
                    <a:pt x="2799461" y="744982"/>
                    <a:pt x="2723007" y="744982"/>
                  </a:cubicBezTo>
                  <a:lnTo>
                    <a:pt x="138557" y="744982"/>
                  </a:lnTo>
                  <a:cubicBezTo>
                    <a:pt x="62103" y="745109"/>
                    <a:pt x="0" y="683006"/>
                    <a:pt x="0" y="606425"/>
                  </a:cubicBezTo>
                  <a:close/>
                </a:path>
              </a:pathLst>
            </a:custGeom>
            <a:solidFill>
              <a:srgbClr val="F6EEF2"/>
            </a:solidFill>
            <a:ln w="12700" cap="sq">
              <a:solidFill>
                <a:srgbClr val="DCCBD3"/>
              </a:solidFill>
              <a:prstDash val="solid"/>
              <a:miter/>
            </a:ln>
          </p:spPr>
        </p:sp>
      </p:grpSp>
      <p:sp>
        <p:nvSpPr>
          <p:cNvPr name="TextBox 21" id="21"/>
          <p:cNvSpPr txBox="true"/>
          <p:nvPr/>
        </p:nvSpPr>
        <p:spPr>
          <a:xfrm rot="0">
            <a:off x="12790489" y="3038465"/>
            <a:ext cx="1930403" cy="354330"/>
          </a:xfrm>
          <a:prstGeom prst="rect">
            <a:avLst/>
          </a:prstGeom>
        </p:spPr>
        <p:txBody>
          <a:bodyPr anchor="t" rtlCol="false" tIns="0" lIns="0" bIns="0" rIns="0">
            <a:spAutoFit/>
          </a:bodyPr>
          <a:lstStyle/>
          <a:p>
            <a:pPr algn="ctr">
              <a:lnSpc>
                <a:spcPts val="2462"/>
              </a:lnSpc>
            </a:pPr>
            <a:r>
              <a:rPr lang="en-US" sz="1899" b="true">
                <a:solidFill>
                  <a:srgbClr val="A14678"/>
                </a:solidFill>
                <a:latin typeface="Arimo Bold"/>
                <a:ea typeface="Arimo Bold"/>
                <a:cs typeface="Arimo Bold"/>
                <a:sym typeface="Arimo Bold"/>
              </a:rPr>
              <a:t>착수 시각</a:t>
            </a:r>
          </a:p>
        </p:txBody>
      </p:sp>
      <p:grpSp>
        <p:nvGrpSpPr>
          <p:cNvPr name="Group 22" id="22"/>
          <p:cNvGrpSpPr/>
          <p:nvPr/>
        </p:nvGrpSpPr>
        <p:grpSpPr>
          <a:xfrm rot="0">
            <a:off x="15374936" y="2920994"/>
            <a:ext cx="2031997" cy="558803"/>
            <a:chOff x="0" y="0"/>
            <a:chExt cx="2709329" cy="745071"/>
          </a:xfrm>
        </p:grpSpPr>
        <p:sp>
          <p:nvSpPr>
            <p:cNvPr name="Freeform 23" id="23"/>
            <p:cNvSpPr/>
            <p:nvPr/>
          </p:nvSpPr>
          <p:spPr>
            <a:xfrm flipH="false" flipV="false" rot="0">
              <a:off x="0" y="0"/>
              <a:ext cx="2709164" cy="744982"/>
            </a:xfrm>
            <a:custGeom>
              <a:avLst/>
              <a:gdLst/>
              <a:ahLst/>
              <a:cxnLst/>
              <a:rect r="r" b="b" t="t" l="l"/>
              <a:pathLst>
                <a:path h="744982" w="2709164">
                  <a:moveTo>
                    <a:pt x="0" y="138557"/>
                  </a:moveTo>
                  <a:cubicBezTo>
                    <a:pt x="0" y="62103"/>
                    <a:pt x="62103" y="0"/>
                    <a:pt x="138557" y="0"/>
                  </a:cubicBezTo>
                  <a:lnTo>
                    <a:pt x="2570607" y="0"/>
                  </a:lnTo>
                  <a:cubicBezTo>
                    <a:pt x="2647188" y="0"/>
                    <a:pt x="2709164" y="62103"/>
                    <a:pt x="2709164" y="138557"/>
                  </a:cubicBezTo>
                  <a:lnTo>
                    <a:pt x="2709164" y="606425"/>
                  </a:lnTo>
                  <a:cubicBezTo>
                    <a:pt x="2709164" y="683006"/>
                    <a:pt x="2647061" y="744982"/>
                    <a:pt x="2570607" y="744982"/>
                  </a:cubicBezTo>
                  <a:lnTo>
                    <a:pt x="138557" y="744982"/>
                  </a:lnTo>
                  <a:cubicBezTo>
                    <a:pt x="62103" y="745109"/>
                    <a:pt x="0" y="683006"/>
                    <a:pt x="0" y="606425"/>
                  </a:cubicBezTo>
                  <a:close/>
                </a:path>
              </a:pathLst>
            </a:custGeom>
            <a:solidFill>
              <a:srgbClr val="F6EEF2"/>
            </a:solidFill>
            <a:ln w="12700" cap="sq">
              <a:solidFill>
                <a:srgbClr val="DCCBD3"/>
              </a:solidFill>
              <a:prstDash val="solid"/>
              <a:miter/>
            </a:ln>
          </p:spPr>
        </p:sp>
      </p:grpSp>
      <p:sp>
        <p:nvSpPr>
          <p:cNvPr name="TextBox 24" id="24"/>
          <p:cNvSpPr txBox="true"/>
          <p:nvPr/>
        </p:nvSpPr>
        <p:spPr>
          <a:xfrm rot="0">
            <a:off x="15482892" y="3038465"/>
            <a:ext cx="1816103" cy="354330"/>
          </a:xfrm>
          <a:prstGeom prst="rect">
            <a:avLst/>
          </a:prstGeom>
        </p:spPr>
        <p:txBody>
          <a:bodyPr anchor="t" rtlCol="false" tIns="0" lIns="0" bIns="0" rIns="0">
            <a:spAutoFit/>
          </a:bodyPr>
          <a:lstStyle/>
          <a:p>
            <a:pPr algn="ctr">
              <a:lnSpc>
                <a:spcPts val="2462"/>
              </a:lnSpc>
            </a:pPr>
            <a:r>
              <a:rPr lang="en-US" sz="1899" b="true">
                <a:solidFill>
                  <a:srgbClr val="A14678"/>
                </a:solidFill>
                <a:latin typeface="Arimo Bold"/>
                <a:ea typeface="Arimo Bold"/>
                <a:cs typeface="Arimo Bold"/>
                <a:sym typeface="Arimo Bold"/>
              </a:rPr>
              <a:t>로봇 ID</a:t>
            </a:r>
          </a:p>
        </p:txBody>
      </p:sp>
      <p:sp>
        <p:nvSpPr>
          <p:cNvPr name="TextBox 25" id="25"/>
          <p:cNvSpPr txBox="true"/>
          <p:nvPr/>
        </p:nvSpPr>
        <p:spPr>
          <a:xfrm rot="0">
            <a:off x="9169403" y="3632197"/>
            <a:ext cx="8356597" cy="329565"/>
          </a:xfrm>
          <a:prstGeom prst="rect">
            <a:avLst/>
          </a:prstGeom>
        </p:spPr>
        <p:txBody>
          <a:bodyPr anchor="t" rtlCol="false" tIns="0" lIns="0" bIns="0" rIns="0">
            <a:spAutoFit/>
          </a:bodyPr>
          <a:lstStyle/>
          <a:p>
            <a:pPr algn="l">
              <a:lnSpc>
                <a:spcPts val="2203"/>
              </a:lnSpc>
            </a:pPr>
            <a:r>
              <a:rPr lang="en-US" sz="1700">
                <a:solidFill>
                  <a:srgbClr val="666666"/>
                </a:solidFill>
                <a:latin typeface="Arimo"/>
                <a:ea typeface="Arimo"/>
                <a:cs typeface="Arimo"/>
                <a:sym typeface="Arimo"/>
              </a:rPr>
              <a:t>착수 시각이 없으면 생성 시각을 사용합니다.</a:t>
            </a:r>
          </a:p>
        </p:txBody>
      </p:sp>
      <p:grpSp>
        <p:nvGrpSpPr>
          <p:cNvPr name="Group 26" id="26"/>
          <p:cNvGrpSpPr/>
          <p:nvPr/>
        </p:nvGrpSpPr>
        <p:grpSpPr>
          <a:xfrm rot="0">
            <a:off x="9163050" y="4197353"/>
            <a:ext cx="457200" cy="431797"/>
            <a:chOff x="0" y="0"/>
            <a:chExt cx="609600" cy="575729"/>
          </a:xfrm>
        </p:grpSpPr>
        <p:sp>
          <p:nvSpPr>
            <p:cNvPr name="Freeform 27" id="27"/>
            <p:cNvSpPr/>
            <p:nvPr/>
          </p:nvSpPr>
          <p:spPr>
            <a:xfrm flipH="false" flipV="false" rot="0">
              <a:off x="0" y="0"/>
              <a:ext cx="609600" cy="575691"/>
            </a:xfrm>
            <a:custGeom>
              <a:avLst/>
              <a:gdLst/>
              <a:ahLst/>
              <a:cxnLst/>
              <a:rect r="r" b="b" t="t" l="l"/>
              <a:pathLst>
                <a:path h="575691" w="609600">
                  <a:moveTo>
                    <a:pt x="0" y="139573"/>
                  </a:moveTo>
                  <a:cubicBezTo>
                    <a:pt x="0" y="62484"/>
                    <a:pt x="62484" y="0"/>
                    <a:pt x="139573" y="0"/>
                  </a:cubicBezTo>
                  <a:lnTo>
                    <a:pt x="470027" y="0"/>
                  </a:lnTo>
                  <a:cubicBezTo>
                    <a:pt x="547116" y="0"/>
                    <a:pt x="609600" y="62484"/>
                    <a:pt x="609600" y="139573"/>
                  </a:cubicBezTo>
                  <a:lnTo>
                    <a:pt x="609600" y="436118"/>
                  </a:lnTo>
                  <a:cubicBezTo>
                    <a:pt x="609600" y="513207"/>
                    <a:pt x="547116" y="575691"/>
                    <a:pt x="470027" y="575691"/>
                  </a:cubicBezTo>
                  <a:lnTo>
                    <a:pt x="139573" y="575691"/>
                  </a:lnTo>
                  <a:cubicBezTo>
                    <a:pt x="62484" y="575691"/>
                    <a:pt x="0" y="513207"/>
                    <a:pt x="0" y="436118"/>
                  </a:cubicBezTo>
                  <a:close/>
                </a:path>
              </a:pathLst>
            </a:custGeom>
            <a:solidFill>
              <a:srgbClr val="F6EEF2"/>
            </a:solidFill>
          </p:spPr>
        </p:sp>
      </p:grpSp>
      <p:sp>
        <p:nvSpPr>
          <p:cNvPr name="TextBox 28" id="28"/>
          <p:cNvSpPr txBox="true"/>
          <p:nvPr/>
        </p:nvSpPr>
        <p:spPr>
          <a:xfrm rot="0">
            <a:off x="9169403" y="4276725"/>
            <a:ext cx="444503" cy="285750"/>
          </a:xfrm>
          <a:prstGeom prst="rect">
            <a:avLst/>
          </a:prstGeom>
        </p:spPr>
        <p:txBody>
          <a:bodyPr anchor="t" rtlCol="false" tIns="0" lIns="0" bIns="0" rIns="0">
            <a:spAutoFit/>
          </a:bodyPr>
          <a:lstStyle/>
          <a:p>
            <a:pPr algn="ctr">
              <a:lnSpc>
                <a:spcPts val="1944"/>
              </a:lnSpc>
            </a:pPr>
            <a:r>
              <a:rPr lang="en-US" sz="1500" b="true">
                <a:solidFill>
                  <a:srgbClr val="A14678"/>
                </a:solidFill>
                <a:latin typeface="Arimo Bold"/>
                <a:ea typeface="Arimo Bold"/>
                <a:cs typeface="Arimo Bold"/>
                <a:sym typeface="Arimo Bold"/>
              </a:rPr>
              <a:t>01</a:t>
            </a:r>
          </a:p>
        </p:txBody>
      </p:sp>
      <p:sp>
        <p:nvSpPr>
          <p:cNvPr name="TextBox 29" id="29"/>
          <p:cNvSpPr txBox="true"/>
          <p:nvPr/>
        </p:nvSpPr>
        <p:spPr>
          <a:xfrm rot="0">
            <a:off x="9804397" y="4152900"/>
            <a:ext cx="7721603" cy="443332"/>
          </a:xfrm>
          <a:prstGeom prst="rect">
            <a:avLst/>
          </a:prstGeom>
        </p:spPr>
        <p:txBody>
          <a:bodyPr anchor="t" rtlCol="false" tIns="0" lIns="0" bIns="0" rIns="0">
            <a:spAutoFit/>
          </a:bodyPr>
          <a:lstStyle/>
          <a:p>
            <a:pPr algn="l">
              <a:lnSpc>
                <a:spcPts val="3499"/>
              </a:lnSpc>
            </a:pPr>
            <a:r>
              <a:rPr lang="en-US" sz="2700" b="true">
                <a:solidFill>
                  <a:srgbClr val="111111"/>
                </a:solidFill>
                <a:latin typeface="Arimo Bold"/>
                <a:ea typeface="Arimo Bold"/>
                <a:cs typeface="Arimo Bold"/>
                <a:sym typeface="Arimo Bold"/>
              </a:rPr>
              <a:t>두 로봇의 다음 목표가 같은 노드로 겹침</a:t>
            </a:r>
          </a:p>
        </p:txBody>
      </p:sp>
      <p:sp>
        <p:nvSpPr>
          <p:cNvPr name="TextBox 30" id="30"/>
          <p:cNvSpPr txBox="true"/>
          <p:nvPr/>
        </p:nvSpPr>
        <p:spPr>
          <a:xfrm rot="0">
            <a:off x="9804397" y="4730753"/>
            <a:ext cx="7721603" cy="361950"/>
          </a:xfrm>
          <a:prstGeom prst="rect">
            <a:avLst/>
          </a:prstGeom>
        </p:spPr>
        <p:txBody>
          <a:bodyPr anchor="t" rtlCol="false" tIns="0" lIns="0" bIns="0" rIns="0">
            <a:spAutoFit/>
          </a:bodyPr>
          <a:lstStyle/>
          <a:p>
            <a:pPr algn="l">
              <a:lnSpc>
                <a:spcPts val="2592"/>
              </a:lnSpc>
            </a:pPr>
            <a:r>
              <a:rPr lang="en-US" sz="2000">
                <a:solidFill>
                  <a:srgbClr val="666666"/>
                </a:solidFill>
                <a:latin typeface="Arimo"/>
                <a:ea typeface="Arimo"/>
                <a:cs typeface="Arimo"/>
                <a:sym typeface="Arimo"/>
              </a:rPr>
              <a:t>다음 노드의 점유 상태와 다른 로봇의 목표를 비교</a:t>
            </a:r>
          </a:p>
        </p:txBody>
      </p:sp>
      <p:grpSp>
        <p:nvGrpSpPr>
          <p:cNvPr name="Group 31" id="31"/>
          <p:cNvGrpSpPr/>
          <p:nvPr/>
        </p:nvGrpSpPr>
        <p:grpSpPr>
          <a:xfrm rot="0">
            <a:off x="9163050" y="5568953"/>
            <a:ext cx="457200" cy="431797"/>
            <a:chOff x="0" y="0"/>
            <a:chExt cx="609600" cy="575729"/>
          </a:xfrm>
        </p:grpSpPr>
        <p:sp>
          <p:nvSpPr>
            <p:cNvPr name="Freeform 32" id="32"/>
            <p:cNvSpPr/>
            <p:nvPr/>
          </p:nvSpPr>
          <p:spPr>
            <a:xfrm flipH="false" flipV="false" rot="0">
              <a:off x="0" y="0"/>
              <a:ext cx="609600" cy="575691"/>
            </a:xfrm>
            <a:custGeom>
              <a:avLst/>
              <a:gdLst/>
              <a:ahLst/>
              <a:cxnLst/>
              <a:rect r="r" b="b" t="t" l="l"/>
              <a:pathLst>
                <a:path h="575691" w="609600">
                  <a:moveTo>
                    <a:pt x="0" y="139573"/>
                  </a:moveTo>
                  <a:cubicBezTo>
                    <a:pt x="0" y="62484"/>
                    <a:pt x="62484" y="0"/>
                    <a:pt x="139573" y="0"/>
                  </a:cubicBezTo>
                  <a:lnTo>
                    <a:pt x="470027" y="0"/>
                  </a:lnTo>
                  <a:cubicBezTo>
                    <a:pt x="547116" y="0"/>
                    <a:pt x="609600" y="62484"/>
                    <a:pt x="609600" y="139573"/>
                  </a:cubicBezTo>
                  <a:lnTo>
                    <a:pt x="609600" y="436118"/>
                  </a:lnTo>
                  <a:cubicBezTo>
                    <a:pt x="609600" y="513207"/>
                    <a:pt x="547116" y="575691"/>
                    <a:pt x="470027" y="575691"/>
                  </a:cubicBezTo>
                  <a:lnTo>
                    <a:pt x="139573" y="575691"/>
                  </a:lnTo>
                  <a:cubicBezTo>
                    <a:pt x="62484" y="575691"/>
                    <a:pt x="0" y="513207"/>
                    <a:pt x="0" y="436118"/>
                  </a:cubicBezTo>
                  <a:close/>
                </a:path>
              </a:pathLst>
            </a:custGeom>
            <a:solidFill>
              <a:srgbClr val="F6EEF2"/>
            </a:solidFill>
          </p:spPr>
        </p:sp>
      </p:grpSp>
      <p:sp>
        <p:nvSpPr>
          <p:cNvPr name="TextBox 33" id="33"/>
          <p:cNvSpPr txBox="true"/>
          <p:nvPr/>
        </p:nvSpPr>
        <p:spPr>
          <a:xfrm rot="0">
            <a:off x="9169403" y="5648325"/>
            <a:ext cx="444503" cy="285750"/>
          </a:xfrm>
          <a:prstGeom prst="rect">
            <a:avLst/>
          </a:prstGeom>
        </p:spPr>
        <p:txBody>
          <a:bodyPr anchor="t" rtlCol="false" tIns="0" lIns="0" bIns="0" rIns="0">
            <a:spAutoFit/>
          </a:bodyPr>
          <a:lstStyle/>
          <a:p>
            <a:pPr algn="ctr">
              <a:lnSpc>
                <a:spcPts val="1944"/>
              </a:lnSpc>
            </a:pPr>
            <a:r>
              <a:rPr lang="en-US" sz="1500" b="true">
                <a:solidFill>
                  <a:srgbClr val="A14678"/>
                </a:solidFill>
                <a:latin typeface="Arimo Bold"/>
                <a:ea typeface="Arimo Bold"/>
                <a:cs typeface="Arimo Bold"/>
                <a:sym typeface="Arimo Bold"/>
              </a:rPr>
              <a:t>02</a:t>
            </a:r>
          </a:p>
        </p:txBody>
      </p:sp>
      <p:sp>
        <p:nvSpPr>
          <p:cNvPr name="TextBox 34" id="34"/>
          <p:cNvSpPr txBox="true"/>
          <p:nvPr/>
        </p:nvSpPr>
        <p:spPr>
          <a:xfrm rot="0">
            <a:off x="9804397" y="5524500"/>
            <a:ext cx="7721603" cy="501015"/>
          </a:xfrm>
          <a:prstGeom prst="rect">
            <a:avLst/>
          </a:prstGeom>
        </p:spPr>
        <p:txBody>
          <a:bodyPr anchor="t" rtlCol="false" tIns="0" lIns="0" bIns="0" rIns="0">
            <a:spAutoFit/>
          </a:bodyPr>
          <a:lstStyle/>
          <a:p>
            <a:pPr algn="l">
              <a:lnSpc>
                <a:spcPts val="3499"/>
              </a:lnSpc>
            </a:pPr>
            <a:r>
              <a:rPr lang="en-US" sz="2700" b="true">
                <a:solidFill>
                  <a:srgbClr val="111111"/>
                </a:solidFill>
                <a:latin typeface="Arimo Bold"/>
                <a:ea typeface="Arimo Bold"/>
                <a:cs typeface="Arimo Bold"/>
                <a:sym typeface="Arimo Bold"/>
              </a:rPr>
              <a:t>구호는 진행, 이동은 양보 대기</a:t>
            </a:r>
          </a:p>
        </p:txBody>
      </p:sp>
      <p:sp>
        <p:nvSpPr>
          <p:cNvPr name="TextBox 35" id="35"/>
          <p:cNvSpPr txBox="true"/>
          <p:nvPr/>
        </p:nvSpPr>
        <p:spPr>
          <a:xfrm rot="0">
            <a:off x="9804397" y="6102353"/>
            <a:ext cx="7721603" cy="318516"/>
          </a:xfrm>
          <a:prstGeom prst="rect">
            <a:avLst/>
          </a:prstGeom>
        </p:spPr>
        <p:txBody>
          <a:bodyPr anchor="t" rtlCol="false" tIns="0" lIns="0" bIns="0" rIns="0">
            <a:spAutoFit/>
          </a:bodyPr>
          <a:lstStyle/>
          <a:p>
            <a:pPr algn="l">
              <a:lnSpc>
                <a:spcPts val="2592"/>
              </a:lnSpc>
            </a:pPr>
            <a:r>
              <a:rPr lang="en-US" sz="2000">
                <a:solidFill>
                  <a:srgbClr val="666666"/>
                </a:solidFill>
                <a:latin typeface="Arimo"/>
                <a:ea typeface="Arimo"/>
                <a:cs typeface="Arimo"/>
                <a:sym typeface="Arimo"/>
              </a:rPr>
              <a:t>구호(PROCESS) &gt; 이동(MOVE) &gt; 충전(CHARGE)</a:t>
            </a:r>
          </a:p>
        </p:txBody>
      </p:sp>
      <p:grpSp>
        <p:nvGrpSpPr>
          <p:cNvPr name="Group 36" id="36"/>
          <p:cNvGrpSpPr/>
          <p:nvPr/>
        </p:nvGrpSpPr>
        <p:grpSpPr>
          <a:xfrm rot="0">
            <a:off x="9163050" y="6940553"/>
            <a:ext cx="457200" cy="431797"/>
            <a:chOff x="0" y="0"/>
            <a:chExt cx="609600" cy="575729"/>
          </a:xfrm>
        </p:grpSpPr>
        <p:sp>
          <p:nvSpPr>
            <p:cNvPr name="Freeform 37" id="37"/>
            <p:cNvSpPr/>
            <p:nvPr/>
          </p:nvSpPr>
          <p:spPr>
            <a:xfrm flipH="false" flipV="false" rot="0">
              <a:off x="0" y="0"/>
              <a:ext cx="609600" cy="575691"/>
            </a:xfrm>
            <a:custGeom>
              <a:avLst/>
              <a:gdLst/>
              <a:ahLst/>
              <a:cxnLst/>
              <a:rect r="r" b="b" t="t" l="l"/>
              <a:pathLst>
                <a:path h="575691" w="609600">
                  <a:moveTo>
                    <a:pt x="0" y="139573"/>
                  </a:moveTo>
                  <a:cubicBezTo>
                    <a:pt x="0" y="62484"/>
                    <a:pt x="62484" y="0"/>
                    <a:pt x="139573" y="0"/>
                  </a:cubicBezTo>
                  <a:lnTo>
                    <a:pt x="470027" y="0"/>
                  </a:lnTo>
                  <a:cubicBezTo>
                    <a:pt x="547116" y="0"/>
                    <a:pt x="609600" y="62484"/>
                    <a:pt x="609600" y="139573"/>
                  </a:cubicBezTo>
                  <a:lnTo>
                    <a:pt x="609600" y="436118"/>
                  </a:lnTo>
                  <a:cubicBezTo>
                    <a:pt x="609600" y="513207"/>
                    <a:pt x="547116" y="575691"/>
                    <a:pt x="470027" y="575691"/>
                  </a:cubicBezTo>
                  <a:lnTo>
                    <a:pt x="139573" y="575691"/>
                  </a:lnTo>
                  <a:cubicBezTo>
                    <a:pt x="62484" y="575691"/>
                    <a:pt x="0" y="513207"/>
                    <a:pt x="0" y="436118"/>
                  </a:cubicBezTo>
                  <a:close/>
                </a:path>
              </a:pathLst>
            </a:custGeom>
            <a:solidFill>
              <a:srgbClr val="F6EEF2"/>
            </a:solidFill>
          </p:spPr>
        </p:sp>
      </p:grpSp>
      <p:sp>
        <p:nvSpPr>
          <p:cNvPr name="TextBox 38" id="38"/>
          <p:cNvSpPr txBox="true"/>
          <p:nvPr/>
        </p:nvSpPr>
        <p:spPr>
          <a:xfrm rot="0">
            <a:off x="9169403" y="7019925"/>
            <a:ext cx="444503" cy="285750"/>
          </a:xfrm>
          <a:prstGeom prst="rect">
            <a:avLst/>
          </a:prstGeom>
        </p:spPr>
        <p:txBody>
          <a:bodyPr anchor="t" rtlCol="false" tIns="0" lIns="0" bIns="0" rIns="0">
            <a:spAutoFit/>
          </a:bodyPr>
          <a:lstStyle/>
          <a:p>
            <a:pPr algn="ctr">
              <a:lnSpc>
                <a:spcPts val="1944"/>
              </a:lnSpc>
            </a:pPr>
            <a:r>
              <a:rPr lang="en-US" sz="1500" b="true">
                <a:solidFill>
                  <a:srgbClr val="A14678"/>
                </a:solidFill>
                <a:latin typeface="Arimo Bold"/>
                <a:ea typeface="Arimo Bold"/>
                <a:cs typeface="Arimo Bold"/>
                <a:sym typeface="Arimo Bold"/>
              </a:rPr>
              <a:t>03</a:t>
            </a:r>
          </a:p>
        </p:txBody>
      </p:sp>
      <p:sp>
        <p:nvSpPr>
          <p:cNvPr name="TextBox 39" id="39"/>
          <p:cNvSpPr txBox="true"/>
          <p:nvPr/>
        </p:nvSpPr>
        <p:spPr>
          <a:xfrm rot="0">
            <a:off x="9804397" y="6896100"/>
            <a:ext cx="7721603" cy="501015"/>
          </a:xfrm>
          <a:prstGeom prst="rect">
            <a:avLst/>
          </a:prstGeom>
        </p:spPr>
        <p:txBody>
          <a:bodyPr anchor="t" rtlCol="false" tIns="0" lIns="0" bIns="0" rIns="0">
            <a:spAutoFit/>
          </a:bodyPr>
          <a:lstStyle/>
          <a:p>
            <a:pPr algn="l">
              <a:lnSpc>
                <a:spcPts val="3499"/>
              </a:lnSpc>
            </a:pPr>
            <a:r>
              <a:rPr lang="en-US" sz="2700" b="true">
                <a:solidFill>
                  <a:srgbClr val="111111"/>
                </a:solidFill>
                <a:latin typeface="Arimo Bold"/>
                <a:ea typeface="Arimo Bold"/>
                <a:cs typeface="Arimo Bold"/>
                <a:sym typeface="Arimo Bold"/>
              </a:rPr>
              <a:t>조건 해소 후 남은 경로로 재출발</a:t>
            </a:r>
          </a:p>
        </p:txBody>
      </p:sp>
      <p:sp>
        <p:nvSpPr>
          <p:cNvPr name="TextBox 40" id="40"/>
          <p:cNvSpPr txBox="true"/>
          <p:nvPr/>
        </p:nvSpPr>
        <p:spPr>
          <a:xfrm rot="0">
            <a:off x="9804397" y="7473953"/>
            <a:ext cx="7721603" cy="704850"/>
          </a:xfrm>
          <a:prstGeom prst="rect">
            <a:avLst/>
          </a:prstGeom>
        </p:spPr>
        <p:txBody>
          <a:bodyPr anchor="t" rtlCol="false" tIns="0" lIns="0" bIns="0" rIns="0">
            <a:spAutoFit/>
          </a:bodyPr>
          <a:lstStyle/>
          <a:p>
            <a:pPr algn="l">
              <a:lnSpc>
                <a:spcPts val="2592"/>
              </a:lnSpc>
            </a:pPr>
            <a:r>
              <a:rPr lang="en-US" sz="2000">
                <a:solidFill>
                  <a:srgbClr val="666666"/>
                </a:solidFill>
                <a:latin typeface="Arimo"/>
                <a:ea typeface="Arimo"/>
                <a:cs typeface="Arimo"/>
                <a:sym typeface="Arimo"/>
              </a:rPr>
              <a:t>tb3_01은 N04에서 완료</a:t>
            </a:r>
          </a:p>
          <a:p>
            <a:pPr algn="l">
              <a:lnSpc>
                <a:spcPts val="2592"/>
              </a:lnSpc>
            </a:pPr>
            <a:r>
              <a:rPr lang="en-US" sz="2000">
                <a:solidFill>
                  <a:srgbClr val="666666"/>
                </a:solidFill>
                <a:latin typeface="Arimo"/>
                <a:ea typeface="Arimo"/>
                <a:cs typeface="Arimo"/>
                <a:sym typeface="Arimo"/>
              </a:rPr>
              <a:t>tb3_02는 N03 → N05로 이동을 이어감</a:t>
            </a:r>
          </a:p>
        </p:txBody>
      </p:sp>
      <p:sp>
        <p:nvSpPr>
          <p:cNvPr name="AutoShape 41" id="41"/>
          <p:cNvSpPr/>
          <p:nvPr/>
        </p:nvSpPr>
        <p:spPr>
          <a:xfrm>
            <a:off x="12123739" y="3200395"/>
            <a:ext cx="519662" cy="29523"/>
          </a:xfrm>
          <a:prstGeom prst="line">
            <a:avLst/>
          </a:prstGeom>
          <a:ln cap="flat" w="19050">
            <a:solidFill>
              <a:srgbClr val="000000"/>
            </a:solidFill>
            <a:prstDash val="solid"/>
            <a:headEnd type="none" len="sm" w="sm"/>
            <a:tailEnd type="triangle" len="med" w="lg"/>
          </a:ln>
        </p:spPr>
      </p:sp>
      <p:sp>
        <p:nvSpPr>
          <p:cNvPr name="AutoShape 42" id="42"/>
          <p:cNvSpPr/>
          <p:nvPr/>
        </p:nvSpPr>
        <p:spPr>
          <a:xfrm>
            <a:off x="14828715" y="3200395"/>
            <a:ext cx="455886" cy="0"/>
          </a:xfrm>
          <a:prstGeom prst="line">
            <a:avLst/>
          </a:prstGeom>
          <a:ln cap="flat" w="19050">
            <a:solidFill>
              <a:srgbClr val="000000"/>
            </a:solidFill>
            <a:prstDash val="solid"/>
            <a:headEnd type="none" len="sm" w="sm"/>
            <a:tailEnd type="triangle" len="med" w="lg"/>
          </a:ln>
        </p:spPr>
      </p:sp>
      <p:grpSp>
        <p:nvGrpSpPr>
          <p:cNvPr name="Group 43" id="43"/>
          <p:cNvGrpSpPr/>
          <p:nvPr/>
        </p:nvGrpSpPr>
        <p:grpSpPr>
          <a:xfrm rot="0">
            <a:off x="762000" y="2123870"/>
            <a:ext cx="8020050" cy="6207323"/>
            <a:chOff x="0" y="0"/>
            <a:chExt cx="10693400" cy="8276431"/>
          </a:xfrm>
        </p:grpSpPr>
        <p:sp>
          <p:nvSpPr>
            <p:cNvPr name="Freeform 44" id="44"/>
            <p:cNvSpPr/>
            <p:nvPr/>
          </p:nvSpPr>
          <p:spPr>
            <a:xfrm flipH="false" flipV="false" rot="0">
              <a:off x="0" y="0"/>
              <a:ext cx="10693400" cy="8276431"/>
            </a:xfrm>
            <a:custGeom>
              <a:avLst/>
              <a:gdLst/>
              <a:ahLst/>
              <a:cxnLst/>
              <a:rect r="r" b="b" t="t" l="l"/>
              <a:pathLst>
                <a:path h="8276431" w="10693400">
                  <a:moveTo>
                    <a:pt x="0" y="128972"/>
                  </a:moveTo>
                  <a:cubicBezTo>
                    <a:pt x="0" y="57790"/>
                    <a:pt x="60833" y="0"/>
                    <a:pt x="135763" y="0"/>
                  </a:cubicBezTo>
                  <a:lnTo>
                    <a:pt x="10557637" y="0"/>
                  </a:lnTo>
                  <a:cubicBezTo>
                    <a:pt x="10632567" y="0"/>
                    <a:pt x="10693400" y="57790"/>
                    <a:pt x="10693400" y="128972"/>
                  </a:cubicBezTo>
                  <a:lnTo>
                    <a:pt x="10693400" y="8147459"/>
                  </a:lnTo>
                  <a:cubicBezTo>
                    <a:pt x="10693400" y="8218761"/>
                    <a:pt x="10632567" y="8276431"/>
                    <a:pt x="10557637" y="8276431"/>
                  </a:cubicBezTo>
                  <a:lnTo>
                    <a:pt x="135763" y="8276431"/>
                  </a:lnTo>
                  <a:cubicBezTo>
                    <a:pt x="60833" y="8276431"/>
                    <a:pt x="0" y="8218641"/>
                    <a:pt x="0" y="8147459"/>
                  </a:cubicBezTo>
                  <a:close/>
                </a:path>
              </a:pathLst>
            </a:custGeom>
            <a:blipFill>
              <a:blip r:embed="rId3"/>
              <a:stretch>
                <a:fillRect l="0" t="-4355" r="0" b="-4355"/>
              </a:stretch>
            </a:blipFill>
            <a:ln w="38100" cap="sq">
              <a:solidFill>
                <a:srgbClr val="111111"/>
              </a:solidFill>
              <a:prstDash val="solid"/>
              <a:miter/>
            </a:ln>
          </p:spPr>
        </p:sp>
      </p:grpSp>
      <p:grpSp>
        <p:nvGrpSpPr>
          <p:cNvPr name="Group 45" id="45"/>
          <p:cNvGrpSpPr/>
          <p:nvPr/>
        </p:nvGrpSpPr>
        <p:grpSpPr>
          <a:xfrm rot="0">
            <a:off x="1012822" y="2344731"/>
            <a:ext cx="1441447" cy="476250"/>
            <a:chOff x="0" y="0"/>
            <a:chExt cx="1921929" cy="635000"/>
          </a:xfrm>
        </p:grpSpPr>
        <p:grpSp>
          <p:nvGrpSpPr>
            <p:cNvPr name="Group 46" id="46"/>
            <p:cNvGrpSpPr/>
            <p:nvPr/>
          </p:nvGrpSpPr>
          <p:grpSpPr>
            <a:xfrm rot="0">
              <a:off x="0" y="0"/>
              <a:ext cx="1921929" cy="635000"/>
              <a:chOff x="0" y="0"/>
              <a:chExt cx="1921929" cy="635000"/>
            </a:xfrm>
          </p:grpSpPr>
          <p:sp>
            <p:nvSpPr>
              <p:cNvPr name="Freeform 47" id="47"/>
              <p:cNvSpPr/>
              <p:nvPr/>
            </p:nvSpPr>
            <p:spPr>
              <a:xfrm flipH="false" flipV="false" rot="0">
                <a:off x="0" y="0"/>
                <a:ext cx="1921891" cy="635000"/>
              </a:xfrm>
              <a:custGeom>
                <a:avLst/>
                <a:gdLst/>
                <a:ahLst/>
                <a:cxnLst/>
                <a:rect r="r" b="b" t="t" l="l"/>
                <a:pathLst>
                  <a:path h="635000" w="1921891">
                    <a:moveTo>
                      <a:pt x="0" y="114300"/>
                    </a:moveTo>
                    <a:cubicBezTo>
                      <a:pt x="0" y="51181"/>
                      <a:pt x="51181" y="0"/>
                      <a:pt x="114300" y="0"/>
                    </a:cubicBezTo>
                    <a:lnTo>
                      <a:pt x="1807591" y="0"/>
                    </a:lnTo>
                    <a:cubicBezTo>
                      <a:pt x="1870710" y="0"/>
                      <a:pt x="1921891" y="51181"/>
                      <a:pt x="1921891" y="114300"/>
                    </a:cubicBezTo>
                    <a:lnTo>
                      <a:pt x="1921891" y="520700"/>
                    </a:lnTo>
                    <a:cubicBezTo>
                      <a:pt x="1921891" y="583819"/>
                      <a:pt x="1870710" y="635000"/>
                      <a:pt x="1807591" y="635000"/>
                    </a:cubicBezTo>
                    <a:lnTo>
                      <a:pt x="114300" y="635000"/>
                    </a:lnTo>
                    <a:cubicBezTo>
                      <a:pt x="51181" y="635000"/>
                      <a:pt x="0" y="583819"/>
                      <a:pt x="0" y="520700"/>
                    </a:cubicBezTo>
                    <a:close/>
                  </a:path>
                </a:pathLst>
              </a:custGeom>
              <a:solidFill>
                <a:srgbClr val="101010"/>
              </a:solidFill>
            </p:spPr>
          </p:sp>
        </p:grpSp>
        <p:grpSp>
          <p:nvGrpSpPr>
            <p:cNvPr name="Group 48" id="48"/>
            <p:cNvGrpSpPr/>
            <p:nvPr/>
          </p:nvGrpSpPr>
          <p:grpSpPr>
            <a:xfrm rot="0">
              <a:off x="121123" y="55033"/>
              <a:ext cx="1679683" cy="524934"/>
              <a:chOff x="0" y="0"/>
              <a:chExt cx="1679683" cy="524934"/>
            </a:xfrm>
          </p:grpSpPr>
          <p:sp>
            <p:nvSpPr>
              <p:cNvPr name="Freeform 49" id="49"/>
              <p:cNvSpPr/>
              <p:nvPr/>
            </p:nvSpPr>
            <p:spPr>
              <a:xfrm flipH="false" flipV="false" rot="0">
                <a:off x="0" y="0"/>
                <a:ext cx="1679688" cy="524939"/>
              </a:xfrm>
              <a:custGeom>
                <a:avLst/>
                <a:gdLst/>
                <a:ahLst/>
                <a:cxnLst/>
                <a:rect r="r" b="b" t="t" l="l"/>
                <a:pathLst>
                  <a:path h="524939" w="1679688">
                    <a:moveTo>
                      <a:pt x="0" y="0"/>
                    </a:moveTo>
                    <a:lnTo>
                      <a:pt x="1679688" y="0"/>
                    </a:lnTo>
                    <a:lnTo>
                      <a:pt x="1679688" y="524939"/>
                    </a:lnTo>
                    <a:lnTo>
                      <a:pt x="0" y="524939"/>
                    </a:lnTo>
                    <a:close/>
                  </a:path>
                </a:pathLst>
              </a:custGeom>
              <a:blipFill>
                <a:blip r:embed="rId4">
                  <a:alphaModFix amt="0"/>
                </a:blip>
                <a:stretch>
                  <a:fillRect l="0" t="-20397" r="-12909" b="-20395"/>
                </a:stretch>
              </a:blipFill>
            </p:spPr>
          </p:sp>
          <p:sp>
            <p:nvSpPr>
              <p:cNvPr name="TextBox 50" id="50"/>
              <p:cNvSpPr txBox="true"/>
              <p:nvPr/>
            </p:nvSpPr>
            <p:spPr>
              <a:xfrm>
                <a:off x="0" y="-9525"/>
                <a:ext cx="1679683" cy="534459"/>
              </a:xfrm>
              <a:prstGeom prst="rect">
                <a:avLst/>
              </a:prstGeom>
            </p:spPr>
            <p:txBody>
              <a:bodyPr anchor="ctr" rtlCol="false" tIns="0" lIns="0" bIns="0" rIns="0"/>
              <a:lstStyle/>
              <a:p>
                <a:pPr algn="ctr">
                  <a:lnSpc>
                    <a:spcPts val="1889"/>
                  </a:lnSpc>
                </a:pPr>
                <a:r>
                  <a:rPr lang="en-US" b="true" sz="1575" u="sng">
                    <a:solidFill>
                      <a:srgbClr val="FFFFFF"/>
                    </a:solidFill>
                    <a:latin typeface="Arimo Bold"/>
                    <a:ea typeface="Arimo Bold"/>
                    <a:cs typeface="Arimo Bold"/>
                    <a:sym typeface="Arimo Bold"/>
                    <a:hlinkClick r:id="rId5" tooltip="https://kdm111.github.io/assets/videos/p19_node_selection_map.mp4"/>
                  </a:rPr>
                  <a:t>충돌 방지</a:t>
                </a:r>
              </a:p>
            </p:txBody>
          </p:sp>
        </p:gr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sp>
        <p:nvSpPr>
          <p:cNvPr name="TextBox 2" id="2"/>
          <p:cNvSpPr txBox="true"/>
          <p:nvPr/>
        </p:nvSpPr>
        <p:spPr>
          <a:xfrm rot="0">
            <a:off x="771525" y="697868"/>
            <a:ext cx="15875003" cy="299085"/>
          </a:xfrm>
          <a:prstGeom prst="rect">
            <a:avLst/>
          </a:prstGeom>
        </p:spPr>
        <p:txBody>
          <a:bodyPr anchor="t" rtlCol="false" tIns="0" lIns="0" bIns="0" rIns="0">
            <a:spAutoFit/>
          </a:bodyPr>
          <a:lstStyle/>
          <a:p>
            <a:pPr algn="l">
              <a:lnSpc>
                <a:spcPts val="1944"/>
              </a:lnSpc>
            </a:pPr>
            <a:r>
              <a:rPr lang="en-US" sz="1500" b="true">
                <a:solidFill>
                  <a:srgbClr val="666666"/>
                </a:solidFill>
                <a:latin typeface="Arimo Bold"/>
                <a:ea typeface="Arimo Bold"/>
                <a:cs typeface="Arimo Bold"/>
                <a:sym typeface="Arimo Bold"/>
              </a:rPr>
              <a:t>VICPINKY CARRIER</a:t>
            </a:r>
          </a:p>
        </p:txBody>
      </p:sp>
      <p:sp>
        <p:nvSpPr>
          <p:cNvPr name="TextBox 3" id="3"/>
          <p:cNvSpPr txBox="true"/>
          <p:nvPr/>
        </p:nvSpPr>
        <p:spPr>
          <a:xfrm rot="0">
            <a:off x="762000" y="1035053"/>
            <a:ext cx="16764000" cy="691744"/>
          </a:xfrm>
          <a:prstGeom prst="rect">
            <a:avLst/>
          </a:prstGeom>
        </p:spPr>
        <p:txBody>
          <a:bodyPr anchor="t" rtlCol="false" tIns="0" lIns="0" bIns="0" rIns="0">
            <a:spAutoFit/>
          </a:bodyPr>
          <a:lstStyle/>
          <a:p>
            <a:pPr algn="l">
              <a:lnSpc>
                <a:spcPts val="5443"/>
              </a:lnSpc>
            </a:pPr>
            <a:r>
              <a:rPr lang="en-US" sz="4200" b="true">
                <a:solidFill>
                  <a:srgbClr val="111111"/>
                </a:solidFill>
                <a:latin typeface="Arimo Bold"/>
                <a:ea typeface="Arimo Bold"/>
                <a:cs typeface="Arimo Bold"/>
                <a:sym typeface="Arimo Bold"/>
              </a:rPr>
              <a:t>로봇 배터리 부족 시 자동 충전</a:t>
            </a:r>
          </a:p>
        </p:txBody>
      </p:sp>
      <p:grpSp>
        <p:nvGrpSpPr>
          <p:cNvPr name="Group 4" id="4"/>
          <p:cNvGrpSpPr/>
          <p:nvPr/>
        </p:nvGrpSpPr>
        <p:grpSpPr>
          <a:xfrm rot="0">
            <a:off x="746122" y="2498722"/>
            <a:ext cx="9836153" cy="6826253"/>
            <a:chOff x="0" y="0"/>
            <a:chExt cx="13114871" cy="9101671"/>
          </a:xfrm>
        </p:grpSpPr>
        <p:sp>
          <p:nvSpPr>
            <p:cNvPr name="Freeform 5" id="5"/>
            <p:cNvSpPr/>
            <p:nvPr/>
          </p:nvSpPr>
          <p:spPr>
            <a:xfrm flipH="false" flipV="false" rot="0">
              <a:off x="0" y="0"/>
              <a:ext cx="13114782" cy="9101582"/>
            </a:xfrm>
            <a:custGeom>
              <a:avLst/>
              <a:gdLst/>
              <a:ahLst/>
              <a:cxnLst/>
              <a:rect r="r" b="b" t="t" l="l"/>
              <a:pathLst>
                <a:path h="9101582" w="13114782">
                  <a:moveTo>
                    <a:pt x="0" y="153035"/>
                  </a:moveTo>
                  <a:cubicBezTo>
                    <a:pt x="0" y="68580"/>
                    <a:pt x="68580" y="0"/>
                    <a:pt x="153035" y="0"/>
                  </a:cubicBezTo>
                  <a:lnTo>
                    <a:pt x="12961747" y="0"/>
                  </a:lnTo>
                  <a:cubicBezTo>
                    <a:pt x="13046329" y="0"/>
                    <a:pt x="13114782" y="68580"/>
                    <a:pt x="13114782" y="153035"/>
                  </a:cubicBezTo>
                  <a:lnTo>
                    <a:pt x="13114782" y="8948547"/>
                  </a:lnTo>
                  <a:cubicBezTo>
                    <a:pt x="13114782" y="9033128"/>
                    <a:pt x="13046202" y="9101582"/>
                    <a:pt x="12961747" y="9101582"/>
                  </a:cubicBezTo>
                  <a:lnTo>
                    <a:pt x="153035" y="9101582"/>
                  </a:lnTo>
                  <a:cubicBezTo>
                    <a:pt x="68580" y="9101709"/>
                    <a:pt x="0" y="9033129"/>
                    <a:pt x="0" y="8948547"/>
                  </a:cubicBezTo>
                  <a:close/>
                </a:path>
              </a:pathLst>
            </a:custGeom>
            <a:blipFill>
              <a:blip r:embed="rId3"/>
              <a:stretch>
                <a:fillRect l="0" t="-657" r="0" b="-657"/>
              </a:stretch>
            </a:blipFill>
            <a:ln w="38100" cap="sq">
              <a:solidFill>
                <a:srgbClr val="111111"/>
              </a:solidFill>
              <a:prstDash val="solid"/>
              <a:miter/>
            </a:ln>
          </p:spPr>
        </p:sp>
      </p:grpSp>
      <p:grpSp>
        <p:nvGrpSpPr>
          <p:cNvPr name="Group 6" id="6"/>
          <p:cNvGrpSpPr/>
          <p:nvPr/>
        </p:nvGrpSpPr>
        <p:grpSpPr>
          <a:xfrm rot="0">
            <a:off x="10931528" y="2498722"/>
            <a:ext cx="6610350" cy="6826253"/>
            <a:chOff x="0" y="0"/>
            <a:chExt cx="8813800" cy="9101671"/>
          </a:xfrm>
        </p:grpSpPr>
        <p:sp>
          <p:nvSpPr>
            <p:cNvPr name="Freeform 7" id="7"/>
            <p:cNvSpPr/>
            <p:nvPr/>
          </p:nvSpPr>
          <p:spPr>
            <a:xfrm flipH="false" flipV="false" rot="0">
              <a:off x="0" y="0"/>
              <a:ext cx="8813800" cy="9101582"/>
            </a:xfrm>
            <a:custGeom>
              <a:avLst/>
              <a:gdLst/>
              <a:ahLst/>
              <a:cxnLst/>
              <a:rect r="r" b="b" t="t" l="l"/>
              <a:pathLst>
                <a:path h="9101582" w="8813800">
                  <a:moveTo>
                    <a:pt x="0" y="153035"/>
                  </a:moveTo>
                  <a:cubicBezTo>
                    <a:pt x="0" y="68580"/>
                    <a:pt x="68580" y="0"/>
                    <a:pt x="153035" y="0"/>
                  </a:cubicBezTo>
                  <a:lnTo>
                    <a:pt x="8660765" y="0"/>
                  </a:lnTo>
                  <a:cubicBezTo>
                    <a:pt x="8745220" y="0"/>
                    <a:pt x="8813800" y="68580"/>
                    <a:pt x="8813800" y="153035"/>
                  </a:cubicBezTo>
                  <a:lnTo>
                    <a:pt x="8813800" y="8948547"/>
                  </a:lnTo>
                  <a:cubicBezTo>
                    <a:pt x="8813800" y="9033128"/>
                    <a:pt x="8745220" y="9101582"/>
                    <a:pt x="8660765" y="9101582"/>
                  </a:cubicBezTo>
                  <a:lnTo>
                    <a:pt x="153035" y="9101582"/>
                  </a:lnTo>
                  <a:cubicBezTo>
                    <a:pt x="68580" y="9101709"/>
                    <a:pt x="0" y="9033129"/>
                    <a:pt x="0" y="8948547"/>
                  </a:cubicBezTo>
                  <a:close/>
                </a:path>
              </a:pathLst>
            </a:custGeom>
            <a:solidFill>
              <a:srgbClr val="FFFFFF"/>
            </a:solidFill>
            <a:ln w="19050" cap="sq">
              <a:solidFill>
                <a:srgbClr val="111111"/>
              </a:solidFill>
              <a:prstDash val="solid"/>
              <a:miter/>
            </a:ln>
          </p:spPr>
        </p:sp>
      </p:grpSp>
      <p:sp>
        <p:nvSpPr>
          <p:cNvPr name="TextBox 8" id="8"/>
          <p:cNvSpPr txBox="true"/>
          <p:nvPr/>
        </p:nvSpPr>
        <p:spPr>
          <a:xfrm rot="0">
            <a:off x="11252197" y="2781300"/>
            <a:ext cx="5969003" cy="417189"/>
          </a:xfrm>
          <a:prstGeom prst="rect">
            <a:avLst/>
          </a:prstGeom>
        </p:spPr>
        <p:txBody>
          <a:bodyPr anchor="t" rtlCol="false" tIns="0" lIns="0" bIns="0" rIns="0">
            <a:spAutoFit/>
          </a:bodyPr>
          <a:lstStyle/>
          <a:p>
            <a:pPr algn="l">
              <a:lnSpc>
                <a:spcPts val="3240"/>
              </a:lnSpc>
            </a:pPr>
            <a:r>
              <a:rPr lang="en-US" sz="2500" b="true">
                <a:solidFill>
                  <a:srgbClr val="A14678"/>
                </a:solidFill>
                <a:latin typeface="Arimo Bold"/>
                <a:ea typeface="Arimo Bold"/>
                <a:cs typeface="Arimo Bold"/>
                <a:sym typeface="Arimo Bold"/>
              </a:rPr>
              <a:t>자동 충전 순서</a:t>
            </a:r>
          </a:p>
        </p:txBody>
      </p:sp>
      <p:grpSp>
        <p:nvGrpSpPr>
          <p:cNvPr name="Group 9" id="9"/>
          <p:cNvGrpSpPr/>
          <p:nvPr/>
        </p:nvGrpSpPr>
        <p:grpSpPr>
          <a:xfrm rot="0">
            <a:off x="11934573" y="3482978"/>
            <a:ext cx="5296152" cy="1035053"/>
            <a:chOff x="0" y="0"/>
            <a:chExt cx="7061537" cy="1380071"/>
          </a:xfrm>
        </p:grpSpPr>
        <p:sp>
          <p:nvSpPr>
            <p:cNvPr name="Freeform 10" id="10"/>
            <p:cNvSpPr/>
            <p:nvPr/>
          </p:nvSpPr>
          <p:spPr>
            <a:xfrm flipH="false" flipV="false" rot="0">
              <a:off x="0" y="0"/>
              <a:ext cx="7061457" cy="1379982"/>
            </a:xfrm>
            <a:custGeom>
              <a:avLst/>
              <a:gdLst/>
              <a:ahLst/>
              <a:cxnLst/>
              <a:rect r="r" b="b" t="t" l="l"/>
              <a:pathLst>
                <a:path h="1379982" w="7061457">
                  <a:moveTo>
                    <a:pt x="0" y="155194"/>
                  </a:moveTo>
                  <a:cubicBezTo>
                    <a:pt x="0" y="69469"/>
                    <a:pt x="61442" y="0"/>
                    <a:pt x="137262" y="0"/>
                  </a:cubicBezTo>
                  <a:lnTo>
                    <a:pt x="6924196" y="0"/>
                  </a:lnTo>
                  <a:cubicBezTo>
                    <a:pt x="7000016" y="0"/>
                    <a:pt x="7061457" y="69469"/>
                    <a:pt x="7061457" y="155194"/>
                  </a:cubicBezTo>
                  <a:lnTo>
                    <a:pt x="7061457" y="1224788"/>
                  </a:lnTo>
                  <a:cubicBezTo>
                    <a:pt x="7061457" y="1310513"/>
                    <a:pt x="7000016" y="1379982"/>
                    <a:pt x="6924196" y="1379982"/>
                  </a:cubicBezTo>
                  <a:lnTo>
                    <a:pt x="137262" y="1379982"/>
                  </a:lnTo>
                  <a:cubicBezTo>
                    <a:pt x="61442" y="1380109"/>
                    <a:pt x="0" y="1310513"/>
                    <a:pt x="0" y="1224788"/>
                  </a:cubicBezTo>
                  <a:close/>
                </a:path>
              </a:pathLst>
            </a:custGeom>
            <a:solidFill>
              <a:srgbClr val="F6EEF2"/>
            </a:solidFill>
          </p:spPr>
        </p:sp>
      </p:grpSp>
      <p:sp>
        <p:nvSpPr>
          <p:cNvPr name="TextBox 11" id="11"/>
          <p:cNvSpPr txBox="true"/>
          <p:nvPr/>
        </p:nvSpPr>
        <p:spPr>
          <a:xfrm rot="0">
            <a:off x="12145183" y="3619500"/>
            <a:ext cx="4874932" cy="399364"/>
          </a:xfrm>
          <a:prstGeom prst="rect">
            <a:avLst/>
          </a:prstGeom>
        </p:spPr>
        <p:txBody>
          <a:bodyPr anchor="t" rtlCol="false" tIns="0" lIns="0" bIns="0" rIns="0">
            <a:spAutoFit/>
          </a:bodyPr>
          <a:lstStyle/>
          <a:p>
            <a:pPr algn="l">
              <a:lnSpc>
                <a:spcPts val="3110"/>
              </a:lnSpc>
            </a:pPr>
            <a:r>
              <a:rPr lang="en-US" sz="2400" b="true">
                <a:solidFill>
                  <a:srgbClr val="111111"/>
                </a:solidFill>
                <a:latin typeface="Arimo Bold"/>
                <a:ea typeface="Arimo Bold"/>
                <a:cs typeface="Arimo Bold"/>
                <a:sym typeface="Arimo Bold"/>
              </a:rPr>
              <a:t>배터리 20% 미만</a:t>
            </a:r>
          </a:p>
        </p:txBody>
      </p:sp>
      <p:sp>
        <p:nvSpPr>
          <p:cNvPr name="TextBox 12" id="12"/>
          <p:cNvSpPr txBox="true"/>
          <p:nvPr/>
        </p:nvSpPr>
        <p:spPr>
          <a:xfrm rot="0">
            <a:off x="12145183" y="4076700"/>
            <a:ext cx="4874932" cy="311429"/>
          </a:xfrm>
          <a:prstGeom prst="rect">
            <a:avLst/>
          </a:prstGeom>
        </p:spPr>
        <p:txBody>
          <a:bodyPr anchor="t" rtlCol="false" tIns="0" lIns="0" bIns="0" rIns="0">
            <a:spAutoFit/>
          </a:bodyPr>
          <a:lstStyle/>
          <a:p>
            <a:pPr algn="l">
              <a:lnSpc>
                <a:spcPts val="2332"/>
              </a:lnSpc>
            </a:pPr>
            <a:r>
              <a:rPr lang="en-US" sz="1800">
                <a:solidFill>
                  <a:srgbClr val="666666"/>
                </a:solidFill>
                <a:latin typeface="Arimo"/>
                <a:ea typeface="Arimo"/>
                <a:cs typeface="Arimo"/>
                <a:sym typeface="Arimo"/>
              </a:rPr>
              <a:t>충전 필요 상태로 전환</a:t>
            </a:r>
          </a:p>
        </p:txBody>
      </p:sp>
      <p:grpSp>
        <p:nvGrpSpPr>
          <p:cNvPr name="Group 13" id="13"/>
          <p:cNvGrpSpPr/>
          <p:nvPr/>
        </p:nvGrpSpPr>
        <p:grpSpPr>
          <a:xfrm rot="0">
            <a:off x="11934573" y="4879972"/>
            <a:ext cx="5296152" cy="1035053"/>
            <a:chOff x="0" y="0"/>
            <a:chExt cx="7061537" cy="1380071"/>
          </a:xfrm>
        </p:grpSpPr>
        <p:sp>
          <p:nvSpPr>
            <p:cNvPr name="Freeform 14" id="14"/>
            <p:cNvSpPr/>
            <p:nvPr/>
          </p:nvSpPr>
          <p:spPr>
            <a:xfrm flipH="false" flipV="false" rot="0">
              <a:off x="0" y="0"/>
              <a:ext cx="7061457" cy="1379982"/>
            </a:xfrm>
            <a:custGeom>
              <a:avLst/>
              <a:gdLst/>
              <a:ahLst/>
              <a:cxnLst/>
              <a:rect r="r" b="b" t="t" l="l"/>
              <a:pathLst>
                <a:path h="1379982" w="7061457">
                  <a:moveTo>
                    <a:pt x="0" y="155194"/>
                  </a:moveTo>
                  <a:cubicBezTo>
                    <a:pt x="0" y="69469"/>
                    <a:pt x="61442" y="0"/>
                    <a:pt x="137262" y="0"/>
                  </a:cubicBezTo>
                  <a:lnTo>
                    <a:pt x="6924196" y="0"/>
                  </a:lnTo>
                  <a:cubicBezTo>
                    <a:pt x="7000016" y="0"/>
                    <a:pt x="7061457" y="69469"/>
                    <a:pt x="7061457" y="155194"/>
                  </a:cubicBezTo>
                  <a:lnTo>
                    <a:pt x="7061457" y="1224788"/>
                  </a:lnTo>
                  <a:cubicBezTo>
                    <a:pt x="7061457" y="1310513"/>
                    <a:pt x="7000016" y="1379982"/>
                    <a:pt x="6924196" y="1379982"/>
                  </a:cubicBezTo>
                  <a:lnTo>
                    <a:pt x="137262" y="1379982"/>
                  </a:lnTo>
                  <a:cubicBezTo>
                    <a:pt x="61442" y="1380109"/>
                    <a:pt x="0" y="1310513"/>
                    <a:pt x="0" y="1224788"/>
                  </a:cubicBezTo>
                  <a:close/>
                </a:path>
              </a:pathLst>
            </a:custGeom>
            <a:solidFill>
              <a:srgbClr val="F6EEF2"/>
            </a:solidFill>
          </p:spPr>
        </p:sp>
      </p:grpSp>
      <p:sp>
        <p:nvSpPr>
          <p:cNvPr name="TextBox 15" id="15"/>
          <p:cNvSpPr txBox="true"/>
          <p:nvPr/>
        </p:nvSpPr>
        <p:spPr>
          <a:xfrm rot="0">
            <a:off x="12145183" y="5016503"/>
            <a:ext cx="4874932" cy="399364"/>
          </a:xfrm>
          <a:prstGeom prst="rect">
            <a:avLst/>
          </a:prstGeom>
        </p:spPr>
        <p:txBody>
          <a:bodyPr anchor="t" rtlCol="false" tIns="0" lIns="0" bIns="0" rIns="0">
            <a:spAutoFit/>
          </a:bodyPr>
          <a:lstStyle/>
          <a:p>
            <a:pPr algn="l">
              <a:lnSpc>
                <a:spcPts val="3110"/>
              </a:lnSpc>
            </a:pPr>
            <a:r>
              <a:rPr lang="en-US" sz="2400" b="true">
                <a:solidFill>
                  <a:srgbClr val="111111"/>
                </a:solidFill>
                <a:latin typeface="Arimo Bold"/>
                <a:ea typeface="Arimo Bold"/>
                <a:cs typeface="Arimo Bold"/>
                <a:sym typeface="Arimo Bold"/>
              </a:rPr>
              <a:t>배정된 작업을 모두 완료</a:t>
            </a:r>
          </a:p>
        </p:txBody>
      </p:sp>
      <p:sp>
        <p:nvSpPr>
          <p:cNvPr name="TextBox 16" id="16"/>
          <p:cNvSpPr txBox="true"/>
          <p:nvPr/>
        </p:nvSpPr>
        <p:spPr>
          <a:xfrm rot="0">
            <a:off x="12145183" y="5473703"/>
            <a:ext cx="4874932" cy="311429"/>
          </a:xfrm>
          <a:prstGeom prst="rect">
            <a:avLst/>
          </a:prstGeom>
        </p:spPr>
        <p:txBody>
          <a:bodyPr anchor="t" rtlCol="false" tIns="0" lIns="0" bIns="0" rIns="0">
            <a:spAutoFit/>
          </a:bodyPr>
          <a:lstStyle/>
          <a:p>
            <a:pPr algn="l">
              <a:lnSpc>
                <a:spcPts val="2332"/>
              </a:lnSpc>
            </a:pPr>
            <a:r>
              <a:rPr lang="en-US" sz="1800">
                <a:solidFill>
                  <a:srgbClr val="666666"/>
                </a:solidFill>
                <a:latin typeface="Arimo"/>
                <a:ea typeface="Arimo"/>
                <a:cs typeface="Arimo"/>
                <a:sym typeface="Arimo"/>
              </a:rPr>
              <a:t>현재 실행 + 대기 작업이 모두 0건이면 진행</a:t>
            </a:r>
          </a:p>
        </p:txBody>
      </p:sp>
      <p:grpSp>
        <p:nvGrpSpPr>
          <p:cNvPr name="Group 17" id="17"/>
          <p:cNvGrpSpPr/>
          <p:nvPr/>
        </p:nvGrpSpPr>
        <p:grpSpPr>
          <a:xfrm rot="0">
            <a:off x="11934573" y="6276975"/>
            <a:ext cx="5296152" cy="1174747"/>
            <a:chOff x="0" y="0"/>
            <a:chExt cx="7061537" cy="1566329"/>
          </a:xfrm>
        </p:grpSpPr>
        <p:sp>
          <p:nvSpPr>
            <p:cNvPr name="Freeform 18" id="18"/>
            <p:cNvSpPr/>
            <p:nvPr/>
          </p:nvSpPr>
          <p:spPr>
            <a:xfrm flipH="false" flipV="false" rot="0">
              <a:off x="0" y="0"/>
              <a:ext cx="7061574" cy="1566418"/>
            </a:xfrm>
            <a:custGeom>
              <a:avLst/>
              <a:gdLst/>
              <a:ahLst/>
              <a:cxnLst/>
              <a:rect r="r" b="b" t="t" l="l"/>
              <a:pathLst>
                <a:path h="1566418" w="7061574">
                  <a:moveTo>
                    <a:pt x="0" y="154940"/>
                  </a:moveTo>
                  <a:cubicBezTo>
                    <a:pt x="0" y="69342"/>
                    <a:pt x="61330" y="0"/>
                    <a:pt x="137037" y="0"/>
                  </a:cubicBezTo>
                  <a:lnTo>
                    <a:pt x="6924533" y="0"/>
                  </a:lnTo>
                  <a:cubicBezTo>
                    <a:pt x="7000240" y="0"/>
                    <a:pt x="7061574" y="69342"/>
                    <a:pt x="7061574" y="154940"/>
                  </a:cubicBezTo>
                  <a:lnTo>
                    <a:pt x="7061574" y="1411478"/>
                  </a:lnTo>
                  <a:cubicBezTo>
                    <a:pt x="7061574" y="1497076"/>
                    <a:pt x="7000240" y="1566418"/>
                    <a:pt x="6924533" y="1566418"/>
                  </a:cubicBezTo>
                  <a:lnTo>
                    <a:pt x="137037" y="1566418"/>
                  </a:lnTo>
                  <a:cubicBezTo>
                    <a:pt x="61330" y="1566418"/>
                    <a:pt x="0" y="1497076"/>
                    <a:pt x="0" y="1411478"/>
                  </a:cubicBezTo>
                  <a:close/>
                </a:path>
              </a:pathLst>
            </a:custGeom>
            <a:solidFill>
              <a:srgbClr val="F3E7EC"/>
            </a:solidFill>
          </p:spPr>
        </p:sp>
      </p:grpSp>
      <p:sp>
        <p:nvSpPr>
          <p:cNvPr name="TextBox 19" id="19"/>
          <p:cNvSpPr txBox="true"/>
          <p:nvPr/>
        </p:nvSpPr>
        <p:spPr>
          <a:xfrm rot="0">
            <a:off x="12145183" y="6413497"/>
            <a:ext cx="4874932" cy="399364"/>
          </a:xfrm>
          <a:prstGeom prst="rect">
            <a:avLst/>
          </a:prstGeom>
        </p:spPr>
        <p:txBody>
          <a:bodyPr anchor="t" rtlCol="false" tIns="0" lIns="0" bIns="0" rIns="0">
            <a:spAutoFit/>
          </a:bodyPr>
          <a:lstStyle/>
          <a:p>
            <a:pPr algn="l">
              <a:lnSpc>
                <a:spcPts val="3110"/>
              </a:lnSpc>
            </a:pPr>
            <a:r>
              <a:rPr lang="en-US" sz="2400" b="true">
                <a:solidFill>
                  <a:srgbClr val="111111"/>
                </a:solidFill>
                <a:latin typeface="Arimo Bold"/>
                <a:ea typeface="Arimo Bold"/>
                <a:cs typeface="Arimo Bold"/>
                <a:sym typeface="Arimo Bold"/>
              </a:rPr>
              <a:t>빈 충전소로 이동</a:t>
            </a:r>
          </a:p>
        </p:txBody>
      </p:sp>
      <p:sp>
        <p:nvSpPr>
          <p:cNvPr name="TextBox 20" id="20"/>
          <p:cNvSpPr txBox="true"/>
          <p:nvPr/>
        </p:nvSpPr>
        <p:spPr>
          <a:xfrm rot="0">
            <a:off x="12145183" y="6870697"/>
            <a:ext cx="4874932" cy="311429"/>
          </a:xfrm>
          <a:prstGeom prst="rect">
            <a:avLst/>
          </a:prstGeom>
        </p:spPr>
        <p:txBody>
          <a:bodyPr anchor="t" rtlCol="false" tIns="0" lIns="0" bIns="0" rIns="0">
            <a:spAutoFit/>
          </a:bodyPr>
          <a:lstStyle/>
          <a:p>
            <a:pPr algn="l">
              <a:lnSpc>
                <a:spcPts val="2332"/>
              </a:lnSpc>
            </a:pPr>
            <a:r>
              <a:rPr lang="en-US" sz="1800">
                <a:solidFill>
                  <a:srgbClr val="666666"/>
                </a:solidFill>
                <a:latin typeface="Arimo"/>
                <a:ea typeface="Arimo"/>
                <a:cs typeface="Arimo"/>
                <a:sym typeface="Arimo"/>
              </a:rPr>
              <a:t>빈 충전소가 없으</a:t>
            </a:r>
            <a:r>
              <a:rPr lang="en-US" sz="1800">
                <a:solidFill>
                  <a:srgbClr val="666666"/>
                </a:solidFill>
                <a:latin typeface="Arimo"/>
                <a:ea typeface="Arimo"/>
                <a:cs typeface="Arimo"/>
                <a:sym typeface="Arimo"/>
              </a:rPr>
              <a:t>면 지정된 장소에서 대기</a:t>
            </a:r>
          </a:p>
        </p:txBody>
      </p:sp>
      <p:grpSp>
        <p:nvGrpSpPr>
          <p:cNvPr name="Group 21" id="21"/>
          <p:cNvGrpSpPr/>
          <p:nvPr/>
        </p:nvGrpSpPr>
        <p:grpSpPr>
          <a:xfrm rot="0">
            <a:off x="11934573" y="7826378"/>
            <a:ext cx="5296152" cy="1149353"/>
            <a:chOff x="0" y="0"/>
            <a:chExt cx="7061537" cy="1532471"/>
          </a:xfrm>
        </p:grpSpPr>
        <p:sp>
          <p:nvSpPr>
            <p:cNvPr name="Freeform 22" id="22"/>
            <p:cNvSpPr/>
            <p:nvPr/>
          </p:nvSpPr>
          <p:spPr>
            <a:xfrm flipH="false" flipV="false" rot="0">
              <a:off x="0" y="0"/>
              <a:ext cx="7061458" cy="1532382"/>
            </a:xfrm>
            <a:custGeom>
              <a:avLst/>
              <a:gdLst/>
              <a:ahLst/>
              <a:cxnLst/>
              <a:rect r="r" b="b" t="t" l="l"/>
              <a:pathLst>
                <a:path h="1532382" w="7061458">
                  <a:moveTo>
                    <a:pt x="0" y="154940"/>
                  </a:moveTo>
                  <a:cubicBezTo>
                    <a:pt x="0" y="69342"/>
                    <a:pt x="61330" y="0"/>
                    <a:pt x="137037" y="0"/>
                  </a:cubicBezTo>
                  <a:lnTo>
                    <a:pt x="6924421" y="0"/>
                  </a:lnTo>
                  <a:cubicBezTo>
                    <a:pt x="7000129" y="0"/>
                    <a:pt x="7061458" y="69342"/>
                    <a:pt x="7061458" y="154940"/>
                  </a:cubicBezTo>
                  <a:lnTo>
                    <a:pt x="7061458" y="1377442"/>
                  </a:lnTo>
                  <a:cubicBezTo>
                    <a:pt x="7061458" y="1463040"/>
                    <a:pt x="7000129" y="1532382"/>
                    <a:pt x="6924421" y="1532382"/>
                  </a:cubicBezTo>
                  <a:lnTo>
                    <a:pt x="137037" y="1532382"/>
                  </a:lnTo>
                  <a:cubicBezTo>
                    <a:pt x="61330" y="1532382"/>
                    <a:pt x="0" y="1463040"/>
                    <a:pt x="0" y="1377442"/>
                  </a:cubicBezTo>
                  <a:close/>
                </a:path>
              </a:pathLst>
            </a:custGeom>
            <a:solidFill>
              <a:srgbClr val="F6EEF2"/>
            </a:solidFill>
          </p:spPr>
        </p:sp>
      </p:grpSp>
      <p:sp>
        <p:nvSpPr>
          <p:cNvPr name="TextBox 23" id="23"/>
          <p:cNvSpPr txBox="true"/>
          <p:nvPr/>
        </p:nvSpPr>
        <p:spPr>
          <a:xfrm rot="0">
            <a:off x="12145183" y="7962900"/>
            <a:ext cx="4874932" cy="399364"/>
          </a:xfrm>
          <a:prstGeom prst="rect">
            <a:avLst/>
          </a:prstGeom>
        </p:spPr>
        <p:txBody>
          <a:bodyPr anchor="t" rtlCol="false" tIns="0" lIns="0" bIns="0" rIns="0">
            <a:spAutoFit/>
          </a:bodyPr>
          <a:lstStyle/>
          <a:p>
            <a:pPr algn="l">
              <a:lnSpc>
                <a:spcPts val="3110"/>
              </a:lnSpc>
            </a:pPr>
            <a:r>
              <a:rPr lang="en-US" sz="2400" b="true">
                <a:solidFill>
                  <a:srgbClr val="111111"/>
                </a:solidFill>
                <a:latin typeface="Arimo Bold"/>
                <a:ea typeface="Arimo Bold"/>
                <a:cs typeface="Arimo Bold"/>
                <a:sym typeface="Arimo Bold"/>
              </a:rPr>
              <a:t>80% 이상이면 지정된 장소로 복귀</a:t>
            </a:r>
          </a:p>
        </p:txBody>
      </p:sp>
      <p:sp>
        <p:nvSpPr>
          <p:cNvPr name="TextBox 24" id="24"/>
          <p:cNvSpPr txBox="true"/>
          <p:nvPr/>
        </p:nvSpPr>
        <p:spPr>
          <a:xfrm rot="0">
            <a:off x="12145183" y="8420100"/>
            <a:ext cx="4874932" cy="311429"/>
          </a:xfrm>
          <a:prstGeom prst="rect">
            <a:avLst/>
          </a:prstGeom>
        </p:spPr>
        <p:txBody>
          <a:bodyPr anchor="t" rtlCol="false" tIns="0" lIns="0" bIns="0" rIns="0">
            <a:spAutoFit/>
          </a:bodyPr>
          <a:lstStyle/>
          <a:p>
            <a:pPr algn="l">
              <a:lnSpc>
                <a:spcPts val="2332"/>
              </a:lnSpc>
            </a:pPr>
            <a:r>
              <a:rPr lang="en-US" sz="1800">
                <a:solidFill>
                  <a:srgbClr val="666666"/>
                </a:solidFill>
                <a:latin typeface="Arimo"/>
                <a:ea typeface="Arimo"/>
                <a:cs typeface="Arimo"/>
                <a:sym typeface="Arimo"/>
              </a:rPr>
              <a:t>충전소를 비우고 지정된 장소에서 대기</a:t>
            </a:r>
          </a:p>
        </p:txBody>
      </p:sp>
      <p:sp>
        <p:nvSpPr>
          <p:cNvPr name="AutoShape 25" id="25"/>
          <p:cNvSpPr/>
          <p:nvPr/>
        </p:nvSpPr>
        <p:spPr>
          <a:xfrm>
            <a:off x="14582649" y="4517965"/>
            <a:ext cx="0" cy="362007"/>
          </a:xfrm>
          <a:prstGeom prst="line">
            <a:avLst/>
          </a:prstGeom>
          <a:ln cap="rnd" w="28575">
            <a:solidFill>
              <a:srgbClr val="111111"/>
            </a:solidFill>
            <a:prstDash val="solid"/>
            <a:headEnd type="none" len="sm" w="sm"/>
            <a:tailEnd type="triangle" len="med" w="lg"/>
          </a:ln>
        </p:spPr>
      </p:sp>
      <p:sp>
        <p:nvSpPr>
          <p:cNvPr name="AutoShape 26" id="26"/>
          <p:cNvSpPr/>
          <p:nvPr/>
        </p:nvSpPr>
        <p:spPr>
          <a:xfrm>
            <a:off x="14582649" y="5914958"/>
            <a:ext cx="0" cy="362017"/>
          </a:xfrm>
          <a:prstGeom prst="line">
            <a:avLst/>
          </a:prstGeom>
          <a:ln cap="rnd" w="28575">
            <a:solidFill>
              <a:srgbClr val="111111"/>
            </a:solidFill>
            <a:prstDash val="solid"/>
            <a:headEnd type="none" len="sm" w="sm"/>
            <a:tailEnd type="triangle" len="med" w="lg"/>
          </a:ln>
        </p:spPr>
      </p:sp>
      <p:sp>
        <p:nvSpPr>
          <p:cNvPr name="AutoShape 27" id="27"/>
          <p:cNvSpPr/>
          <p:nvPr/>
        </p:nvSpPr>
        <p:spPr>
          <a:xfrm>
            <a:off x="14582649" y="7451722"/>
            <a:ext cx="0" cy="374656"/>
          </a:xfrm>
          <a:prstGeom prst="line">
            <a:avLst/>
          </a:prstGeom>
          <a:ln cap="rnd" w="28575">
            <a:solidFill>
              <a:srgbClr val="111111"/>
            </a:solidFill>
            <a:prstDash val="solid"/>
            <a:headEnd type="none" len="sm" w="sm"/>
            <a:tailEnd type="triangle" len="med" w="lg"/>
          </a:ln>
        </p:spPr>
      </p:sp>
      <p:sp>
        <p:nvSpPr>
          <p:cNvPr name="TextBox 28" id="28"/>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22</a:t>
            </a:r>
          </a:p>
        </p:txBody>
      </p:sp>
      <p:grpSp>
        <p:nvGrpSpPr>
          <p:cNvPr name="Group 29" id="29"/>
          <p:cNvGrpSpPr/>
          <p:nvPr/>
        </p:nvGrpSpPr>
        <p:grpSpPr>
          <a:xfrm rot="0">
            <a:off x="1028700" y="2819400"/>
            <a:ext cx="1441447" cy="476250"/>
            <a:chOff x="0" y="0"/>
            <a:chExt cx="1921929" cy="635000"/>
          </a:xfrm>
        </p:grpSpPr>
        <p:grpSp>
          <p:nvGrpSpPr>
            <p:cNvPr name="Group 30" id="30"/>
            <p:cNvGrpSpPr/>
            <p:nvPr/>
          </p:nvGrpSpPr>
          <p:grpSpPr>
            <a:xfrm rot="0">
              <a:off x="0" y="0"/>
              <a:ext cx="1921929" cy="635000"/>
              <a:chOff x="0" y="0"/>
              <a:chExt cx="1921929" cy="635000"/>
            </a:xfrm>
          </p:grpSpPr>
          <p:sp>
            <p:nvSpPr>
              <p:cNvPr name="Freeform 31" id="31"/>
              <p:cNvSpPr/>
              <p:nvPr/>
            </p:nvSpPr>
            <p:spPr>
              <a:xfrm flipH="false" flipV="false" rot="0">
                <a:off x="0" y="0"/>
                <a:ext cx="1921891" cy="635000"/>
              </a:xfrm>
              <a:custGeom>
                <a:avLst/>
                <a:gdLst/>
                <a:ahLst/>
                <a:cxnLst/>
                <a:rect r="r" b="b" t="t" l="l"/>
                <a:pathLst>
                  <a:path h="635000" w="1921891">
                    <a:moveTo>
                      <a:pt x="0" y="114300"/>
                    </a:moveTo>
                    <a:cubicBezTo>
                      <a:pt x="0" y="51181"/>
                      <a:pt x="51181" y="0"/>
                      <a:pt x="114300" y="0"/>
                    </a:cubicBezTo>
                    <a:lnTo>
                      <a:pt x="1807591" y="0"/>
                    </a:lnTo>
                    <a:cubicBezTo>
                      <a:pt x="1870710" y="0"/>
                      <a:pt x="1921891" y="51181"/>
                      <a:pt x="1921891" y="114300"/>
                    </a:cubicBezTo>
                    <a:lnTo>
                      <a:pt x="1921891" y="520700"/>
                    </a:lnTo>
                    <a:cubicBezTo>
                      <a:pt x="1921891" y="583819"/>
                      <a:pt x="1870710" y="635000"/>
                      <a:pt x="1807591" y="635000"/>
                    </a:cubicBezTo>
                    <a:lnTo>
                      <a:pt x="114300" y="635000"/>
                    </a:lnTo>
                    <a:cubicBezTo>
                      <a:pt x="51181" y="635000"/>
                      <a:pt x="0" y="583819"/>
                      <a:pt x="0" y="520700"/>
                    </a:cubicBezTo>
                    <a:close/>
                  </a:path>
                </a:pathLst>
              </a:custGeom>
              <a:solidFill>
                <a:srgbClr val="101010"/>
              </a:solidFill>
            </p:spPr>
          </p:sp>
        </p:grpSp>
        <p:grpSp>
          <p:nvGrpSpPr>
            <p:cNvPr name="Group 32" id="32"/>
            <p:cNvGrpSpPr/>
            <p:nvPr/>
          </p:nvGrpSpPr>
          <p:grpSpPr>
            <a:xfrm rot="0">
              <a:off x="121123" y="55033"/>
              <a:ext cx="1679683" cy="524934"/>
              <a:chOff x="0" y="0"/>
              <a:chExt cx="1679683" cy="524934"/>
            </a:xfrm>
          </p:grpSpPr>
          <p:sp>
            <p:nvSpPr>
              <p:cNvPr name="Freeform 33" id="33"/>
              <p:cNvSpPr/>
              <p:nvPr/>
            </p:nvSpPr>
            <p:spPr>
              <a:xfrm flipH="false" flipV="false" rot="0">
                <a:off x="0" y="0"/>
                <a:ext cx="1679688" cy="524939"/>
              </a:xfrm>
              <a:custGeom>
                <a:avLst/>
                <a:gdLst/>
                <a:ahLst/>
                <a:cxnLst/>
                <a:rect r="r" b="b" t="t" l="l"/>
                <a:pathLst>
                  <a:path h="524939" w="1679688">
                    <a:moveTo>
                      <a:pt x="0" y="0"/>
                    </a:moveTo>
                    <a:lnTo>
                      <a:pt x="1679688" y="0"/>
                    </a:lnTo>
                    <a:lnTo>
                      <a:pt x="1679688" y="524939"/>
                    </a:lnTo>
                    <a:lnTo>
                      <a:pt x="0" y="524939"/>
                    </a:lnTo>
                    <a:close/>
                  </a:path>
                </a:pathLst>
              </a:custGeom>
              <a:blipFill>
                <a:blip r:embed="rId4">
                  <a:alphaModFix amt="0"/>
                </a:blip>
                <a:stretch>
                  <a:fillRect l="0" t="-20397" r="-12909" b="-20395"/>
                </a:stretch>
              </a:blipFill>
            </p:spPr>
          </p:sp>
          <p:sp>
            <p:nvSpPr>
              <p:cNvPr name="TextBox 34" id="34"/>
              <p:cNvSpPr txBox="true"/>
              <p:nvPr/>
            </p:nvSpPr>
            <p:spPr>
              <a:xfrm>
                <a:off x="0" y="-9525"/>
                <a:ext cx="1679683" cy="534459"/>
              </a:xfrm>
              <a:prstGeom prst="rect">
                <a:avLst/>
              </a:prstGeom>
            </p:spPr>
            <p:txBody>
              <a:bodyPr anchor="ctr" rtlCol="false" tIns="0" lIns="0" bIns="0" rIns="0"/>
              <a:lstStyle/>
              <a:p>
                <a:pPr algn="ctr">
                  <a:lnSpc>
                    <a:spcPts val="1889"/>
                  </a:lnSpc>
                </a:pPr>
                <a:r>
                  <a:rPr lang="en-US" b="true" sz="1575" u="sng">
                    <a:solidFill>
                      <a:srgbClr val="FFFFFF"/>
                    </a:solidFill>
                    <a:latin typeface="Arimo Bold"/>
                    <a:ea typeface="Arimo Bold"/>
                    <a:cs typeface="Arimo Bold"/>
                    <a:sym typeface="Arimo Bold"/>
                    <a:hlinkClick r:id="rId5" tooltip="https://kdm111.github.io/assets/videos/p20_auto_charge.mp4"/>
                  </a:rPr>
                  <a:t>자동 충전</a:t>
                </a:r>
              </a:p>
            </p:txBody>
          </p:sp>
        </p:grpSp>
      </p:grpSp>
      <p:grpSp>
        <p:nvGrpSpPr>
          <p:cNvPr name="Group 35" id="35"/>
          <p:cNvGrpSpPr/>
          <p:nvPr/>
        </p:nvGrpSpPr>
        <p:grpSpPr>
          <a:xfrm rot="0">
            <a:off x="11199013" y="3568708"/>
            <a:ext cx="457200" cy="431797"/>
            <a:chOff x="0" y="0"/>
            <a:chExt cx="609600" cy="575729"/>
          </a:xfrm>
        </p:grpSpPr>
        <p:grpSp>
          <p:nvGrpSpPr>
            <p:cNvPr name="Group 36" id="36"/>
            <p:cNvGrpSpPr/>
            <p:nvPr/>
          </p:nvGrpSpPr>
          <p:grpSpPr>
            <a:xfrm rot="0">
              <a:off x="0" y="0"/>
              <a:ext cx="609600" cy="575729"/>
              <a:chOff x="0" y="0"/>
              <a:chExt cx="609600" cy="575729"/>
            </a:xfrm>
          </p:grpSpPr>
          <p:sp>
            <p:nvSpPr>
              <p:cNvPr name="Freeform 37" id="37"/>
              <p:cNvSpPr/>
              <p:nvPr/>
            </p:nvSpPr>
            <p:spPr>
              <a:xfrm flipH="false" flipV="false" rot="0">
                <a:off x="0" y="0"/>
                <a:ext cx="609600" cy="575691"/>
              </a:xfrm>
              <a:custGeom>
                <a:avLst/>
                <a:gdLst/>
                <a:ahLst/>
                <a:cxnLst/>
                <a:rect r="r" b="b" t="t" l="l"/>
                <a:pathLst>
                  <a:path h="575691" w="609600">
                    <a:moveTo>
                      <a:pt x="0" y="139573"/>
                    </a:moveTo>
                    <a:cubicBezTo>
                      <a:pt x="0" y="62484"/>
                      <a:pt x="62484" y="0"/>
                      <a:pt x="139573" y="0"/>
                    </a:cubicBezTo>
                    <a:lnTo>
                      <a:pt x="470027" y="0"/>
                    </a:lnTo>
                    <a:cubicBezTo>
                      <a:pt x="547116" y="0"/>
                      <a:pt x="609600" y="62484"/>
                      <a:pt x="609600" y="139573"/>
                    </a:cubicBezTo>
                    <a:lnTo>
                      <a:pt x="609600" y="436118"/>
                    </a:lnTo>
                    <a:cubicBezTo>
                      <a:pt x="609600" y="513207"/>
                      <a:pt x="547116" y="575691"/>
                      <a:pt x="470027" y="575691"/>
                    </a:cubicBezTo>
                    <a:lnTo>
                      <a:pt x="139573" y="575691"/>
                    </a:lnTo>
                    <a:cubicBezTo>
                      <a:pt x="62484" y="575691"/>
                      <a:pt x="0" y="513207"/>
                      <a:pt x="0" y="436118"/>
                    </a:cubicBezTo>
                    <a:close/>
                  </a:path>
                </a:pathLst>
              </a:custGeom>
              <a:solidFill>
                <a:srgbClr val="F6EEF2"/>
              </a:solidFill>
            </p:spPr>
          </p:sp>
        </p:grpSp>
        <p:sp>
          <p:nvSpPr>
            <p:cNvPr name="TextBox 38" id="38"/>
            <p:cNvSpPr txBox="true"/>
            <p:nvPr/>
          </p:nvSpPr>
          <p:spPr>
            <a:xfrm rot="0">
              <a:off x="8471" y="115354"/>
              <a:ext cx="592671" cy="371475"/>
            </a:xfrm>
            <a:prstGeom prst="rect">
              <a:avLst/>
            </a:prstGeom>
          </p:spPr>
          <p:txBody>
            <a:bodyPr anchor="t" rtlCol="false" tIns="0" lIns="0" bIns="0" rIns="0">
              <a:spAutoFit/>
            </a:bodyPr>
            <a:lstStyle/>
            <a:p>
              <a:pPr algn="ctr">
                <a:lnSpc>
                  <a:spcPts val="1944"/>
                </a:lnSpc>
              </a:pPr>
              <a:r>
                <a:rPr lang="en-US" sz="1500" b="true">
                  <a:solidFill>
                    <a:srgbClr val="A14678"/>
                  </a:solidFill>
                  <a:latin typeface="Arimo Bold"/>
                  <a:ea typeface="Arimo Bold"/>
                  <a:cs typeface="Arimo Bold"/>
                  <a:sym typeface="Arimo Bold"/>
                </a:rPr>
                <a:t>01</a:t>
              </a:r>
            </a:p>
          </p:txBody>
        </p:sp>
      </p:grpSp>
      <p:grpSp>
        <p:nvGrpSpPr>
          <p:cNvPr name="Group 39" id="39"/>
          <p:cNvGrpSpPr/>
          <p:nvPr/>
        </p:nvGrpSpPr>
        <p:grpSpPr>
          <a:xfrm rot="0">
            <a:off x="11199013" y="5022628"/>
            <a:ext cx="457200" cy="431797"/>
            <a:chOff x="0" y="0"/>
            <a:chExt cx="609600" cy="575729"/>
          </a:xfrm>
        </p:grpSpPr>
        <p:grpSp>
          <p:nvGrpSpPr>
            <p:cNvPr name="Group 40" id="40"/>
            <p:cNvGrpSpPr/>
            <p:nvPr/>
          </p:nvGrpSpPr>
          <p:grpSpPr>
            <a:xfrm rot="0">
              <a:off x="0" y="0"/>
              <a:ext cx="609600" cy="575729"/>
              <a:chOff x="0" y="0"/>
              <a:chExt cx="609600" cy="575729"/>
            </a:xfrm>
          </p:grpSpPr>
          <p:sp>
            <p:nvSpPr>
              <p:cNvPr name="Freeform 41" id="41"/>
              <p:cNvSpPr/>
              <p:nvPr/>
            </p:nvSpPr>
            <p:spPr>
              <a:xfrm flipH="false" flipV="false" rot="0">
                <a:off x="0" y="0"/>
                <a:ext cx="609600" cy="575691"/>
              </a:xfrm>
              <a:custGeom>
                <a:avLst/>
                <a:gdLst/>
                <a:ahLst/>
                <a:cxnLst/>
                <a:rect r="r" b="b" t="t" l="l"/>
                <a:pathLst>
                  <a:path h="575691" w="609600">
                    <a:moveTo>
                      <a:pt x="0" y="139573"/>
                    </a:moveTo>
                    <a:cubicBezTo>
                      <a:pt x="0" y="62484"/>
                      <a:pt x="62484" y="0"/>
                      <a:pt x="139573" y="0"/>
                    </a:cubicBezTo>
                    <a:lnTo>
                      <a:pt x="470027" y="0"/>
                    </a:lnTo>
                    <a:cubicBezTo>
                      <a:pt x="547116" y="0"/>
                      <a:pt x="609600" y="62484"/>
                      <a:pt x="609600" y="139573"/>
                    </a:cubicBezTo>
                    <a:lnTo>
                      <a:pt x="609600" y="436118"/>
                    </a:lnTo>
                    <a:cubicBezTo>
                      <a:pt x="609600" y="513207"/>
                      <a:pt x="547116" y="575691"/>
                      <a:pt x="470027" y="575691"/>
                    </a:cubicBezTo>
                    <a:lnTo>
                      <a:pt x="139573" y="575691"/>
                    </a:lnTo>
                    <a:cubicBezTo>
                      <a:pt x="62484" y="575691"/>
                      <a:pt x="0" y="513207"/>
                      <a:pt x="0" y="436118"/>
                    </a:cubicBezTo>
                    <a:close/>
                  </a:path>
                </a:pathLst>
              </a:custGeom>
              <a:solidFill>
                <a:srgbClr val="F6EEF2"/>
              </a:solidFill>
            </p:spPr>
          </p:sp>
        </p:grpSp>
        <p:sp>
          <p:nvSpPr>
            <p:cNvPr name="TextBox 42" id="42"/>
            <p:cNvSpPr txBox="true"/>
            <p:nvPr/>
          </p:nvSpPr>
          <p:spPr>
            <a:xfrm rot="0">
              <a:off x="8471" y="115354"/>
              <a:ext cx="592671" cy="321691"/>
            </a:xfrm>
            <a:prstGeom prst="rect">
              <a:avLst/>
            </a:prstGeom>
          </p:spPr>
          <p:txBody>
            <a:bodyPr anchor="t" rtlCol="false" tIns="0" lIns="0" bIns="0" rIns="0">
              <a:spAutoFit/>
            </a:bodyPr>
            <a:lstStyle/>
            <a:p>
              <a:pPr algn="ctr">
                <a:lnSpc>
                  <a:spcPts val="1944"/>
                </a:lnSpc>
              </a:pPr>
              <a:r>
                <a:rPr lang="en-US" sz="1500" b="true">
                  <a:solidFill>
                    <a:srgbClr val="A14678"/>
                  </a:solidFill>
                  <a:latin typeface="Arimo Bold"/>
                  <a:ea typeface="Arimo Bold"/>
                  <a:cs typeface="Arimo Bold"/>
                  <a:sym typeface="Arimo Bold"/>
                </a:rPr>
                <a:t>02</a:t>
              </a:r>
            </a:p>
          </p:txBody>
        </p:sp>
      </p:grpSp>
      <p:grpSp>
        <p:nvGrpSpPr>
          <p:cNvPr name="Group 43" id="43"/>
          <p:cNvGrpSpPr/>
          <p:nvPr/>
        </p:nvGrpSpPr>
        <p:grpSpPr>
          <a:xfrm rot="0">
            <a:off x="11199013" y="6476548"/>
            <a:ext cx="457200" cy="431797"/>
            <a:chOff x="0" y="0"/>
            <a:chExt cx="609600" cy="575729"/>
          </a:xfrm>
        </p:grpSpPr>
        <p:grpSp>
          <p:nvGrpSpPr>
            <p:cNvPr name="Group 44" id="44"/>
            <p:cNvGrpSpPr/>
            <p:nvPr/>
          </p:nvGrpSpPr>
          <p:grpSpPr>
            <a:xfrm rot="0">
              <a:off x="0" y="0"/>
              <a:ext cx="609600" cy="575729"/>
              <a:chOff x="0" y="0"/>
              <a:chExt cx="609600" cy="575729"/>
            </a:xfrm>
          </p:grpSpPr>
          <p:sp>
            <p:nvSpPr>
              <p:cNvPr name="Freeform 45" id="45"/>
              <p:cNvSpPr/>
              <p:nvPr/>
            </p:nvSpPr>
            <p:spPr>
              <a:xfrm flipH="false" flipV="false" rot="0">
                <a:off x="0" y="0"/>
                <a:ext cx="609600" cy="575691"/>
              </a:xfrm>
              <a:custGeom>
                <a:avLst/>
                <a:gdLst/>
                <a:ahLst/>
                <a:cxnLst/>
                <a:rect r="r" b="b" t="t" l="l"/>
                <a:pathLst>
                  <a:path h="575691" w="609600">
                    <a:moveTo>
                      <a:pt x="0" y="139573"/>
                    </a:moveTo>
                    <a:cubicBezTo>
                      <a:pt x="0" y="62484"/>
                      <a:pt x="62484" y="0"/>
                      <a:pt x="139573" y="0"/>
                    </a:cubicBezTo>
                    <a:lnTo>
                      <a:pt x="470027" y="0"/>
                    </a:lnTo>
                    <a:cubicBezTo>
                      <a:pt x="547116" y="0"/>
                      <a:pt x="609600" y="62484"/>
                      <a:pt x="609600" y="139573"/>
                    </a:cubicBezTo>
                    <a:lnTo>
                      <a:pt x="609600" y="436118"/>
                    </a:lnTo>
                    <a:cubicBezTo>
                      <a:pt x="609600" y="513207"/>
                      <a:pt x="547116" y="575691"/>
                      <a:pt x="470027" y="575691"/>
                    </a:cubicBezTo>
                    <a:lnTo>
                      <a:pt x="139573" y="575691"/>
                    </a:lnTo>
                    <a:cubicBezTo>
                      <a:pt x="62484" y="575691"/>
                      <a:pt x="0" y="513207"/>
                      <a:pt x="0" y="436118"/>
                    </a:cubicBezTo>
                    <a:close/>
                  </a:path>
                </a:pathLst>
              </a:custGeom>
              <a:solidFill>
                <a:srgbClr val="F6EEF2"/>
              </a:solidFill>
            </p:spPr>
          </p:sp>
        </p:grpSp>
        <p:sp>
          <p:nvSpPr>
            <p:cNvPr name="TextBox 46" id="46"/>
            <p:cNvSpPr txBox="true"/>
            <p:nvPr/>
          </p:nvSpPr>
          <p:spPr>
            <a:xfrm rot="0">
              <a:off x="8471" y="115354"/>
              <a:ext cx="592671" cy="321691"/>
            </a:xfrm>
            <a:prstGeom prst="rect">
              <a:avLst/>
            </a:prstGeom>
          </p:spPr>
          <p:txBody>
            <a:bodyPr anchor="t" rtlCol="false" tIns="0" lIns="0" bIns="0" rIns="0">
              <a:spAutoFit/>
            </a:bodyPr>
            <a:lstStyle/>
            <a:p>
              <a:pPr algn="ctr">
                <a:lnSpc>
                  <a:spcPts val="1944"/>
                </a:lnSpc>
              </a:pPr>
              <a:r>
                <a:rPr lang="en-US" sz="1500" b="true">
                  <a:solidFill>
                    <a:srgbClr val="A14678"/>
                  </a:solidFill>
                  <a:latin typeface="Arimo Bold"/>
                  <a:ea typeface="Arimo Bold"/>
                  <a:cs typeface="Arimo Bold"/>
                  <a:sym typeface="Arimo Bold"/>
                </a:rPr>
                <a:t>03</a:t>
              </a:r>
            </a:p>
          </p:txBody>
        </p:sp>
      </p:grpSp>
      <p:grpSp>
        <p:nvGrpSpPr>
          <p:cNvPr name="Group 47" id="47"/>
          <p:cNvGrpSpPr/>
          <p:nvPr/>
        </p:nvGrpSpPr>
        <p:grpSpPr>
          <a:xfrm rot="0">
            <a:off x="11199013" y="7930467"/>
            <a:ext cx="457200" cy="431797"/>
            <a:chOff x="0" y="0"/>
            <a:chExt cx="609600" cy="575729"/>
          </a:xfrm>
        </p:grpSpPr>
        <p:grpSp>
          <p:nvGrpSpPr>
            <p:cNvPr name="Group 48" id="48"/>
            <p:cNvGrpSpPr/>
            <p:nvPr/>
          </p:nvGrpSpPr>
          <p:grpSpPr>
            <a:xfrm rot="0">
              <a:off x="0" y="0"/>
              <a:ext cx="609600" cy="575729"/>
              <a:chOff x="0" y="0"/>
              <a:chExt cx="609600" cy="575729"/>
            </a:xfrm>
          </p:grpSpPr>
          <p:sp>
            <p:nvSpPr>
              <p:cNvPr name="Freeform 49" id="49"/>
              <p:cNvSpPr/>
              <p:nvPr/>
            </p:nvSpPr>
            <p:spPr>
              <a:xfrm flipH="false" flipV="false" rot="0">
                <a:off x="0" y="0"/>
                <a:ext cx="609600" cy="575691"/>
              </a:xfrm>
              <a:custGeom>
                <a:avLst/>
                <a:gdLst/>
                <a:ahLst/>
                <a:cxnLst/>
                <a:rect r="r" b="b" t="t" l="l"/>
                <a:pathLst>
                  <a:path h="575691" w="609600">
                    <a:moveTo>
                      <a:pt x="0" y="139573"/>
                    </a:moveTo>
                    <a:cubicBezTo>
                      <a:pt x="0" y="62484"/>
                      <a:pt x="62484" y="0"/>
                      <a:pt x="139573" y="0"/>
                    </a:cubicBezTo>
                    <a:lnTo>
                      <a:pt x="470027" y="0"/>
                    </a:lnTo>
                    <a:cubicBezTo>
                      <a:pt x="547116" y="0"/>
                      <a:pt x="609600" y="62484"/>
                      <a:pt x="609600" y="139573"/>
                    </a:cubicBezTo>
                    <a:lnTo>
                      <a:pt x="609600" y="436118"/>
                    </a:lnTo>
                    <a:cubicBezTo>
                      <a:pt x="609600" y="513207"/>
                      <a:pt x="547116" y="575691"/>
                      <a:pt x="470027" y="575691"/>
                    </a:cubicBezTo>
                    <a:lnTo>
                      <a:pt x="139573" y="575691"/>
                    </a:lnTo>
                    <a:cubicBezTo>
                      <a:pt x="62484" y="575691"/>
                      <a:pt x="0" y="513207"/>
                      <a:pt x="0" y="436118"/>
                    </a:cubicBezTo>
                    <a:close/>
                  </a:path>
                </a:pathLst>
              </a:custGeom>
              <a:solidFill>
                <a:srgbClr val="F6EEF2"/>
              </a:solidFill>
            </p:spPr>
          </p:sp>
        </p:grpSp>
        <p:sp>
          <p:nvSpPr>
            <p:cNvPr name="TextBox 50" id="50"/>
            <p:cNvSpPr txBox="true"/>
            <p:nvPr/>
          </p:nvSpPr>
          <p:spPr>
            <a:xfrm rot="0">
              <a:off x="8471" y="115354"/>
              <a:ext cx="592671" cy="321691"/>
            </a:xfrm>
            <a:prstGeom prst="rect">
              <a:avLst/>
            </a:prstGeom>
          </p:spPr>
          <p:txBody>
            <a:bodyPr anchor="t" rtlCol="false" tIns="0" lIns="0" bIns="0" rIns="0">
              <a:spAutoFit/>
            </a:bodyPr>
            <a:lstStyle/>
            <a:p>
              <a:pPr algn="ctr">
                <a:lnSpc>
                  <a:spcPts val="1944"/>
                </a:lnSpc>
              </a:pPr>
              <a:r>
                <a:rPr lang="en-US" sz="1500" b="true">
                  <a:solidFill>
                    <a:srgbClr val="A14678"/>
                  </a:solidFill>
                  <a:latin typeface="Arimo Bold"/>
                  <a:ea typeface="Arimo Bold"/>
                  <a:cs typeface="Arimo Bold"/>
                  <a:sym typeface="Arimo Bold"/>
                </a:rPr>
                <a:t>04</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grpSp>
        <p:nvGrpSpPr>
          <p:cNvPr name="Group 2" id="2"/>
          <p:cNvGrpSpPr/>
          <p:nvPr/>
        </p:nvGrpSpPr>
        <p:grpSpPr>
          <a:xfrm rot="0">
            <a:off x="762000" y="609600"/>
            <a:ext cx="6350003" cy="355601"/>
            <a:chOff x="0" y="0"/>
            <a:chExt cx="8466671" cy="474134"/>
          </a:xfrm>
        </p:grpSpPr>
        <p:sp>
          <p:nvSpPr>
            <p:cNvPr name="Freeform 3" id="3"/>
            <p:cNvSpPr/>
            <p:nvPr/>
          </p:nvSpPr>
          <p:spPr>
            <a:xfrm flipH="false" flipV="false" rot="0">
              <a:off x="0" y="0"/>
              <a:ext cx="8466666" cy="474139"/>
            </a:xfrm>
            <a:custGeom>
              <a:avLst/>
              <a:gdLst/>
              <a:ahLst/>
              <a:cxnLst/>
              <a:rect r="r" b="b" t="t" l="l"/>
              <a:pathLst>
                <a:path h="474139" w="8466666">
                  <a:moveTo>
                    <a:pt x="0" y="0"/>
                  </a:moveTo>
                  <a:lnTo>
                    <a:pt x="8466666" y="0"/>
                  </a:lnTo>
                  <a:lnTo>
                    <a:pt x="8466666" y="474139"/>
                  </a:lnTo>
                  <a:lnTo>
                    <a:pt x="0" y="474139"/>
                  </a:lnTo>
                  <a:close/>
                </a:path>
              </a:pathLst>
            </a:custGeom>
            <a:blipFill>
              <a:blip r:embed="rId3">
                <a:alphaModFix amt="0"/>
              </a:blip>
              <a:stretch>
                <a:fillRect l="0" t="-297944" r="0" b="-297942"/>
              </a:stretch>
            </a:blipFill>
          </p:spPr>
        </p:sp>
        <p:sp>
          <p:nvSpPr>
            <p:cNvPr name="TextBox 4" id="4"/>
            <p:cNvSpPr txBox="true"/>
            <p:nvPr/>
          </p:nvSpPr>
          <p:spPr>
            <a:xfrm>
              <a:off x="0" y="-19050"/>
              <a:ext cx="8466671" cy="493184"/>
            </a:xfrm>
            <a:prstGeom prst="rect">
              <a:avLst/>
            </a:prstGeom>
          </p:spPr>
          <p:txBody>
            <a:bodyPr anchor="ctr" rtlCol="false" tIns="0" lIns="0" bIns="0" rIns="0"/>
            <a:lstStyle/>
            <a:p>
              <a:pPr algn="l">
                <a:lnSpc>
                  <a:spcPts val="1800"/>
                </a:lnSpc>
              </a:pPr>
              <a:r>
                <a:rPr lang="en-US" sz="1500" b="true">
                  <a:solidFill>
                    <a:srgbClr val="66645F"/>
                  </a:solidFill>
                  <a:latin typeface="Arimo Bold"/>
                  <a:ea typeface="Arimo Bold"/>
                  <a:cs typeface="Arimo Bold"/>
                  <a:sym typeface="Arimo Bold"/>
                </a:rPr>
                <a:t>VICPINKY CARRIER</a:t>
              </a:r>
            </a:p>
          </p:txBody>
        </p:sp>
      </p:grpSp>
      <p:grpSp>
        <p:nvGrpSpPr>
          <p:cNvPr name="Group 5" id="5"/>
          <p:cNvGrpSpPr/>
          <p:nvPr/>
        </p:nvGrpSpPr>
        <p:grpSpPr>
          <a:xfrm rot="0">
            <a:off x="762000" y="1041397"/>
            <a:ext cx="16256003" cy="856692"/>
            <a:chOff x="0" y="0"/>
            <a:chExt cx="21674671" cy="1142256"/>
          </a:xfrm>
        </p:grpSpPr>
        <p:sp>
          <p:nvSpPr>
            <p:cNvPr name="Freeform 6" id="6"/>
            <p:cNvSpPr/>
            <p:nvPr/>
          </p:nvSpPr>
          <p:spPr>
            <a:xfrm flipH="false" flipV="false" rot="0">
              <a:off x="0" y="0"/>
              <a:ext cx="21674666" cy="1142261"/>
            </a:xfrm>
            <a:custGeom>
              <a:avLst/>
              <a:gdLst/>
              <a:ahLst/>
              <a:cxnLst/>
              <a:rect r="r" b="b" t="t" l="l"/>
              <a:pathLst>
                <a:path h="1142261" w="21674666">
                  <a:moveTo>
                    <a:pt x="0" y="0"/>
                  </a:moveTo>
                  <a:lnTo>
                    <a:pt x="21674666" y="0"/>
                  </a:lnTo>
                  <a:lnTo>
                    <a:pt x="21674666" y="1142261"/>
                  </a:lnTo>
                  <a:lnTo>
                    <a:pt x="0" y="1142261"/>
                  </a:lnTo>
                  <a:close/>
                </a:path>
              </a:pathLst>
            </a:custGeom>
            <a:blipFill>
              <a:blip r:embed="rId3">
                <a:alphaModFix amt="0"/>
              </a:blip>
              <a:stretch>
                <a:fillRect l="0" t="-328966" r="0" b="-310500"/>
              </a:stretch>
            </a:blipFill>
          </p:spPr>
        </p:sp>
        <p:sp>
          <p:nvSpPr>
            <p:cNvPr name="TextBox 7" id="7"/>
            <p:cNvSpPr txBox="true"/>
            <p:nvPr/>
          </p:nvSpPr>
          <p:spPr>
            <a:xfrm>
              <a:off x="0" y="-19050"/>
              <a:ext cx="21674671" cy="1161306"/>
            </a:xfrm>
            <a:prstGeom prst="rect">
              <a:avLst/>
            </a:prstGeom>
          </p:spPr>
          <p:txBody>
            <a:bodyPr anchor="ctr" rtlCol="false" tIns="0" lIns="0" bIns="0" rIns="0"/>
            <a:lstStyle/>
            <a:p>
              <a:pPr algn="l">
                <a:lnSpc>
                  <a:spcPts val="5040"/>
                </a:lnSpc>
              </a:pPr>
              <a:r>
                <a:rPr lang="en-US" sz="4200" b="true">
                  <a:solidFill>
                    <a:srgbClr val="111111"/>
                  </a:solidFill>
                  <a:latin typeface="Arimo Bold"/>
                  <a:ea typeface="Arimo Bold"/>
                  <a:cs typeface="Arimo Bold"/>
                  <a:sym typeface="Arimo Bold"/>
                </a:rPr>
                <a:t>가상 로봇으로 실물 투입 전 로봇 검증</a:t>
              </a:r>
            </a:p>
          </p:txBody>
        </p:sp>
      </p:grpSp>
      <p:sp>
        <p:nvSpPr>
          <p:cNvPr name="TextBox 8" id="8"/>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23</a:t>
            </a:r>
          </a:p>
        </p:txBody>
      </p:sp>
      <p:grpSp>
        <p:nvGrpSpPr>
          <p:cNvPr name="Group 9" id="9"/>
          <p:cNvGrpSpPr/>
          <p:nvPr/>
        </p:nvGrpSpPr>
        <p:grpSpPr>
          <a:xfrm rot="0">
            <a:off x="746122" y="2498722"/>
            <a:ext cx="9836153" cy="6826253"/>
            <a:chOff x="0" y="0"/>
            <a:chExt cx="13114871" cy="9101671"/>
          </a:xfrm>
        </p:grpSpPr>
        <p:sp>
          <p:nvSpPr>
            <p:cNvPr name="Freeform 10" id="10" descr="2026-09-21 직접 화면 녹화. 가상 로봇 TEST-BOT을 사용한 실제 FMS 실행. recordings/2026-09-21/clips/23_가상_로봇_검증.mp4">
              <a:hlinkClick r:id="rId5" tooltip="시연 영상 재생"/>
            </p:cNvPr>
            <p:cNvSpPr/>
            <p:nvPr/>
          </p:nvSpPr>
          <p:spPr>
            <a:xfrm flipH="false" flipV="false" rot="0">
              <a:off x="0" y="0"/>
              <a:ext cx="13114782" cy="9101582"/>
            </a:xfrm>
            <a:custGeom>
              <a:avLst/>
              <a:gdLst/>
              <a:ahLst/>
              <a:cxnLst/>
              <a:rect r="r" b="b" t="t" l="l"/>
              <a:pathLst>
                <a:path h="9101582" w="13114782">
                  <a:moveTo>
                    <a:pt x="0" y="153035"/>
                  </a:moveTo>
                  <a:cubicBezTo>
                    <a:pt x="0" y="68580"/>
                    <a:pt x="68580" y="0"/>
                    <a:pt x="153035" y="0"/>
                  </a:cubicBezTo>
                  <a:lnTo>
                    <a:pt x="12961747" y="0"/>
                  </a:lnTo>
                  <a:cubicBezTo>
                    <a:pt x="13046329" y="0"/>
                    <a:pt x="13114782" y="68580"/>
                    <a:pt x="13114782" y="153035"/>
                  </a:cubicBezTo>
                  <a:lnTo>
                    <a:pt x="13114782" y="8948547"/>
                  </a:lnTo>
                  <a:cubicBezTo>
                    <a:pt x="13114782" y="9033128"/>
                    <a:pt x="13046202" y="9101582"/>
                    <a:pt x="12961747" y="9101582"/>
                  </a:cubicBezTo>
                  <a:lnTo>
                    <a:pt x="153035" y="9101582"/>
                  </a:lnTo>
                  <a:cubicBezTo>
                    <a:pt x="68580" y="9101709"/>
                    <a:pt x="0" y="9033129"/>
                    <a:pt x="0" y="8948547"/>
                  </a:cubicBezTo>
                  <a:close/>
                </a:path>
              </a:pathLst>
            </a:custGeom>
            <a:blipFill>
              <a:blip r:embed="rId4"/>
              <a:stretch>
                <a:fillRect l="-11688" t="0" r="-11688" b="0"/>
              </a:stretch>
            </a:blipFill>
            <a:ln w="38100" cap="sq">
              <a:solidFill>
                <a:srgbClr val="111111"/>
              </a:solidFill>
              <a:prstDash val="solid"/>
              <a:miter/>
            </a:ln>
          </p:spPr>
        </p:sp>
      </p:grpSp>
      <p:grpSp>
        <p:nvGrpSpPr>
          <p:cNvPr name="Group 11" id="11"/>
          <p:cNvGrpSpPr/>
          <p:nvPr/>
        </p:nvGrpSpPr>
        <p:grpSpPr>
          <a:xfrm rot="0">
            <a:off x="10915650" y="3057525"/>
            <a:ext cx="6610350" cy="5582958"/>
            <a:chOff x="0" y="0"/>
            <a:chExt cx="8813800" cy="7443944"/>
          </a:xfrm>
        </p:grpSpPr>
        <p:sp>
          <p:nvSpPr>
            <p:cNvPr name="Freeform 12" id="12"/>
            <p:cNvSpPr/>
            <p:nvPr/>
          </p:nvSpPr>
          <p:spPr>
            <a:xfrm flipH="false" flipV="false" rot="0">
              <a:off x="0" y="0"/>
              <a:ext cx="8813800" cy="7443871"/>
            </a:xfrm>
            <a:custGeom>
              <a:avLst/>
              <a:gdLst/>
              <a:ahLst/>
              <a:cxnLst/>
              <a:rect r="r" b="b" t="t" l="l"/>
              <a:pathLst>
                <a:path h="7443871" w="8813800">
                  <a:moveTo>
                    <a:pt x="0" y="125162"/>
                  </a:moveTo>
                  <a:cubicBezTo>
                    <a:pt x="0" y="56089"/>
                    <a:pt x="68580" y="0"/>
                    <a:pt x="153035" y="0"/>
                  </a:cubicBezTo>
                  <a:lnTo>
                    <a:pt x="8660765" y="0"/>
                  </a:lnTo>
                  <a:cubicBezTo>
                    <a:pt x="8745220" y="0"/>
                    <a:pt x="8813800" y="56089"/>
                    <a:pt x="8813800" y="125162"/>
                  </a:cubicBezTo>
                  <a:lnTo>
                    <a:pt x="8813800" y="7318710"/>
                  </a:lnTo>
                  <a:cubicBezTo>
                    <a:pt x="8813800" y="7387886"/>
                    <a:pt x="8745220" y="7443871"/>
                    <a:pt x="8660765" y="7443871"/>
                  </a:cubicBezTo>
                  <a:lnTo>
                    <a:pt x="153035" y="7443871"/>
                  </a:lnTo>
                  <a:cubicBezTo>
                    <a:pt x="68580" y="7443982"/>
                    <a:pt x="0" y="7387886"/>
                    <a:pt x="0" y="7318710"/>
                  </a:cubicBezTo>
                  <a:close/>
                </a:path>
              </a:pathLst>
            </a:custGeom>
            <a:solidFill>
              <a:srgbClr val="FFFFFF"/>
            </a:solidFill>
            <a:ln w="19050" cap="sq">
              <a:solidFill>
                <a:srgbClr val="111111"/>
              </a:solidFill>
              <a:prstDash val="solid"/>
              <a:miter/>
            </a:ln>
          </p:spPr>
        </p:sp>
      </p:grpSp>
      <p:grpSp>
        <p:nvGrpSpPr>
          <p:cNvPr name="Group 13" id="13"/>
          <p:cNvGrpSpPr/>
          <p:nvPr/>
        </p:nvGrpSpPr>
        <p:grpSpPr>
          <a:xfrm rot="0">
            <a:off x="1028700" y="2819400"/>
            <a:ext cx="1441447" cy="476250"/>
            <a:chOff x="0" y="0"/>
            <a:chExt cx="1921929" cy="635000"/>
          </a:xfrm>
        </p:grpSpPr>
        <p:grpSp>
          <p:nvGrpSpPr>
            <p:cNvPr name="Group 14" id="14"/>
            <p:cNvGrpSpPr/>
            <p:nvPr/>
          </p:nvGrpSpPr>
          <p:grpSpPr>
            <a:xfrm rot="0">
              <a:off x="0" y="0"/>
              <a:ext cx="1921929" cy="635000"/>
              <a:chOff x="0" y="0"/>
              <a:chExt cx="1921929" cy="635000"/>
            </a:xfrm>
          </p:grpSpPr>
          <p:sp>
            <p:nvSpPr>
              <p:cNvPr name="Freeform 15" id="15"/>
              <p:cNvSpPr/>
              <p:nvPr/>
            </p:nvSpPr>
            <p:spPr>
              <a:xfrm flipH="false" flipV="false" rot="0">
                <a:off x="0" y="0"/>
                <a:ext cx="1921891" cy="635000"/>
              </a:xfrm>
              <a:custGeom>
                <a:avLst/>
                <a:gdLst/>
                <a:ahLst/>
                <a:cxnLst/>
                <a:rect r="r" b="b" t="t" l="l"/>
                <a:pathLst>
                  <a:path h="635000" w="1921891">
                    <a:moveTo>
                      <a:pt x="0" y="114300"/>
                    </a:moveTo>
                    <a:cubicBezTo>
                      <a:pt x="0" y="51181"/>
                      <a:pt x="51181" y="0"/>
                      <a:pt x="114300" y="0"/>
                    </a:cubicBezTo>
                    <a:lnTo>
                      <a:pt x="1807591" y="0"/>
                    </a:lnTo>
                    <a:cubicBezTo>
                      <a:pt x="1870710" y="0"/>
                      <a:pt x="1921891" y="51181"/>
                      <a:pt x="1921891" y="114300"/>
                    </a:cubicBezTo>
                    <a:lnTo>
                      <a:pt x="1921891" y="520700"/>
                    </a:lnTo>
                    <a:cubicBezTo>
                      <a:pt x="1921891" y="583819"/>
                      <a:pt x="1870710" y="635000"/>
                      <a:pt x="1807591" y="635000"/>
                    </a:cubicBezTo>
                    <a:lnTo>
                      <a:pt x="114300" y="635000"/>
                    </a:lnTo>
                    <a:cubicBezTo>
                      <a:pt x="51181" y="635000"/>
                      <a:pt x="0" y="583819"/>
                      <a:pt x="0" y="520700"/>
                    </a:cubicBezTo>
                    <a:close/>
                  </a:path>
                </a:pathLst>
              </a:custGeom>
              <a:solidFill>
                <a:srgbClr val="101010"/>
              </a:solidFill>
            </p:spPr>
          </p:sp>
        </p:grpSp>
        <p:grpSp>
          <p:nvGrpSpPr>
            <p:cNvPr name="Group 16" id="16"/>
            <p:cNvGrpSpPr/>
            <p:nvPr/>
          </p:nvGrpSpPr>
          <p:grpSpPr>
            <a:xfrm rot="0">
              <a:off x="121123" y="55033"/>
              <a:ext cx="1679683" cy="524934"/>
              <a:chOff x="0" y="0"/>
              <a:chExt cx="1679683" cy="524934"/>
            </a:xfrm>
          </p:grpSpPr>
          <p:sp>
            <p:nvSpPr>
              <p:cNvPr name="Freeform 17" id="17"/>
              <p:cNvSpPr/>
              <p:nvPr/>
            </p:nvSpPr>
            <p:spPr>
              <a:xfrm flipH="false" flipV="false" rot="0">
                <a:off x="0" y="0"/>
                <a:ext cx="1679688" cy="524939"/>
              </a:xfrm>
              <a:custGeom>
                <a:avLst/>
                <a:gdLst/>
                <a:ahLst/>
                <a:cxnLst/>
                <a:rect r="r" b="b" t="t" l="l"/>
                <a:pathLst>
                  <a:path h="524939" w="1679688">
                    <a:moveTo>
                      <a:pt x="0" y="0"/>
                    </a:moveTo>
                    <a:lnTo>
                      <a:pt x="1679688" y="0"/>
                    </a:lnTo>
                    <a:lnTo>
                      <a:pt x="1679688" y="524939"/>
                    </a:lnTo>
                    <a:lnTo>
                      <a:pt x="0" y="524939"/>
                    </a:lnTo>
                    <a:close/>
                  </a:path>
                </a:pathLst>
              </a:custGeom>
              <a:blipFill>
                <a:blip r:embed="rId3">
                  <a:alphaModFix amt="0"/>
                </a:blip>
                <a:stretch>
                  <a:fillRect l="0" t="-20397" r="-12909" b="-20395"/>
                </a:stretch>
              </a:blipFill>
            </p:spPr>
          </p:sp>
          <p:sp>
            <p:nvSpPr>
              <p:cNvPr name="TextBox 18" id="18">
                <a:hlinkClick r:id="rId5" tooltip="시연 영상 재생"/>
              </p:cNvPr>
              <p:cNvSpPr txBox="true"/>
              <p:nvPr/>
            </p:nvSpPr>
            <p:spPr>
              <a:xfrm>
                <a:off x="0" y="-9525"/>
                <a:ext cx="1679683" cy="534459"/>
              </a:xfrm>
              <a:prstGeom prst="rect">
                <a:avLst/>
              </a:prstGeom>
            </p:spPr>
            <p:txBody>
              <a:bodyPr anchor="ctr" rtlCol="false" tIns="0" lIns="0" bIns="0" rIns="0"/>
              <a:lstStyle/>
              <a:p>
                <a:pPr algn="ctr">
                  <a:lnSpc>
                    <a:spcPts val="1889"/>
                  </a:lnSpc>
                </a:pPr>
                <a:r>
                  <a:rPr lang="en-US" b="true" sz="1575" u="sng">
                    <a:solidFill>
                      <a:srgbClr val="FFFFFF"/>
                    </a:solidFill>
                    <a:latin typeface="Arimo Bold"/>
                    <a:ea typeface="Arimo Bold"/>
                    <a:cs typeface="Arimo Bold"/>
                    <a:sym typeface="Arimo Bold"/>
                  </a:rPr>
                  <a:t>가상 로봇</a:t>
                </a:r>
              </a:p>
            </p:txBody>
          </p:sp>
        </p:grpSp>
      </p:grpSp>
      <p:grpSp>
        <p:nvGrpSpPr>
          <p:cNvPr name="Group 19" id="19"/>
          <p:cNvGrpSpPr/>
          <p:nvPr/>
        </p:nvGrpSpPr>
        <p:grpSpPr>
          <a:xfrm rot="0">
            <a:off x="11183135" y="3289297"/>
            <a:ext cx="6031712" cy="1367562"/>
            <a:chOff x="0" y="0"/>
            <a:chExt cx="8042282" cy="1823416"/>
          </a:xfrm>
        </p:grpSpPr>
        <p:grpSp>
          <p:nvGrpSpPr>
            <p:cNvPr name="Group 20" id="20"/>
            <p:cNvGrpSpPr/>
            <p:nvPr/>
          </p:nvGrpSpPr>
          <p:grpSpPr>
            <a:xfrm rot="0">
              <a:off x="980745" y="0"/>
              <a:ext cx="7061537" cy="1823416"/>
              <a:chOff x="0" y="0"/>
              <a:chExt cx="7061537" cy="1823416"/>
            </a:xfrm>
          </p:grpSpPr>
          <p:sp>
            <p:nvSpPr>
              <p:cNvPr name="Freeform 21" id="21"/>
              <p:cNvSpPr/>
              <p:nvPr/>
            </p:nvSpPr>
            <p:spPr>
              <a:xfrm flipH="false" flipV="false" rot="0">
                <a:off x="0" y="0"/>
                <a:ext cx="7061457" cy="1823299"/>
              </a:xfrm>
              <a:custGeom>
                <a:avLst/>
                <a:gdLst/>
                <a:ahLst/>
                <a:cxnLst/>
                <a:rect r="r" b="b" t="t" l="l"/>
                <a:pathLst>
                  <a:path h="1823299" w="7061457">
                    <a:moveTo>
                      <a:pt x="0" y="205050"/>
                    </a:moveTo>
                    <a:cubicBezTo>
                      <a:pt x="0" y="91786"/>
                      <a:pt x="61442" y="0"/>
                      <a:pt x="137262" y="0"/>
                    </a:cubicBezTo>
                    <a:lnTo>
                      <a:pt x="6924196" y="0"/>
                    </a:lnTo>
                    <a:cubicBezTo>
                      <a:pt x="7000016" y="0"/>
                      <a:pt x="7061457" y="91786"/>
                      <a:pt x="7061457" y="205050"/>
                    </a:cubicBezTo>
                    <a:lnTo>
                      <a:pt x="7061457" y="1618249"/>
                    </a:lnTo>
                    <a:cubicBezTo>
                      <a:pt x="7061457" y="1731513"/>
                      <a:pt x="7000016" y="1823299"/>
                      <a:pt x="6924196" y="1823299"/>
                    </a:cubicBezTo>
                    <a:lnTo>
                      <a:pt x="137262" y="1823299"/>
                    </a:lnTo>
                    <a:cubicBezTo>
                      <a:pt x="61442" y="1823454"/>
                      <a:pt x="0" y="1731513"/>
                      <a:pt x="0" y="1618249"/>
                    </a:cubicBezTo>
                    <a:close/>
                  </a:path>
                </a:pathLst>
              </a:custGeom>
              <a:solidFill>
                <a:srgbClr val="F6EEF2"/>
              </a:solidFill>
            </p:spPr>
          </p:sp>
        </p:grpSp>
        <p:sp>
          <p:nvSpPr>
            <p:cNvPr name="TextBox 22" id="22"/>
            <p:cNvSpPr txBox="true"/>
            <p:nvPr/>
          </p:nvSpPr>
          <p:spPr>
            <a:xfrm rot="0">
              <a:off x="1261559" y="194729"/>
              <a:ext cx="6499909" cy="519786"/>
            </a:xfrm>
            <a:prstGeom prst="rect">
              <a:avLst/>
            </a:prstGeom>
          </p:spPr>
          <p:txBody>
            <a:bodyPr anchor="t" rtlCol="false" tIns="0" lIns="0" bIns="0" rIns="0">
              <a:spAutoFit/>
            </a:bodyPr>
            <a:lstStyle/>
            <a:p>
              <a:pPr algn="l">
                <a:lnSpc>
                  <a:spcPts val="3110"/>
                </a:lnSpc>
              </a:pPr>
              <a:r>
                <a:rPr lang="en-US" sz="2400" b="true">
                  <a:solidFill>
                    <a:srgbClr val="111111"/>
                  </a:solidFill>
                  <a:latin typeface="Arimo Bold"/>
                  <a:ea typeface="Arimo Bold"/>
                  <a:cs typeface="Arimo Bold"/>
                  <a:sym typeface="Arimo Bold"/>
                </a:rPr>
                <a:t>실물 로봇 없이 반복 테스트</a:t>
              </a:r>
            </a:p>
          </p:txBody>
        </p:sp>
        <p:sp>
          <p:nvSpPr>
            <p:cNvPr name="TextBox 23" id="23"/>
            <p:cNvSpPr txBox="true"/>
            <p:nvPr/>
          </p:nvSpPr>
          <p:spPr>
            <a:xfrm rot="0">
              <a:off x="1261559" y="804329"/>
              <a:ext cx="6499909" cy="796239"/>
            </a:xfrm>
            <a:prstGeom prst="rect">
              <a:avLst/>
            </a:prstGeom>
          </p:spPr>
          <p:txBody>
            <a:bodyPr anchor="t" rtlCol="false" tIns="0" lIns="0" bIns="0" rIns="0">
              <a:spAutoFit/>
            </a:bodyPr>
            <a:lstStyle/>
            <a:p>
              <a:pPr algn="l">
                <a:lnSpc>
                  <a:spcPts val="2332"/>
                </a:lnSpc>
              </a:pPr>
              <a:r>
                <a:rPr lang="en-US" sz="1800">
                  <a:solidFill>
                    <a:srgbClr val="666666"/>
                  </a:solidFill>
                  <a:latin typeface="Arimo"/>
                  <a:ea typeface="Arimo"/>
                  <a:cs typeface="Arimo"/>
                  <a:sym typeface="Arimo"/>
                </a:rPr>
                <a:t>ROS2 rosbridge 없이 백엔드에서 실행</a:t>
              </a:r>
            </a:p>
            <a:p>
              <a:pPr algn="l">
                <a:lnSpc>
                  <a:spcPts val="2332"/>
                </a:lnSpc>
              </a:pPr>
              <a:r>
                <a:rPr lang="en-US" sz="1800">
                  <a:solidFill>
                    <a:srgbClr val="666666"/>
                  </a:solidFill>
                  <a:latin typeface="Arimo"/>
                  <a:ea typeface="Arimo"/>
                  <a:cs typeface="Arimo"/>
                  <a:sym typeface="Arimo"/>
                </a:rPr>
                <a:t>위치 정보, 배터리 상태, IMU 이상을 주입</a:t>
              </a:r>
            </a:p>
          </p:txBody>
        </p:sp>
        <p:grpSp>
          <p:nvGrpSpPr>
            <p:cNvPr name="Group 24" id="24"/>
            <p:cNvGrpSpPr/>
            <p:nvPr/>
          </p:nvGrpSpPr>
          <p:grpSpPr>
            <a:xfrm rot="0">
              <a:off x="0" y="114306"/>
              <a:ext cx="609600" cy="575729"/>
              <a:chOff x="0" y="0"/>
              <a:chExt cx="609600" cy="575729"/>
            </a:xfrm>
          </p:grpSpPr>
          <p:sp>
            <p:nvSpPr>
              <p:cNvPr name="Freeform 25" id="25"/>
              <p:cNvSpPr/>
              <p:nvPr/>
            </p:nvSpPr>
            <p:spPr>
              <a:xfrm flipH="false" flipV="false" rot="0">
                <a:off x="0" y="0"/>
                <a:ext cx="609600" cy="575691"/>
              </a:xfrm>
              <a:custGeom>
                <a:avLst/>
                <a:gdLst/>
                <a:ahLst/>
                <a:cxnLst/>
                <a:rect r="r" b="b" t="t" l="l"/>
                <a:pathLst>
                  <a:path h="575691" w="609600">
                    <a:moveTo>
                      <a:pt x="0" y="139573"/>
                    </a:moveTo>
                    <a:cubicBezTo>
                      <a:pt x="0" y="62484"/>
                      <a:pt x="62484" y="0"/>
                      <a:pt x="139573" y="0"/>
                    </a:cubicBezTo>
                    <a:lnTo>
                      <a:pt x="470027" y="0"/>
                    </a:lnTo>
                    <a:cubicBezTo>
                      <a:pt x="547116" y="0"/>
                      <a:pt x="609600" y="62484"/>
                      <a:pt x="609600" y="139573"/>
                    </a:cubicBezTo>
                    <a:lnTo>
                      <a:pt x="609600" y="436118"/>
                    </a:lnTo>
                    <a:cubicBezTo>
                      <a:pt x="609600" y="513207"/>
                      <a:pt x="547116" y="575691"/>
                      <a:pt x="470027" y="575691"/>
                    </a:cubicBezTo>
                    <a:lnTo>
                      <a:pt x="139573" y="575691"/>
                    </a:lnTo>
                    <a:cubicBezTo>
                      <a:pt x="62484" y="575691"/>
                      <a:pt x="0" y="513207"/>
                      <a:pt x="0" y="436118"/>
                    </a:cubicBezTo>
                    <a:close/>
                  </a:path>
                </a:pathLst>
              </a:custGeom>
              <a:solidFill>
                <a:srgbClr val="F6EEF2"/>
              </a:solidFill>
            </p:spPr>
          </p:sp>
        </p:grpSp>
        <p:sp>
          <p:nvSpPr>
            <p:cNvPr name="TextBox 26" id="26"/>
            <p:cNvSpPr txBox="true"/>
            <p:nvPr/>
          </p:nvSpPr>
          <p:spPr>
            <a:xfrm rot="0">
              <a:off x="8471" y="229660"/>
              <a:ext cx="592671" cy="371475"/>
            </a:xfrm>
            <a:prstGeom prst="rect">
              <a:avLst/>
            </a:prstGeom>
          </p:spPr>
          <p:txBody>
            <a:bodyPr anchor="t" rtlCol="false" tIns="0" lIns="0" bIns="0" rIns="0">
              <a:spAutoFit/>
            </a:bodyPr>
            <a:lstStyle/>
            <a:p>
              <a:pPr algn="ctr">
                <a:lnSpc>
                  <a:spcPts val="1944"/>
                </a:lnSpc>
              </a:pPr>
              <a:r>
                <a:rPr lang="en-US" sz="1500" b="true">
                  <a:solidFill>
                    <a:srgbClr val="A14678"/>
                  </a:solidFill>
                  <a:latin typeface="Arimo Bold"/>
                  <a:ea typeface="Arimo Bold"/>
                  <a:cs typeface="Arimo Bold"/>
                  <a:sym typeface="Arimo Bold"/>
                </a:rPr>
                <a:t>01</a:t>
              </a:r>
            </a:p>
          </p:txBody>
        </p:sp>
      </p:grpSp>
      <p:grpSp>
        <p:nvGrpSpPr>
          <p:cNvPr name="Group 27" id="27"/>
          <p:cNvGrpSpPr/>
          <p:nvPr/>
        </p:nvGrpSpPr>
        <p:grpSpPr>
          <a:xfrm rot="0">
            <a:off x="11183135" y="5250835"/>
            <a:ext cx="6031712" cy="1222993"/>
            <a:chOff x="0" y="0"/>
            <a:chExt cx="8042282" cy="1630657"/>
          </a:xfrm>
        </p:grpSpPr>
        <p:grpSp>
          <p:nvGrpSpPr>
            <p:cNvPr name="Group 28" id="28"/>
            <p:cNvGrpSpPr/>
            <p:nvPr/>
          </p:nvGrpSpPr>
          <p:grpSpPr>
            <a:xfrm rot="0">
              <a:off x="980745" y="0"/>
              <a:ext cx="7061537" cy="1630657"/>
              <a:chOff x="0" y="0"/>
              <a:chExt cx="7061537" cy="1630657"/>
            </a:xfrm>
          </p:grpSpPr>
          <p:sp>
            <p:nvSpPr>
              <p:cNvPr name="Freeform 29" id="29"/>
              <p:cNvSpPr/>
              <p:nvPr/>
            </p:nvSpPr>
            <p:spPr>
              <a:xfrm flipH="false" flipV="false" rot="0">
                <a:off x="0" y="0"/>
                <a:ext cx="7061457" cy="1630553"/>
              </a:xfrm>
              <a:custGeom>
                <a:avLst/>
                <a:gdLst/>
                <a:ahLst/>
                <a:cxnLst/>
                <a:rect r="r" b="b" t="t" l="l"/>
                <a:pathLst>
                  <a:path h="1630553" w="7061457">
                    <a:moveTo>
                      <a:pt x="0" y="183373"/>
                    </a:moveTo>
                    <a:cubicBezTo>
                      <a:pt x="0" y="82083"/>
                      <a:pt x="61442" y="0"/>
                      <a:pt x="137262" y="0"/>
                    </a:cubicBezTo>
                    <a:lnTo>
                      <a:pt x="6924196" y="0"/>
                    </a:lnTo>
                    <a:cubicBezTo>
                      <a:pt x="7000016" y="0"/>
                      <a:pt x="7061457" y="82083"/>
                      <a:pt x="7061457" y="183373"/>
                    </a:cubicBezTo>
                    <a:lnTo>
                      <a:pt x="7061457" y="1447179"/>
                    </a:lnTo>
                    <a:cubicBezTo>
                      <a:pt x="7061457" y="1548470"/>
                      <a:pt x="7000016" y="1630552"/>
                      <a:pt x="6924196" y="1630552"/>
                    </a:cubicBezTo>
                    <a:lnTo>
                      <a:pt x="137262" y="1630552"/>
                    </a:lnTo>
                    <a:cubicBezTo>
                      <a:pt x="61442" y="1630696"/>
                      <a:pt x="0" y="1548470"/>
                      <a:pt x="0" y="1447179"/>
                    </a:cubicBezTo>
                    <a:close/>
                  </a:path>
                </a:pathLst>
              </a:custGeom>
              <a:solidFill>
                <a:srgbClr val="F6EEF2"/>
              </a:solidFill>
            </p:spPr>
          </p:sp>
        </p:grpSp>
        <p:sp>
          <p:nvSpPr>
            <p:cNvPr name="TextBox 30" id="30"/>
            <p:cNvSpPr txBox="true"/>
            <p:nvPr/>
          </p:nvSpPr>
          <p:spPr>
            <a:xfrm rot="0">
              <a:off x="1258744" y="77943"/>
              <a:ext cx="6499909" cy="519786"/>
            </a:xfrm>
            <a:prstGeom prst="rect">
              <a:avLst/>
            </a:prstGeom>
          </p:spPr>
          <p:txBody>
            <a:bodyPr anchor="t" rtlCol="false" tIns="0" lIns="0" bIns="0" rIns="0">
              <a:spAutoFit/>
            </a:bodyPr>
            <a:lstStyle/>
            <a:p>
              <a:pPr algn="l">
                <a:lnSpc>
                  <a:spcPts val="3110"/>
                </a:lnSpc>
              </a:pPr>
              <a:r>
                <a:rPr lang="en-US" sz="2400" b="true">
                  <a:solidFill>
                    <a:srgbClr val="111111"/>
                  </a:solidFill>
                  <a:latin typeface="Arimo Bold"/>
                  <a:ea typeface="Arimo Bold"/>
                  <a:cs typeface="Arimo Bold"/>
                  <a:sym typeface="Arimo Bold"/>
                </a:rPr>
                <a:t>실제 FMS 로직 사용</a:t>
              </a:r>
            </a:p>
          </p:txBody>
        </p:sp>
        <p:grpSp>
          <p:nvGrpSpPr>
            <p:cNvPr name="Group 31" id="31"/>
            <p:cNvGrpSpPr/>
            <p:nvPr/>
          </p:nvGrpSpPr>
          <p:grpSpPr>
            <a:xfrm rot="0">
              <a:off x="0" y="26228"/>
              <a:ext cx="609600" cy="575729"/>
              <a:chOff x="0" y="0"/>
              <a:chExt cx="609600" cy="575729"/>
            </a:xfrm>
          </p:grpSpPr>
          <p:sp>
            <p:nvSpPr>
              <p:cNvPr name="Freeform 32" id="32"/>
              <p:cNvSpPr/>
              <p:nvPr/>
            </p:nvSpPr>
            <p:spPr>
              <a:xfrm flipH="false" flipV="false" rot="0">
                <a:off x="0" y="0"/>
                <a:ext cx="609600" cy="575691"/>
              </a:xfrm>
              <a:custGeom>
                <a:avLst/>
                <a:gdLst/>
                <a:ahLst/>
                <a:cxnLst/>
                <a:rect r="r" b="b" t="t" l="l"/>
                <a:pathLst>
                  <a:path h="575691" w="609600">
                    <a:moveTo>
                      <a:pt x="0" y="139573"/>
                    </a:moveTo>
                    <a:cubicBezTo>
                      <a:pt x="0" y="62484"/>
                      <a:pt x="62484" y="0"/>
                      <a:pt x="139573" y="0"/>
                    </a:cubicBezTo>
                    <a:lnTo>
                      <a:pt x="470027" y="0"/>
                    </a:lnTo>
                    <a:cubicBezTo>
                      <a:pt x="547116" y="0"/>
                      <a:pt x="609600" y="62484"/>
                      <a:pt x="609600" y="139573"/>
                    </a:cubicBezTo>
                    <a:lnTo>
                      <a:pt x="609600" y="436118"/>
                    </a:lnTo>
                    <a:cubicBezTo>
                      <a:pt x="609600" y="513207"/>
                      <a:pt x="547116" y="575691"/>
                      <a:pt x="470027" y="575691"/>
                    </a:cubicBezTo>
                    <a:lnTo>
                      <a:pt x="139573" y="575691"/>
                    </a:lnTo>
                    <a:cubicBezTo>
                      <a:pt x="62484" y="575691"/>
                      <a:pt x="0" y="513207"/>
                      <a:pt x="0" y="436118"/>
                    </a:cubicBezTo>
                    <a:close/>
                  </a:path>
                </a:pathLst>
              </a:custGeom>
              <a:solidFill>
                <a:srgbClr val="F6EEF2"/>
              </a:solidFill>
            </p:spPr>
          </p:sp>
        </p:grpSp>
        <p:sp>
          <p:nvSpPr>
            <p:cNvPr name="TextBox 33" id="33"/>
            <p:cNvSpPr txBox="true"/>
            <p:nvPr/>
          </p:nvSpPr>
          <p:spPr>
            <a:xfrm rot="0">
              <a:off x="8471" y="141582"/>
              <a:ext cx="592671" cy="321691"/>
            </a:xfrm>
            <a:prstGeom prst="rect">
              <a:avLst/>
            </a:prstGeom>
          </p:spPr>
          <p:txBody>
            <a:bodyPr anchor="t" rtlCol="false" tIns="0" lIns="0" bIns="0" rIns="0">
              <a:spAutoFit/>
            </a:bodyPr>
            <a:lstStyle/>
            <a:p>
              <a:pPr algn="ctr">
                <a:lnSpc>
                  <a:spcPts val="1944"/>
                </a:lnSpc>
              </a:pPr>
              <a:r>
                <a:rPr lang="en-US" sz="1500" b="true">
                  <a:solidFill>
                    <a:srgbClr val="A14678"/>
                  </a:solidFill>
                  <a:latin typeface="Arimo Bold"/>
                  <a:ea typeface="Arimo Bold"/>
                  <a:cs typeface="Arimo Bold"/>
                  <a:sym typeface="Arimo Bold"/>
                </a:rPr>
                <a:t>02</a:t>
              </a:r>
            </a:p>
          </p:txBody>
        </p:sp>
        <p:sp>
          <p:nvSpPr>
            <p:cNvPr name="TextBox 34" id="34"/>
            <p:cNvSpPr txBox="true"/>
            <p:nvPr/>
          </p:nvSpPr>
          <p:spPr>
            <a:xfrm rot="0">
              <a:off x="1261559" y="686628"/>
              <a:ext cx="6499909" cy="796239"/>
            </a:xfrm>
            <a:prstGeom prst="rect">
              <a:avLst/>
            </a:prstGeom>
          </p:spPr>
          <p:txBody>
            <a:bodyPr anchor="t" rtlCol="false" tIns="0" lIns="0" bIns="0" rIns="0">
              <a:spAutoFit/>
            </a:bodyPr>
            <a:lstStyle/>
            <a:p>
              <a:pPr algn="l">
                <a:lnSpc>
                  <a:spcPts val="2332"/>
                </a:lnSpc>
              </a:pPr>
              <a:r>
                <a:rPr lang="en-US" sz="1800">
                  <a:solidFill>
                    <a:srgbClr val="666666"/>
                  </a:solidFill>
                  <a:latin typeface="Arimo"/>
                  <a:ea typeface="Arimo"/>
                  <a:cs typeface="Arimo"/>
                  <a:sym typeface="Arimo"/>
                </a:rPr>
                <a:t>작업 배정, 경로 탐색, 실행 상태 관리를 </a:t>
              </a:r>
            </a:p>
            <a:p>
              <a:pPr algn="l">
                <a:lnSpc>
                  <a:spcPts val="2332"/>
                </a:lnSpc>
              </a:pPr>
              <a:r>
                <a:rPr lang="en-US" sz="1800">
                  <a:solidFill>
                    <a:srgbClr val="666666"/>
                  </a:solidFill>
                  <a:latin typeface="Arimo"/>
                  <a:ea typeface="Arimo"/>
                  <a:cs typeface="Arimo"/>
                  <a:sym typeface="Arimo"/>
                </a:rPr>
                <a:t>실제 FMS 로직으로 처리</a:t>
              </a:r>
            </a:p>
          </p:txBody>
        </p:sp>
      </p:grpSp>
      <p:grpSp>
        <p:nvGrpSpPr>
          <p:cNvPr name="Group 35" id="35"/>
          <p:cNvGrpSpPr/>
          <p:nvPr/>
        </p:nvGrpSpPr>
        <p:grpSpPr>
          <a:xfrm rot="0">
            <a:off x="11183135" y="7064378"/>
            <a:ext cx="6031712" cy="1304859"/>
            <a:chOff x="0" y="0"/>
            <a:chExt cx="8042282" cy="1739812"/>
          </a:xfrm>
        </p:grpSpPr>
        <p:grpSp>
          <p:nvGrpSpPr>
            <p:cNvPr name="Group 36" id="36"/>
            <p:cNvGrpSpPr/>
            <p:nvPr/>
          </p:nvGrpSpPr>
          <p:grpSpPr>
            <a:xfrm rot="0">
              <a:off x="980745" y="0"/>
              <a:ext cx="7061537" cy="1739812"/>
              <a:chOff x="0" y="0"/>
              <a:chExt cx="7061537" cy="1739812"/>
            </a:xfrm>
          </p:grpSpPr>
          <p:sp>
            <p:nvSpPr>
              <p:cNvPr name="Freeform 37" id="37"/>
              <p:cNvSpPr/>
              <p:nvPr/>
            </p:nvSpPr>
            <p:spPr>
              <a:xfrm flipH="false" flipV="false" rot="0">
                <a:off x="0" y="0"/>
                <a:ext cx="7061574" cy="1739901"/>
              </a:xfrm>
              <a:custGeom>
                <a:avLst/>
                <a:gdLst/>
                <a:ahLst/>
                <a:cxnLst/>
                <a:rect r="r" b="b" t="t" l="l"/>
                <a:pathLst>
                  <a:path h="1739901" w="7061574">
                    <a:moveTo>
                      <a:pt x="0" y="172101"/>
                    </a:moveTo>
                    <a:cubicBezTo>
                      <a:pt x="0" y="77022"/>
                      <a:pt x="61330" y="0"/>
                      <a:pt x="137037" y="0"/>
                    </a:cubicBezTo>
                    <a:lnTo>
                      <a:pt x="6924533" y="0"/>
                    </a:lnTo>
                    <a:cubicBezTo>
                      <a:pt x="7000240" y="0"/>
                      <a:pt x="7061574" y="77022"/>
                      <a:pt x="7061574" y="172101"/>
                    </a:cubicBezTo>
                    <a:lnTo>
                      <a:pt x="7061574" y="1567810"/>
                    </a:lnTo>
                    <a:cubicBezTo>
                      <a:pt x="7061574" y="1662889"/>
                      <a:pt x="7000240" y="1739901"/>
                      <a:pt x="6924533" y="1739901"/>
                    </a:cubicBezTo>
                    <a:lnTo>
                      <a:pt x="137037" y="1739901"/>
                    </a:lnTo>
                    <a:cubicBezTo>
                      <a:pt x="61330" y="1739901"/>
                      <a:pt x="0" y="1662889"/>
                      <a:pt x="0" y="1567810"/>
                    </a:cubicBezTo>
                    <a:close/>
                  </a:path>
                </a:pathLst>
              </a:custGeom>
              <a:solidFill>
                <a:srgbClr val="F3E7EC"/>
              </a:solidFill>
            </p:spPr>
          </p:sp>
        </p:grpSp>
        <p:sp>
          <p:nvSpPr>
            <p:cNvPr name="TextBox 38" id="38"/>
            <p:cNvSpPr txBox="true"/>
            <p:nvPr/>
          </p:nvSpPr>
          <p:spPr>
            <a:xfrm rot="0">
              <a:off x="1261559" y="194729"/>
              <a:ext cx="6499909" cy="519786"/>
            </a:xfrm>
            <a:prstGeom prst="rect">
              <a:avLst/>
            </a:prstGeom>
          </p:spPr>
          <p:txBody>
            <a:bodyPr anchor="t" rtlCol="false" tIns="0" lIns="0" bIns="0" rIns="0">
              <a:spAutoFit/>
            </a:bodyPr>
            <a:lstStyle/>
            <a:p>
              <a:pPr algn="l">
                <a:lnSpc>
                  <a:spcPts val="3110"/>
                </a:lnSpc>
              </a:pPr>
              <a:r>
                <a:rPr lang="en-US" sz="2400" b="true">
                  <a:solidFill>
                    <a:srgbClr val="111111"/>
                  </a:solidFill>
                  <a:latin typeface="Arimo Bold"/>
                  <a:ea typeface="Arimo Bold"/>
                  <a:cs typeface="Arimo Bold"/>
                  <a:sym typeface="Arimo Bold"/>
                </a:rPr>
                <a:t>전복, 배터리 부족 상태 재현 </a:t>
              </a:r>
            </a:p>
          </p:txBody>
        </p:sp>
        <p:sp>
          <p:nvSpPr>
            <p:cNvPr name="TextBox 39" id="39"/>
            <p:cNvSpPr txBox="true"/>
            <p:nvPr/>
          </p:nvSpPr>
          <p:spPr>
            <a:xfrm rot="0">
              <a:off x="1261559" y="804329"/>
              <a:ext cx="6499909" cy="796239"/>
            </a:xfrm>
            <a:prstGeom prst="rect">
              <a:avLst/>
            </a:prstGeom>
          </p:spPr>
          <p:txBody>
            <a:bodyPr anchor="t" rtlCol="false" tIns="0" lIns="0" bIns="0" rIns="0">
              <a:spAutoFit/>
            </a:bodyPr>
            <a:lstStyle/>
            <a:p>
              <a:pPr algn="l">
                <a:lnSpc>
                  <a:spcPts val="2332"/>
                </a:lnSpc>
              </a:pPr>
              <a:r>
                <a:rPr lang="en-US" sz="1800">
                  <a:solidFill>
                    <a:srgbClr val="666666"/>
                  </a:solidFill>
                  <a:latin typeface="Arimo"/>
                  <a:ea typeface="Arimo"/>
                  <a:cs typeface="Arimo"/>
                  <a:sym typeface="Arimo"/>
                </a:rPr>
                <a:t>전복되거나 배터리 상태 조절을 통해 </a:t>
              </a:r>
            </a:p>
            <a:p>
              <a:pPr algn="l">
                <a:lnSpc>
                  <a:spcPts val="2332"/>
                </a:lnSpc>
              </a:pPr>
              <a:r>
                <a:rPr lang="en-US" sz="1800">
                  <a:solidFill>
                    <a:srgbClr val="666666"/>
                  </a:solidFill>
                  <a:latin typeface="Arimo"/>
                  <a:ea typeface="Arimo"/>
                  <a:cs typeface="Arimo"/>
                  <a:sym typeface="Arimo"/>
                </a:rPr>
                <a:t>후속 작업 진행을 검증</a:t>
              </a:r>
            </a:p>
          </p:txBody>
        </p:sp>
        <p:grpSp>
          <p:nvGrpSpPr>
            <p:cNvPr name="Group 40" id="40"/>
            <p:cNvGrpSpPr/>
            <p:nvPr/>
          </p:nvGrpSpPr>
          <p:grpSpPr>
            <a:xfrm rot="0">
              <a:off x="0" y="266097"/>
              <a:ext cx="609600" cy="575729"/>
              <a:chOff x="0" y="0"/>
              <a:chExt cx="609600" cy="575729"/>
            </a:xfrm>
          </p:grpSpPr>
          <p:sp>
            <p:nvSpPr>
              <p:cNvPr name="Freeform 41" id="41"/>
              <p:cNvSpPr/>
              <p:nvPr/>
            </p:nvSpPr>
            <p:spPr>
              <a:xfrm flipH="false" flipV="false" rot="0">
                <a:off x="0" y="0"/>
                <a:ext cx="609600" cy="575691"/>
              </a:xfrm>
              <a:custGeom>
                <a:avLst/>
                <a:gdLst/>
                <a:ahLst/>
                <a:cxnLst/>
                <a:rect r="r" b="b" t="t" l="l"/>
                <a:pathLst>
                  <a:path h="575691" w="609600">
                    <a:moveTo>
                      <a:pt x="0" y="139573"/>
                    </a:moveTo>
                    <a:cubicBezTo>
                      <a:pt x="0" y="62484"/>
                      <a:pt x="62484" y="0"/>
                      <a:pt x="139573" y="0"/>
                    </a:cubicBezTo>
                    <a:lnTo>
                      <a:pt x="470027" y="0"/>
                    </a:lnTo>
                    <a:cubicBezTo>
                      <a:pt x="547116" y="0"/>
                      <a:pt x="609600" y="62484"/>
                      <a:pt x="609600" y="139573"/>
                    </a:cubicBezTo>
                    <a:lnTo>
                      <a:pt x="609600" y="436118"/>
                    </a:lnTo>
                    <a:cubicBezTo>
                      <a:pt x="609600" y="513207"/>
                      <a:pt x="547116" y="575691"/>
                      <a:pt x="470027" y="575691"/>
                    </a:cubicBezTo>
                    <a:lnTo>
                      <a:pt x="139573" y="575691"/>
                    </a:lnTo>
                    <a:cubicBezTo>
                      <a:pt x="62484" y="575691"/>
                      <a:pt x="0" y="513207"/>
                      <a:pt x="0" y="436118"/>
                    </a:cubicBezTo>
                    <a:close/>
                  </a:path>
                </a:pathLst>
              </a:custGeom>
              <a:solidFill>
                <a:srgbClr val="F6EEF2"/>
              </a:solidFill>
            </p:spPr>
          </p:sp>
        </p:grpSp>
        <p:sp>
          <p:nvSpPr>
            <p:cNvPr name="TextBox 42" id="42"/>
            <p:cNvSpPr txBox="true"/>
            <p:nvPr/>
          </p:nvSpPr>
          <p:spPr>
            <a:xfrm rot="0">
              <a:off x="8471" y="381451"/>
              <a:ext cx="592671" cy="321691"/>
            </a:xfrm>
            <a:prstGeom prst="rect">
              <a:avLst/>
            </a:prstGeom>
          </p:spPr>
          <p:txBody>
            <a:bodyPr anchor="t" rtlCol="false" tIns="0" lIns="0" bIns="0" rIns="0">
              <a:spAutoFit/>
            </a:bodyPr>
            <a:lstStyle/>
            <a:p>
              <a:pPr algn="ctr">
                <a:lnSpc>
                  <a:spcPts val="1944"/>
                </a:lnSpc>
              </a:pPr>
              <a:r>
                <a:rPr lang="en-US" sz="1500" b="true">
                  <a:solidFill>
                    <a:srgbClr val="A14678"/>
                  </a:solidFill>
                  <a:latin typeface="Arimo Bold"/>
                  <a:ea typeface="Arimo Bold"/>
                  <a:cs typeface="Arimo Bold"/>
                  <a:sym typeface="Arimo Bold"/>
                </a:rPr>
                <a:t>03</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grpSp>
        <p:nvGrpSpPr>
          <p:cNvPr name="Group 2" id="2"/>
          <p:cNvGrpSpPr/>
          <p:nvPr/>
        </p:nvGrpSpPr>
        <p:grpSpPr>
          <a:xfrm rot="0">
            <a:off x="762000" y="609600"/>
            <a:ext cx="6350003" cy="355601"/>
            <a:chOff x="0" y="0"/>
            <a:chExt cx="8466671" cy="474134"/>
          </a:xfrm>
        </p:grpSpPr>
        <p:sp>
          <p:nvSpPr>
            <p:cNvPr name="Freeform 3" id="3"/>
            <p:cNvSpPr/>
            <p:nvPr/>
          </p:nvSpPr>
          <p:spPr>
            <a:xfrm flipH="false" flipV="false" rot="0">
              <a:off x="0" y="0"/>
              <a:ext cx="8466666" cy="474139"/>
            </a:xfrm>
            <a:custGeom>
              <a:avLst/>
              <a:gdLst/>
              <a:ahLst/>
              <a:cxnLst/>
              <a:rect r="r" b="b" t="t" l="l"/>
              <a:pathLst>
                <a:path h="474139" w="8466666">
                  <a:moveTo>
                    <a:pt x="0" y="0"/>
                  </a:moveTo>
                  <a:lnTo>
                    <a:pt x="8466666" y="0"/>
                  </a:lnTo>
                  <a:lnTo>
                    <a:pt x="8466666" y="474139"/>
                  </a:lnTo>
                  <a:lnTo>
                    <a:pt x="0" y="474139"/>
                  </a:lnTo>
                  <a:close/>
                </a:path>
              </a:pathLst>
            </a:custGeom>
            <a:blipFill>
              <a:blip r:embed="rId3">
                <a:alphaModFix amt="0"/>
              </a:blip>
              <a:stretch>
                <a:fillRect l="0" t="-297944" r="0" b="-297942"/>
              </a:stretch>
            </a:blipFill>
          </p:spPr>
        </p:sp>
        <p:sp>
          <p:nvSpPr>
            <p:cNvPr name="TextBox 4" id="4"/>
            <p:cNvSpPr txBox="true"/>
            <p:nvPr/>
          </p:nvSpPr>
          <p:spPr>
            <a:xfrm>
              <a:off x="0" y="-19050"/>
              <a:ext cx="8466671" cy="493184"/>
            </a:xfrm>
            <a:prstGeom prst="rect">
              <a:avLst/>
            </a:prstGeom>
          </p:spPr>
          <p:txBody>
            <a:bodyPr anchor="ctr" rtlCol="false" tIns="0" lIns="0" bIns="0" rIns="0"/>
            <a:lstStyle/>
            <a:p>
              <a:pPr algn="l">
                <a:lnSpc>
                  <a:spcPts val="1800"/>
                </a:lnSpc>
              </a:pPr>
              <a:r>
                <a:rPr lang="en-US" sz="1500" b="true">
                  <a:solidFill>
                    <a:srgbClr val="66645F"/>
                  </a:solidFill>
                  <a:latin typeface="Arimo Bold"/>
                  <a:ea typeface="Arimo Bold"/>
                  <a:cs typeface="Arimo Bold"/>
                  <a:sym typeface="Arimo Bold"/>
                </a:rPr>
                <a:t>VICPINKY CARRIER</a:t>
              </a:r>
            </a:p>
          </p:txBody>
        </p:sp>
      </p:grpSp>
      <p:grpSp>
        <p:nvGrpSpPr>
          <p:cNvPr name="Group 5" id="5"/>
          <p:cNvGrpSpPr/>
          <p:nvPr/>
        </p:nvGrpSpPr>
        <p:grpSpPr>
          <a:xfrm rot="0">
            <a:off x="762000" y="1041397"/>
            <a:ext cx="16256003" cy="856692"/>
            <a:chOff x="0" y="0"/>
            <a:chExt cx="21674671" cy="1142256"/>
          </a:xfrm>
        </p:grpSpPr>
        <p:sp>
          <p:nvSpPr>
            <p:cNvPr name="Freeform 6" id="6"/>
            <p:cNvSpPr/>
            <p:nvPr/>
          </p:nvSpPr>
          <p:spPr>
            <a:xfrm flipH="false" flipV="false" rot="0">
              <a:off x="0" y="0"/>
              <a:ext cx="21674666" cy="1142261"/>
            </a:xfrm>
            <a:custGeom>
              <a:avLst/>
              <a:gdLst/>
              <a:ahLst/>
              <a:cxnLst/>
              <a:rect r="r" b="b" t="t" l="l"/>
              <a:pathLst>
                <a:path h="1142261" w="21674666">
                  <a:moveTo>
                    <a:pt x="0" y="0"/>
                  </a:moveTo>
                  <a:lnTo>
                    <a:pt x="21674666" y="0"/>
                  </a:lnTo>
                  <a:lnTo>
                    <a:pt x="21674666" y="1142261"/>
                  </a:lnTo>
                  <a:lnTo>
                    <a:pt x="0" y="1142261"/>
                  </a:lnTo>
                  <a:close/>
                </a:path>
              </a:pathLst>
            </a:custGeom>
            <a:blipFill>
              <a:blip r:embed="rId3">
                <a:alphaModFix amt="0"/>
              </a:blip>
              <a:stretch>
                <a:fillRect l="0" t="-328966" r="0" b="-310500"/>
              </a:stretch>
            </a:blipFill>
          </p:spPr>
        </p:sp>
        <p:sp>
          <p:nvSpPr>
            <p:cNvPr name="TextBox 7" id="7"/>
            <p:cNvSpPr txBox="true"/>
            <p:nvPr/>
          </p:nvSpPr>
          <p:spPr>
            <a:xfrm>
              <a:off x="0" y="-19050"/>
              <a:ext cx="21674671" cy="1161306"/>
            </a:xfrm>
            <a:prstGeom prst="rect">
              <a:avLst/>
            </a:prstGeom>
          </p:spPr>
          <p:txBody>
            <a:bodyPr anchor="ctr" rtlCol="false" tIns="0" lIns="0" bIns="0" rIns="0"/>
            <a:lstStyle/>
            <a:p>
              <a:pPr algn="l">
                <a:lnSpc>
                  <a:spcPts val="5040"/>
                </a:lnSpc>
              </a:pPr>
              <a:r>
                <a:rPr lang="en-US" sz="4200" b="true">
                  <a:solidFill>
                    <a:srgbClr val="111111"/>
                  </a:solidFill>
                  <a:latin typeface="Arimo Bold"/>
                  <a:ea typeface="Arimo Bold"/>
                  <a:cs typeface="Arimo Bold"/>
                  <a:sym typeface="Arimo Bold"/>
                </a:rPr>
                <a:t>개발 과정에서 발견한 문제 개선</a:t>
              </a:r>
            </a:p>
          </p:txBody>
        </p:sp>
      </p:grpSp>
      <p:grpSp>
        <p:nvGrpSpPr>
          <p:cNvPr name="Group 8" id="8"/>
          <p:cNvGrpSpPr/>
          <p:nvPr/>
        </p:nvGrpSpPr>
        <p:grpSpPr>
          <a:xfrm rot="0">
            <a:off x="746122" y="2473328"/>
            <a:ext cx="5365747" cy="6838950"/>
            <a:chOff x="0" y="0"/>
            <a:chExt cx="7154329" cy="9118600"/>
          </a:xfrm>
        </p:grpSpPr>
        <p:sp>
          <p:nvSpPr>
            <p:cNvPr name="Freeform 9" id="9"/>
            <p:cNvSpPr/>
            <p:nvPr/>
          </p:nvSpPr>
          <p:spPr>
            <a:xfrm flipH="false" flipV="false" rot="0">
              <a:off x="0" y="0"/>
              <a:ext cx="7154291" cy="9118600"/>
            </a:xfrm>
            <a:custGeom>
              <a:avLst/>
              <a:gdLst/>
              <a:ahLst/>
              <a:cxnLst/>
              <a:rect r="r" b="b" t="t" l="l"/>
              <a:pathLst>
                <a:path h="9118600" w="7154291">
                  <a:moveTo>
                    <a:pt x="0" y="153289"/>
                  </a:moveTo>
                  <a:cubicBezTo>
                    <a:pt x="0" y="68580"/>
                    <a:pt x="68580" y="0"/>
                    <a:pt x="153289" y="0"/>
                  </a:cubicBezTo>
                  <a:lnTo>
                    <a:pt x="7001002" y="0"/>
                  </a:lnTo>
                  <a:cubicBezTo>
                    <a:pt x="7085711" y="0"/>
                    <a:pt x="7154291" y="68580"/>
                    <a:pt x="7154291" y="153289"/>
                  </a:cubicBezTo>
                  <a:lnTo>
                    <a:pt x="7154291" y="8965311"/>
                  </a:lnTo>
                  <a:cubicBezTo>
                    <a:pt x="7154291" y="9050020"/>
                    <a:pt x="7085711" y="9118600"/>
                    <a:pt x="7001002" y="9118600"/>
                  </a:cubicBezTo>
                  <a:lnTo>
                    <a:pt x="153289" y="9118600"/>
                  </a:lnTo>
                  <a:cubicBezTo>
                    <a:pt x="68580" y="9118600"/>
                    <a:pt x="0" y="9050020"/>
                    <a:pt x="0" y="8965311"/>
                  </a:cubicBezTo>
                  <a:close/>
                </a:path>
              </a:pathLst>
            </a:custGeom>
            <a:solidFill>
              <a:srgbClr val="FFFFFF"/>
            </a:solidFill>
            <a:ln w="19050" cap="sq">
              <a:solidFill>
                <a:srgbClr val="111111"/>
              </a:solidFill>
              <a:prstDash val="solid"/>
              <a:miter/>
            </a:ln>
          </p:spPr>
        </p:sp>
      </p:grpSp>
      <p:grpSp>
        <p:nvGrpSpPr>
          <p:cNvPr name="Group 10" id="10"/>
          <p:cNvGrpSpPr/>
          <p:nvPr/>
        </p:nvGrpSpPr>
        <p:grpSpPr>
          <a:xfrm rot="0">
            <a:off x="1044578" y="3292478"/>
            <a:ext cx="1936747" cy="463553"/>
            <a:chOff x="0" y="0"/>
            <a:chExt cx="2582329" cy="618071"/>
          </a:xfrm>
        </p:grpSpPr>
        <p:sp>
          <p:nvSpPr>
            <p:cNvPr name="Freeform 11" id="11"/>
            <p:cNvSpPr/>
            <p:nvPr/>
          </p:nvSpPr>
          <p:spPr>
            <a:xfrm flipH="false" flipV="false" rot="0">
              <a:off x="0" y="0"/>
              <a:ext cx="2582291" cy="617982"/>
            </a:xfrm>
            <a:custGeom>
              <a:avLst/>
              <a:gdLst/>
              <a:ahLst/>
              <a:cxnLst/>
              <a:rect r="r" b="b" t="t" l="l"/>
              <a:pathLst>
                <a:path h="617982" w="2582291">
                  <a:moveTo>
                    <a:pt x="0" y="158877"/>
                  </a:moveTo>
                  <a:cubicBezTo>
                    <a:pt x="0" y="71120"/>
                    <a:pt x="71120" y="0"/>
                    <a:pt x="158877" y="0"/>
                  </a:cubicBezTo>
                  <a:lnTo>
                    <a:pt x="2423414" y="0"/>
                  </a:lnTo>
                  <a:cubicBezTo>
                    <a:pt x="2511171" y="0"/>
                    <a:pt x="2582291" y="71120"/>
                    <a:pt x="2582291" y="158877"/>
                  </a:cubicBezTo>
                  <a:lnTo>
                    <a:pt x="2582291" y="459105"/>
                  </a:lnTo>
                  <a:cubicBezTo>
                    <a:pt x="2582291" y="546862"/>
                    <a:pt x="2511171" y="617982"/>
                    <a:pt x="2423414" y="617982"/>
                  </a:cubicBezTo>
                  <a:lnTo>
                    <a:pt x="158877" y="617982"/>
                  </a:lnTo>
                  <a:cubicBezTo>
                    <a:pt x="71120" y="618109"/>
                    <a:pt x="0" y="546862"/>
                    <a:pt x="0" y="459105"/>
                  </a:cubicBezTo>
                  <a:close/>
                </a:path>
              </a:pathLst>
            </a:custGeom>
            <a:solidFill>
              <a:srgbClr val="F4DFDF"/>
            </a:solidFill>
          </p:spPr>
        </p:sp>
      </p:grpSp>
      <p:sp>
        <p:nvSpPr>
          <p:cNvPr name="TextBox 12" id="12"/>
          <p:cNvSpPr txBox="true"/>
          <p:nvPr/>
        </p:nvSpPr>
        <p:spPr>
          <a:xfrm rot="0">
            <a:off x="3705225" y="3357724"/>
            <a:ext cx="2108197" cy="311429"/>
          </a:xfrm>
          <a:prstGeom prst="rect">
            <a:avLst/>
          </a:prstGeom>
        </p:spPr>
        <p:txBody>
          <a:bodyPr anchor="t" rtlCol="false" tIns="0" lIns="0" bIns="0" rIns="0">
            <a:spAutoFit/>
          </a:bodyPr>
          <a:lstStyle/>
          <a:p>
            <a:pPr algn="l">
              <a:lnSpc>
                <a:spcPts val="2332"/>
              </a:lnSpc>
            </a:pPr>
            <a:r>
              <a:rPr lang="en-US" sz="1800" b="true">
                <a:solidFill>
                  <a:srgbClr val="111111"/>
                </a:solidFill>
                <a:latin typeface="Arimo Bold"/>
                <a:ea typeface="Arimo Bold"/>
                <a:cs typeface="Arimo Bold"/>
                <a:sym typeface="Arimo Bold"/>
              </a:rPr>
              <a:t>불필요한 토픽 </a:t>
            </a:r>
            <a:r>
              <a:rPr lang="en-US" b="true" sz="1800">
                <a:solidFill>
                  <a:srgbClr val="111111"/>
                </a:solidFill>
                <a:latin typeface="Arimo Bold"/>
                <a:ea typeface="Arimo Bold"/>
                <a:cs typeface="Arimo Bold"/>
                <a:sym typeface="Arimo Bold"/>
              </a:rPr>
              <a:t>제외</a:t>
            </a:r>
          </a:p>
        </p:txBody>
      </p:sp>
      <p:grpSp>
        <p:nvGrpSpPr>
          <p:cNvPr name="Group 13" id="13"/>
          <p:cNvGrpSpPr/>
          <p:nvPr/>
        </p:nvGrpSpPr>
        <p:grpSpPr>
          <a:xfrm rot="0">
            <a:off x="1044578" y="3927472"/>
            <a:ext cx="1936747" cy="463553"/>
            <a:chOff x="0" y="0"/>
            <a:chExt cx="2582329" cy="618071"/>
          </a:xfrm>
        </p:grpSpPr>
        <p:sp>
          <p:nvSpPr>
            <p:cNvPr name="Freeform 14" id="14"/>
            <p:cNvSpPr/>
            <p:nvPr/>
          </p:nvSpPr>
          <p:spPr>
            <a:xfrm flipH="false" flipV="false" rot="0">
              <a:off x="0" y="0"/>
              <a:ext cx="2582291" cy="617982"/>
            </a:xfrm>
            <a:custGeom>
              <a:avLst/>
              <a:gdLst/>
              <a:ahLst/>
              <a:cxnLst/>
              <a:rect r="r" b="b" t="t" l="l"/>
              <a:pathLst>
                <a:path h="617982" w="2582291">
                  <a:moveTo>
                    <a:pt x="0" y="158877"/>
                  </a:moveTo>
                  <a:cubicBezTo>
                    <a:pt x="0" y="71120"/>
                    <a:pt x="71120" y="0"/>
                    <a:pt x="158877" y="0"/>
                  </a:cubicBezTo>
                  <a:lnTo>
                    <a:pt x="2423414" y="0"/>
                  </a:lnTo>
                  <a:cubicBezTo>
                    <a:pt x="2511171" y="0"/>
                    <a:pt x="2582291" y="71120"/>
                    <a:pt x="2582291" y="158877"/>
                  </a:cubicBezTo>
                  <a:lnTo>
                    <a:pt x="2582291" y="459105"/>
                  </a:lnTo>
                  <a:cubicBezTo>
                    <a:pt x="2582291" y="546862"/>
                    <a:pt x="2511171" y="617982"/>
                    <a:pt x="2423414" y="617982"/>
                  </a:cubicBezTo>
                  <a:lnTo>
                    <a:pt x="158877" y="617982"/>
                  </a:lnTo>
                  <a:cubicBezTo>
                    <a:pt x="71120" y="618109"/>
                    <a:pt x="0" y="546862"/>
                    <a:pt x="0" y="459105"/>
                  </a:cubicBezTo>
                  <a:close/>
                </a:path>
              </a:pathLst>
            </a:custGeom>
            <a:solidFill>
              <a:srgbClr val="F6EEF2"/>
            </a:solidFill>
          </p:spPr>
        </p:sp>
      </p:grpSp>
      <p:sp>
        <p:nvSpPr>
          <p:cNvPr name="TextBox 15" id="15"/>
          <p:cNvSpPr txBox="true"/>
          <p:nvPr/>
        </p:nvSpPr>
        <p:spPr>
          <a:xfrm rot="0">
            <a:off x="3695700" y="4000500"/>
            <a:ext cx="2108197" cy="311429"/>
          </a:xfrm>
          <a:prstGeom prst="rect">
            <a:avLst/>
          </a:prstGeom>
        </p:spPr>
        <p:txBody>
          <a:bodyPr anchor="t" rtlCol="false" tIns="0" lIns="0" bIns="0" rIns="0">
            <a:spAutoFit/>
          </a:bodyPr>
          <a:lstStyle/>
          <a:p>
            <a:pPr algn="l">
              <a:lnSpc>
                <a:spcPts val="2332"/>
              </a:lnSpc>
            </a:pPr>
            <a:r>
              <a:rPr lang="en-US" sz="1800" b="true">
                <a:solidFill>
                  <a:srgbClr val="A14678"/>
                </a:solidFill>
                <a:latin typeface="Arimo Bold"/>
                <a:ea typeface="Arimo Bold"/>
                <a:cs typeface="Arimo Bold"/>
                <a:sym typeface="Arimo Bold"/>
              </a:rPr>
              <a:t>위치 상태</a:t>
            </a:r>
          </a:p>
        </p:txBody>
      </p:sp>
      <p:grpSp>
        <p:nvGrpSpPr>
          <p:cNvPr name="Group 16" id="16"/>
          <p:cNvGrpSpPr/>
          <p:nvPr/>
        </p:nvGrpSpPr>
        <p:grpSpPr>
          <a:xfrm rot="0">
            <a:off x="1044578" y="4562475"/>
            <a:ext cx="1936747" cy="463553"/>
            <a:chOff x="0" y="0"/>
            <a:chExt cx="2582329" cy="618071"/>
          </a:xfrm>
        </p:grpSpPr>
        <p:sp>
          <p:nvSpPr>
            <p:cNvPr name="Freeform 17" id="17"/>
            <p:cNvSpPr/>
            <p:nvPr/>
          </p:nvSpPr>
          <p:spPr>
            <a:xfrm flipH="false" flipV="false" rot="0">
              <a:off x="0" y="0"/>
              <a:ext cx="2582291" cy="617982"/>
            </a:xfrm>
            <a:custGeom>
              <a:avLst/>
              <a:gdLst/>
              <a:ahLst/>
              <a:cxnLst/>
              <a:rect r="r" b="b" t="t" l="l"/>
              <a:pathLst>
                <a:path h="617982" w="2582291">
                  <a:moveTo>
                    <a:pt x="0" y="158877"/>
                  </a:moveTo>
                  <a:cubicBezTo>
                    <a:pt x="0" y="71120"/>
                    <a:pt x="71120" y="0"/>
                    <a:pt x="158877" y="0"/>
                  </a:cubicBezTo>
                  <a:lnTo>
                    <a:pt x="2423414" y="0"/>
                  </a:lnTo>
                  <a:cubicBezTo>
                    <a:pt x="2511171" y="0"/>
                    <a:pt x="2582291" y="71120"/>
                    <a:pt x="2582291" y="158877"/>
                  </a:cubicBezTo>
                  <a:lnTo>
                    <a:pt x="2582291" y="459105"/>
                  </a:lnTo>
                  <a:cubicBezTo>
                    <a:pt x="2582291" y="546862"/>
                    <a:pt x="2511171" y="617982"/>
                    <a:pt x="2423414" y="617982"/>
                  </a:cubicBezTo>
                  <a:lnTo>
                    <a:pt x="158877" y="617982"/>
                  </a:lnTo>
                  <a:cubicBezTo>
                    <a:pt x="71120" y="618109"/>
                    <a:pt x="0" y="546862"/>
                    <a:pt x="0" y="459105"/>
                  </a:cubicBezTo>
                  <a:close/>
                </a:path>
              </a:pathLst>
            </a:custGeom>
            <a:solidFill>
              <a:srgbClr val="F6EEF2"/>
            </a:solidFill>
          </p:spPr>
        </p:sp>
      </p:grpSp>
      <p:sp>
        <p:nvSpPr>
          <p:cNvPr name="TextBox 18" id="18"/>
          <p:cNvSpPr txBox="true"/>
          <p:nvPr/>
        </p:nvSpPr>
        <p:spPr>
          <a:xfrm rot="0">
            <a:off x="3695700" y="4619487"/>
            <a:ext cx="2108197" cy="311429"/>
          </a:xfrm>
          <a:prstGeom prst="rect">
            <a:avLst/>
          </a:prstGeom>
        </p:spPr>
        <p:txBody>
          <a:bodyPr anchor="t" rtlCol="false" tIns="0" lIns="0" bIns="0" rIns="0">
            <a:spAutoFit/>
          </a:bodyPr>
          <a:lstStyle/>
          <a:p>
            <a:pPr algn="l">
              <a:lnSpc>
                <a:spcPts val="2332"/>
              </a:lnSpc>
            </a:pPr>
            <a:r>
              <a:rPr lang="en-US" sz="1800" b="true">
                <a:solidFill>
                  <a:srgbClr val="A14678"/>
                </a:solidFill>
                <a:latin typeface="Arimo Bold"/>
                <a:ea typeface="Arimo Bold"/>
                <a:cs typeface="Arimo Bold"/>
                <a:sym typeface="Arimo Bold"/>
              </a:rPr>
              <a:t>주행 추정</a:t>
            </a:r>
          </a:p>
        </p:txBody>
      </p:sp>
      <p:sp>
        <p:nvSpPr>
          <p:cNvPr name="AutoShape 19" id="19"/>
          <p:cNvSpPr/>
          <p:nvPr/>
        </p:nvSpPr>
        <p:spPr>
          <a:xfrm rot="9179">
            <a:off x="1047740" y="7437434"/>
            <a:ext cx="4762519" cy="0"/>
          </a:xfrm>
          <a:prstGeom prst="line">
            <a:avLst/>
          </a:prstGeom>
          <a:ln cap="rnd" w="9525">
            <a:solidFill>
              <a:srgbClr val="DCCBD3"/>
            </a:solidFill>
            <a:prstDash val="solid"/>
            <a:headEnd type="none" len="sm" w="sm"/>
            <a:tailEnd type="none" len="sm" w="sm"/>
          </a:ln>
        </p:spPr>
      </p:sp>
      <p:sp>
        <p:nvSpPr>
          <p:cNvPr name="AutoShape 20" id="20"/>
          <p:cNvSpPr/>
          <p:nvPr/>
        </p:nvSpPr>
        <p:spPr>
          <a:xfrm>
            <a:off x="2981296" y="4794252"/>
            <a:ext cx="714404" cy="0"/>
          </a:xfrm>
          <a:prstGeom prst="line">
            <a:avLst/>
          </a:prstGeom>
          <a:ln cap="rnd" w="19050">
            <a:solidFill>
              <a:srgbClr val="A14678"/>
            </a:solidFill>
            <a:prstDash val="solid"/>
            <a:headEnd type="none" len="sm" w="sm"/>
            <a:tailEnd type="triangle" len="med" w="lg"/>
          </a:ln>
        </p:spPr>
      </p:sp>
      <p:sp>
        <p:nvSpPr>
          <p:cNvPr name="AutoShape 21" id="21"/>
          <p:cNvSpPr/>
          <p:nvPr/>
        </p:nvSpPr>
        <p:spPr>
          <a:xfrm>
            <a:off x="2981296" y="4159248"/>
            <a:ext cx="673017" cy="41658"/>
          </a:xfrm>
          <a:prstGeom prst="line">
            <a:avLst/>
          </a:prstGeom>
          <a:ln cap="rnd" w="19050">
            <a:solidFill>
              <a:srgbClr val="A14678"/>
            </a:solidFill>
            <a:prstDash val="solid"/>
            <a:headEnd type="none" len="sm" w="sm"/>
            <a:tailEnd type="triangle" len="med" w="lg"/>
          </a:ln>
        </p:spPr>
      </p:sp>
      <p:sp>
        <p:nvSpPr>
          <p:cNvPr name="AutoShape 22" id="22"/>
          <p:cNvSpPr/>
          <p:nvPr/>
        </p:nvSpPr>
        <p:spPr>
          <a:xfrm>
            <a:off x="2981296" y="3524255"/>
            <a:ext cx="723929" cy="8234"/>
          </a:xfrm>
          <a:prstGeom prst="line">
            <a:avLst/>
          </a:prstGeom>
          <a:ln cap="rnd" w="19050">
            <a:solidFill>
              <a:srgbClr val="A14678"/>
            </a:solidFill>
            <a:prstDash val="solid"/>
            <a:headEnd type="none" len="sm" w="sm"/>
            <a:tailEnd type="none" len="sm" w="sm"/>
          </a:ln>
        </p:spPr>
      </p:sp>
      <p:sp>
        <p:nvSpPr>
          <p:cNvPr name="Freeform 23" id="23"/>
          <p:cNvSpPr/>
          <p:nvPr/>
        </p:nvSpPr>
        <p:spPr>
          <a:xfrm flipH="false" flipV="false" rot="0">
            <a:off x="3165810" y="3346790"/>
            <a:ext cx="354930" cy="354930"/>
          </a:xfrm>
          <a:custGeom>
            <a:avLst/>
            <a:gdLst/>
            <a:ahLst/>
            <a:cxnLst/>
            <a:rect r="r" b="b" t="t" l="l"/>
            <a:pathLst>
              <a:path h="354930" w="354930">
                <a:moveTo>
                  <a:pt x="0" y="0"/>
                </a:moveTo>
                <a:lnTo>
                  <a:pt x="354930" y="0"/>
                </a:lnTo>
                <a:lnTo>
                  <a:pt x="354930" y="354930"/>
                </a:lnTo>
                <a:lnTo>
                  <a:pt x="0" y="35493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4" id="24"/>
          <p:cNvSpPr txBox="true"/>
          <p:nvPr/>
        </p:nvSpPr>
        <p:spPr>
          <a:xfrm rot="0">
            <a:off x="1054103" y="2717797"/>
            <a:ext cx="4749803" cy="311429"/>
          </a:xfrm>
          <a:prstGeom prst="rect">
            <a:avLst/>
          </a:prstGeom>
        </p:spPr>
        <p:txBody>
          <a:bodyPr anchor="t" rtlCol="false" tIns="0" lIns="0" bIns="0" rIns="0">
            <a:spAutoFit/>
          </a:bodyPr>
          <a:lstStyle/>
          <a:p>
            <a:pPr algn="l">
              <a:lnSpc>
                <a:spcPts val="2332"/>
              </a:lnSpc>
            </a:pPr>
            <a:r>
              <a:rPr lang="en-US" b="true" sz="1800">
                <a:solidFill>
                  <a:srgbClr val="A14678"/>
                </a:solidFill>
                <a:latin typeface="Arimo Bold"/>
                <a:ea typeface="Arimo Bold"/>
                <a:cs typeface="Arimo Bold"/>
                <a:sym typeface="Arimo Bold"/>
              </a:rPr>
              <a:t>중계 목록</a:t>
            </a:r>
          </a:p>
        </p:txBody>
      </p:sp>
      <p:sp>
        <p:nvSpPr>
          <p:cNvPr name="TextBox 25" id="25"/>
          <p:cNvSpPr txBox="true"/>
          <p:nvPr/>
        </p:nvSpPr>
        <p:spPr>
          <a:xfrm rot="0">
            <a:off x="1206503" y="3365497"/>
            <a:ext cx="1612897" cy="311429"/>
          </a:xfrm>
          <a:prstGeom prst="rect">
            <a:avLst/>
          </a:prstGeom>
        </p:spPr>
        <p:txBody>
          <a:bodyPr anchor="t" rtlCol="false" tIns="0" lIns="0" bIns="0" rIns="0">
            <a:spAutoFit/>
          </a:bodyPr>
          <a:lstStyle/>
          <a:p>
            <a:pPr algn="l">
              <a:lnSpc>
                <a:spcPts val="2332"/>
              </a:lnSpc>
            </a:pPr>
            <a:r>
              <a:rPr lang="en-US" sz="1800" b="true">
                <a:solidFill>
                  <a:srgbClr val="111111"/>
                </a:solidFill>
                <a:latin typeface="Arimo Bold"/>
                <a:ea typeface="Arimo Bold"/>
                <a:cs typeface="Arimo Bold"/>
                <a:sym typeface="Arimo Bold"/>
              </a:rPr>
              <a:t>/tf</a:t>
            </a:r>
          </a:p>
        </p:txBody>
      </p:sp>
      <p:sp>
        <p:nvSpPr>
          <p:cNvPr name="TextBox 26" id="26"/>
          <p:cNvSpPr txBox="true"/>
          <p:nvPr/>
        </p:nvSpPr>
        <p:spPr>
          <a:xfrm rot="0">
            <a:off x="1206503" y="4000500"/>
            <a:ext cx="1612897" cy="311429"/>
          </a:xfrm>
          <a:prstGeom prst="rect">
            <a:avLst/>
          </a:prstGeom>
        </p:spPr>
        <p:txBody>
          <a:bodyPr anchor="t" rtlCol="false" tIns="0" lIns="0" bIns="0" rIns="0">
            <a:spAutoFit/>
          </a:bodyPr>
          <a:lstStyle/>
          <a:p>
            <a:pPr algn="l">
              <a:lnSpc>
                <a:spcPts val="2332"/>
              </a:lnSpc>
            </a:pPr>
            <a:r>
              <a:rPr lang="en-US" sz="1800" b="true">
                <a:solidFill>
                  <a:srgbClr val="111111"/>
                </a:solidFill>
                <a:latin typeface="Arimo Bold"/>
                <a:ea typeface="Arimo Bold"/>
                <a:cs typeface="Arimo Bold"/>
                <a:sym typeface="Arimo Bold"/>
              </a:rPr>
              <a:t>/amcl_pose</a:t>
            </a:r>
          </a:p>
        </p:txBody>
      </p:sp>
      <p:sp>
        <p:nvSpPr>
          <p:cNvPr name="TextBox 27" id="27"/>
          <p:cNvSpPr txBox="true"/>
          <p:nvPr/>
        </p:nvSpPr>
        <p:spPr>
          <a:xfrm rot="0">
            <a:off x="1206503" y="4635503"/>
            <a:ext cx="1612897" cy="311429"/>
          </a:xfrm>
          <a:prstGeom prst="rect">
            <a:avLst/>
          </a:prstGeom>
        </p:spPr>
        <p:txBody>
          <a:bodyPr anchor="t" rtlCol="false" tIns="0" lIns="0" bIns="0" rIns="0">
            <a:spAutoFit/>
          </a:bodyPr>
          <a:lstStyle/>
          <a:p>
            <a:pPr algn="l">
              <a:lnSpc>
                <a:spcPts val="2332"/>
              </a:lnSpc>
            </a:pPr>
            <a:r>
              <a:rPr lang="en-US" sz="1800" b="true">
                <a:solidFill>
                  <a:srgbClr val="111111"/>
                </a:solidFill>
                <a:latin typeface="Arimo Bold"/>
                <a:ea typeface="Arimo Bold"/>
                <a:cs typeface="Arimo Bold"/>
                <a:sym typeface="Arimo Bold"/>
              </a:rPr>
              <a:t>/odom</a:t>
            </a:r>
          </a:p>
        </p:txBody>
      </p:sp>
      <p:sp>
        <p:nvSpPr>
          <p:cNvPr name="TextBox 28" id="28"/>
          <p:cNvSpPr txBox="true"/>
          <p:nvPr/>
        </p:nvSpPr>
        <p:spPr>
          <a:xfrm rot="0">
            <a:off x="1054103" y="5518147"/>
            <a:ext cx="4749803" cy="379733"/>
          </a:xfrm>
          <a:prstGeom prst="rect">
            <a:avLst/>
          </a:prstGeom>
        </p:spPr>
        <p:txBody>
          <a:bodyPr anchor="t" rtlCol="false" tIns="0" lIns="0" bIns="0" rIns="0">
            <a:spAutoFit/>
          </a:bodyPr>
          <a:lstStyle/>
          <a:p>
            <a:pPr algn="l">
              <a:lnSpc>
                <a:spcPts val="2591"/>
              </a:lnSpc>
            </a:pPr>
            <a:r>
              <a:rPr lang="en-US" sz="1999" b="true">
                <a:solidFill>
                  <a:srgbClr val="A14678"/>
                </a:solidFill>
                <a:latin typeface="Arimo Bold"/>
                <a:ea typeface="Arimo Bold"/>
                <a:cs typeface="Arimo Bold"/>
                <a:sym typeface="Arimo Bold"/>
              </a:rPr>
              <a:t>통신 병목</a:t>
            </a:r>
          </a:p>
        </p:txBody>
      </p:sp>
      <p:sp>
        <p:nvSpPr>
          <p:cNvPr name="TextBox 29" id="29"/>
          <p:cNvSpPr txBox="true"/>
          <p:nvPr/>
        </p:nvSpPr>
        <p:spPr>
          <a:xfrm rot="0">
            <a:off x="1054103" y="5994397"/>
            <a:ext cx="4749803" cy="506987"/>
          </a:xfrm>
          <a:prstGeom prst="rect">
            <a:avLst/>
          </a:prstGeom>
        </p:spPr>
        <p:txBody>
          <a:bodyPr anchor="t" rtlCol="false" tIns="0" lIns="0" bIns="0" rIns="0">
            <a:spAutoFit/>
          </a:bodyPr>
          <a:lstStyle/>
          <a:p>
            <a:pPr algn="l">
              <a:lnSpc>
                <a:spcPts val="3368"/>
              </a:lnSpc>
            </a:pPr>
            <a:r>
              <a:rPr lang="en-US" sz="2599" b="true">
                <a:solidFill>
                  <a:srgbClr val="111111"/>
                </a:solidFill>
                <a:latin typeface="Arimo Bold"/>
                <a:ea typeface="Arimo Bold"/>
                <a:cs typeface="Arimo Bold"/>
                <a:sym typeface="Arimo Bold"/>
              </a:rPr>
              <a:t>불필요한 중계 트래픽 축소</a:t>
            </a:r>
          </a:p>
        </p:txBody>
      </p:sp>
      <p:sp>
        <p:nvSpPr>
          <p:cNvPr name="TextBox 30" id="30"/>
          <p:cNvSpPr txBox="true"/>
          <p:nvPr/>
        </p:nvSpPr>
        <p:spPr>
          <a:xfrm rot="0">
            <a:off x="1054103" y="6584947"/>
            <a:ext cx="4749803" cy="740407"/>
          </a:xfrm>
          <a:prstGeom prst="rect">
            <a:avLst/>
          </a:prstGeom>
        </p:spPr>
        <p:txBody>
          <a:bodyPr anchor="t" rtlCol="false" tIns="0" lIns="0" bIns="0" rIns="0">
            <a:spAutoFit/>
          </a:bodyPr>
          <a:lstStyle/>
          <a:p>
            <a:pPr algn="l">
              <a:lnSpc>
                <a:spcPts val="2591"/>
              </a:lnSpc>
            </a:pPr>
            <a:r>
              <a:rPr lang="en-US" sz="1999">
                <a:solidFill>
                  <a:srgbClr val="666666"/>
                </a:solidFill>
                <a:latin typeface="Arimo"/>
                <a:ea typeface="Arimo"/>
                <a:cs typeface="Arimo"/>
                <a:sym typeface="Arimo"/>
              </a:rPr>
              <a:t>고빈도 TF까지 중계하며</a:t>
            </a:r>
          </a:p>
          <a:p>
            <a:pPr algn="l">
              <a:lnSpc>
                <a:spcPts val="2591"/>
              </a:lnSpc>
            </a:pPr>
            <a:r>
              <a:rPr lang="en-US" sz="1999">
                <a:solidFill>
                  <a:srgbClr val="666666"/>
                </a:solidFill>
                <a:latin typeface="Arimo"/>
                <a:ea typeface="Arimo"/>
                <a:cs typeface="Arimo"/>
                <a:sym typeface="Arimo"/>
              </a:rPr>
              <a:t>상태 수신이 불규칙해짐</a:t>
            </a:r>
          </a:p>
        </p:txBody>
      </p:sp>
      <p:sp>
        <p:nvSpPr>
          <p:cNvPr name="TextBox 31" id="31"/>
          <p:cNvSpPr txBox="true"/>
          <p:nvPr/>
        </p:nvSpPr>
        <p:spPr>
          <a:xfrm rot="0">
            <a:off x="1054103" y="7693028"/>
            <a:ext cx="647700" cy="310204"/>
          </a:xfrm>
          <a:prstGeom prst="rect">
            <a:avLst/>
          </a:prstGeom>
        </p:spPr>
        <p:txBody>
          <a:bodyPr anchor="t" rtlCol="false" tIns="0" lIns="0" bIns="0" rIns="0">
            <a:spAutoFit/>
          </a:bodyPr>
          <a:lstStyle/>
          <a:p>
            <a:pPr algn="l">
              <a:lnSpc>
                <a:spcPts val="2463"/>
              </a:lnSpc>
            </a:pPr>
            <a:r>
              <a:rPr lang="en-US" sz="1900" b="true">
                <a:solidFill>
                  <a:srgbClr val="111111"/>
                </a:solidFill>
                <a:latin typeface="Arimo Bold"/>
                <a:ea typeface="Arimo Bold"/>
                <a:cs typeface="Arimo Bold"/>
                <a:sym typeface="Arimo Bold"/>
              </a:rPr>
              <a:t>변경</a:t>
            </a:r>
          </a:p>
        </p:txBody>
      </p:sp>
      <p:sp>
        <p:nvSpPr>
          <p:cNvPr name="TextBox 32" id="32"/>
          <p:cNvSpPr txBox="true"/>
          <p:nvPr/>
        </p:nvSpPr>
        <p:spPr>
          <a:xfrm rot="0">
            <a:off x="1803397" y="7693028"/>
            <a:ext cx="3962400" cy="615004"/>
          </a:xfrm>
          <a:prstGeom prst="rect">
            <a:avLst/>
          </a:prstGeom>
        </p:spPr>
        <p:txBody>
          <a:bodyPr anchor="t" rtlCol="false" tIns="0" lIns="0" bIns="0" rIns="0">
            <a:spAutoFit/>
          </a:bodyPr>
          <a:lstStyle/>
          <a:p>
            <a:pPr algn="l">
              <a:lnSpc>
                <a:spcPts val="2463"/>
              </a:lnSpc>
            </a:pPr>
            <a:r>
              <a:rPr lang="en-US" sz="1900">
                <a:solidFill>
                  <a:srgbClr val="111111"/>
                </a:solidFill>
                <a:latin typeface="Arimo"/>
                <a:ea typeface="Arimo"/>
                <a:cs typeface="Arimo"/>
                <a:sym typeface="Arimo"/>
              </a:rPr>
              <a:t>로봇별 중계 목록을 조정하고</a:t>
            </a:r>
          </a:p>
          <a:p>
            <a:pPr algn="l">
              <a:lnSpc>
                <a:spcPts val="2463"/>
              </a:lnSpc>
            </a:pPr>
            <a:r>
              <a:rPr lang="en-US" sz="1900">
                <a:solidFill>
                  <a:srgbClr val="111111"/>
                </a:solidFill>
                <a:latin typeface="Arimo"/>
                <a:ea typeface="Arimo"/>
                <a:cs typeface="Arimo"/>
                <a:sym typeface="Arimo"/>
              </a:rPr>
              <a:t>관제용 위치 상태 토픽을 사용</a:t>
            </a:r>
          </a:p>
        </p:txBody>
      </p:sp>
      <p:sp>
        <p:nvSpPr>
          <p:cNvPr name="TextBox 33" id="33"/>
          <p:cNvSpPr txBox="true"/>
          <p:nvPr/>
        </p:nvSpPr>
        <p:spPr>
          <a:xfrm rot="0">
            <a:off x="1054103" y="8531228"/>
            <a:ext cx="647700" cy="371218"/>
          </a:xfrm>
          <a:prstGeom prst="rect">
            <a:avLst/>
          </a:prstGeom>
        </p:spPr>
        <p:txBody>
          <a:bodyPr anchor="t" rtlCol="false" tIns="0" lIns="0" bIns="0" rIns="0">
            <a:spAutoFit/>
          </a:bodyPr>
          <a:lstStyle/>
          <a:p>
            <a:pPr algn="l">
              <a:lnSpc>
                <a:spcPts val="2463"/>
              </a:lnSpc>
            </a:pPr>
            <a:r>
              <a:rPr lang="en-US" sz="1900" b="true">
                <a:solidFill>
                  <a:srgbClr val="111111"/>
                </a:solidFill>
                <a:latin typeface="Arimo Bold"/>
                <a:ea typeface="Arimo Bold"/>
                <a:cs typeface="Arimo Bold"/>
                <a:sym typeface="Arimo Bold"/>
              </a:rPr>
              <a:t>결과</a:t>
            </a:r>
          </a:p>
        </p:txBody>
      </p:sp>
      <p:sp>
        <p:nvSpPr>
          <p:cNvPr name="TextBox 34" id="34"/>
          <p:cNvSpPr txBox="true"/>
          <p:nvPr/>
        </p:nvSpPr>
        <p:spPr>
          <a:xfrm rot="0">
            <a:off x="1803397" y="8531228"/>
            <a:ext cx="3962400" cy="713870"/>
          </a:xfrm>
          <a:prstGeom prst="rect">
            <a:avLst/>
          </a:prstGeom>
        </p:spPr>
        <p:txBody>
          <a:bodyPr anchor="t" rtlCol="false" tIns="0" lIns="0" bIns="0" rIns="0">
            <a:spAutoFit/>
          </a:bodyPr>
          <a:lstStyle/>
          <a:p>
            <a:pPr algn="l">
              <a:lnSpc>
                <a:spcPts val="2463"/>
              </a:lnSpc>
            </a:pPr>
            <a:r>
              <a:rPr lang="en-US" sz="1900">
                <a:solidFill>
                  <a:srgbClr val="111111"/>
                </a:solidFill>
                <a:latin typeface="Arimo"/>
                <a:ea typeface="Arimo"/>
                <a:cs typeface="Arimo"/>
                <a:sym typeface="Arimo"/>
              </a:rPr>
              <a:t>필요한 관제 데이터 중심으로</a:t>
            </a:r>
          </a:p>
          <a:p>
            <a:pPr algn="l">
              <a:lnSpc>
                <a:spcPts val="2463"/>
              </a:lnSpc>
            </a:pPr>
            <a:r>
              <a:rPr lang="en-US" sz="1900">
                <a:solidFill>
                  <a:srgbClr val="111111"/>
                </a:solidFill>
                <a:latin typeface="Arimo"/>
                <a:ea typeface="Arimo"/>
                <a:cs typeface="Arimo"/>
                <a:sym typeface="Arimo"/>
              </a:rPr>
              <a:t>중계 범위를 정리</a:t>
            </a:r>
          </a:p>
        </p:txBody>
      </p:sp>
      <p:grpSp>
        <p:nvGrpSpPr>
          <p:cNvPr name="Group 35" id="35"/>
          <p:cNvGrpSpPr/>
          <p:nvPr/>
        </p:nvGrpSpPr>
        <p:grpSpPr>
          <a:xfrm rot="0">
            <a:off x="12176122" y="2473328"/>
            <a:ext cx="5365747" cy="6838950"/>
            <a:chOff x="0" y="0"/>
            <a:chExt cx="7154329" cy="9118600"/>
          </a:xfrm>
        </p:grpSpPr>
        <p:sp>
          <p:nvSpPr>
            <p:cNvPr name="Freeform 36" id="36"/>
            <p:cNvSpPr/>
            <p:nvPr/>
          </p:nvSpPr>
          <p:spPr>
            <a:xfrm flipH="false" flipV="false" rot="0">
              <a:off x="0" y="0"/>
              <a:ext cx="7154291" cy="9118600"/>
            </a:xfrm>
            <a:custGeom>
              <a:avLst/>
              <a:gdLst/>
              <a:ahLst/>
              <a:cxnLst/>
              <a:rect r="r" b="b" t="t" l="l"/>
              <a:pathLst>
                <a:path h="9118600" w="7154291">
                  <a:moveTo>
                    <a:pt x="0" y="153289"/>
                  </a:moveTo>
                  <a:cubicBezTo>
                    <a:pt x="0" y="68580"/>
                    <a:pt x="68580" y="0"/>
                    <a:pt x="153289" y="0"/>
                  </a:cubicBezTo>
                  <a:lnTo>
                    <a:pt x="7001002" y="0"/>
                  </a:lnTo>
                  <a:cubicBezTo>
                    <a:pt x="7085711" y="0"/>
                    <a:pt x="7154291" y="68580"/>
                    <a:pt x="7154291" y="153289"/>
                  </a:cubicBezTo>
                  <a:lnTo>
                    <a:pt x="7154291" y="8965311"/>
                  </a:lnTo>
                  <a:cubicBezTo>
                    <a:pt x="7154291" y="9050020"/>
                    <a:pt x="7085711" y="9118600"/>
                    <a:pt x="7001002" y="9118600"/>
                  </a:cubicBezTo>
                  <a:lnTo>
                    <a:pt x="153289" y="9118600"/>
                  </a:lnTo>
                  <a:cubicBezTo>
                    <a:pt x="68580" y="9118600"/>
                    <a:pt x="0" y="9050020"/>
                    <a:pt x="0" y="8965311"/>
                  </a:cubicBezTo>
                  <a:close/>
                </a:path>
              </a:pathLst>
            </a:custGeom>
            <a:solidFill>
              <a:srgbClr val="FFFFFF"/>
            </a:solidFill>
            <a:ln w="19050" cap="sq">
              <a:solidFill>
                <a:srgbClr val="111111"/>
              </a:solidFill>
              <a:prstDash val="solid"/>
              <a:miter/>
            </a:ln>
          </p:spPr>
        </p:sp>
      </p:grpSp>
      <p:sp>
        <p:nvSpPr>
          <p:cNvPr name="TextBox 37" id="37"/>
          <p:cNvSpPr txBox="true"/>
          <p:nvPr/>
        </p:nvSpPr>
        <p:spPr>
          <a:xfrm rot="0">
            <a:off x="12484103" y="2717797"/>
            <a:ext cx="4749803" cy="311429"/>
          </a:xfrm>
          <a:prstGeom prst="rect">
            <a:avLst/>
          </a:prstGeom>
        </p:spPr>
        <p:txBody>
          <a:bodyPr anchor="t" rtlCol="false" tIns="0" lIns="0" bIns="0" rIns="0">
            <a:spAutoFit/>
          </a:bodyPr>
          <a:lstStyle/>
          <a:p>
            <a:pPr algn="l">
              <a:lnSpc>
                <a:spcPts val="2332"/>
              </a:lnSpc>
            </a:pPr>
            <a:r>
              <a:rPr lang="en-US" sz="1800" b="true">
                <a:solidFill>
                  <a:srgbClr val="A14678"/>
                </a:solidFill>
                <a:latin typeface="Arimo Bold"/>
                <a:ea typeface="Arimo Bold"/>
                <a:cs typeface="Arimo Bold"/>
                <a:sym typeface="Arimo Bold"/>
              </a:rPr>
              <a:t>다중 로봇 주행 관리</a:t>
            </a:r>
          </a:p>
        </p:txBody>
      </p:sp>
      <p:grpSp>
        <p:nvGrpSpPr>
          <p:cNvPr name="Group 38" id="38"/>
          <p:cNvGrpSpPr/>
          <p:nvPr/>
        </p:nvGrpSpPr>
        <p:grpSpPr>
          <a:xfrm rot="0">
            <a:off x="12484103" y="3229937"/>
            <a:ext cx="4749803" cy="1858613"/>
            <a:chOff x="0" y="0"/>
            <a:chExt cx="6333071" cy="2478151"/>
          </a:xfrm>
        </p:grpSpPr>
        <p:sp>
          <p:nvSpPr>
            <p:cNvPr name="Freeform 39" id="39" descr="원본 portfolio_v4 20페이지의 지도 화면"/>
            <p:cNvSpPr/>
            <p:nvPr/>
          </p:nvSpPr>
          <p:spPr>
            <a:xfrm flipH="false" flipV="false" rot="0">
              <a:off x="0" y="0"/>
              <a:ext cx="6333109" cy="2478151"/>
            </a:xfrm>
            <a:custGeom>
              <a:avLst/>
              <a:gdLst/>
              <a:ahLst/>
              <a:cxnLst/>
              <a:rect r="r" b="b" t="t" l="l"/>
              <a:pathLst>
                <a:path h="2478151" w="6333109">
                  <a:moveTo>
                    <a:pt x="0" y="0"/>
                  </a:moveTo>
                  <a:lnTo>
                    <a:pt x="6333109" y="0"/>
                  </a:lnTo>
                  <a:lnTo>
                    <a:pt x="6333109" y="2478151"/>
                  </a:lnTo>
                  <a:lnTo>
                    <a:pt x="0" y="2478151"/>
                  </a:lnTo>
                  <a:lnTo>
                    <a:pt x="0" y="0"/>
                  </a:lnTo>
                  <a:close/>
                </a:path>
              </a:pathLst>
            </a:custGeom>
            <a:blipFill>
              <a:blip r:embed="rId6"/>
              <a:stretch>
                <a:fillRect l="0" t="0" r="0" b="0"/>
              </a:stretch>
            </a:blipFill>
          </p:spPr>
        </p:sp>
      </p:grpSp>
      <p:sp>
        <p:nvSpPr>
          <p:cNvPr name="TextBox 40" id="40"/>
          <p:cNvSpPr txBox="true"/>
          <p:nvPr/>
        </p:nvSpPr>
        <p:spPr>
          <a:xfrm rot="0">
            <a:off x="12484103" y="5518147"/>
            <a:ext cx="4749803" cy="318522"/>
          </a:xfrm>
          <a:prstGeom prst="rect">
            <a:avLst/>
          </a:prstGeom>
        </p:spPr>
        <p:txBody>
          <a:bodyPr anchor="t" rtlCol="false" tIns="0" lIns="0" bIns="0" rIns="0">
            <a:spAutoFit/>
          </a:bodyPr>
          <a:lstStyle/>
          <a:p>
            <a:pPr algn="l">
              <a:lnSpc>
                <a:spcPts val="2591"/>
              </a:lnSpc>
            </a:pPr>
            <a:r>
              <a:rPr lang="en-US" sz="1999" b="true">
                <a:solidFill>
                  <a:srgbClr val="A14678"/>
                </a:solidFill>
                <a:latin typeface="Arimo Bold"/>
                <a:ea typeface="Arimo Bold"/>
                <a:cs typeface="Arimo Bold"/>
                <a:sym typeface="Arimo Bold"/>
              </a:rPr>
              <a:t>노드 기반 관제</a:t>
            </a:r>
          </a:p>
        </p:txBody>
      </p:sp>
      <p:sp>
        <p:nvSpPr>
          <p:cNvPr name="TextBox 41" id="41"/>
          <p:cNvSpPr txBox="true"/>
          <p:nvPr/>
        </p:nvSpPr>
        <p:spPr>
          <a:xfrm rot="0">
            <a:off x="12484103" y="5994397"/>
            <a:ext cx="4749803" cy="425507"/>
          </a:xfrm>
          <a:prstGeom prst="rect">
            <a:avLst/>
          </a:prstGeom>
        </p:spPr>
        <p:txBody>
          <a:bodyPr anchor="t" rtlCol="false" tIns="0" lIns="0" bIns="0" rIns="0">
            <a:spAutoFit/>
          </a:bodyPr>
          <a:lstStyle/>
          <a:p>
            <a:pPr algn="l">
              <a:lnSpc>
                <a:spcPts val="3368"/>
              </a:lnSpc>
            </a:pPr>
            <a:r>
              <a:rPr lang="en-US" b="true" sz="2599" spc="-215">
                <a:solidFill>
                  <a:srgbClr val="111111"/>
                </a:solidFill>
                <a:latin typeface="Arimo Bold"/>
                <a:ea typeface="Arimo Bold"/>
                <a:cs typeface="Arimo Bold"/>
                <a:sym typeface="Arimo Bold"/>
              </a:rPr>
              <a:t>좌표 전달에서 노드 기반 관제로 확장</a:t>
            </a:r>
          </a:p>
        </p:txBody>
      </p:sp>
      <p:sp>
        <p:nvSpPr>
          <p:cNvPr name="TextBox 42" id="42"/>
          <p:cNvSpPr txBox="true"/>
          <p:nvPr/>
        </p:nvSpPr>
        <p:spPr>
          <a:xfrm rot="0">
            <a:off x="12484103" y="6584947"/>
            <a:ext cx="4749803" cy="642372"/>
          </a:xfrm>
          <a:prstGeom prst="rect">
            <a:avLst/>
          </a:prstGeom>
        </p:spPr>
        <p:txBody>
          <a:bodyPr anchor="t" rtlCol="false" tIns="0" lIns="0" bIns="0" rIns="0">
            <a:spAutoFit/>
          </a:bodyPr>
          <a:lstStyle/>
          <a:p>
            <a:pPr algn="l">
              <a:lnSpc>
                <a:spcPts val="2591"/>
              </a:lnSpc>
            </a:pPr>
            <a:r>
              <a:rPr lang="en-US" sz="1999">
                <a:solidFill>
                  <a:srgbClr val="666666"/>
                </a:solidFill>
                <a:latin typeface="Arimo"/>
                <a:ea typeface="Arimo"/>
                <a:cs typeface="Arimo"/>
                <a:sym typeface="Arimo"/>
              </a:rPr>
              <a:t>여러 로봇의 이동을 관리하려면</a:t>
            </a:r>
          </a:p>
          <a:p>
            <a:pPr algn="l">
              <a:lnSpc>
                <a:spcPts val="2591"/>
              </a:lnSpc>
            </a:pPr>
            <a:r>
              <a:rPr lang="en-US" sz="1999">
                <a:solidFill>
                  <a:srgbClr val="666666"/>
                </a:solidFill>
                <a:latin typeface="Arimo"/>
                <a:ea typeface="Arimo"/>
                <a:cs typeface="Arimo"/>
                <a:sym typeface="Arimo"/>
              </a:rPr>
              <a:t>위치와 경로 진행을 비교할 공통 기준이 필요</a:t>
            </a:r>
          </a:p>
        </p:txBody>
      </p:sp>
      <p:sp>
        <p:nvSpPr>
          <p:cNvPr name="AutoShape 43" id="43"/>
          <p:cNvSpPr/>
          <p:nvPr/>
        </p:nvSpPr>
        <p:spPr>
          <a:xfrm rot="9180">
            <a:off x="12477740" y="7437434"/>
            <a:ext cx="4762519" cy="0"/>
          </a:xfrm>
          <a:prstGeom prst="line">
            <a:avLst/>
          </a:prstGeom>
          <a:ln cap="rnd" w="9525">
            <a:solidFill>
              <a:srgbClr val="DCCBD3"/>
            </a:solidFill>
            <a:prstDash val="solid"/>
            <a:headEnd type="none" len="sm" w="sm"/>
            <a:tailEnd type="none" len="sm" w="sm"/>
          </a:ln>
        </p:spPr>
      </p:sp>
      <p:sp>
        <p:nvSpPr>
          <p:cNvPr name="TextBox 44" id="44"/>
          <p:cNvSpPr txBox="true"/>
          <p:nvPr/>
        </p:nvSpPr>
        <p:spPr>
          <a:xfrm rot="0">
            <a:off x="12484103" y="7693028"/>
            <a:ext cx="647700" cy="371218"/>
          </a:xfrm>
          <a:prstGeom prst="rect">
            <a:avLst/>
          </a:prstGeom>
        </p:spPr>
        <p:txBody>
          <a:bodyPr anchor="t" rtlCol="false" tIns="0" lIns="0" bIns="0" rIns="0">
            <a:spAutoFit/>
          </a:bodyPr>
          <a:lstStyle/>
          <a:p>
            <a:pPr algn="l">
              <a:lnSpc>
                <a:spcPts val="2463"/>
              </a:lnSpc>
            </a:pPr>
            <a:r>
              <a:rPr lang="en-US" sz="1900" b="true">
                <a:solidFill>
                  <a:srgbClr val="111111"/>
                </a:solidFill>
                <a:latin typeface="Arimo Bold"/>
                <a:ea typeface="Arimo Bold"/>
                <a:cs typeface="Arimo Bold"/>
                <a:sym typeface="Arimo Bold"/>
              </a:rPr>
              <a:t>변경</a:t>
            </a:r>
          </a:p>
        </p:txBody>
      </p:sp>
      <p:sp>
        <p:nvSpPr>
          <p:cNvPr name="TextBox 45" id="45"/>
          <p:cNvSpPr txBox="true"/>
          <p:nvPr/>
        </p:nvSpPr>
        <p:spPr>
          <a:xfrm rot="0">
            <a:off x="13233397" y="7693028"/>
            <a:ext cx="3962400" cy="615004"/>
          </a:xfrm>
          <a:prstGeom prst="rect">
            <a:avLst/>
          </a:prstGeom>
        </p:spPr>
        <p:txBody>
          <a:bodyPr anchor="t" rtlCol="false" tIns="0" lIns="0" bIns="0" rIns="0">
            <a:spAutoFit/>
          </a:bodyPr>
          <a:lstStyle/>
          <a:p>
            <a:pPr algn="l">
              <a:lnSpc>
                <a:spcPts val="2463"/>
              </a:lnSpc>
            </a:pPr>
            <a:r>
              <a:rPr lang="en-US" sz="1900">
                <a:solidFill>
                  <a:srgbClr val="111111"/>
                </a:solidFill>
                <a:latin typeface="Arimo"/>
                <a:ea typeface="Arimo"/>
                <a:cs typeface="Arimo"/>
                <a:sym typeface="Arimo"/>
              </a:rPr>
              <a:t>경로를 노드, 엣지로 표현하고</a:t>
            </a:r>
          </a:p>
          <a:p>
            <a:pPr algn="l">
              <a:lnSpc>
                <a:spcPts val="2463"/>
              </a:lnSpc>
            </a:pPr>
            <a:r>
              <a:rPr lang="en-US" sz="1900">
                <a:solidFill>
                  <a:srgbClr val="111111"/>
                </a:solidFill>
                <a:latin typeface="Arimo"/>
                <a:ea typeface="Arimo"/>
                <a:cs typeface="Arimo"/>
                <a:sym typeface="Arimo"/>
              </a:rPr>
              <a:t>위치 정보로 상태와 통행 충돌을 판단</a:t>
            </a:r>
          </a:p>
        </p:txBody>
      </p:sp>
      <p:sp>
        <p:nvSpPr>
          <p:cNvPr name="TextBox 46" id="46"/>
          <p:cNvSpPr txBox="true"/>
          <p:nvPr/>
        </p:nvSpPr>
        <p:spPr>
          <a:xfrm rot="0">
            <a:off x="12484103" y="8531228"/>
            <a:ext cx="647700" cy="371218"/>
          </a:xfrm>
          <a:prstGeom prst="rect">
            <a:avLst/>
          </a:prstGeom>
        </p:spPr>
        <p:txBody>
          <a:bodyPr anchor="t" rtlCol="false" tIns="0" lIns="0" bIns="0" rIns="0">
            <a:spAutoFit/>
          </a:bodyPr>
          <a:lstStyle/>
          <a:p>
            <a:pPr algn="l">
              <a:lnSpc>
                <a:spcPts val="2463"/>
              </a:lnSpc>
            </a:pPr>
            <a:r>
              <a:rPr lang="en-US" sz="1900" b="true">
                <a:solidFill>
                  <a:srgbClr val="111111"/>
                </a:solidFill>
                <a:latin typeface="Arimo Bold"/>
                <a:ea typeface="Arimo Bold"/>
                <a:cs typeface="Arimo Bold"/>
                <a:sym typeface="Arimo Bold"/>
              </a:rPr>
              <a:t>결과</a:t>
            </a:r>
          </a:p>
        </p:txBody>
      </p:sp>
      <p:sp>
        <p:nvSpPr>
          <p:cNvPr name="TextBox 47" id="47"/>
          <p:cNvSpPr txBox="true"/>
          <p:nvPr/>
        </p:nvSpPr>
        <p:spPr>
          <a:xfrm rot="0">
            <a:off x="13233397" y="8531228"/>
            <a:ext cx="3962400" cy="615004"/>
          </a:xfrm>
          <a:prstGeom prst="rect">
            <a:avLst/>
          </a:prstGeom>
        </p:spPr>
        <p:txBody>
          <a:bodyPr anchor="t" rtlCol="false" tIns="0" lIns="0" bIns="0" rIns="0">
            <a:spAutoFit/>
          </a:bodyPr>
          <a:lstStyle/>
          <a:p>
            <a:pPr algn="l">
              <a:lnSpc>
                <a:spcPts val="2463"/>
              </a:lnSpc>
            </a:pPr>
            <a:r>
              <a:rPr lang="en-US" sz="1900">
                <a:solidFill>
                  <a:srgbClr val="111111"/>
                </a:solidFill>
                <a:latin typeface="Arimo"/>
                <a:ea typeface="Arimo"/>
                <a:cs typeface="Arimo"/>
                <a:sym typeface="Arimo"/>
              </a:rPr>
              <a:t>FMS는 경유 순서와 통행을 조율하고</a:t>
            </a:r>
          </a:p>
          <a:p>
            <a:pPr algn="l">
              <a:lnSpc>
                <a:spcPts val="2463"/>
              </a:lnSpc>
            </a:pPr>
            <a:r>
              <a:rPr lang="en-US" sz="1900">
                <a:solidFill>
                  <a:srgbClr val="111111"/>
                </a:solidFill>
                <a:latin typeface="Arimo"/>
                <a:ea typeface="Arimo"/>
                <a:cs typeface="Arimo"/>
                <a:sym typeface="Arimo"/>
              </a:rPr>
              <a:t>Nav2는 노드 사이의 주행을 담당</a:t>
            </a:r>
          </a:p>
        </p:txBody>
      </p:sp>
      <p:grpSp>
        <p:nvGrpSpPr>
          <p:cNvPr name="Group 48" id="48"/>
          <p:cNvGrpSpPr/>
          <p:nvPr/>
        </p:nvGrpSpPr>
        <p:grpSpPr>
          <a:xfrm rot="0">
            <a:off x="6461122" y="2473328"/>
            <a:ext cx="5365747" cy="6838950"/>
            <a:chOff x="0" y="0"/>
            <a:chExt cx="7154329" cy="9118600"/>
          </a:xfrm>
        </p:grpSpPr>
        <p:sp>
          <p:nvSpPr>
            <p:cNvPr name="Freeform 49" id="49"/>
            <p:cNvSpPr/>
            <p:nvPr/>
          </p:nvSpPr>
          <p:spPr>
            <a:xfrm flipH="false" flipV="false" rot="0">
              <a:off x="0" y="0"/>
              <a:ext cx="7154290" cy="9118600"/>
            </a:xfrm>
            <a:custGeom>
              <a:avLst/>
              <a:gdLst/>
              <a:ahLst/>
              <a:cxnLst/>
              <a:rect r="r" b="b" t="t" l="l"/>
              <a:pathLst>
                <a:path h="9118600" w="7154290">
                  <a:moveTo>
                    <a:pt x="0" y="136271"/>
                  </a:moveTo>
                  <a:cubicBezTo>
                    <a:pt x="0" y="60960"/>
                    <a:pt x="60960" y="0"/>
                    <a:pt x="136271" y="0"/>
                  </a:cubicBezTo>
                  <a:lnTo>
                    <a:pt x="7018020" y="0"/>
                  </a:lnTo>
                  <a:cubicBezTo>
                    <a:pt x="7093331" y="0"/>
                    <a:pt x="7154290" y="60960"/>
                    <a:pt x="7154290" y="136271"/>
                  </a:cubicBezTo>
                  <a:lnTo>
                    <a:pt x="7154290" y="8982329"/>
                  </a:lnTo>
                  <a:cubicBezTo>
                    <a:pt x="7154290" y="9057640"/>
                    <a:pt x="7093331" y="9118600"/>
                    <a:pt x="7018020" y="9118600"/>
                  </a:cubicBezTo>
                  <a:lnTo>
                    <a:pt x="136271" y="9118600"/>
                  </a:lnTo>
                  <a:cubicBezTo>
                    <a:pt x="60960" y="9118600"/>
                    <a:pt x="0" y="9057640"/>
                    <a:pt x="0" y="8982329"/>
                  </a:cubicBezTo>
                  <a:close/>
                </a:path>
              </a:pathLst>
            </a:custGeom>
            <a:solidFill>
              <a:srgbClr val="FFFFFF"/>
            </a:solidFill>
            <a:ln w="19050" cap="sq">
              <a:solidFill>
                <a:srgbClr val="111111"/>
              </a:solidFill>
              <a:prstDash val="solid"/>
              <a:miter/>
            </a:ln>
          </p:spPr>
        </p:sp>
      </p:grpSp>
      <p:sp>
        <p:nvSpPr>
          <p:cNvPr name="TextBox 50" id="50"/>
          <p:cNvSpPr txBox="true"/>
          <p:nvPr/>
        </p:nvSpPr>
        <p:spPr>
          <a:xfrm rot="0">
            <a:off x="6769103" y="2759078"/>
            <a:ext cx="4749803" cy="344805"/>
          </a:xfrm>
          <a:prstGeom prst="rect">
            <a:avLst/>
          </a:prstGeom>
        </p:spPr>
        <p:txBody>
          <a:bodyPr anchor="t" rtlCol="false" tIns="0" lIns="0" bIns="0" rIns="0">
            <a:spAutoFit/>
          </a:bodyPr>
          <a:lstStyle/>
          <a:p>
            <a:pPr algn="l">
              <a:lnSpc>
                <a:spcPts val="2496"/>
              </a:lnSpc>
            </a:pPr>
            <a:r>
              <a:rPr lang="en-US" b="true" sz="2000">
                <a:solidFill>
                  <a:srgbClr val="A14678"/>
                </a:solidFill>
                <a:latin typeface="Arimo Bold"/>
                <a:ea typeface="Arimo Bold"/>
                <a:cs typeface="Arimo Bold"/>
                <a:sym typeface="Arimo Bold"/>
              </a:rPr>
              <a:t>로봇별 통신 분리</a:t>
            </a:r>
          </a:p>
        </p:txBody>
      </p:sp>
      <p:grpSp>
        <p:nvGrpSpPr>
          <p:cNvPr name="Group 51" id="51"/>
          <p:cNvGrpSpPr/>
          <p:nvPr/>
        </p:nvGrpSpPr>
        <p:grpSpPr>
          <a:xfrm rot="0">
            <a:off x="6762750" y="3295650"/>
            <a:ext cx="1663703" cy="825503"/>
            <a:chOff x="0" y="0"/>
            <a:chExt cx="2218271" cy="1100671"/>
          </a:xfrm>
        </p:grpSpPr>
        <p:sp>
          <p:nvSpPr>
            <p:cNvPr name="Freeform 52" id="52"/>
            <p:cNvSpPr/>
            <p:nvPr/>
          </p:nvSpPr>
          <p:spPr>
            <a:xfrm flipH="false" flipV="false" rot="0">
              <a:off x="0" y="0"/>
              <a:ext cx="2218182" cy="1100582"/>
            </a:xfrm>
            <a:custGeom>
              <a:avLst/>
              <a:gdLst/>
              <a:ahLst/>
              <a:cxnLst/>
              <a:rect r="r" b="b" t="t" l="l"/>
              <a:pathLst>
                <a:path h="1100582" w="2218182">
                  <a:moveTo>
                    <a:pt x="0" y="137541"/>
                  </a:moveTo>
                  <a:cubicBezTo>
                    <a:pt x="0" y="61595"/>
                    <a:pt x="61595" y="0"/>
                    <a:pt x="137541" y="0"/>
                  </a:cubicBezTo>
                  <a:lnTo>
                    <a:pt x="2080641" y="0"/>
                  </a:lnTo>
                  <a:cubicBezTo>
                    <a:pt x="2156587" y="0"/>
                    <a:pt x="2218182" y="61595"/>
                    <a:pt x="2218182" y="137541"/>
                  </a:cubicBezTo>
                  <a:lnTo>
                    <a:pt x="2218182" y="963041"/>
                  </a:lnTo>
                  <a:cubicBezTo>
                    <a:pt x="2218182" y="1038987"/>
                    <a:pt x="2156587" y="1100582"/>
                    <a:pt x="2080641" y="1100582"/>
                  </a:cubicBezTo>
                  <a:lnTo>
                    <a:pt x="137541" y="1100582"/>
                  </a:lnTo>
                  <a:cubicBezTo>
                    <a:pt x="61595" y="1100709"/>
                    <a:pt x="0" y="1039114"/>
                    <a:pt x="0" y="963041"/>
                  </a:cubicBezTo>
                  <a:close/>
                </a:path>
              </a:pathLst>
            </a:custGeom>
            <a:solidFill>
              <a:srgbClr val="F6EEF2"/>
            </a:solidFill>
          </p:spPr>
        </p:sp>
      </p:grpSp>
      <p:sp>
        <p:nvSpPr>
          <p:cNvPr name="TextBox 53" id="53"/>
          <p:cNvSpPr txBox="true"/>
          <p:nvPr/>
        </p:nvSpPr>
        <p:spPr>
          <a:xfrm rot="0">
            <a:off x="6778502" y="3363358"/>
            <a:ext cx="1632200" cy="302743"/>
          </a:xfrm>
          <a:prstGeom prst="rect">
            <a:avLst/>
          </a:prstGeom>
        </p:spPr>
        <p:txBody>
          <a:bodyPr anchor="t" rtlCol="false" tIns="0" lIns="0" bIns="0" rIns="0">
            <a:spAutoFit/>
          </a:bodyPr>
          <a:lstStyle/>
          <a:p>
            <a:pPr algn="ctr">
              <a:lnSpc>
                <a:spcPts val="2371"/>
              </a:lnSpc>
            </a:pPr>
            <a:r>
              <a:rPr lang="en-US" b="true" sz="1899" spc="-172">
                <a:solidFill>
                  <a:srgbClr val="A14678"/>
                </a:solidFill>
                <a:latin typeface="Arimo Bold"/>
                <a:ea typeface="Arimo Bold"/>
                <a:cs typeface="Arimo Bold"/>
                <a:sym typeface="Arimo Bold"/>
              </a:rPr>
              <a:t>tb3_01(DDS 41)</a:t>
            </a:r>
          </a:p>
        </p:txBody>
      </p:sp>
      <p:sp>
        <p:nvSpPr>
          <p:cNvPr name="TextBox 54" id="54"/>
          <p:cNvSpPr txBox="true"/>
          <p:nvPr/>
        </p:nvSpPr>
        <p:spPr>
          <a:xfrm rot="0">
            <a:off x="6832597" y="3752850"/>
            <a:ext cx="1524000" cy="238506"/>
          </a:xfrm>
          <a:prstGeom prst="rect">
            <a:avLst/>
          </a:prstGeom>
        </p:spPr>
        <p:txBody>
          <a:bodyPr anchor="t" rtlCol="false" tIns="0" lIns="0" bIns="0" rIns="0">
            <a:spAutoFit/>
          </a:bodyPr>
          <a:lstStyle/>
          <a:p>
            <a:pPr algn="ctr">
              <a:lnSpc>
                <a:spcPts val="1872"/>
              </a:lnSpc>
            </a:pPr>
            <a:r>
              <a:rPr lang="en-US" sz="1500">
                <a:solidFill>
                  <a:srgbClr val="666666"/>
                </a:solidFill>
                <a:latin typeface="Arimo"/>
                <a:ea typeface="Arimo"/>
                <a:cs typeface="Arimo"/>
                <a:sym typeface="Arimo"/>
              </a:rPr>
              <a:t>/odom</a:t>
            </a:r>
          </a:p>
        </p:txBody>
      </p:sp>
      <p:grpSp>
        <p:nvGrpSpPr>
          <p:cNvPr name="Group 55" id="55"/>
          <p:cNvGrpSpPr/>
          <p:nvPr/>
        </p:nvGrpSpPr>
        <p:grpSpPr>
          <a:xfrm rot="0">
            <a:off x="6762750" y="4375147"/>
            <a:ext cx="1663703" cy="825503"/>
            <a:chOff x="0" y="0"/>
            <a:chExt cx="2218271" cy="1100671"/>
          </a:xfrm>
        </p:grpSpPr>
        <p:sp>
          <p:nvSpPr>
            <p:cNvPr name="Freeform 56" id="56"/>
            <p:cNvSpPr/>
            <p:nvPr/>
          </p:nvSpPr>
          <p:spPr>
            <a:xfrm flipH="false" flipV="false" rot="0">
              <a:off x="0" y="0"/>
              <a:ext cx="2218182" cy="1100582"/>
            </a:xfrm>
            <a:custGeom>
              <a:avLst/>
              <a:gdLst/>
              <a:ahLst/>
              <a:cxnLst/>
              <a:rect r="r" b="b" t="t" l="l"/>
              <a:pathLst>
                <a:path h="1100582" w="2218182">
                  <a:moveTo>
                    <a:pt x="0" y="137541"/>
                  </a:moveTo>
                  <a:cubicBezTo>
                    <a:pt x="0" y="61595"/>
                    <a:pt x="61595" y="0"/>
                    <a:pt x="137541" y="0"/>
                  </a:cubicBezTo>
                  <a:lnTo>
                    <a:pt x="2080641" y="0"/>
                  </a:lnTo>
                  <a:cubicBezTo>
                    <a:pt x="2156587" y="0"/>
                    <a:pt x="2218182" y="61595"/>
                    <a:pt x="2218182" y="137541"/>
                  </a:cubicBezTo>
                  <a:lnTo>
                    <a:pt x="2218182" y="963041"/>
                  </a:lnTo>
                  <a:cubicBezTo>
                    <a:pt x="2218182" y="1038987"/>
                    <a:pt x="2156587" y="1100582"/>
                    <a:pt x="2080641" y="1100582"/>
                  </a:cubicBezTo>
                  <a:lnTo>
                    <a:pt x="137541" y="1100582"/>
                  </a:lnTo>
                  <a:cubicBezTo>
                    <a:pt x="61595" y="1100709"/>
                    <a:pt x="0" y="1039114"/>
                    <a:pt x="0" y="963041"/>
                  </a:cubicBezTo>
                  <a:close/>
                </a:path>
              </a:pathLst>
            </a:custGeom>
            <a:solidFill>
              <a:srgbClr val="F6EEF2"/>
            </a:solidFill>
          </p:spPr>
        </p:sp>
      </p:grpSp>
      <p:sp>
        <p:nvSpPr>
          <p:cNvPr name="TextBox 57" id="57"/>
          <p:cNvSpPr txBox="true"/>
          <p:nvPr/>
        </p:nvSpPr>
        <p:spPr>
          <a:xfrm rot="0">
            <a:off x="6832597" y="4832347"/>
            <a:ext cx="1524000" cy="238506"/>
          </a:xfrm>
          <a:prstGeom prst="rect">
            <a:avLst/>
          </a:prstGeom>
        </p:spPr>
        <p:txBody>
          <a:bodyPr anchor="t" rtlCol="false" tIns="0" lIns="0" bIns="0" rIns="0">
            <a:spAutoFit/>
          </a:bodyPr>
          <a:lstStyle/>
          <a:p>
            <a:pPr algn="ctr">
              <a:lnSpc>
                <a:spcPts val="1872"/>
              </a:lnSpc>
            </a:pPr>
            <a:r>
              <a:rPr lang="en-US" sz="1500">
                <a:solidFill>
                  <a:srgbClr val="666666"/>
                </a:solidFill>
                <a:latin typeface="Arimo"/>
                <a:ea typeface="Arimo"/>
                <a:cs typeface="Arimo"/>
                <a:sym typeface="Arimo"/>
              </a:rPr>
              <a:t>/odom</a:t>
            </a:r>
          </a:p>
        </p:txBody>
      </p:sp>
      <p:grpSp>
        <p:nvGrpSpPr>
          <p:cNvPr name="Group 58" id="58"/>
          <p:cNvGrpSpPr/>
          <p:nvPr/>
        </p:nvGrpSpPr>
        <p:grpSpPr>
          <a:xfrm rot="0">
            <a:off x="8877300" y="3311666"/>
            <a:ext cx="2641597" cy="1498602"/>
            <a:chOff x="0" y="0"/>
            <a:chExt cx="3522129" cy="1998135"/>
          </a:xfrm>
        </p:grpSpPr>
        <p:sp>
          <p:nvSpPr>
            <p:cNvPr name="Freeform 59" id="59"/>
            <p:cNvSpPr/>
            <p:nvPr/>
          </p:nvSpPr>
          <p:spPr>
            <a:xfrm flipH="false" flipV="false" rot="0">
              <a:off x="0" y="0"/>
              <a:ext cx="3522218" cy="1998135"/>
            </a:xfrm>
            <a:custGeom>
              <a:avLst/>
              <a:gdLst/>
              <a:ahLst/>
              <a:cxnLst/>
              <a:rect r="r" b="b" t="t" l="l"/>
              <a:pathLst>
                <a:path h="1998135" w="3522218">
                  <a:moveTo>
                    <a:pt x="0" y="107300"/>
                  </a:moveTo>
                  <a:cubicBezTo>
                    <a:pt x="0" y="48055"/>
                    <a:pt x="61087" y="0"/>
                    <a:pt x="136398" y="0"/>
                  </a:cubicBezTo>
                  <a:lnTo>
                    <a:pt x="3385820" y="0"/>
                  </a:lnTo>
                  <a:cubicBezTo>
                    <a:pt x="3461131" y="0"/>
                    <a:pt x="3522218" y="48055"/>
                    <a:pt x="3522218" y="107300"/>
                  </a:cubicBezTo>
                  <a:lnTo>
                    <a:pt x="3522218" y="1890836"/>
                  </a:lnTo>
                  <a:cubicBezTo>
                    <a:pt x="3522218" y="1950080"/>
                    <a:pt x="3461131" y="1998135"/>
                    <a:pt x="3385820" y="1998135"/>
                  </a:cubicBezTo>
                  <a:lnTo>
                    <a:pt x="136398" y="1998135"/>
                  </a:lnTo>
                  <a:cubicBezTo>
                    <a:pt x="61087" y="1998135"/>
                    <a:pt x="0" y="1950080"/>
                    <a:pt x="0" y="1890836"/>
                  </a:cubicBezTo>
                  <a:close/>
                </a:path>
              </a:pathLst>
            </a:custGeom>
            <a:solidFill>
              <a:srgbClr val="F3E7EC"/>
            </a:solidFill>
          </p:spPr>
        </p:sp>
      </p:grpSp>
      <p:sp>
        <p:nvSpPr>
          <p:cNvPr name="TextBox 60" id="60"/>
          <p:cNvSpPr txBox="true"/>
          <p:nvPr/>
        </p:nvSpPr>
        <p:spPr>
          <a:xfrm rot="0">
            <a:off x="9023347" y="3473591"/>
            <a:ext cx="2349503" cy="311658"/>
          </a:xfrm>
          <a:prstGeom prst="rect">
            <a:avLst/>
          </a:prstGeom>
        </p:spPr>
        <p:txBody>
          <a:bodyPr anchor="t" rtlCol="false" tIns="0" lIns="0" bIns="0" rIns="0">
            <a:spAutoFit/>
          </a:bodyPr>
          <a:lstStyle/>
          <a:p>
            <a:pPr algn="ctr">
              <a:lnSpc>
                <a:spcPts val="2496"/>
              </a:lnSpc>
            </a:pPr>
            <a:r>
              <a:rPr lang="en-US" sz="2000" b="true">
                <a:solidFill>
                  <a:srgbClr val="A14678"/>
                </a:solidFill>
                <a:latin typeface="Arimo Bold"/>
                <a:ea typeface="Arimo Bold"/>
                <a:cs typeface="Arimo Bold"/>
                <a:sym typeface="Arimo Bold"/>
              </a:rPr>
              <a:t>FMS</a:t>
            </a:r>
            <a:r>
              <a:rPr lang="en-US" sz="2000" b="true">
                <a:solidFill>
                  <a:srgbClr val="A14678"/>
                </a:solidFill>
                <a:latin typeface="Arimo Bold"/>
                <a:ea typeface="Arimo Bold"/>
                <a:cs typeface="Arimo Bold"/>
                <a:sym typeface="Arimo Bold"/>
              </a:rPr>
              <a:t>(DDS 49)</a:t>
            </a:r>
          </a:p>
        </p:txBody>
      </p:sp>
      <p:sp>
        <p:nvSpPr>
          <p:cNvPr name="TextBox 61" id="61"/>
          <p:cNvSpPr txBox="true"/>
          <p:nvPr/>
        </p:nvSpPr>
        <p:spPr>
          <a:xfrm rot="0">
            <a:off x="9023347" y="3853715"/>
            <a:ext cx="2349503" cy="302743"/>
          </a:xfrm>
          <a:prstGeom prst="rect">
            <a:avLst/>
          </a:prstGeom>
        </p:spPr>
        <p:txBody>
          <a:bodyPr anchor="t" rtlCol="false" tIns="0" lIns="0" bIns="0" rIns="0">
            <a:spAutoFit/>
          </a:bodyPr>
          <a:lstStyle/>
          <a:p>
            <a:pPr algn="ctr">
              <a:lnSpc>
                <a:spcPts val="2371"/>
              </a:lnSpc>
            </a:pPr>
            <a:r>
              <a:rPr lang="en-US" sz="1899" b="true">
                <a:solidFill>
                  <a:srgbClr val="111111"/>
                </a:solidFill>
                <a:latin typeface="Arimo Bold"/>
                <a:ea typeface="Arimo Bold"/>
                <a:cs typeface="Arimo Bold"/>
                <a:sym typeface="Arimo Bold"/>
              </a:rPr>
              <a:t>/tb3_01/odom</a:t>
            </a:r>
          </a:p>
        </p:txBody>
      </p:sp>
      <p:sp>
        <p:nvSpPr>
          <p:cNvPr name="TextBox 62" id="62"/>
          <p:cNvSpPr txBox="true"/>
          <p:nvPr/>
        </p:nvSpPr>
        <p:spPr>
          <a:xfrm rot="0">
            <a:off x="9023347" y="4372113"/>
            <a:ext cx="2349503" cy="337566"/>
          </a:xfrm>
          <a:prstGeom prst="rect">
            <a:avLst/>
          </a:prstGeom>
        </p:spPr>
        <p:txBody>
          <a:bodyPr anchor="t" rtlCol="false" tIns="0" lIns="0" bIns="0" rIns="0">
            <a:spAutoFit/>
          </a:bodyPr>
          <a:lstStyle/>
          <a:p>
            <a:pPr algn="ctr">
              <a:lnSpc>
                <a:spcPts val="2371"/>
              </a:lnSpc>
            </a:pPr>
            <a:r>
              <a:rPr lang="en-US" sz="1899" b="true">
                <a:solidFill>
                  <a:srgbClr val="111111"/>
                </a:solidFill>
                <a:latin typeface="Arimo Bold"/>
                <a:ea typeface="Arimo Bold"/>
                <a:cs typeface="Arimo Bold"/>
                <a:sym typeface="Arimo Bold"/>
              </a:rPr>
              <a:t>/tb3_02/odom</a:t>
            </a:r>
          </a:p>
        </p:txBody>
      </p:sp>
      <p:sp>
        <p:nvSpPr>
          <p:cNvPr name="Freeform 63" id="63"/>
          <p:cNvSpPr/>
          <p:nvPr/>
        </p:nvSpPr>
        <p:spPr>
          <a:xfrm>
            <a:off x="8461380" y="3686177"/>
            <a:ext cx="561966" cy="328435"/>
          </a:xfrm>
          <a:custGeom>
            <a:avLst/>
            <a:gdLst/>
            <a:ahLst/>
            <a:cxnLst/>
            <a:rect r="r" b="b" t="t" l="l"/>
            <a:pathLst>
              <a:path h="328435" w="561966">
                <a:moveTo>
                  <a:pt x="0" y="0"/>
                </a:moveTo>
                <a:lnTo>
                  <a:pt x="140493" y="0"/>
                </a:lnTo>
                <a:cubicBezTo>
                  <a:pt x="177753" y="0"/>
                  <a:pt x="213487" y="14801"/>
                  <a:pt x="239835" y="41149"/>
                </a:cubicBezTo>
                <a:cubicBezTo>
                  <a:pt x="266183" y="67496"/>
                  <a:pt x="280984" y="103230"/>
                  <a:pt x="280984" y="140491"/>
                </a:cubicBezTo>
                <a:lnTo>
                  <a:pt x="280984" y="187943"/>
                </a:lnTo>
                <a:cubicBezTo>
                  <a:pt x="280984" y="225203"/>
                  <a:pt x="295785" y="260938"/>
                  <a:pt x="322133" y="287285"/>
                </a:cubicBezTo>
                <a:cubicBezTo>
                  <a:pt x="348480" y="313632"/>
                  <a:pt x="384215" y="328434"/>
                  <a:pt x="421475" y="328434"/>
                </a:cubicBezTo>
                <a:lnTo>
                  <a:pt x="561967" y="328434"/>
                </a:lnTo>
              </a:path>
            </a:pathLst>
          </a:custGeom>
          <a:ln cap="rnd" w="19050">
            <a:solidFill>
              <a:srgbClr val="A14678"/>
            </a:solidFill>
            <a:prstDash val="solid"/>
            <a:headEnd type="none" len="sm" w="sm"/>
            <a:tailEnd type="triangle" len="med" w="lg"/>
          </a:ln>
        </p:spPr>
      </p:sp>
      <p:sp>
        <p:nvSpPr>
          <p:cNvPr name="Freeform 64" id="64"/>
          <p:cNvSpPr/>
          <p:nvPr/>
        </p:nvSpPr>
        <p:spPr>
          <a:xfrm>
            <a:off x="8426386" y="4550421"/>
            <a:ext cx="596960" cy="237477"/>
          </a:xfrm>
          <a:custGeom>
            <a:avLst/>
            <a:gdLst/>
            <a:ahLst/>
            <a:cxnLst/>
            <a:rect r="r" b="b" t="t" l="l"/>
            <a:pathLst>
              <a:path h="237477" w="596960">
                <a:moveTo>
                  <a:pt x="0" y="237477"/>
                </a:moveTo>
                <a:lnTo>
                  <a:pt x="179742" y="237477"/>
                </a:lnTo>
                <a:cubicBezTo>
                  <a:pt x="211233" y="237477"/>
                  <a:pt x="241435" y="224967"/>
                  <a:pt x="263703" y="202700"/>
                </a:cubicBezTo>
                <a:cubicBezTo>
                  <a:pt x="285971" y="180432"/>
                  <a:pt x="298481" y="150230"/>
                  <a:pt x="298481" y="118739"/>
                </a:cubicBezTo>
                <a:lnTo>
                  <a:pt x="298481" y="118739"/>
                </a:lnTo>
                <a:cubicBezTo>
                  <a:pt x="298481" y="87247"/>
                  <a:pt x="310991" y="57046"/>
                  <a:pt x="333258" y="34778"/>
                </a:cubicBezTo>
                <a:cubicBezTo>
                  <a:pt x="355526" y="12510"/>
                  <a:pt x="385728" y="0"/>
                  <a:pt x="417219" y="0"/>
                </a:cubicBezTo>
                <a:lnTo>
                  <a:pt x="596961" y="0"/>
                </a:lnTo>
              </a:path>
            </a:pathLst>
          </a:custGeom>
          <a:ln cap="rnd" w="19050">
            <a:solidFill>
              <a:srgbClr val="A14678"/>
            </a:solidFill>
            <a:prstDash val="solid"/>
            <a:headEnd type="none" len="sm" w="sm"/>
            <a:tailEnd type="triangle" len="med" w="lg"/>
          </a:ln>
        </p:spPr>
      </p:sp>
      <p:sp>
        <p:nvSpPr>
          <p:cNvPr name="TextBox 65" id="65"/>
          <p:cNvSpPr txBox="true"/>
          <p:nvPr/>
        </p:nvSpPr>
        <p:spPr>
          <a:xfrm rot="0">
            <a:off x="6769103" y="5540378"/>
            <a:ext cx="4749803" cy="344805"/>
          </a:xfrm>
          <a:prstGeom prst="rect">
            <a:avLst/>
          </a:prstGeom>
        </p:spPr>
        <p:txBody>
          <a:bodyPr anchor="t" rtlCol="false" tIns="0" lIns="0" bIns="0" rIns="0">
            <a:spAutoFit/>
          </a:bodyPr>
          <a:lstStyle/>
          <a:p>
            <a:pPr algn="l">
              <a:lnSpc>
                <a:spcPts val="2496"/>
              </a:lnSpc>
            </a:pPr>
            <a:r>
              <a:rPr lang="en-US" sz="2000" b="true">
                <a:solidFill>
                  <a:srgbClr val="A14678"/>
                </a:solidFill>
                <a:latin typeface="Arimo Bold"/>
                <a:ea typeface="Arimo Bold"/>
                <a:cs typeface="Arimo Bold"/>
                <a:sym typeface="Arimo Bold"/>
              </a:rPr>
              <a:t>로봇 간 토픽 구분</a:t>
            </a:r>
          </a:p>
        </p:txBody>
      </p:sp>
      <p:sp>
        <p:nvSpPr>
          <p:cNvPr name="TextBox 66" id="66"/>
          <p:cNvSpPr txBox="true"/>
          <p:nvPr/>
        </p:nvSpPr>
        <p:spPr>
          <a:xfrm rot="0">
            <a:off x="6769103" y="6016628"/>
            <a:ext cx="4749803" cy="464439"/>
          </a:xfrm>
          <a:prstGeom prst="rect">
            <a:avLst/>
          </a:prstGeom>
        </p:spPr>
        <p:txBody>
          <a:bodyPr anchor="t" rtlCol="false" tIns="0" lIns="0" bIns="0" rIns="0">
            <a:spAutoFit/>
          </a:bodyPr>
          <a:lstStyle/>
          <a:p>
            <a:pPr algn="l">
              <a:lnSpc>
                <a:spcPts val="3244"/>
              </a:lnSpc>
            </a:pPr>
            <a:r>
              <a:rPr lang="en-US" sz="2600" b="true">
                <a:solidFill>
                  <a:srgbClr val="111111"/>
                </a:solidFill>
                <a:latin typeface="Arimo Bold"/>
                <a:ea typeface="Arimo Bold"/>
                <a:cs typeface="Arimo Bold"/>
                <a:sym typeface="Arimo Bold"/>
              </a:rPr>
              <a:t>로봇별 DDS 도메인 분리</a:t>
            </a:r>
          </a:p>
        </p:txBody>
      </p:sp>
      <p:sp>
        <p:nvSpPr>
          <p:cNvPr name="TextBox 67" id="67"/>
          <p:cNvSpPr txBox="true"/>
          <p:nvPr/>
        </p:nvSpPr>
        <p:spPr>
          <a:xfrm rot="0">
            <a:off x="6769103" y="6619875"/>
            <a:ext cx="4749803" cy="680085"/>
          </a:xfrm>
          <a:prstGeom prst="rect">
            <a:avLst/>
          </a:prstGeom>
        </p:spPr>
        <p:txBody>
          <a:bodyPr anchor="t" rtlCol="false" tIns="0" lIns="0" bIns="0" rIns="0">
            <a:spAutoFit/>
          </a:bodyPr>
          <a:lstStyle/>
          <a:p>
            <a:pPr algn="l">
              <a:lnSpc>
                <a:spcPts val="2496"/>
              </a:lnSpc>
            </a:pPr>
            <a:r>
              <a:rPr lang="en-US" sz="2000">
                <a:solidFill>
                  <a:srgbClr val="666666"/>
                </a:solidFill>
                <a:latin typeface="Arimo"/>
                <a:ea typeface="Arimo"/>
                <a:cs typeface="Arimo"/>
                <a:sym typeface="Arimo"/>
              </a:rPr>
              <a:t>여러 로봇이 같은 토픽명을 사용해</a:t>
            </a:r>
          </a:p>
          <a:p>
            <a:pPr algn="l">
              <a:lnSpc>
                <a:spcPts val="2496"/>
              </a:lnSpc>
            </a:pPr>
            <a:r>
              <a:rPr lang="en-US" sz="2000">
                <a:solidFill>
                  <a:srgbClr val="666666"/>
                </a:solidFill>
                <a:latin typeface="Arimo"/>
                <a:ea typeface="Arimo"/>
                <a:cs typeface="Arimo"/>
                <a:sym typeface="Arimo"/>
              </a:rPr>
              <a:t>상태와 명령을 구분할 필요</a:t>
            </a:r>
          </a:p>
        </p:txBody>
      </p:sp>
      <p:sp>
        <p:nvSpPr>
          <p:cNvPr name="AutoShape 68" id="68"/>
          <p:cNvSpPr/>
          <p:nvPr/>
        </p:nvSpPr>
        <p:spPr>
          <a:xfrm rot="9180">
            <a:off x="6762740" y="7437434"/>
            <a:ext cx="4762519" cy="0"/>
          </a:xfrm>
          <a:prstGeom prst="line">
            <a:avLst/>
          </a:prstGeom>
          <a:ln cap="rnd" w="9525">
            <a:solidFill>
              <a:srgbClr val="DCCBD3"/>
            </a:solidFill>
            <a:prstDash val="solid"/>
            <a:headEnd type="none" len="sm" w="sm"/>
            <a:tailEnd type="none" len="sm" w="sm"/>
          </a:ln>
        </p:spPr>
      </p:sp>
      <p:sp>
        <p:nvSpPr>
          <p:cNvPr name="TextBox 69" id="69"/>
          <p:cNvSpPr txBox="true"/>
          <p:nvPr/>
        </p:nvSpPr>
        <p:spPr>
          <a:xfrm rot="0">
            <a:off x="6769103" y="7750178"/>
            <a:ext cx="609600" cy="344805"/>
          </a:xfrm>
          <a:prstGeom prst="rect">
            <a:avLst/>
          </a:prstGeom>
        </p:spPr>
        <p:txBody>
          <a:bodyPr anchor="t" rtlCol="false" tIns="0" lIns="0" bIns="0" rIns="0">
            <a:spAutoFit/>
          </a:bodyPr>
          <a:lstStyle/>
          <a:p>
            <a:pPr algn="l">
              <a:lnSpc>
                <a:spcPts val="2496"/>
              </a:lnSpc>
            </a:pPr>
            <a:r>
              <a:rPr lang="en-US" sz="2000" b="true">
                <a:solidFill>
                  <a:srgbClr val="111111"/>
                </a:solidFill>
                <a:latin typeface="Arimo Bold"/>
                <a:ea typeface="Arimo Bold"/>
                <a:cs typeface="Arimo Bold"/>
                <a:sym typeface="Arimo Bold"/>
              </a:rPr>
              <a:t>변경</a:t>
            </a:r>
          </a:p>
        </p:txBody>
      </p:sp>
      <p:sp>
        <p:nvSpPr>
          <p:cNvPr name="TextBox 70" id="70"/>
          <p:cNvSpPr txBox="true"/>
          <p:nvPr/>
        </p:nvSpPr>
        <p:spPr>
          <a:xfrm rot="0">
            <a:off x="7505700" y="7750178"/>
            <a:ext cx="4013197" cy="680085"/>
          </a:xfrm>
          <a:prstGeom prst="rect">
            <a:avLst/>
          </a:prstGeom>
        </p:spPr>
        <p:txBody>
          <a:bodyPr anchor="t" rtlCol="false" tIns="0" lIns="0" bIns="0" rIns="0">
            <a:spAutoFit/>
          </a:bodyPr>
          <a:lstStyle/>
          <a:p>
            <a:pPr algn="l">
              <a:lnSpc>
                <a:spcPts val="2496"/>
              </a:lnSpc>
            </a:pPr>
            <a:r>
              <a:rPr lang="en-US" sz="2000">
                <a:solidFill>
                  <a:srgbClr val="111111"/>
                </a:solidFill>
                <a:latin typeface="Arimo"/>
                <a:ea typeface="Arimo"/>
                <a:cs typeface="Arimo"/>
                <a:sym typeface="Arimo"/>
              </a:rPr>
              <a:t>로봇별 도메인을 나누고</a:t>
            </a:r>
          </a:p>
          <a:p>
            <a:pPr algn="l">
              <a:lnSpc>
                <a:spcPts val="2496"/>
              </a:lnSpc>
            </a:pPr>
            <a:r>
              <a:rPr lang="en-US" sz="2000">
                <a:solidFill>
                  <a:srgbClr val="111111"/>
                </a:solidFill>
                <a:latin typeface="Arimo"/>
                <a:ea typeface="Arimo"/>
                <a:cs typeface="Arimo"/>
                <a:sym typeface="Arimo"/>
              </a:rPr>
              <a:t>허브에서 로봇 ID로 구분</a:t>
            </a:r>
          </a:p>
        </p:txBody>
      </p:sp>
      <p:sp>
        <p:nvSpPr>
          <p:cNvPr name="TextBox 71" id="71"/>
          <p:cNvSpPr txBox="true"/>
          <p:nvPr/>
        </p:nvSpPr>
        <p:spPr>
          <a:xfrm rot="0">
            <a:off x="6769103" y="8588378"/>
            <a:ext cx="609600" cy="344805"/>
          </a:xfrm>
          <a:prstGeom prst="rect">
            <a:avLst/>
          </a:prstGeom>
        </p:spPr>
        <p:txBody>
          <a:bodyPr anchor="t" rtlCol="false" tIns="0" lIns="0" bIns="0" rIns="0">
            <a:spAutoFit/>
          </a:bodyPr>
          <a:lstStyle/>
          <a:p>
            <a:pPr algn="l">
              <a:lnSpc>
                <a:spcPts val="2496"/>
              </a:lnSpc>
            </a:pPr>
            <a:r>
              <a:rPr lang="en-US" sz="2000" b="true">
                <a:solidFill>
                  <a:srgbClr val="111111"/>
                </a:solidFill>
                <a:latin typeface="Arimo Bold"/>
                <a:ea typeface="Arimo Bold"/>
                <a:cs typeface="Arimo Bold"/>
                <a:sym typeface="Arimo Bold"/>
              </a:rPr>
              <a:t>결과</a:t>
            </a:r>
          </a:p>
        </p:txBody>
      </p:sp>
      <p:sp>
        <p:nvSpPr>
          <p:cNvPr name="TextBox 72" id="72"/>
          <p:cNvSpPr txBox="true"/>
          <p:nvPr/>
        </p:nvSpPr>
        <p:spPr>
          <a:xfrm rot="0">
            <a:off x="7505700" y="8588378"/>
            <a:ext cx="4013197" cy="680085"/>
          </a:xfrm>
          <a:prstGeom prst="rect">
            <a:avLst/>
          </a:prstGeom>
        </p:spPr>
        <p:txBody>
          <a:bodyPr anchor="t" rtlCol="false" tIns="0" lIns="0" bIns="0" rIns="0">
            <a:spAutoFit/>
          </a:bodyPr>
          <a:lstStyle/>
          <a:p>
            <a:pPr algn="l">
              <a:lnSpc>
                <a:spcPts val="2496"/>
              </a:lnSpc>
            </a:pPr>
            <a:r>
              <a:rPr lang="en-US" sz="2000">
                <a:solidFill>
                  <a:srgbClr val="111111"/>
                </a:solidFill>
                <a:latin typeface="Arimo"/>
                <a:ea typeface="Arimo"/>
                <a:cs typeface="Arimo"/>
                <a:sym typeface="Arimo"/>
              </a:rPr>
              <a:t>로봇 내부 토픽명은 유지하고</a:t>
            </a:r>
          </a:p>
          <a:p>
            <a:pPr algn="l">
              <a:lnSpc>
                <a:spcPts val="2496"/>
              </a:lnSpc>
            </a:pPr>
            <a:r>
              <a:rPr lang="en-US" sz="2000">
                <a:solidFill>
                  <a:srgbClr val="111111"/>
                </a:solidFill>
                <a:latin typeface="Arimo"/>
                <a:ea typeface="Arimo"/>
                <a:cs typeface="Arimo"/>
                <a:sym typeface="Arimo"/>
              </a:rPr>
              <a:t>관제에서 상태·명령을 분리</a:t>
            </a:r>
          </a:p>
        </p:txBody>
      </p:sp>
      <p:sp>
        <p:nvSpPr>
          <p:cNvPr name="TextBox 73" id="73"/>
          <p:cNvSpPr txBox="true"/>
          <p:nvPr/>
        </p:nvSpPr>
        <p:spPr>
          <a:xfrm rot="0">
            <a:off x="6778502" y="4491509"/>
            <a:ext cx="1632200" cy="302743"/>
          </a:xfrm>
          <a:prstGeom prst="rect">
            <a:avLst/>
          </a:prstGeom>
        </p:spPr>
        <p:txBody>
          <a:bodyPr anchor="t" rtlCol="false" tIns="0" lIns="0" bIns="0" rIns="0">
            <a:spAutoFit/>
          </a:bodyPr>
          <a:lstStyle/>
          <a:p>
            <a:pPr algn="ctr">
              <a:lnSpc>
                <a:spcPts val="2371"/>
              </a:lnSpc>
            </a:pPr>
            <a:r>
              <a:rPr lang="en-US" b="true" sz="1899" spc="-172">
                <a:solidFill>
                  <a:srgbClr val="A14678"/>
                </a:solidFill>
                <a:latin typeface="Arimo Bold"/>
                <a:ea typeface="Arimo Bold"/>
                <a:cs typeface="Arimo Bold"/>
                <a:sym typeface="Arimo Bold"/>
              </a:rPr>
              <a:t>tb3_02(DDS 42)</a:t>
            </a:r>
          </a:p>
        </p:txBody>
      </p:sp>
      <p:sp>
        <p:nvSpPr>
          <p:cNvPr name="TextBox 74" id="74"/>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24</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7F7F5"/>
        </a:solidFill>
      </p:bgPr>
    </p:bg>
    <p:spTree>
      <p:nvGrpSpPr>
        <p:cNvPr id="1" name=""/>
        <p:cNvGrpSpPr/>
        <p:nvPr/>
      </p:nvGrpSpPr>
      <p:grpSpPr>
        <a:xfrm>
          <a:off x="0" y="0"/>
          <a:ext cx="0" cy="0"/>
          <a:chOff x="0" y="0"/>
          <a:chExt cx="0" cy="0"/>
        </a:xfrm>
      </p:grpSpPr>
      <p:grpSp>
        <p:nvGrpSpPr>
          <p:cNvPr name="Group 2" id="2"/>
          <p:cNvGrpSpPr/>
          <p:nvPr/>
        </p:nvGrpSpPr>
        <p:grpSpPr>
          <a:xfrm rot="0">
            <a:off x="762000" y="1301753"/>
            <a:ext cx="16764000" cy="1226820"/>
            <a:chOff x="0" y="0"/>
            <a:chExt cx="22352000" cy="1635760"/>
          </a:xfrm>
        </p:grpSpPr>
        <p:sp>
          <p:nvSpPr>
            <p:cNvPr name="Freeform 3" id="3"/>
            <p:cNvSpPr/>
            <p:nvPr/>
          </p:nvSpPr>
          <p:spPr>
            <a:xfrm flipH="false" flipV="false" rot="0">
              <a:off x="0" y="0"/>
              <a:ext cx="22352000" cy="1635760"/>
            </a:xfrm>
            <a:custGeom>
              <a:avLst/>
              <a:gdLst/>
              <a:ahLst/>
              <a:cxnLst/>
              <a:rect r="r" b="b" t="t" l="l"/>
              <a:pathLst>
                <a:path h="1635760" w="22352000">
                  <a:moveTo>
                    <a:pt x="0" y="0"/>
                  </a:moveTo>
                  <a:lnTo>
                    <a:pt x="22352000" y="0"/>
                  </a:lnTo>
                  <a:lnTo>
                    <a:pt x="22352000" y="1635760"/>
                  </a:lnTo>
                  <a:lnTo>
                    <a:pt x="0" y="1635760"/>
                  </a:lnTo>
                  <a:close/>
                </a:path>
              </a:pathLst>
            </a:custGeom>
            <a:blipFill>
              <a:blip r:embed="rId3">
                <a:alphaModFix amt="0"/>
              </a:blip>
              <a:stretch>
                <a:fillRect l="0" t="-216255" r="0" b="-216255"/>
              </a:stretch>
            </a:blipFill>
          </p:spPr>
        </p:sp>
        <p:sp>
          <p:nvSpPr>
            <p:cNvPr name="TextBox 4" id="4"/>
            <p:cNvSpPr txBox="true"/>
            <p:nvPr/>
          </p:nvSpPr>
          <p:spPr>
            <a:xfrm>
              <a:off x="0" y="-9525"/>
              <a:ext cx="22352000" cy="1645285"/>
            </a:xfrm>
            <a:prstGeom prst="rect">
              <a:avLst/>
            </a:prstGeom>
          </p:spPr>
          <p:txBody>
            <a:bodyPr anchor="ctr" rtlCol="false" tIns="0" lIns="0" bIns="0" rIns="0"/>
            <a:lstStyle/>
            <a:p>
              <a:pPr algn="ctr">
                <a:lnSpc>
                  <a:spcPts val="8400"/>
                </a:lnSpc>
              </a:pPr>
              <a:r>
                <a:rPr lang="en-US" sz="7000">
                  <a:solidFill>
                    <a:srgbClr val="111111"/>
                  </a:solidFill>
                  <a:latin typeface="Georgia"/>
                  <a:ea typeface="Georgia"/>
                  <a:cs typeface="Georgia"/>
                  <a:sym typeface="Georgia"/>
                </a:rPr>
                <a:t>THANK YOU</a:t>
              </a:r>
            </a:p>
          </p:txBody>
        </p:sp>
      </p:grpSp>
      <p:sp>
        <p:nvSpPr>
          <p:cNvPr name="AutoShape 5" id="5"/>
          <p:cNvSpPr/>
          <p:nvPr/>
        </p:nvSpPr>
        <p:spPr>
          <a:xfrm rot="36419">
            <a:off x="8245421" y="2497141"/>
            <a:ext cx="1797148" cy="0"/>
          </a:xfrm>
          <a:prstGeom prst="line">
            <a:avLst/>
          </a:prstGeom>
          <a:ln cap="rnd" w="9525">
            <a:solidFill>
              <a:srgbClr val="000000"/>
            </a:solidFill>
            <a:prstDash val="solid"/>
            <a:headEnd type="none" len="sm" w="sm"/>
            <a:tailEnd type="none" len="sm" w="sm"/>
          </a:ln>
        </p:spPr>
      </p:sp>
      <p:grpSp>
        <p:nvGrpSpPr>
          <p:cNvPr name="Group 6" id="6"/>
          <p:cNvGrpSpPr/>
          <p:nvPr/>
        </p:nvGrpSpPr>
        <p:grpSpPr>
          <a:xfrm rot="0">
            <a:off x="764162" y="3352800"/>
            <a:ext cx="8123682" cy="4572000"/>
            <a:chOff x="0" y="0"/>
            <a:chExt cx="10831576" cy="6096000"/>
          </a:xfrm>
        </p:grpSpPr>
        <p:sp>
          <p:nvSpPr>
            <p:cNvPr name="Freeform 7" id="7" descr="LARO-BOT 프로젝트 콘셉트 시각화. 원본 이미지 전체를 보존했습니다.">
              <a:hlinkClick r:id="rId4" action="ppaction://hlinksldjump"/>
            </p:cNvPr>
            <p:cNvSpPr/>
            <p:nvPr/>
          </p:nvSpPr>
          <p:spPr>
            <a:xfrm flipH="false" flipV="false" rot="0">
              <a:off x="0" y="0"/>
              <a:ext cx="10831576" cy="6096000"/>
            </a:xfrm>
            <a:custGeom>
              <a:avLst/>
              <a:gdLst/>
              <a:ahLst/>
              <a:cxnLst/>
              <a:rect r="r" b="b" t="t" l="l"/>
              <a:pathLst>
                <a:path h="6096000" w="10831576">
                  <a:moveTo>
                    <a:pt x="0" y="0"/>
                  </a:moveTo>
                  <a:lnTo>
                    <a:pt x="10831576" y="0"/>
                  </a:lnTo>
                  <a:lnTo>
                    <a:pt x="10831576" y="6096000"/>
                  </a:lnTo>
                  <a:lnTo>
                    <a:pt x="0" y="6096000"/>
                  </a:lnTo>
                  <a:lnTo>
                    <a:pt x="0" y="0"/>
                  </a:lnTo>
                  <a:close/>
                </a:path>
              </a:pathLst>
            </a:custGeom>
            <a:blipFill>
              <a:blip r:embed="rId5"/>
              <a:stretch>
                <a:fillRect l="0" t="0" r="0" b="0"/>
              </a:stretch>
            </a:blipFill>
          </p:spPr>
        </p:sp>
      </p:grpSp>
      <p:grpSp>
        <p:nvGrpSpPr>
          <p:cNvPr name="Group 8" id="8"/>
          <p:cNvGrpSpPr/>
          <p:nvPr/>
        </p:nvGrpSpPr>
        <p:grpSpPr>
          <a:xfrm rot="0">
            <a:off x="9398003" y="3445107"/>
            <a:ext cx="8127997" cy="4387386"/>
            <a:chOff x="0" y="0"/>
            <a:chExt cx="10837329" cy="5849849"/>
          </a:xfrm>
        </p:grpSpPr>
        <p:sp>
          <p:nvSpPr>
            <p:cNvPr name="Freeform 9" id="9" descr="VicPinky Carrier 프로젝트 콘셉트 시각화. 실제 재난 현장 검증 사진이 아닙니다."/>
            <p:cNvSpPr/>
            <p:nvPr/>
          </p:nvSpPr>
          <p:spPr>
            <a:xfrm flipH="false" flipV="false" rot="0">
              <a:off x="0" y="0"/>
              <a:ext cx="10837291" cy="5849874"/>
            </a:xfrm>
            <a:custGeom>
              <a:avLst/>
              <a:gdLst/>
              <a:ahLst/>
              <a:cxnLst/>
              <a:rect r="r" b="b" t="t" l="l"/>
              <a:pathLst>
                <a:path h="5849874" w="10837291">
                  <a:moveTo>
                    <a:pt x="0" y="0"/>
                  </a:moveTo>
                  <a:lnTo>
                    <a:pt x="10837291" y="0"/>
                  </a:lnTo>
                  <a:lnTo>
                    <a:pt x="10837291" y="5849874"/>
                  </a:lnTo>
                  <a:lnTo>
                    <a:pt x="0" y="5849874"/>
                  </a:lnTo>
                  <a:lnTo>
                    <a:pt x="0" y="0"/>
                  </a:lnTo>
                  <a:close/>
                </a:path>
              </a:pathLst>
            </a:custGeom>
            <a:blipFill>
              <a:blip r:embed="rId6"/>
              <a:stretch>
                <a:fillRect l="0" t="0" r="0" b="0"/>
              </a:stretch>
            </a:blipFill>
          </p:spPr>
        </p:sp>
      </p:grpSp>
      <p:sp>
        <p:nvSpPr>
          <p:cNvPr name="AutoShape 10" id="10"/>
          <p:cNvSpPr/>
          <p:nvPr/>
        </p:nvSpPr>
        <p:spPr>
          <a:xfrm rot="2580">
            <a:off x="755647" y="8745541"/>
            <a:ext cx="16776706" cy="0"/>
          </a:xfrm>
          <a:prstGeom prst="line">
            <a:avLst/>
          </a:prstGeom>
          <a:ln cap="rnd" w="9525">
            <a:solidFill>
              <a:srgbClr val="E1D0D9"/>
            </a:solidFill>
            <a:prstDash val="solid"/>
            <a:headEnd type="none" len="sm" w="sm"/>
            <a:tailEnd type="none" len="sm" w="sm"/>
          </a:ln>
        </p:spPr>
      </p:sp>
      <p:grpSp>
        <p:nvGrpSpPr>
          <p:cNvPr name="Group 11" id="11"/>
          <p:cNvGrpSpPr/>
          <p:nvPr/>
        </p:nvGrpSpPr>
        <p:grpSpPr>
          <a:xfrm rot="0">
            <a:off x="2692403" y="9134475"/>
            <a:ext cx="2286000" cy="438150"/>
            <a:chOff x="0" y="0"/>
            <a:chExt cx="3048000" cy="584200"/>
          </a:xfrm>
        </p:grpSpPr>
        <p:sp>
          <p:nvSpPr>
            <p:cNvPr name="Freeform 12" id="12"/>
            <p:cNvSpPr/>
            <p:nvPr/>
          </p:nvSpPr>
          <p:spPr>
            <a:xfrm flipH="false" flipV="false" rot="0">
              <a:off x="0" y="0"/>
              <a:ext cx="3048000" cy="584200"/>
            </a:xfrm>
            <a:custGeom>
              <a:avLst/>
              <a:gdLst/>
              <a:ahLst/>
              <a:cxnLst/>
              <a:rect r="r" b="b" t="t" l="l"/>
              <a:pathLst>
                <a:path h="584200" w="3048000">
                  <a:moveTo>
                    <a:pt x="0" y="0"/>
                  </a:moveTo>
                  <a:lnTo>
                    <a:pt x="3048000" y="0"/>
                  </a:lnTo>
                  <a:lnTo>
                    <a:pt x="3048000" y="584200"/>
                  </a:lnTo>
                  <a:lnTo>
                    <a:pt x="0" y="584200"/>
                  </a:lnTo>
                  <a:close/>
                </a:path>
              </a:pathLst>
            </a:custGeom>
            <a:blipFill>
              <a:blip r:embed="rId3">
                <a:alphaModFix amt="0"/>
              </a:blip>
              <a:stretch>
                <a:fillRect l="0" t="-51661" r="0" b="-51661"/>
              </a:stretch>
            </a:blipFill>
          </p:spPr>
        </p:sp>
        <p:sp>
          <p:nvSpPr>
            <p:cNvPr name="TextBox 13" id="13"/>
            <p:cNvSpPr txBox="true"/>
            <p:nvPr/>
          </p:nvSpPr>
          <p:spPr>
            <a:xfrm>
              <a:off x="0" y="-19050"/>
              <a:ext cx="3048000" cy="603250"/>
            </a:xfrm>
            <a:prstGeom prst="rect">
              <a:avLst/>
            </a:prstGeom>
          </p:spPr>
          <p:txBody>
            <a:bodyPr anchor="ctr" rtlCol="false" tIns="0" lIns="0" bIns="0" rIns="0"/>
            <a:lstStyle/>
            <a:p>
              <a:pPr algn="l">
                <a:lnSpc>
                  <a:spcPts val="3000"/>
                </a:lnSpc>
              </a:pPr>
              <a:r>
                <a:rPr lang="en-US" sz="2500" b="true">
                  <a:solidFill>
                    <a:srgbClr val="111111"/>
                  </a:solidFill>
                  <a:latin typeface="Arimo Bold"/>
                  <a:ea typeface="Arimo Bold"/>
                  <a:cs typeface="Arimo Bold"/>
                  <a:sym typeface="Arimo Bold"/>
                </a:rPr>
                <a:t>박준수</a:t>
              </a:r>
            </a:p>
          </p:txBody>
        </p:sp>
      </p:grpSp>
      <p:grpSp>
        <p:nvGrpSpPr>
          <p:cNvPr name="Group 14" id="14"/>
          <p:cNvGrpSpPr/>
          <p:nvPr/>
        </p:nvGrpSpPr>
        <p:grpSpPr>
          <a:xfrm rot="0">
            <a:off x="6489697" y="9157335"/>
            <a:ext cx="4064003" cy="368046"/>
            <a:chOff x="0" y="0"/>
            <a:chExt cx="5418671" cy="490728"/>
          </a:xfrm>
        </p:grpSpPr>
        <p:sp>
          <p:nvSpPr>
            <p:cNvPr name="Freeform 15" id="15"/>
            <p:cNvSpPr/>
            <p:nvPr/>
          </p:nvSpPr>
          <p:spPr>
            <a:xfrm flipH="false" flipV="false" rot="0">
              <a:off x="0" y="0"/>
              <a:ext cx="5418666" cy="490728"/>
            </a:xfrm>
            <a:custGeom>
              <a:avLst/>
              <a:gdLst/>
              <a:ahLst/>
              <a:cxnLst/>
              <a:rect r="r" b="b" t="t" l="l"/>
              <a:pathLst>
                <a:path h="490728" w="5418666">
                  <a:moveTo>
                    <a:pt x="0" y="0"/>
                  </a:moveTo>
                  <a:lnTo>
                    <a:pt x="5418666" y="0"/>
                  </a:lnTo>
                  <a:lnTo>
                    <a:pt x="5418666" y="490728"/>
                  </a:lnTo>
                  <a:lnTo>
                    <a:pt x="0" y="490728"/>
                  </a:lnTo>
                  <a:close/>
                </a:path>
              </a:pathLst>
            </a:custGeom>
            <a:blipFill>
              <a:blip r:embed="rId3">
                <a:alphaModFix amt="0"/>
              </a:blip>
              <a:stretch>
                <a:fillRect l="0" t="-165155" r="0" b="-165155"/>
              </a:stretch>
            </a:blipFill>
          </p:spPr>
        </p:sp>
        <p:sp>
          <p:nvSpPr>
            <p:cNvPr name="TextBox 16" id="16"/>
            <p:cNvSpPr txBox="true"/>
            <p:nvPr/>
          </p:nvSpPr>
          <p:spPr>
            <a:xfrm>
              <a:off x="0" y="-9525"/>
              <a:ext cx="5418671" cy="500253"/>
            </a:xfrm>
            <a:prstGeom prst="rect">
              <a:avLst/>
            </a:prstGeom>
          </p:spPr>
          <p:txBody>
            <a:bodyPr anchor="ctr" rtlCol="false" tIns="0" lIns="0" bIns="0" rIns="0"/>
            <a:lstStyle/>
            <a:p>
              <a:pPr algn="l">
                <a:lnSpc>
                  <a:spcPts val="2520"/>
                </a:lnSpc>
              </a:pPr>
              <a:r>
                <a:rPr lang="en-US" sz="2100" u="sng">
                  <a:solidFill>
                    <a:srgbClr val="111111"/>
                  </a:solidFill>
                  <a:latin typeface="Arimo"/>
                  <a:ea typeface="Arimo"/>
                  <a:cs typeface="Arimo"/>
                  <a:sym typeface="Arimo"/>
                  <a:hlinkClick r:id="rId7" tooltip="mailto:pjsu94@naver.com"/>
                </a:rPr>
                <a:t>pjsu94@naver.com</a:t>
              </a:r>
            </a:p>
          </p:txBody>
        </p:sp>
      </p:grpSp>
      <p:grpSp>
        <p:nvGrpSpPr>
          <p:cNvPr name="Group 17" id="17"/>
          <p:cNvGrpSpPr/>
          <p:nvPr/>
        </p:nvGrpSpPr>
        <p:grpSpPr>
          <a:xfrm rot="0">
            <a:off x="12065003" y="9157335"/>
            <a:ext cx="4191000" cy="368046"/>
            <a:chOff x="0" y="0"/>
            <a:chExt cx="5588000" cy="490728"/>
          </a:xfrm>
        </p:grpSpPr>
        <p:sp>
          <p:nvSpPr>
            <p:cNvPr name="Freeform 18" id="18"/>
            <p:cNvSpPr/>
            <p:nvPr/>
          </p:nvSpPr>
          <p:spPr>
            <a:xfrm flipH="false" flipV="false" rot="0">
              <a:off x="0" y="0"/>
              <a:ext cx="5588000" cy="490728"/>
            </a:xfrm>
            <a:custGeom>
              <a:avLst/>
              <a:gdLst/>
              <a:ahLst/>
              <a:cxnLst/>
              <a:rect r="r" b="b" t="t" l="l"/>
              <a:pathLst>
                <a:path h="490728" w="5588000">
                  <a:moveTo>
                    <a:pt x="0" y="0"/>
                  </a:moveTo>
                  <a:lnTo>
                    <a:pt x="5588000" y="0"/>
                  </a:lnTo>
                  <a:lnTo>
                    <a:pt x="5588000" y="490728"/>
                  </a:lnTo>
                  <a:lnTo>
                    <a:pt x="0" y="490728"/>
                  </a:lnTo>
                  <a:close/>
                </a:path>
              </a:pathLst>
            </a:custGeom>
            <a:blipFill>
              <a:blip r:embed="rId3">
                <a:alphaModFix amt="0"/>
              </a:blip>
              <a:stretch>
                <a:fillRect l="0" t="-171879" r="0" b="-171879"/>
              </a:stretch>
            </a:blipFill>
          </p:spPr>
        </p:sp>
        <p:sp>
          <p:nvSpPr>
            <p:cNvPr name="TextBox 19" id="19"/>
            <p:cNvSpPr txBox="true"/>
            <p:nvPr/>
          </p:nvSpPr>
          <p:spPr>
            <a:xfrm>
              <a:off x="0" y="-9525"/>
              <a:ext cx="5588000" cy="500253"/>
            </a:xfrm>
            <a:prstGeom prst="rect">
              <a:avLst/>
            </a:prstGeom>
          </p:spPr>
          <p:txBody>
            <a:bodyPr anchor="ctr" rtlCol="false" tIns="0" lIns="0" bIns="0" rIns="0"/>
            <a:lstStyle/>
            <a:p>
              <a:pPr algn="l">
                <a:lnSpc>
                  <a:spcPts val="2520"/>
                </a:lnSpc>
              </a:pPr>
              <a:r>
                <a:rPr lang="en-US" sz="2100" u="sng">
                  <a:solidFill>
                    <a:srgbClr val="111111"/>
                  </a:solidFill>
                  <a:latin typeface="Arimo"/>
                  <a:ea typeface="Arimo"/>
                  <a:cs typeface="Arimo"/>
                  <a:sym typeface="Arimo"/>
                  <a:hlinkClick r:id="rId8" tooltip="https://github.com/kdm111"/>
                </a:rPr>
                <a:t>github.com/kdm111</a:t>
              </a:r>
            </a:p>
          </p:txBody>
        </p:sp>
      </p:grpSp>
      <p:sp>
        <p:nvSpPr>
          <p:cNvPr name="TextBox 20" id="20"/>
          <p:cNvSpPr txBox="true"/>
          <p:nvPr/>
        </p:nvSpPr>
        <p:spPr>
          <a:xfrm rot="0">
            <a:off x="16954500" y="9715500"/>
            <a:ext cx="571500" cy="249637"/>
          </a:xfrm>
          <a:prstGeom prst="rect">
            <a:avLst/>
          </a:prstGeom>
        </p:spPr>
        <p:txBody>
          <a:bodyPr anchor="t" rtlCol="false" tIns="0" lIns="0" bIns="0" rIns="0">
            <a:spAutoFit/>
          </a:bodyPr>
          <a:lstStyle/>
          <a:p>
            <a:pPr algn="r">
              <a:lnSpc>
                <a:spcPts val="1813"/>
              </a:lnSpc>
            </a:pPr>
            <a:r>
              <a:rPr lang="en-US" sz="1399">
                <a:solidFill>
                  <a:srgbClr val="666666"/>
                </a:solidFill>
                <a:latin typeface="Arimo"/>
                <a:ea typeface="Arimo"/>
                <a:cs typeface="Arimo"/>
                <a:sym typeface="Arimo"/>
              </a:rPr>
              <a:t>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DAHUN42p2VQ</dc:identifier>
  <dcterms:modified xsi:type="dcterms:W3CDTF">2011-08-01T06:04:30Z</dcterms:modified>
  <cp:revision>1</cp:revision>
  <dc:title>Portfolio_v2</dc:title>
</cp:coreProperties>
</file>